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36"/>
  </p:notesMasterIdLst>
  <p:sldIdLst>
    <p:sldId id="13773" r:id="rId3"/>
    <p:sldId id="13770" r:id="rId4"/>
    <p:sldId id="13771" r:id="rId5"/>
    <p:sldId id="13774" r:id="rId6"/>
    <p:sldId id="13802" r:id="rId7"/>
    <p:sldId id="13776" r:id="rId8"/>
    <p:sldId id="13777" r:id="rId9"/>
    <p:sldId id="13778" r:id="rId10"/>
    <p:sldId id="13779" r:id="rId11"/>
    <p:sldId id="13780" r:id="rId12"/>
    <p:sldId id="13781" r:id="rId13"/>
    <p:sldId id="13782" r:id="rId14"/>
    <p:sldId id="13783" r:id="rId15"/>
    <p:sldId id="13784" r:id="rId16"/>
    <p:sldId id="13785" r:id="rId17"/>
    <p:sldId id="13786" r:id="rId18"/>
    <p:sldId id="13787" r:id="rId19"/>
    <p:sldId id="13788" r:id="rId20"/>
    <p:sldId id="13789" r:id="rId21"/>
    <p:sldId id="13790" r:id="rId22"/>
    <p:sldId id="13791" r:id="rId23"/>
    <p:sldId id="13792" r:id="rId24"/>
    <p:sldId id="13793" r:id="rId25"/>
    <p:sldId id="13794" r:id="rId26"/>
    <p:sldId id="13795" r:id="rId27"/>
    <p:sldId id="13796" r:id="rId28"/>
    <p:sldId id="13797" r:id="rId29"/>
    <p:sldId id="13798" r:id="rId30"/>
    <p:sldId id="13799" r:id="rId31"/>
    <p:sldId id="13800" r:id="rId32"/>
    <p:sldId id="13801" r:id="rId33"/>
    <p:sldId id="13804" r:id="rId34"/>
    <p:sldId id="13772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60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0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FA3FB-796B-4376-81CB-C595A98F4C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9192125" y="6543675"/>
            <a:ext cx="2743200" cy="2771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第</a:t>
            </a:r>
            <a:fld id="{CAD7CE4E-C1DC-41C2-AEA5-2F62E8E04F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‹#›</a:t>
            </a:fld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页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9192125" y="6544420"/>
            <a:ext cx="2743200" cy="2771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第</a:t>
            </a:r>
            <a:fld id="{CAD7CE4E-C1DC-41C2-AEA5-2F62E8E04F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‹#›</a:t>
            </a:fld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10" name="灯片编号占位符 5"/>
          <p:cNvSpPr txBox="1"/>
          <p:nvPr userDrawn="1"/>
        </p:nvSpPr>
        <p:spPr>
          <a:xfrm>
            <a:off x="8777288" y="6240463"/>
            <a:ext cx="2743200" cy="2771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第</a:t>
            </a:r>
            <a:fld id="{CAD7CE4E-C1DC-41C2-AEA5-2F62E8E04F9D}" type="slidenum"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‹#›</a:t>
            </a:fld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页</a:t>
            </a:r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2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98256" y="4664202"/>
            <a:ext cx="199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华映资本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1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accent1"/>
                </a:solidFill>
              </a:rPr>
              <a:t>OpenClaw </a:t>
            </a:r>
            <a:r>
              <a:rPr sz="2700" b="1" dirty="0" err="1">
                <a:solidFill>
                  <a:schemeClr val="accent1"/>
                </a:solidFill>
              </a:rPr>
              <a:t>核心创新技术架构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基于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openclaw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源码与官方文档的系统级拆解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05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研究结论</a:t>
            </a:r>
            <a:endParaRPr sz="1500" b="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1) OpenClaw </a:t>
            </a:r>
            <a:r>
              <a:rPr sz="1500" b="0" dirty="0" err="1">
                <a:solidFill>
                  <a:srgbClr val="2D2D2D"/>
                </a:solidFill>
              </a:rPr>
              <a:t>的本质是“可治理</a:t>
            </a:r>
            <a:r>
              <a:rPr sz="1500" b="0" dirty="0">
                <a:solidFill>
                  <a:srgbClr val="2D2D2D"/>
                </a:solidFill>
              </a:rPr>
              <a:t> AI </a:t>
            </a:r>
            <a:r>
              <a:rPr sz="1500" b="0" dirty="0" err="1">
                <a:solidFill>
                  <a:srgbClr val="2D2D2D"/>
                </a:solidFill>
              </a:rPr>
              <a:t>网关</a:t>
            </a:r>
            <a:r>
              <a:rPr sz="1500" b="0" dirty="0">
                <a:solidFill>
                  <a:srgbClr val="2D2D2D"/>
                </a:solidFill>
              </a:rPr>
              <a:t>”，</a:t>
            </a:r>
            <a:r>
              <a:rPr sz="1500" b="0" dirty="0" err="1">
                <a:solidFill>
                  <a:srgbClr val="2D2D2D"/>
                </a:solidFill>
              </a:rPr>
              <a:t>不是单通道</a:t>
            </a:r>
            <a:r>
              <a:rPr sz="1500" b="0" dirty="0">
                <a:solidFill>
                  <a:srgbClr val="2D2D2D"/>
                </a:solidFill>
              </a:rPr>
              <a:t> Bot。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2) </a:t>
            </a:r>
            <a:r>
              <a:rPr sz="1500" b="0" dirty="0" err="1">
                <a:solidFill>
                  <a:srgbClr val="2D2D2D"/>
                </a:solidFill>
              </a:rPr>
              <a:t>核心壁垒在于：统一控制平面</a:t>
            </a:r>
            <a:r>
              <a:rPr sz="1500" b="0" dirty="0">
                <a:solidFill>
                  <a:srgbClr val="2D2D2D"/>
                </a:solidFill>
              </a:rPr>
              <a:t> + </a:t>
            </a:r>
            <a:r>
              <a:rPr sz="1500" b="0" dirty="0" err="1">
                <a:solidFill>
                  <a:srgbClr val="2D2D2D"/>
                </a:solidFill>
              </a:rPr>
              <a:t>确定性路由</a:t>
            </a:r>
            <a:r>
              <a:rPr sz="1500" b="0" dirty="0">
                <a:solidFill>
                  <a:srgbClr val="2D2D2D"/>
                </a:solidFill>
              </a:rPr>
              <a:t> + </a:t>
            </a:r>
            <a:r>
              <a:rPr sz="1500" b="0" dirty="0" err="1">
                <a:solidFill>
                  <a:srgbClr val="2D2D2D"/>
                </a:solidFill>
              </a:rPr>
              <a:t>分层安全模型</a:t>
            </a:r>
            <a:r>
              <a:rPr lang="en-US" sz="1500" b="0" dirty="0">
                <a:solidFill>
                  <a:srgbClr val="2D2D2D"/>
                </a:solidFill>
              </a:rPr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13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accent1"/>
                </a:solidFill>
              </a:rPr>
              <a:t>OpenClaw </a:t>
            </a:r>
            <a:r>
              <a:rPr sz="2700" b="1" dirty="0" err="1">
                <a:solidFill>
                  <a:schemeClr val="accent1"/>
                </a:solidFill>
              </a:rPr>
              <a:t>架构全景（概览一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从多通道接入、Agent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执行到响应回传的端到端主链路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688644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36208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入口层统一接收多平台消息，先做标准化与上下文整理。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中间层通过会话与路由机制决定由哪个 Agent 处理请求。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执行层在工具调用与模型推理之间形成可控的协同闭环。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输出层支持流式回传与结果沉淀，保障交互体验与可追溯性。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679" y="1664208"/>
            <a:ext cx="5621676" cy="43095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accent1"/>
                </a:solidFill>
              </a:rPr>
              <a:t>OpenClaw </a:t>
            </a:r>
            <a:r>
              <a:rPr sz="2700" b="1" dirty="0" err="1">
                <a:solidFill>
                  <a:schemeClr val="accent1"/>
                </a:solidFill>
              </a:rPr>
              <a:t>架构全景（概览二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记忆系统与工具执行在整体架构中的位置关系及数据流向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660136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36208" cy="1049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记忆模块承接历史上下文，为后续推理提供连续语义基础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工具执行能力与消息通道解耦，便于跨平台复用与统一治理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模型与执行器通过网关协调，避免通道侧重复实现复杂逻辑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326" y="1132978"/>
            <a:ext cx="5172874" cy="53657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accent1"/>
                </a:solidFill>
              </a:rPr>
              <a:t>OpenClaw </a:t>
            </a:r>
            <a:r>
              <a:rPr sz="2700" b="1" dirty="0" err="1">
                <a:solidFill>
                  <a:schemeClr val="accent1"/>
                </a:solidFill>
              </a:rPr>
              <a:t>架构全景（概览</a:t>
            </a:r>
            <a:r>
              <a:rPr lang="en-US" sz="2700" b="1" dirty="0" err="1">
                <a:solidFill>
                  <a:schemeClr val="accent1"/>
                </a:solidFill>
              </a:rPr>
              <a:t>三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OpenClaw </a:t>
            </a:r>
            <a:r>
              <a:rPr sz="1200" b="0" dirty="0" err="1">
                <a:solidFill>
                  <a:srgbClr val="5F5F5F"/>
                </a:solidFill>
              </a:rPr>
              <a:t>的心跳机制（Heartbeat</a:t>
            </a:r>
            <a:r>
              <a:rPr sz="1200" b="0" dirty="0">
                <a:solidFill>
                  <a:srgbClr val="5F5F5F"/>
                </a:solidFill>
              </a:rPr>
              <a:t>）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8B4A5A-F250-D399-D052-756A5467D8BB}"/>
              </a:ext>
            </a:extLst>
          </p:cNvPr>
          <p:cNvSpPr txBox="1"/>
          <p:nvPr/>
        </p:nvSpPr>
        <p:spPr>
          <a:xfrm>
            <a:off x="804672" y="1499616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5F5F5F"/>
                </a:solidFill>
              </a:rPr>
              <a:t>核心要点</a:t>
            </a:r>
            <a:endParaRPr sz="1200" b="1" dirty="0">
              <a:solidFill>
                <a:srgbClr val="5F5F5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203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lang="zh-CN" altLang="en-US" sz="1500" b="0" dirty="0">
                <a:solidFill>
                  <a:srgbClr val="2D2D2D"/>
                </a:solidFill>
              </a:rPr>
              <a:t>定时层按 </a:t>
            </a:r>
            <a:r>
              <a:rPr lang="en-US" altLang="zh-CN" sz="1500" b="0" dirty="0">
                <a:solidFill>
                  <a:srgbClr val="2D2D2D"/>
                </a:solidFill>
              </a:rPr>
              <a:t>every=30m</a:t>
            </a:r>
            <a:r>
              <a:rPr lang="zh-CN" altLang="en-US" sz="1500" b="0" dirty="0">
                <a:solidFill>
                  <a:srgbClr val="2D2D2D"/>
                </a:solidFill>
              </a:rPr>
              <a:t>（可配 </a:t>
            </a:r>
            <a:r>
              <a:rPr lang="en-US" altLang="zh-CN" sz="1500" b="0" dirty="0" err="1">
                <a:solidFill>
                  <a:srgbClr val="2D2D2D"/>
                </a:solidFill>
              </a:rPr>
              <a:t>activeHours</a:t>
            </a:r>
            <a:r>
              <a:rPr lang="zh-CN" altLang="en-US" sz="1500" b="0" dirty="0">
                <a:solidFill>
                  <a:srgbClr val="2D2D2D"/>
                </a:solidFill>
              </a:rPr>
              <a:t>）触发；队列忙时跳过并稍后重试。</a:t>
            </a:r>
            <a:endParaRPr lang="en-US" altLang="zh-CN" sz="1500" b="0" dirty="0">
              <a:solidFill>
                <a:srgbClr val="2D2D2D"/>
              </a:solidFill>
            </a:endParaRP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sz="1500" dirty="0">
                <a:solidFill>
                  <a:srgbClr val="2D2D2D"/>
                </a:solidFill>
              </a:rPr>
              <a:t>• </a:t>
            </a:r>
            <a:r>
              <a:rPr lang="en-US" altLang="zh-CN" sz="1500" b="0" dirty="0">
                <a:solidFill>
                  <a:srgbClr val="2D2D2D"/>
                </a:solidFill>
              </a:rPr>
              <a:t>Heartbeat </a:t>
            </a:r>
            <a:r>
              <a:rPr lang="zh-CN" altLang="en-US" sz="1500" b="0" dirty="0">
                <a:solidFill>
                  <a:srgbClr val="2D2D2D"/>
                </a:solidFill>
              </a:rPr>
              <a:t>层做三件事：生成 </a:t>
            </a:r>
            <a:r>
              <a:rPr lang="en-US" altLang="zh-CN" sz="1500" b="0" dirty="0">
                <a:solidFill>
                  <a:srgbClr val="2D2D2D"/>
                </a:solidFill>
              </a:rPr>
              <a:t>prompt</a:t>
            </a:r>
            <a:r>
              <a:rPr lang="zh-CN" altLang="en-US" sz="1500" b="0" dirty="0">
                <a:solidFill>
                  <a:srgbClr val="2D2D2D"/>
                </a:solidFill>
              </a:rPr>
              <a:t>、选择 </a:t>
            </a:r>
            <a:r>
              <a:rPr lang="en-US" altLang="zh-CN" sz="1500" b="0" dirty="0">
                <a:solidFill>
                  <a:srgbClr val="2D2D2D"/>
                </a:solidFill>
              </a:rPr>
              <a:t>session scope</a:t>
            </a:r>
            <a:r>
              <a:rPr lang="zh-CN" altLang="en-US" sz="1500" b="0" dirty="0">
                <a:solidFill>
                  <a:srgbClr val="2D2D2D"/>
                </a:solidFill>
              </a:rPr>
              <a:t>、决定投递目标。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sz="1500" dirty="0">
                <a:solidFill>
                  <a:srgbClr val="2D2D2D"/>
                </a:solidFill>
              </a:rPr>
              <a:t>•</a:t>
            </a:r>
            <a:r>
              <a:rPr lang="zh-CN" altLang="en-US" sz="1500" b="0" dirty="0">
                <a:solidFill>
                  <a:srgbClr val="2D2D2D"/>
                </a:solidFill>
              </a:rPr>
              <a:t>上下文来自 </a:t>
            </a:r>
            <a:r>
              <a:rPr lang="en-US" altLang="zh-CN" sz="1500" b="0" dirty="0" err="1">
                <a:solidFill>
                  <a:srgbClr val="2D2D2D"/>
                </a:solidFill>
              </a:rPr>
              <a:t>HEARTBEAT.md</a:t>
            </a:r>
            <a:r>
              <a:rPr lang="zh-CN" altLang="en-US" sz="1500" b="0" dirty="0">
                <a:solidFill>
                  <a:srgbClr val="2D2D2D"/>
                </a:solidFill>
              </a:rPr>
              <a:t>（建议小而稳定）</a:t>
            </a:r>
            <a:r>
              <a:rPr lang="en-US" altLang="zh-CN" sz="1500" b="0" dirty="0">
                <a:solidFill>
                  <a:srgbClr val="2D2D2D"/>
                </a:solidFill>
              </a:rPr>
              <a:t>+ workspace/skills/memory</a:t>
            </a:r>
            <a:r>
              <a:rPr lang="zh-CN" altLang="en-US" sz="1500" b="0" dirty="0">
                <a:solidFill>
                  <a:srgbClr val="2D2D2D"/>
                </a:solidFill>
              </a:rPr>
              <a:t>。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sz="1500" dirty="0">
                <a:solidFill>
                  <a:srgbClr val="2D2D2D"/>
                </a:solidFill>
              </a:rPr>
              <a:t>• </a:t>
            </a:r>
            <a:r>
              <a:rPr lang="en-US" altLang="zh-CN" sz="1500" b="0" dirty="0">
                <a:solidFill>
                  <a:srgbClr val="2D2D2D"/>
                </a:solidFill>
              </a:rPr>
              <a:t>LLM </a:t>
            </a:r>
            <a:r>
              <a:rPr lang="zh-CN" altLang="en-US" sz="1500" b="0" dirty="0">
                <a:solidFill>
                  <a:srgbClr val="2D2D2D"/>
                </a:solidFill>
              </a:rPr>
              <a:t>心跳回合本质是一次正常 </a:t>
            </a:r>
            <a:r>
              <a:rPr lang="en-US" altLang="zh-CN" sz="1500" b="0" dirty="0">
                <a:solidFill>
                  <a:srgbClr val="2D2D2D"/>
                </a:solidFill>
              </a:rPr>
              <a:t>agent turn</a:t>
            </a:r>
            <a:r>
              <a:rPr lang="zh-CN" altLang="en-US" sz="1500" b="0" dirty="0">
                <a:solidFill>
                  <a:srgbClr val="2D2D2D"/>
                </a:solidFill>
              </a:rPr>
              <a:t>：无事回 </a:t>
            </a:r>
            <a:r>
              <a:rPr lang="en-US" altLang="zh-CN" sz="1500" b="0" dirty="0">
                <a:solidFill>
                  <a:srgbClr val="2D2D2D"/>
                </a:solidFill>
              </a:rPr>
              <a:t>HEARTBEAT_OK</a:t>
            </a:r>
            <a:r>
              <a:rPr lang="zh-CN" altLang="en-US" sz="1500" b="0" dirty="0">
                <a:solidFill>
                  <a:srgbClr val="2D2D2D"/>
                </a:solidFill>
              </a:rPr>
              <a:t>，有事回告警</a:t>
            </a:r>
            <a:r>
              <a:rPr lang="en-US" altLang="zh-CN" sz="1500" b="0" dirty="0">
                <a:solidFill>
                  <a:srgbClr val="2D2D2D"/>
                </a:solidFill>
              </a:rPr>
              <a:t>/</a:t>
            </a:r>
            <a:r>
              <a:rPr lang="zh-CN" altLang="en-US" sz="1500" b="0" dirty="0">
                <a:solidFill>
                  <a:srgbClr val="2D2D2D"/>
                </a:solidFill>
              </a:rPr>
              <a:t>行动文本。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sz="1500" dirty="0">
                <a:solidFill>
                  <a:srgbClr val="2D2D2D"/>
                </a:solidFill>
              </a:rPr>
              <a:t>•</a:t>
            </a:r>
            <a:r>
              <a:rPr lang="zh-CN" altLang="en-US" sz="1500" dirty="0">
                <a:solidFill>
                  <a:srgbClr val="2D2D2D"/>
                </a:solidFill>
              </a:rPr>
              <a:t> </a:t>
            </a:r>
            <a:r>
              <a:rPr lang="zh-CN" altLang="en-US" sz="1500" b="0" dirty="0">
                <a:solidFill>
                  <a:srgbClr val="2D2D2D"/>
                </a:solidFill>
              </a:rPr>
              <a:t>投递层先做 </a:t>
            </a:r>
            <a:r>
              <a:rPr lang="en-US" altLang="zh-CN" sz="1500" b="0" dirty="0">
                <a:solidFill>
                  <a:srgbClr val="2D2D2D"/>
                </a:solidFill>
              </a:rPr>
              <a:t>ack </a:t>
            </a:r>
            <a:r>
              <a:rPr lang="zh-CN" altLang="en-US" sz="1500" b="0" dirty="0">
                <a:solidFill>
                  <a:srgbClr val="2D2D2D"/>
                </a:solidFill>
              </a:rPr>
              <a:t>抑制（剥离 </a:t>
            </a:r>
            <a:r>
              <a:rPr lang="en-US" altLang="zh-CN" sz="1500" b="0" dirty="0">
                <a:solidFill>
                  <a:srgbClr val="2D2D2D"/>
                </a:solidFill>
              </a:rPr>
              <a:t>HEARTBEAT_OK</a:t>
            </a:r>
            <a:r>
              <a:rPr lang="zh-CN" altLang="en-US" sz="1500" b="0" dirty="0">
                <a:solidFill>
                  <a:srgbClr val="2D2D2D"/>
                </a:solidFill>
              </a:rPr>
              <a:t>，短内容可丢弃），再 </a:t>
            </a:r>
            <a:r>
              <a:rPr lang="en-US" altLang="zh-CN" sz="1500" b="0" dirty="0" err="1">
                <a:solidFill>
                  <a:srgbClr val="2D2D2D"/>
                </a:solidFill>
              </a:rPr>
              <a:t>directPolicy</a:t>
            </a:r>
            <a:r>
              <a:rPr lang="en-US" altLang="zh-CN" sz="1500" b="0" dirty="0">
                <a:solidFill>
                  <a:srgbClr val="2D2D2D"/>
                </a:solidFill>
              </a:rPr>
              <a:t>/</a:t>
            </a:r>
            <a:r>
              <a:rPr lang="en-US" altLang="zh-CN" sz="1500" b="0" dirty="0" err="1">
                <a:solidFill>
                  <a:srgbClr val="2D2D2D"/>
                </a:solidFill>
              </a:rPr>
              <a:t>showOk</a:t>
            </a:r>
            <a:r>
              <a:rPr lang="en-US" altLang="zh-CN" sz="1500" b="0" dirty="0">
                <a:solidFill>
                  <a:srgbClr val="2D2D2D"/>
                </a:solidFill>
              </a:rPr>
              <a:t>/</a:t>
            </a:r>
            <a:r>
              <a:rPr lang="en-US" altLang="zh-CN" sz="1500" b="0" dirty="0" err="1">
                <a:solidFill>
                  <a:srgbClr val="2D2D2D"/>
                </a:solidFill>
              </a:rPr>
              <a:t>showAlerts</a:t>
            </a:r>
            <a:r>
              <a:rPr lang="en-US" altLang="zh-CN" sz="1500" b="0" dirty="0">
                <a:solidFill>
                  <a:srgbClr val="2D2D2D"/>
                </a:solidFill>
              </a:rPr>
              <a:t>/</a:t>
            </a:r>
            <a:r>
              <a:rPr lang="en-US" altLang="zh-CN" sz="1500" b="0" dirty="0" err="1">
                <a:solidFill>
                  <a:srgbClr val="2D2D2D"/>
                </a:solidFill>
              </a:rPr>
              <a:t>useIndicator</a:t>
            </a:r>
            <a:r>
              <a:rPr lang="en-US" altLang="zh-CN" sz="1500" b="0" dirty="0">
                <a:solidFill>
                  <a:srgbClr val="2D2D2D"/>
                </a:solidFill>
              </a:rPr>
              <a:t> </a:t>
            </a:r>
            <a:r>
              <a:rPr lang="zh-CN" altLang="en-US" sz="1500" b="0" dirty="0">
                <a:solidFill>
                  <a:srgbClr val="2D2D2D"/>
                </a:solidFill>
              </a:rPr>
              <a:t>决定通知方式。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26" name="Picture 2" descr="更宽版流程图">
            <a:extLst>
              <a:ext uri="{FF2B5EF4-FFF2-40B4-BE49-F238E27FC236}">
                <a16:creationId xmlns:a16="http://schemas.microsoft.com/office/drawing/2014/main" id="{6E22541C-3B2D-65AF-7959-9B3FFE2A4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93" y="4079687"/>
            <a:ext cx="10334112" cy="190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5页</a:t>
            </a:r>
          </a:p>
        </p:txBody>
      </p:sp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系统分层全景（System</a:t>
            </a:r>
            <a:r>
              <a:rPr sz="2700" b="1" dirty="0">
                <a:solidFill>
                  <a:schemeClr val="accent1"/>
                </a:solidFill>
              </a:rPr>
              <a:t> of Systems）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OpenClaw </a:t>
            </a:r>
            <a:r>
              <a:rPr sz="1200" b="0" dirty="0" err="1">
                <a:solidFill>
                  <a:srgbClr val="5F5F5F"/>
                </a:solidFill>
              </a:rPr>
              <a:t>已覆盖的核心渠道生态：WhatsApp、Telegram、Discord、Slack、Signal、iMessage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与</a:t>
            </a:r>
            <a:r>
              <a:rPr sz="1200" b="0" dirty="0">
                <a:solidFill>
                  <a:srgbClr val="5F5F5F"/>
                </a:solidFill>
              </a:rPr>
              <a:t> WeChat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外部消息层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渠道接入层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channels + channel plugins + outbound adapters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路由会话层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bindings tiers + session-key algebra + dmScope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6161145-8687-472E-1628-987A8FF3C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1：统一 WebSocket </a:t>
            </a:r>
            <a:r>
              <a:rPr sz="2700" b="1" dirty="0" err="1">
                <a:solidFill>
                  <a:schemeClr val="accent1"/>
                </a:solidFill>
              </a:rPr>
              <a:t>控制平面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系统将管理类通信统一纳入</a:t>
            </a:r>
            <a:r>
              <a:rPr sz="1200" b="0" dirty="0">
                <a:solidFill>
                  <a:srgbClr val="5F5F5F"/>
                </a:solidFill>
              </a:rPr>
              <a:t> WebSocket </a:t>
            </a:r>
            <a:r>
              <a:rPr sz="1200" b="0" dirty="0" err="1">
                <a:solidFill>
                  <a:srgbClr val="5F5F5F"/>
                </a:solidFill>
              </a:rPr>
              <a:t>协议，以替代模块级分散实现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控制平面：管“连接、身份、权限、策略、状态同步、事件回传”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数据平面：管“具体业务内容”（消息文本、工具结果等）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OpenClaw 把控制平面统一到 WS 上后，连接先做 challenge/response（nonce + 设备签名）验身份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验证通过后下发 features/snapshot/policy，让客户端和服务端状态对齐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38" y="4887468"/>
            <a:ext cx="11623612" cy="116577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C2C3B74-BD64-BD10-2E0C-79F433F0E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1：统一 WebSocket </a:t>
            </a:r>
            <a:r>
              <a:rPr sz="2700" b="1" dirty="0" err="1">
                <a:solidFill>
                  <a:schemeClr val="accent1"/>
                </a:solidFill>
              </a:rPr>
              <a:t>控制平面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强调控制平面并非接口集合</a:t>
            </a:r>
            <a:r>
              <a:rPr lang="zh-CN" altLang="en-US" sz="1200" b="0" dirty="0">
                <a:solidFill>
                  <a:srgbClr val="5F5F5F"/>
                </a:solidFill>
              </a:rPr>
              <a:t>，</a:t>
            </a:r>
            <a:r>
              <a:rPr sz="1200" b="0" dirty="0" err="1">
                <a:solidFill>
                  <a:srgbClr val="5F5F5F"/>
                </a:solidFill>
              </a:rPr>
              <a:t>是具备角色、作用域与挑战握手机制的协议内核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关键机制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强类型帧：req/res/event（TypeBox schema）。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握手先发 connect.challenge，再校验 device signature + nonce。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operator 与 node 共用同一协议栈，统一 role/scopes/caps 治理。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side-effect 方法要求 idempotency key，避免重放副作用。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C1F0CE2-84D7-5D88-49B0-B8886EBC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8页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2：确定性路由 + </a:t>
            </a:r>
            <a:r>
              <a:rPr sz="2700" b="1" dirty="0" err="1">
                <a:solidFill>
                  <a:schemeClr val="accent1"/>
                </a:solidFill>
              </a:rPr>
              <a:t>会话策略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确定性路由（Deterministic</a:t>
            </a:r>
            <a:r>
              <a:rPr sz="1200" b="0" dirty="0">
                <a:solidFill>
                  <a:srgbClr val="5F5F5F"/>
                </a:solidFill>
              </a:rPr>
              <a:t> Routing）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同一条消息在同样条件下，永远按固定优先级命中同一条规则（从最具体到最通用，比如 peer -&gt; guild/roles -&gt; team -&gt; account -&gt; channel -&gt;…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会话策略（Session Strategy）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命中路由后，再决定这条消息的上下文“记忆”放到哪个会话（sessionKey 怎么算）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比如 main、per-peer、per-channel-peer 等，控制是“共享记忆”还是“严格隔离”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22" y="4562856"/>
            <a:ext cx="12048955" cy="214085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C80C274-B90E-C735-A7D6-FAAC1DA6C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9页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2：确定性路由 + </a:t>
            </a:r>
            <a:r>
              <a:rPr sz="2700" b="1" dirty="0" err="1">
                <a:solidFill>
                  <a:schemeClr val="accent1"/>
                </a:solidFill>
              </a:rPr>
              <a:t>会话策略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会话主键命名规范：agent</a:t>
            </a:r>
            <a:r>
              <a:rPr sz="1200" b="0" dirty="0">
                <a:solidFill>
                  <a:srgbClr val="5F5F5F"/>
                </a:solidFill>
              </a:rPr>
              <a:t>:&lt;</a:t>
            </a:r>
            <a:r>
              <a:rPr sz="1200" b="0" dirty="0" err="1">
                <a:solidFill>
                  <a:srgbClr val="5F5F5F"/>
                </a:solidFill>
              </a:rPr>
              <a:t>agentId</a:t>
            </a:r>
            <a:r>
              <a:rPr sz="1200" b="0" dirty="0">
                <a:solidFill>
                  <a:srgbClr val="5F5F5F"/>
                </a:solidFill>
              </a:rPr>
              <a:t>&gt;:...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764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会话键策略</a:t>
            </a:r>
            <a:endParaRPr sz="1500" b="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dmScope：main</a:t>
            </a:r>
            <a:r>
              <a:rPr sz="1500" b="0" dirty="0">
                <a:solidFill>
                  <a:srgbClr val="2D2D2D"/>
                </a:solidFill>
              </a:rPr>
              <a:t> / per-peer / per-channel-peer / per-account-channel-peer。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群组键独立</a:t>
            </a:r>
            <a:r>
              <a:rPr sz="1500" b="0" dirty="0">
                <a:solidFill>
                  <a:srgbClr val="2D2D2D"/>
                </a:solidFill>
              </a:rPr>
              <a:t>：...:&lt;channel&gt;:</a:t>
            </a:r>
            <a:r>
              <a:rPr sz="1500" b="0" dirty="0" err="1">
                <a:solidFill>
                  <a:srgbClr val="2D2D2D"/>
                </a:solidFill>
              </a:rPr>
              <a:t>group|channel</a:t>
            </a:r>
            <a:r>
              <a:rPr sz="1500" b="0" dirty="0">
                <a:solidFill>
                  <a:srgbClr val="2D2D2D"/>
                </a:solidFill>
              </a:rPr>
              <a:t>:&lt;id&gt;。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identityLinks</a:t>
            </a:r>
            <a:r>
              <a:rPr sz="1500" b="0" dirty="0">
                <a:solidFill>
                  <a:srgbClr val="2D2D2D"/>
                </a:solidFill>
              </a:rPr>
              <a:t> </a:t>
            </a:r>
            <a:r>
              <a:rPr sz="1500" b="0" dirty="0" err="1">
                <a:solidFill>
                  <a:srgbClr val="2D2D2D"/>
                </a:solidFill>
              </a:rPr>
              <a:t>可跨渠道归并同一用户身份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dirty="0"/>
              <a:t>• </a:t>
            </a:r>
            <a:r>
              <a:rPr sz="1500" dirty="0" err="1"/>
              <a:t>binding.peer（最精确</a:t>
            </a:r>
            <a:r>
              <a:rPr sz="1500" dirty="0"/>
              <a:t>）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07F7DA5-FF1D-9CAE-158B-31258B00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10页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3：双 Pairing </a:t>
            </a:r>
            <a:r>
              <a:rPr sz="2700" b="1" dirty="0" err="1">
                <a:solidFill>
                  <a:schemeClr val="accent1"/>
                </a:solidFill>
              </a:rPr>
              <a:t>安全模型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安全准入采用双重门禁机制，而非一次性放行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DM Pairing（人/消息源配对）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陌生用户先通过配对码或审批，确认“这个人能不能和系统对话”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Device Pairing（设备/节点配对）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接入的设备要通过设备身份校验（如签名/nonce/审批）并拿到设备令牌，确认“这台机器能不能执行能力”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0" y="4562856"/>
            <a:ext cx="9525780" cy="22951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44B484-DAB4-C4F5-D15B-105862AB5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11页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3：双 Pairing </a:t>
            </a:r>
            <a:r>
              <a:rPr sz="2700" b="1" dirty="0" err="1">
                <a:solidFill>
                  <a:schemeClr val="accent1"/>
                </a:solidFill>
              </a:rPr>
              <a:t>安全模型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DM </a:t>
            </a:r>
            <a:r>
              <a:rPr sz="1200" b="0" dirty="0" err="1">
                <a:solidFill>
                  <a:srgbClr val="5F5F5F"/>
                </a:solidFill>
              </a:rPr>
              <a:t>Pairing（渠道侧）机制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未知发信人先给 pairing code，不直接触发模型执行。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审批后写入 allowFrom，本地文件持久化。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pairing 请求有 TTL、数量上限与并发锁。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默认策略鼓励 pairing/allowlist，而非开放 DM。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Device Pairing（节点侧）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EC0EF35-A1CB-950F-DE06-B1FE535C5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12页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4：通道插件化契约</a:t>
            </a:r>
            <a:r>
              <a:rPr sz="2000" b="1" dirty="0">
                <a:solidFill>
                  <a:schemeClr val="accent1"/>
                </a:solidFill>
              </a:rPr>
              <a:t>（Channel Plugin Contract）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Channel Plugin </a:t>
            </a:r>
            <a:r>
              <a:rPr sz="1200" b="0" dirty="0" err="1">
                <a:solidFill>
                  <a:srgbClr val="5F5F5F"/>
                </a:solidFill>
              </a:rPr>
              <a:t>Contract，即为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Telegram、Discord、WhatsApp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等渠道适配器提供统一接口规范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不是“能收发消息就算接入”，而是必须按同一套规则实现生命周期和能力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分成“三层”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插件化（Plugin）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每个渠道是独立插件，新增渠道不改核心引擎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61" y="4866664"/>
            <a:ext cx="11802031" cy="13582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ECC7479-5EE4-0781-9DDB-BF2FE4621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13页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4：通道插件化契约</a:t>
            </a:r>
            <a:r>
              <a:rPr sz="2000" b="1" dirty="0">
                <a:solidFill>
                  <a:schemeClr val="accent1"/>
                </a:solidFill>
              </a:rPr>
              <a:t>（Channel Plugin Contract）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5F5F5F"/>
                </a:solidFill>
              </a:rPr>
              <a:t>Channel Plugin </a:t>
            </a:r>
            <a:r>
              <a:rPr lang="zh-CN" altLang="en-US" sz="1200" b="0" dirty="0">
                <a:solidFill>
                  <a:srgbClr val="5F5F5F"/>
                </a:solidFill>
              </a:rPr>
              <a:t>的典型适配能力面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config / setup / pairing / security / groups / outbound / status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gateway / auth / commands / threading / streaming / messaging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directory / resolver / actions / heartbeat / agentTools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同一通道生命周期在同一个契约中完成，不再散落在多模块“拼装”。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配合 plugins allow/deny 与 schema 校验，实现扩展能力和治理能力同步增长。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7DC1CCCC-B091-BF68-4FF1-E41993EF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14页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5：双层流式回复机制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回复机制将“实时反馈”与“最终正确性”分层处理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Preview Streaming（预览层）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先把模型正在生成的内容实时展示出来（像“正在打字”）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这层可以频繁改写、覆盖，不一定入库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Block Streaming（正式层）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2" y="5214571"/>
            <a:ext cx="11841815" cy="10491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9EDE05-0920-0CEE-5DA3-B76014352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15页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5：双层流式回复机制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Block </a:t>
            </a:r>
            <a:r>
              <a:rPr sz="1200" b="0" dirty="0" err="1">
                <a:solidFill>
                  <a:srgbClr val="5F5F5F"/>
                </a:solidFill>
              </a:rPr>
              <a:t>Streaming（真实消息块）机制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按 text_end 或 message_end 刷出块消息。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min/max 字符阈值 + break preference（段落/换行/句子）。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代码块分割保护：必要时自动闭合与重开 fence。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可配置 coalesce，避免碎片化“连发刷屏”。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Preview Streaming（临时预览）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9755670-75DD-D5FE-971E-91D1AFBCA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16页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6：运行时安全三层栈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运行时安全三层栈：Sandbox（执行环境</a:t>
            </a:r>
            <a:r>
              <a:rPr sz="1200" b="0" dirty="0">
                <a:solidFill>
                  <a:srgbClr val="5F5F5F"/>
                </a:solidFill>
              </a:rPr>
              <a:t>）× Tool </a:t>
            </a:r>
            <a:r>
              <a:rPr sz="1200" b="0" dirty="0" err="1">
                <a:solidFill>
                  <a:srgbClr val="5F5F5F"/>
                </a:solidFill>
              </a:rPr>
              <a:t>Policy（权限策略</a:t>
            </a:r>
            <a:r>
              <a:rPr sz="1200" b="0" dirty="0">
                <a:solidFill>
                  <a:srgbClr val="5F5F5F"/>
                </a:solidFill>
              </a:rPr>
              <a:t>）× </a:t>
            </a:r>
            <a:r>
              <a:rPr sz="1200" b="0" dirty="0" err="1">
                <a:solidFill>
                  <a:srgbClr val="5F5F5F"/>
                </a:solidFill>
              </a:rPr>
              <a:t>Elevated（特权通道</a:t>
            </a:r>
            <a:r>
              <a:rPr sz="1200" b="0" dirty="0">
                <a:solidFill>
                  <a:srgbClr val="5F5F5F"/>
                </a:solidFill>
              </a:rPr>
              <a:t>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764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dirty="0">
                <a:solidFill>
                  <a:srgbClr val="2D2D2D"/>
                </a:solidFill>
              </a:rPr>
              <a:t>• </a:t>
            </a:r>
            <a:r>
              <a:rPr sz="1500" b="1" dirty="0" err="1">
                <a:solidFill>
                  <a:srgbClr val="2D2D2D"/>
                </a:solidFill>
              </a:rPr>
              <a:t>Elevated（仅</a:t>
            </a:r>
            <a:r>
              <a:rPr sz="1500" b="1" dirty="0">
                <a:solidFill>
                  <a:srgbClr val="2D2D2D"/>
                </a:solidFill>
              </a:rPr>
              <a:t> exec </a:t>
            </a:r>
            <a:r>
              <a:rPr sz="1500" b="1" dirty="0" err="1">
                <a:solidFill>
                  <a:srgbClr val="2D2D2D"/>
                </a:solidFill>
              </a:rPr>
              <a:t>特权通道</a:t>
            </a:r>
            <a:r>
              <a:rPr sz="1500" b="1" dirty="0">
                <a:solidFill>
                  <a:srgbClr val="2D2D2D"/>
                </a:solidFill>
              </a:rPr>
              <a:t>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dirty="0">
                <a:solidFill>
                  <a:srgbClr val="2D2D2D"/>
                </a:solidFill>
              </a:rPr>
              <a:t>• Tool </a:t>
            </a:r>
            <a:r>
              <a:rPr sz="1500" b="1" dirty="0" err="1">
                <a:solidFill>
                  <a:srgbClr val="2D2D2D"/>
                </a:solidFill>
              </a:rPr>
              <a:t>Policy（allow</a:t>
            </a:r>
            <a:r>
              <a:rPr sz="1500" b="1" dirty="0">
                <a:solidFill>
                  <a:srgbClr val="2D2D2D"/>
                </a:solidFill>
              </a:rPr>
              <a:t>/deny/group）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dirty="0">
                <a:solidFill>
                  <a:srgbClr val="2D2D2D"/>
                </a:solidFill>
              </a:rPr>
              <a:t>• </a:t>
            </a:r>
            <a:r>
              <a:rPr sz="1500" b="1" dirty="0" err="1">
                <a:solidFill>
                  <a:srgbClr val="2D2D2D"/>
                </a:solidFill>
              </a:rPr>
              <a:t>Sandbox（host</a:t>
            </a:r>
            <a:r>
              <a:rPr sz="1500" b="1" dirty="0">
                <a:solidFill>
                  <a:srgbClr val="2D2D2D"/>
                </a:solidFill>
              </a:rPr>
              <a:t> vs docker）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工程价值</a:t>
            </a:r>
            <a:endParaRPr sz="1500" b="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把“执行位置”和“权限策略”解耦，避免单开关幻觉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3F1C7CD-BB83-B3D7-510F-6328EE7B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17页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7：system.run </a:t>
            </a:r>
            <a:r>
              <a:rPr sz="2700" b="1" dirty="0" err="1">
                <a:solidFill>
                  <a:schemeClr val="accent1"/>
                </a:solidFill>
              </a:rPr>
              <a:t>策略引擎（非布尔开关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system.run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会对每次命令执行进行多条件联合决策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先解析命令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看真实要执行什么，是否是 bash -c / cmd /c 这类包装绕过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匹配策略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对照 allowlist、规则、风险级别、当前上下文（谁发起、在哪个会话/节点）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1" y="5037085"/>
            <a:ext cx="12162639" cy="12257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1051D48-79CE-9E87-9CF2-D688348E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18页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7：system.run </a:t>
            </a:r>
            <a:r>
              <a:rPr sz="2700" b="1" dirty="0" err="1">
                <a:solidFill>
                  <a:schemeClr val="accent1"/>
                </a:solidFill>
              </a:rPr>
              <a:t>策略引擎（非布尔开关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命令执行结果由</a:t>
            </a:r>
            <a:r>
              <a:rPr sz="1200" b="0" dirty="0">
                <a:solidFill>
                  <a:srgbClr val="5F5F5F"/>
                </a:solidFill>
              </a:rPr>
              <a:t> security / ask / allowlist / approval </a:t>
            </a:r>
            <a:r>
              <a:rPr sz="1200" b="0" dirty="0" err="1">
                <a:solidFill>
                  <a:srgbClr val="5F5F5F"/>
                </a:solidFill>
              </a:rPr>
              <a:t>联合求值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命令解析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argv/shell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allowlist 分析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匹配与风险判定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审批策略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44B745F9-71DC-2E5D-9258-B5FAFCCC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19页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8：模型容灾 = profile </a:t>
            </a:r>
            <a:r>
              <a:rPr sz="2700" b="1" dirty="0" err="1">
                <a:solidFill>
                  <a:schemeClr val="accent1"/>
                </a:solidFill>
              </a:rPr>
              <a:t>轮转</a:t>
            </a:r>
            <a:r>
              <a:rPr sz="2700" b="1" dirty="0">
                <a:solidFill>
                  <a:schemeClr val="accent1"/>
                </a:solidFill>
              </a:rPr>
              <a:t> + fallback </a:t>
            </a:r>
            <a:r>
              <a:rPr sz="2700" b="1" dirty="0" err="1">
                <a:solidFill>
                  <a:schemeClr val="accent1"/>
                </a:solidFill>
              </a:rPr>
              <a:t>链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OpenClaw </a:t>
            </a:r>
            <a:r>
              <a:rPr sz="1200" b="0" dirty="0" err="1">
                <a:solidFill>
                  <a:srgbClr val="5F5F5F"/>
                </a:solidFill>
              </a:rPr>
              <a:t>的模型容灾采用两级故障切换，而非单点失败即切换模型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profile 轮转（同 provider 内切换“凭证配置”）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先在当前 provider/模型下，换另一套 auth profile（另一把 key / 另一个 OAuth 账号）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典型顺序：先用当前 profile，失败后切下一 profile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失败会打标记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04" y="4891314"/>
            <a:ext cx="11096591" cy="17380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3D231C2-10C8-78C7-D9B3-F7BAA037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20页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8：模型容灾 = profile </a:t>
            </a:r>
            <a:r>
              <a:rPr sz="2700" b="1" dirty="0" err="1">
                <a:solidFill>
                  <a:schemeClr val="accent1"/>
                </a:solidFill>
              </a:rPr>
              <a:t>轮转</a:t>
            </a:r>
            <a:r>
              <a:rPr sz="2700" b="1" dirty="0">
                <a:solidFill>
                  <a:schemeClr val="accent1"/>
                </a:solidFill>
              </a:rPr>
              <a:t> + fallback </a:t>
            </a:r>
            <a:r>
              <a:rPr sz="2700" b="1" dirty="0" err="1">
                <a:solidFill>
                  <a:schemeClr val="accent1"/>
                </a:solidFill>
              </a:rPr>
              <a:t>链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auth </a:t>
            </a:r>
            <a:r>
              <a:rPr sz="1200" b="0" dirty="0" err="1">
                <a:solidFill>
                  <a:srgbClr val="5F5F5F"/>
                </a:solidFill>
              </a:rPr>
              <a:t>profiles（OAuth</a:t>
            </a:r>
            <a:r>
              <a:rPr sz="1200" b="0" dirty="0">
                <a:solidFill>
                  <a:srgbClr val="5F5F5F"/>
                </a:solidFill>
              </a:rPr>
              <a:t>/API </a:t>
            </a:r>
            <a:r>
              <a:rPr sz="1200" b="0" dirty="0" err="1">
                <a:solidFill>
                  <a:srgbClr val="5F5F5F"/>
                </a:solidFill>
              </a:rPr>
              <a:t>key）按既定规则轮转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Provider 内部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对 rate-limit/auth/billing 建立 cooldown/disable 状态。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会话维度 profile stickiness，优先稳定缓存与上下文连续性。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失败后优先 provider 内切换，再决定是否跨模型 fallback。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agents.defaults.model.primary + fallbacks 按序尝试。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5B94C077-851D-F68F-4ECE-414EBF7B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21页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9：OpenAI / </a:t>
            </a:r>
            <a:r>
              <a:rPr sz="2700" b="1" dirty="0" err="1">
                <a:solidFill>
                  <a:schemeClr val="accent1"/>
                </a:solidFill>
              </a:rPr>
              <a:t>OpenResponses</a:t>
            </a:r>
            <a:r>
              <a:rPr sz="2700" b="1" dirty="0">
                <a:solidFill>
                  <a:schemeClr val="accent1"/>
                </a:solidFill>
              </a:rPr>
              <a:t> </a:t>
            </a:r>
            <a:r>
              <a:rPr sz="2700" b="1" dirty="0" err="1">
                <a:solidFill>
                  <a:schemeClr val="accent1"/>
                </a:solidFill>
              </a:rPr>
              <a:t>兼容网关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OpenClaw </a:t>
            </a:r>
            <a:r>
              <a:rPr sz="1200" b="0" dirty="0" err="1">
                <a:solidFill>
                  <a:srgbClr val="5F5F5F"/>
                </a:solidFill>
              </a:rPr>
              <a:t>在网关层提供“标准</a:t>
            </a:r>
            <a:r>
              <a:rPr sz="1200" b="0" dirty="0">
                <a:solidFill>
                  <a:srgbClr val="5F5F5F"/>
                </a:solidFill>
              </a:rPr>
              <a:t> API </a:t>
            </a:r>
            <a:r>
              <a:rPr sz="1200" b="0" dirty="0" err="1">
                <a:solidFill>
                  <a:srgbClr val="5F5F5F"/>
                </a:solidFill>
              </a:rPr>
              <a:t>外壳</a:t>
            </a:r>
            <a:r>
              <a:rPr sz="1200" b="0" dirty="0">
                <a:solidFill>
                  <a:srgbClr val="5F5F5F"/>
                </a:solidFill>
              </a:rPr>
              <a:t>”，</a:t>
            </a:r>
            <a:r>
              <a:rPr sz="1200" b="0" dirty="0" err="1">
                <a:solidFill>
                  <a:srgbClr val="5F5F5F"/>
                </a:solidFill>
              </a:rPr>
              <a:t>使外部客户端可按</a:t>
            </a:r>
            <a:r>
              <a:rPr sz="1200" b="0" dirty="0">
                <a:solidFill>
                  <a:srgbClr val="5F5F5F"/>
                </a:solidFill>
              </a:rPr>
              <a:t> OpenAI/</a:t>
            </a:r>
            <a:r>
              <a:rPr sz="1200" b="0" dirty="0" err="1">
                <a:solidFill>
                  <a:srgbClr val="5F5F5F"/>
                </a:solidFill>
              </a:rPr>
              <a:t>OpenResponses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习惯接入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OpenClaw 在网关层提供“标准 API 外壳”，让外部客户端按 OpenAI/OpenResponses 习惯调用，但内部仍走同一套 Agent 执行内核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可以这样理解为“两个门面，一个引擎”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门面 1：POST /v1/chat/completions（OpenAI 兼容）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openai-http.ts:202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49" y="5214571"/>
            <a:ext cx="11659301" cy="9644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C55F743-0216-9006-5F05-7995BE92F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22页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9：OpenAI / </a:t>
            </a:r>
            <a:r>
              <a:rPr sz="2700" b="1" dirty="0" err="1">
                <a:solidFill>
                  <a:schemeClr val="accent1"/>
                </a:solidFill>
              </a:rPr>
              <a:t>OpenResponses</a:t>
            </a:r>
            <a:r>
              <a:rPr sz="2700" b="1" dirty="0">
                <a:solidFill>
                  <a:schemeClr val="accent1"/>
                </a:solidFill>
              </a:rPr>
              <a:t> </a:t>
            </a:r>
            <a:r>
              <a:rPr sz="2700" b="1" dirty="0" err="1">
                <a:solidFill>
                  <a:schemeClr val="accent1"/>
                </a:solidFill>
              </a:rPr>
              <a:t>兼容网关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POST /v1/chat/</a:t>
            </a:r>
            <a:r>
              <a:rPr sz="1200" b="0" dirty="0" err="1">
                <a:solidFill>
                  <a:srgbClr val="5F5F5F"/>
                </a:solidFill>
              </a:rPr>
              <a:t>completions（OpenAI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兼容）接口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入口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POST /v1/responses（OpenResponses 兼容，支持 item/tool/image/file 流程）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与 Gateway auth、agent routing、sessionKey 规则保持一致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请求在内部仍走统一 agentCommand 链路，减少实现分叉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stream 模式统一映射为 SSE 事件输出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B0A520F1-5429-3C26-E5E9-F7A651F3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23页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10：Skills </a:t>
            </a:r>
            <a:r>
              <a:rPr sz="2700" b="1" dirty="0" err="1">
                <a:solidFill>
                  <a:schemeClr val="accent1"/>
                </a:solidFill>
              </a:rPr>
              <a:t>平台（分层加载</a:t>
            </a:r>
            <a:r>
              <a:rPr sz="2700" b="1" dirty="0">
                <a:solidFill>
                  <a:schemeClr val="accent1"/>
                </a:solidFill>
              </a:rPr>
              <a:t> + </a:t>
            </a:r>
            <a:r>
              <a:rPr sz="2700" b="1" dirty="0" err="1">
                <a:solidFill>
                  <a:schemeClr val="accent1"/>
                </a:solidFill>
              </a:rPr>
              <a:t>动态刷新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Skills </a:t>
            </a:r>
            <a:r>
              <a:rPr sz="1200" b="0" dirty="0" err="1">
                <a:solidFill>
                  <a:srgbClr val="5F5F5F"/>
                </a:solidFill>
              </a:rPr>
              <a:t>已从“静态提示词工程”升级为可配置、可门控、可热更新的系统组件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把 Skills 从“静态提示词文件”升级成“有优先级、有准入规则、可热更新的能力平台”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分层加载具体是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技能来源不是一处，而是多层合并：extra/plugin、bundled、~/.openclaw/skills、~/.agents/skills、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同名技能按优先级覆盖，后层覆盖前层，所以你可以用 workspace 版本覆盖内置版本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867075"/>
            <a:ext cx="10085541" cy="16800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2407D4D-6C9B-D642-ACDF-4809686B7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24页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10：Skills </a:t>
            </a:r>
            <a:r>
              <a:rPr sz="2700" b="1" dirty="0" err="1">
                <a:solidFill>
                  <a:schemeClr val="accent1"/>
                </a:solidFill>
              </a:rPr>
              <a:t>平台（分层加载</a:t>
            </a:r>
            <a:r>
              <a:rPr sz="2700" b="1" dirty="0">
                <a:solidFill>
                  <a:schemeClr val="accent1"/>
                </a:solidFill>
              </a:rPr>
              <a:t> + </a:t>
            </a:r>
            <a:r>
              <a:rPr sz="2700" b="1" dirty="0" err="1">
                <a:solidFill>
                  <a:schemeClr val="accent1"/>
                </a:solidFill>
              </a:rPr>
              <a:t>动态刷新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Skills </a:t>
            </a:r>
            <a:r>
              <a:rPr sz="1200" b="0" dirty="0" err="1">
                <a:solidFill>
                  <a:srgbClr val="5F5F5F"/>
                </a:solidFill>
              </a:rPr>
              <a:t>已从“静态提示词工程”升级为可配置、可门控、可热更新的系统组件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6547104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36208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把 Skills 从“静态提示词文件”升级成“有优先级、有准入规则、可热更新的能力平台”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分层加载具体是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技能来源不是一处，而是多层合并：extra/plugin、bundled、~/.openclaw/skills、~/.agents/skills、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同名技能按优先级覆盖，后层覆盖前层，所以你可以用 workspace 版本覆盖内置版本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加载后还会做门控筛选，不是全放行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3488" y="1389888"/>
            <a:ext cx="4665472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7709" y="1575457"/>
            <a:ext cx="2862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 err="1">
                <a:solidFill>
                  <a:srgbClr val="5F5F5F"/>
                </a:solidFill>
              </a:rPr>
              <a:t>截图ClawHub</a:t>
            </a:r>
            <a:endParaRPr sz="1200" b="1" dirty="0">
              <a:solidFill>
                <a:srgbClr val="5F5F5F"/>
              </a:solidFill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184415"/>
            <a:ext cx="4387088" cy="275906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8F838FF-8437-1F80-566B-D7FC43911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25页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10：Skills </a:t>
            </a:r>
            <a:r>
              <a:rPr sz="2700" b="1" dirty="0" err="1">
                <a:solidFill>
                  <a:schemeClr val="accent1"/>
                </a:solidFill>
              </a:rPr>
              <a:t>平台（分层加载</a:t>
            </a:r>
            <a:r>
              <a:rPr sz="2700" b="1" dirty="0">
                <a:solidFill>
                  <a:schemeClr val="accent1"/>
                </a:solidFill>
              </a:rPr>
              <a:t> + </a:t>
            </a:r>
            <a:r>
              <a:rPr sz="2700" b="1" dirty="0" err="1">
                <a:solidFill>
                  <a:schemeClr val="accent1"/>
                </a:solidFill>
              </a:rPr>
              <a:t>动态刷新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Skills </a:t>
            </a:r>
            <a:r>
              <a:rPr sz="1200" b="0" dirty="0" err="1">
                <a:solidFill>
                  <a:srgbClr val="5F5F5F"/>
                </a:solidFill>
              </a:rPr>
              <a:t>已从“静态提示词工程”升级为可配置、可门控、可热更新的系统组件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workspace/skills（最高优先级）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~/.openclaw/skills（managed）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bundled skills（内置）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extraDirs + plugin skills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机制亮点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B7E5EECC-1FBB-C333-3CA2-79C3BA46B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26页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11：媒体管线的安全与生命周期治理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5F5F5F"/>
                </a:solidFill>
              </a:rPr>
              <a:t>OpenClaw </a:t>
            </a:r>
            <a:r>
              <a:rPr sz="1200" b="0" dirty="0" err="1">
                <a:solidFill>
                  <a:srgbClr val="5F5F5F"/>
                </a:solidFill>
              </a:rPr>
              <a:t>将媒体输入视为“潜在攻击面”进行安全治理，而非普通附件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把图片/文件当成“不可信输入 + 临时资产”来管理，而不是普通附件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可以拆成两部分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安全治理（先安检）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URL 输入先过防护：域名策略、DNS/IP 检查、重定向限制，防 SSRF（防探测内网）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5110368"/>
            <a:ext cx="12118848" cy="10029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E216E8C-05D2-D6AF-3BB3-B8BC91EF3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27页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创新</a:t>
            </a:r>
            <a:r>
              <a:rPr sz="2700" b="1" dirty="0">
                <a:solidFill>
                  <a:schemeClr val="accent1"/>
                </a:solidFill>
              </a:rPr>
              <a:t> 11：媒体管线的安全与生命周期治理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媒体识别采用</a:t>
            </a:r>
            <a:r>
              <a:rPr sz="1200" b="0" dirty="0">
                <a:solidFill>
                  <a:srgbClr val="5F5F5F"/>
                </a:solidFill>
              </a:rPr>
              <a:t> magic / header / </a:t>
            </a:r>
            <a:r>
              <a:rPr sz="1200" b="0" dirty="0" err="1">
                <a:solidFill>
                  <a:srgbClr val="5F5F5F"/>
                </a:solidFill>
              </a:rPr>
              <a:t>ext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三重校验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URL 输入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SSRF Guard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DNS/IP/重定向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响应限流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maxBytes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A88251D-77BD-0388-6542-FD1920CBF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28页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可靠性与运维：把长期运行作为一等公民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可靠性治理依赖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pruneAfter</a:t>
            </a:r>
            <a:r>
              <a:rPr sz="1200" b="0" dirty="0">
                <a:solidFill>
                  <a:srgbClr val="5F5F5F"/>
                </a:solidFill>
              </a:rPr>
              <a:t> / </a:t>
            </a:r>
            <a:r>
              <a:rPr sz="1200" b="0" dirty="0" err="1">
                <a:solidFill>
                  <a:srgbClr val="5F5F5F"/>
                </a:solidFill>
              </a:rPr>
              <a:t>maxEntries</a:t>
            </a:r>
            <a:r>
              <a:rPr sz="1200" b="0" dirty="0">
                <a:solidFill>
                  <a:srgbClr val="5F5F5F"/>
                </a:solidFill>
              </a:rPr>
              <a:t> / </a:t>
            </a:r>
            <a:r>
              <a:rPr sz="1200" b="0" dirty="0" err="1">
                <a:solidFill>
                  <a:srgbClr val="5F5F5F"/>
                </a:solidFill>
              </a:rPr>
              <a:t>rotateBytes</a:t>
            </a:r>
            <a:r>
              <a:rPr sz="1200" b="0" dirty="0">
                <a:solidFill>
                  <a:srgbClr val="5F5F5F"/>
                </a:solidFill>
              </a:rPr>
              <a:t> / </a:t>
            </a:r>
            <a:r>
              <a:rPr sz="1200" b="0" dirty="0" err="1">
                <a:solidFill>
                  <a:srgbClr val="5F5F5F"/>
                </a:solidFill>
              </a:rPr>
              <a:t>maxDiskBytes</a:t>
            </a:r>
            <a:r>
              <a:rPr sz="1200" b="0" dirty="0">
                <a:solidFill>
                  <a:srgbClr val="5F5F5F"/>
                </a:solidFill>
              </a:rPr>
              <a:t> </a:t>
            </a:r>
            <a:r>
              <a:rPr sz="1200" b="0" dirty="0" err="1">
                <a:solidFill>
                  <a:srgbClr val="5F5F5F"/>
                </a:solidFill>
              </a:rPr>
              <a:t>等关键参数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Session 维护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cleanup 支持 warn 与 enforce 模式。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避免会话索引与转录文件无限膨胀。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Context 治理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compaction：持久化摘要进入 JSONL。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02A04834-8EA1-55EC-21CB-FD3A8E9D8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29页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工程规模证据（openclaw</a:t>
            </a:r>
            <a:r>
              <a:rPr sz="2700" b="1" dirty="0">
                <a:solidFill>
                  <a:schemeClr val="accent1"/>
                </a:solidFill>
              </a:rPr>
              <a:t> </a:t>
            </a:r>
            <a:r>
              <a:rPr sz="2700" b="1" dirty="0" err="1">
                <a:solidFill>
                  <a:schemeClr val="accent1"/>
                </a:solidFill>
              </a:rPr>
              <a:t>本地统计</a:t>
            </a:r>
            <a:r>
              <a:rPr sz="2700" b="1" dirty="0">
                <a:solidFill>
                  <a:schemeClr val="accent1"/>
                </a:solidFill>
              </a:rPr>
              <a:t>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工程规模关键指标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1366：src 测试文件（*test.ts）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652：docs 文档文件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28MB：src 体量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工程启示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>
                <a:solidFill>
                  <a:srgbClr val="2D2D2D"/>
                </a:solidFill>
              </a:rPr>
              <a:t>• 复杂度足够高，架构设计重点应放在治理能力与演进稳定性，而非单次功能实现。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69B73DCE-B371-BAF7-4B5B-F5D55692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30页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chemeClr val="accent1"/>
                </a:solidFill>
              </a:rPr>
              <a:t>结论：OpenClaw</a:t>
            </a:r>
            <a:r>
              <a:rPr sz="2700" b="1" dirty="0">
                <a:solidFill>
                  <a:schemeClr val="accent1"/>
                </a:solidFill>
              </a:rPr>
              <a:t> </a:t>
            </a:r>
            <a:r>
              <a:rPr sz="2700" b="1" dirty="0" err="1">
                <a:solidFill>
                  <a:schemeClr val="accent1"/>
                </a:solidFill>
              </a:rPr>
              <a:t>的竞争力来自“系统治理能力</a:t>
            </a:r>
            <a:r>
              <a:rPr sz="2700" b="1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5F5F5F"/>
                </a:solidFill>
              </a:rPr>
              <a:t>统一控制面、确定性路由与分层安全策略共同构成其技术护城河</a:t>
            </a:r>
            <a:endParaRPr sz="1200" b="0" dirty="0">
              <a:solidFill>
                <a:srgbClr val="5F5F5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0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OpenClaw </a:t>
            </a:r>
            <a:r>
              <a:rPr sz="1500" b="0" dirty="0" err="1">
                <a:solidFill>
                  <a:srgbClr val="2D2D2D"/>
                </a:solidFill>
              </a:rPr>
              <a:t>已从“聊天机器人”进化为“个人</a:t>
            </a:r>
            <a:r>
              <a:rPr sz="1500" b="0" dirty="0">
                <a:solidFill>
                  <a:srgbClr val="2D2D2D"/>
                </a:solidFill>
              </a:rPr>
              <a:t> AI </a:t>
            </a:r>
            <a:r>
              <a:rPr sz="1500" b="0" dirty="0" err="1">
                <a:solidFill>
                  <a:srgbClr val="2D2D2D"/>
                </a:solidFill>
              </a:rPr>
              <a:t>网关操作系统</a:t>
            </a:r>
            <a:r>
              <a:rPr sz="1500" b="0" dirty="0">
                <a:solidFill>
                  <a:srgbClr val="2D2D2D"/>
                </a:solidFill>
              </a:rPr>
              <a:t>”。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其创新重心在架构语义（协议</a:t>
            </a:r>
            <a:r>
              <a:rPr sz="1500" b="0" dirty="0">
                <a:solidFill>
                  <a:srgbClr val="2D2D2D"/>
                </a:solidFill>
              </a:rPr>
              <a:t>/</a:t>
            </a:r>
            <a:r>
              <a:rPr sz="1500" b="0" dirty="0" err="1">
                <a:solidFill>
                  <a:srgbClr val="2D2D2D"/>
                </a:solidFill>
              </a:rPr>
              <a:t>路由</a:t>
            </a:r>
            <a:r>
              <a:rPr sz="1500" b="0" dirty="0">
                <a:solidFill>
                  <a:srgbClr val="2D2D2D"/>
                </a:solidFill>
              </a:rPr>
              <a:t>/</a:t>
            </a:r>
            <a:r>
              <a:rPr sz="1500" b="0" dirty="0" err="1">
                <a:solidFill>
                  <a:srgbClr val="2D2D2D"/>
                </a:solidFill>
              </a:rPr>
              <a:t>会话</a:t>
            </a:r>
            <a:r>
              <a:rPr sz="1500" b="0" dirty="0">
                <a:solidFill>
                  <a:srgbClr val="2D2D2D"/>
                </a:solidFill>
              </a:rPr>
              <a:t>/</a:t>
            </a:r>
            <a:r>
              <a:rPr sz="1500" b="0" dirty="0" err="1">
                <a:solidFill>
                  <a:srgbClr val="2D2D2D"/>
                </a:solidFill>
              </a:rPr>
              <a:t>策略</a:t>
            </a:r>
            <a:r>
              <a:rPr sz="1500" b="0" dirty="0">
                <a:solidFill>
                  <a:srgbClr val="2D2D2D"/>
                </a:solidFill>
              </a:rPr>
              <a:t>），</a:t>
            </a:r>
            <a:r>
              <a:rPr sz="1500" b="0" dirty="0" err="1">
                <a:solidFill>
                  <a:srgbClr val="2D2D2D"/>
                </a:solidFill>
              </a:rPr>
              <a:t>不是单一模型能力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产品构建启示：优先迁移治理框架，再做功能扩展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sz="1500" b="0" dirty="0" err="1">
                <a:solidFill>
                  <a:srgbClr val="2D2D2D"/>
                </a:solidFill>
              </a:rPr>
              <a:t>这能在复杂度上升时保持可维护、可审计、可持续迭代</a:t>
            </a:r>
            <a:r>
              <a:rPr sz="1500" b="0" dirty="0">
                <a:solidFill>
                  <a:srgbClr val="2D2D2D"/>
                </a:solidFill>
              </a:rPr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64E1B29D-484A-CD17-0B95-A7F734ED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31页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A9F3-8939-EB11-82CD-F3A20F32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CB2000-14E8-EDDC-E410-0F52E3F5EE41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4E4E5-AB6D-851D-792F-A461C51A65DA}"/>
              </a:ext>
            </a:extLst>
          </p:cNvPr>
          <p:cNvSpPr txBox="1"/>
          <p:nvPr/>
        </p:nvSpPr>
        <p:spPr>
          <a:xfrm>
            <a:off x="658368" y="228600"/>
            <a:ext cx="7726679" cy="504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 dirty="0" err="1">
                <a:solidFill>
                  <a:schemeClr val="accent1"/>
                </a:solidFill>
              </a:rPr>
              <a:t>挑战</a:t>
            </a:r>
            <a:r>
              <a:rPr sz="2700" b="1" dirty="0" err="1">
                <a:solidFill>
                  <a:schemeClr val="accent1"/>
                </a:solidFill>
              </a:rPr>
              <a:t>：OpenClaw</a:t>
            </a:r>
            <a:r>
              <a:rPr sz="2700" b="1" dirty="0">
                <a:solidFill>
                  <a:schemeClr val="accent1"/>
                </a:solidFill>
              </a:rPr>
              <a:t> </a:t>
            </a:r>
            <a:r>
              <a:rPr lang="en-US" sz="2700" b="1" dirty="0" err="1">
                <a:solidFill>
                  <a:schemeClr val="accent1"/>
                </a:solidFill>
              </a:rPr>
              <a:t>目前的主要问题</a:t>
            </a:r>
            <a:endParaRPr sz="2700"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264039-6497-ACE9-F714-F447FC4D9CA5}"/>
              </a:ext>
            </a:extLst>
          </p:cNvPr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C7919-84D5-17A7-5E98-637DD2F65DBA}"/>
              </a:ext>
            </a:extLst>
          </p:cNvPr>
          <p:cNvSpPr txBox="1"/>
          <p:nvPr/>
        </p:nvSpPr>
        <p:spPr>
          <a:xfrm>
            <a:off x="804672" y="1499616"/>
            <a:ext cx="9765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F5F5F"/>
                </a:solidFill>
              </a:rPr>
              <a:t>核心要点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12E18-458C-6424-AC5C-FD40D4094273}"/>
              </a:ext>
            </a:extLst>
          </p:cNvPr>
          <p:cNvSpPr txBox="1"/>
          <p:nvPr/>
        </p:nvSpPr>
        <p:spPr>
          <a:xfrm>
            <a:off x="822960" y="1783080"/>
            <a:ext cx="9738360" cy="2120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0" dirty="0">
                <a:solidFill>
                  <a:srgbClr val="2D2D2D"/>
                </a:solidFill>
              </a:rPr>
              <a:t>• </a:t>
            </a:r>
            <a:r>
              <a:rPr lang="en-US" sz="1500" b="0" dirty="0" err="1">
                <a:solidFill>
                  <a:srgbClr val="2D2D2D"/>
                </a:solidFill>
              </a:rPr>
              <a:t>安全性</a:t>
            </a:r>
            <a:r>
              <a:rPr lang="zh-CN" altLang="en-US" sz="1500" dirty="0">
                <a:solidFill>
                  <a:srgbClr val="2D2D2D"/>
                </a:solidFill>
              </a:rPr>
              <a:t>：</a:t>
            </a:r>
            <a:r>
              <a:rPr lang="en-US" altLang="zh-CN" sz="1500" dirty="0">
                <a:solidFill>
                  <a:srgbClr val="2D2D2D"/>
                </a:solidFill>
              </a:rPr>
              <a:t>OpenClaw</a:t>
            </a:r>
            <a:r>
              <a:rPr lang="zh-CN" altLang="en-US" sz="1500" dirty="0">
                <a:solidFill>
                  <a:srgbClr val="2D2D2D"/>
                </a:solidFill>
              </a:rPr>
              <a:t>的强大能力来自于对个人电脑控制权限的极致释放，但也不可避免地带来了诸多安全风险：比如</a:t>
            </a:r>
            <a:r>
              <a:rPr lang="en-US" altLang="zh-CN" sz="1500" dirty="0">
                <a:solidFill>
                  <a:srgbClr val="2D2D2D"/>
                </a:solidFill>
              </a:rPr>
              <a:t>API</a:t>
            </a:r>
            <a:r>
              <a:rPr lang="zh-CN" altLang="en-US" sz="1500" dirty="0">
                <a:solidFill>
                  <a:srgbClr val="2D2D2D"/>
                </a:solidFill>
              </a:rPr>
              <a:t> </a:t>
            </a:r>
            <a:r>
              <a:rPr lang="en-US" altLang="zh-CN" sz="1500" dirty="0">
                <a:solidFill>
                  <a:srgbClr val="2D2D2D"/>
                </a:solidFill>
              </a:rPr>
              <a:t>keys</a:t>
            </a:r>
            <a:r>
              <a:rPr lang="zh-CN" altLang="en-US" sz="1500" dirty="0">
                <a:solidFill>
                  <a:srgbClr val="2D2D2D"/>
                </a:solidFill>
              </a:rPr>
              <a:t>泄露、删除用户重要信息等。目前代码库中能找到的明显安全漏洞有</a:t>
            </a:r>
            <a:r>
              <a:rPr lang="en-US" altLang="zh-CN" sz="1500" dirty="0">
                <a:solidFill>
                  <a:srgbClr val="2D2D2D"/>
                </a:solidFill>
              </a:rPr>
              <a:t>500+</a:t>
            </a:r>
            <a:r>
              <a:rPr lang="zh-CN" altLang="en-US" sz="1500" dirty="0">
                <a:solidFill>
                  <a:srgbClr val="2D2D2D"/>
                </a:solidFill>
              </a:rPr>
              <a:t>个。</a:t>
            </a:r>
            <a:endParaRPr lang="en-US" sz="1500" b="0" dirty="0">
              <a:solidFill>
                <a:srgbClr val="2D2D2D"/>
              </a:solidFill>
            </a:endParaRP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altLang="zh-CN" sz="1500" dirty="0">
                <a:solidFill>
                  <a:srgbClr val="2D2D2D"/>
                </a:solidFill>
              </a:rPr>
              <a:t>• </a:t>
            </a:r>
            <a:r>
              <a:rPr lang="zh-CN" altLang="en-US" sz="1500" dirty="0">
                <a:solidFill>
                  <a:srgbClr val="2D2D2D"/>
                </a:solidFill>
              </a:rPr>
              <a:t>易用性：</a:t>
            </a:r>
            <a:r>
              <a:rPr lang="en-US" altLang="zh-CN" sz="1500" dirty="0">
                <a:solidFill>
                  <a:srgbClr val="2D2D2D"/>
                </a:solidFill>
              </a:rPr>
              <a:t>OpenClaw</a:t>
            </a:r>
            <a:r>
              <a:rPr lang="zh-CN" altLang="en-US" sz="1500" dirty="0">
                <a:solidFill>
                  <a:srgbClr val="2D2D2D"/>
                </a:solidFill>
              </a:rPr>
              <a:t>配置困难且复杂。虽然现在很多云厂商提供“一键部署”服务，但是云端沙盒仍然需要用户手动配置各种个人信息的连接。整体时间消耗通常为数个小时。</a:t>
            </a:r>
            <a:endParaRPr lang="en-US" sz="1500" b="0" dirty="0">
              <a:solidFill>
                <a:srgbClr val="2D2D2D"/>
              </a:solidFill>
            </a:endParaRP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lang="en-US" sz="1500" dirty="0">
                <a:solidFill>
                  <a:srgbClr val="2D2D2D"/>
                </a:solidFill>
              </a:rPr>
              <a:t>•</a:t>
            </a:r>
            <a:r>
              <a:rPr lang="zh-CN" altLang="en-US" sz="1500" dirty="0">
                <a:solidFill>
                  <a:srgbClr val="2D2D2D"/>
                </a:solidFill>
              </a:rPr>
              <a:t> </a:t>
            </a:r>
            <a:r>
              <a:rPr lang="en-US" altLang="zh-CN" sz="1500" dirty="0">
                <a:solidFill>
                  <a:srgbClr val="2D2D2D"/>
                </a:solidFill>
              </a:rPr>
              <a:t>token</a:t>
            </a:r>
            <a:r>
              <a:rPr lang="zh-CN" altLang="en-US" sz="1500" dirty="0">
                <a:solidFill>
                  <a:srgbClr val="2D2D2D"/>
                </a:solidFill>
              </a:rPr>
              <a:t>消耗：</a:t>
            </a:r>
            <a:r>
              <a:rPr lang="en-US" altLang="zh-CN" sz="1500" dirty="0">
                <a:solidFill>
                  <a:srgbClr val="2D2D2D"/>
                </a:solidFill>
              </a:rPr>
              <a:t>OpenClaw</a:t>
            </a:r>
            <a:r>
              <a:rPr lang="zh-CN" altLang="en-US" sz="1500" dirty="0">
                <a:solidFill>
                  <a:srgbClr val="2D2D2D"/>
                </a:solidFill>
              </a:rPr>
              <a:t>的主张是“个人随时待命的</a:t>
            </a:r>
            <a:r>
              <a:rPr lang="en-US" altLang="zh-CN" sz="1500" dirty="0">
                <a:solidFill>
                  <a:srgbClr val="2D2D2D"/>
                </a:solidFill>
              </a:rPr>
              <a:t>24h</a:t>
            </a:r>
            <a:r>
              <a:rPr lang="zh-CN" altLang="en-US" sz="1500" dirty="0">
                <a:solidFill>
                  <a:srgbClr val="2D2D2D"/>
                </a:solidFill>
              </a:rPr>
              <a:t>助理”，意味着</a:t>
            </a:r>
            <a:r>
              <a:rPr lang="en-US" altLang="zh-CN" sz="1500" dirty="0">
                <a:solidFill>
                  <a:srgbClr val="2D2D2D"/>
                </a:solidFill>
              </a:rPr>
              <a:t>OpenClaw</a:t>
            </a:r>
            <a:r>
              <a:rPr lang="zh-CN" altLang="en-US" sz="1500" dirty="0">
                <a:solidFill>
                  <a:srgbClr val="2D2D2D"/>
                </a:solidFill>
              </a:rPr>
              <a:t>会反复触发</a:t>
            </a:r>
            <a:r>
              <a:rPr lang="en-US" altLang="zh-CN" sz="1500" dirty="0">
                <a:solidFill>
                  <a:srgbClr val="2D2D2D"/>
                </a:solidFill>
              </a:rPr>
              <a:t>agentic</a:t>
            </a:r>
            <a:r>
              <a:rPr lang="zh-CN" altLang="en-US" sz="1500" dirty="0">
                <a:solidFill>
                  <a:srgbClr val="2D2D2D"/>
                </a:solidFill>
              </a:rPr>
              <a:t> </a:t>
            </a:r>
            <a:r>
              <a:rPr lang="en-US" altLang="zh-CN" sz="1500" dirty="0">
                <a:solidFill>
                  <a:srgbClr val="2D2D2D"/>
                </a:solidFill>
              </a:rPr>
              <a:t>workflow</a:t>
            </a:r>
            <a:r>
              <a:rPr lang="zh-CN" altLang="en-US" sz="1500" dirty="0">
                <a:solidFill>
                  <a:srgbClr val="2D2D2D"/>
                </a:solidFill>
              </a:rPr>
              <a:t>以迎合用户。产生的后果是</a:t>
            </a:r>
            <a:r>
              <a:rPr lang="en-US" altLang="zh-CN" sz="1500" dirty="0">
                <a:solidFill>
                  <a:srgbClr val="2D2D2D"/>
                </a:solidFill>
              </a:rPr>
              <a:t>token</a:t>
            </a:r>
            <a:r>
              <a:rPr lang="zh-CN" altLang="en-US" sz="1500" dirty="0">
                <a:solidFill>
                  <a:srgbClr val="2D2D2D"/>
                </a:solidFill>
              </a:rPr>
              <a:t>消耗量惊人，催生了</a:t>
            </a:r>
            <a:r>
              <a:rPr lang="en-US" altLang="zh-CN" sz="1500" dirty="0">
                <a:solidFill>
                  <a:srgbClr val="2D2D2D"/>
                </a:solidFill>
              </a:rPr>
              <a:t>kimi2.5</a:t>
            </a:r>
            <a:r>
              <a:rPr lang="zh-CN" altLang="en-US" sz="1500" dirty="0">
                <a:solidFill>
                  <a:srgbClr val="2D2D2D"/>
                </a:solidFill>
              </a:rPr>
              <a:t>等低价模型的火爆（被</a:t>
            </a:r>
            <a:r>
              <a:rPr lang="en-US" altLang="zh-CN" sz="1500" dirty="0">
                <a:solidFill>
                  <a:srgbClr val="2D2D2D"/>
                </a:solidFill>
              </a:rPr>
              <a:t>OpenClaw</a:t>
            </a:r>
            <a:r>
              <a:rPr lang="zh-CN" altLang="en-US" sz="1500" dirty="0">
                <a:solidFill>
                  <a:srgbClr val="2D2D2D"/>
                </a:solidFill>
              </a:rPr>
              <a:t>的火爆带动，月之暗面</a:t>
            </a:r>
            <a:r>
              <a:rPr lang="en-US" altLang="zh-CN" sz="1500" dirty="0">
                <a:solidFill>
                  <a:srgbClr val="2D2D2D"/>
                </a:solidFill>
              </a:rPr>
              <a:t>2026</a:t>
            </a:r>
            <a:r>
              <a:rPr lang="zh-CN" altLang="en-US" sz="1500" dirty="0">
                <a:solidFill>
                  <a:srgbClr val="2D2D2D"/>
                </a:solidFill>
              </a:rPr>
              <a:t>年初的</a:t>
            </a:r>
            <a:r>
              <a:rPr lang="en-US" altLang="zh-CN" sz="1500" dirty="0">
                <a:solidFill>
                  <a:srgbClr val="2D2D2D"/>
                </a:solidFill>
              </a:rPr>
              <a:t>API</a:t>
            </a:r>
            <a:r>
              <a:rPr lang="zh-CN" altLang="en-US" sz="1500" dirty="0">
                <a:solidFill>
                  <a:srgbClr val="2D2D2D"/>
                </a:solidFill>
              </a:rPr>
              <a:t>营收已经超过</a:t>
            </a:r>
            <a:r>
              <a:rPr lang="en-US" altLang="zh-CN" sz="1500" dirty="0">
                <a:solidFill>
                  <a:srgbClr val="2D2D2D"/>
                </a:solidFill>
              </a:rPr>
              <a:t>2025</a:t>
            </a:r>
            <a:r>
              <a:rPr lang="zh-CN" altLang="en-US" sz="1500" dirty="0">
                <a:solidFill>
                  <a:srgbClr val="2D2D2D"/>
                </a:solidFill>
              </a:rPr>
              <a:t>年全年的总和）。</a:t>
            </a:r>
            <a:endParaRPr sz="1500" b="0" dirty="0">
              <a:solidFill>
                <a:srgbClr val="2D2D2D"/>
              </a:solidFill>
            </a:endParaRP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4D0B5481-F2FF-C8FF-5303-A936353C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7288" y="6240463"/>
            <a:ext cx="2743200" cy="277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latin typeface="楷体"/>
              </a:rPr>
              <a:t>第 32页</a:t>
            </a:r>
          </a:p>
        </p:txBody>
      </p:sp>
    </p:spTree>
    <p:extLst>
      <p:ext uri="{BB962C8B-B14F-4D97-AF65-F5344CB8AC3E}">
        <p14:creationId xmlns:p14="http://schemas.microsoft.com/office/powerpoint/2010/main" val="3782268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730" y="1156803"/>
            <a:ext cx="3036540" cy="945576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1133061" y="4359521"/>
            <a:ext cx="10058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3"/>
          <p:cNvSpPr/>
          <p:nvPr/>
        </p:nvSpPr>
        <p:spPr>
          <a:xfrm>
            <a:off x="1062182" y="4582419"/>
            <a:ext cx="10224653" cy="65364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just" defTabSz="456565">
              <a:lnSpc>
                <a:spcPct val="150000"/>
              </a:lnSpc>
              <a:defRPr sz="1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just" defTabSz="456565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声明：本文本提供的信息仅供参考，不对任何人用此作为投资依据造成的损失负责，投资人必须意识到投资本基金的回报和风险同时存在。本文本的信息已尽力确保准确无误，但无法保证精确</a:t>
            </a: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。</a:t>
            </a:r>
            <a:r>
              <a:rPr kumimoji="0" sz="13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未经本基金的同意，不得将本文本全部或部分以任何方式传递给他人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" y="2686615"/>
            <a:ext cx="121919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为值得专注的未来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0F0F0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0F0F0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0F0F0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All the future that’s fit to focus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0F0F0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1868</Words>
  <Application>Microsoft Macintosh PowerPoint</Application>
  <PresentationFormat>Widescreen</PresentationFormat>
  <Paragraphs>265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等线</vt:lpstr>
      <vt:lpstr>楷体</vt:lpstr>
      <vt:lpstr>华文楷体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You, Bingran</cp:lastModifiedBy>
  <cp:revision>12</cp:revision>
  <dcterms:created xsi:type="dcterms:W3CDTF">2023-06-07T13:12:54Z</dcterms:created>
  <dcterms:modified xsi:type="dcterms:W3CDTF">2026-03-03T22:07:02Z</dcterms:modified>
</cp:coreProperties>
</file>