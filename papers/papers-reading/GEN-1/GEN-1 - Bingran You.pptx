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72" r:id="rId3"/>
    <p:sldId id="273" r:id="rId4"/>
    <p:sldId id="274" r:id="rId5"/>
    <p:sldId id="275" r:id="rId6"/>
    <p:sldId id="276" r:id="rId7"/>
    <p:sldId id="277" r:id="rId8"/>
    <p:sldId id="278" r:id="rId9"/>
    <p:sldId id="279" r:id="rId10"/>
    <p:sldId id="280" r:id="rId11"/>
    <p:sldId id="281" r:id="rId12"/>
    <p:sldId id="282" r:id="rId13"/>
    <p:sldId id="283" r:id="rId14"/>
    <p:sldId id="268" r:id="rId15"/>
    <p:sldId id="258" r:id="rId16"/>
    <p:sldId id="259" r:id="rId17"/>
    <p:sldId id="260" r:id="rId18"/>
    <p:sldId id="261" r:id="rId19"/>
    <p:sldId id="266" r:id="rId20"/>
    <p:sldId id="262" r:id="rId21"/>
    <p:sldId id="267" r:id="rId22"/>
    <p:sldId id="271" r:id="rId23"/>
    <p:sldId id="263" r:id="rId24"/>
    <p:sldId id="264" r:id="rId25"/>
    <p:sldId id="265" r:id="rId26"/>
  </p:sldIdLst>
  <p:sldSz cx="18288000" cy="10287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045"/>
    <p:restoredTop sz="96534"/>
  </p:normalViewPr>
  <p:slideViewPr>
    <p:cSldViewPr snapToGrid="0">
      <p:cViewPr varScale="1">
        <p:scale>
          <a:sx n="91" d="100"/>
          <a:sy n="91" d="100"/>
        </p:scale>
        <p:origin x="208"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barChart>
        <c:barDir val="col"/>
        <c:grouping val="clustered"/>
        <c:varyColors val="0"/>
        <c:ser>
          <c:idx val="0"/>
          <c:order val="0"/>
          <c:tx>
            <c:v>GEN-1</c:v>
          </c:tx>
          <c:invertIfNegative val="1"/>
          <c:cat>
            <c:strLit>
              <c:ptCount val="4"/>
              <c:pt idx="0">
                <c:v>Avg</c:v>
              </c:pt>
              <c:pt idx="1">
                <c:v>Vacuum</c:v>
              </c:pt>
              <c:pt idx="2">
                <c:v>Box fold</c:v>
              </c:pt>
              <c:pt idx="3">
                <c:v>Phone pack</c:v>
              </c:pt>
            </c:strLit>
          </c:cat>
          <c:val>
            <c:numLit>
              <c:formatCode>General</c:formatCode>
              <c:ptCount val="4"/>
              <c:pt idx="0">
                <c:v>99</c:v>
              </c:pt>
              <c:pt idx="1">
                <c:v>99</c:v>
              </c:pt>
              <c:pt idx="2">
                <c:v>99</c:v>
              </c:pt>
              <c:pt idx="3">
                <c:v>99</c:v>
              </c:pt>
            </c:numLit>
          </c:val>
          <c:extLst>
            <c:ext xmlns:c16="http://schemas.microsoft.com/office/drawing/2014/chart" uri="{C3380CC4-5D6E-409C-BE32-E72D297353CC}">
              <c16:uniqueId val="{00000000-30EE-DA47-8976-97B79B920917}"/>
            </c:ext>
          </c:extLst>
        </c:ser>
        <c:ser>
          <c:idx val="1"/>
          <c:order val="1"/>
          <c:tx>
            <c:v>GEN-0</c:v>
          </c:tx>
          <c:invertIfNegative val="1"/>
          <c:cat>
            <c:strLit>
              <c:ptCount val="4"/>
              <c:pt idx="0">
                <c:v>Avg</c:v>
              </c:pt>
              <c:pt idx="1">
                <c:v>Vacuum</c:v>
              </c:pt>
              <c:pt idx="2">
                <c:v>Box fold</c:v>
              </c:pt>
              <c:pt idx="3">
                <c:v>Phone pack</c:v>
              </c:pt>
            </c:strLit>
          </c:cat>
          <c:val>
            <c:numLit>
              <c:formatCode>General</c:formatCode>
              <c:ptCount val="4"/>
              <c:pt idx="0">
                <c:v>64</c:v>
              </c:pt>
              <c:pt idx="1">
                <c:v>50</c:v>
              </c:pt>
              <c:pt idx="2">
                <c:v>81</c:v>
              </c:pt>
              <c:pt idx="3">
                <c:v>62</c:v>
              </c:pt>
            </c:numLit>
          </c:val>
          <c:extLst>
            <c:ext xmlns:c16="http://schemas.microsoft.com/office/drawing/2014/chart" uri="{C3380CC4-5D6E-409C-BE32-E72D297353CC}">
              <c16:uniqueId val="{00000001-30EE-DA47-8976-97B79B920917}"/>
            </c:ext>
          </c:extLst>
        </c:ser>
        <c:ser>
          <c:idx val="2"/>
          <c:order val="2"/>
          <c:tx>
            <c:v>Scratch</c:v>
          </c:tx>
          <c:invertIfNegative val="1"/>
          <c:cat>
            <c:strLit>
              <c:ptCount val="4"/>
              <c:pt idx="0">
                <c:v>Avg</c:v>
              </c:pt>
              <c:pt idx="1">
                <c:v>Vacuum</c:v>
              </c:pt>
              <c:pt idx="2">
                <c:v>Box fold</c:v>
              </c:pt>
              <c:pt idx="3">
                <c:v>Phone pack</c:v>
              </c:pt>
            </c:strLit>
          </c:cat>
          <c:val>
            <c:numLit>
              <c:formatCode>General</c:formatCode>
              <c:ptCount val="4"/>
              <c:pt idx="0">
                <c:v>19</c:v>
              </c:pt>
              <c:pt idx="1">
                <c:v>2</c:v>
              </c:pt>
              <c:pt idx="2">
                <c:v>13</c:v>
              </c:pt>
              <c:pt idx="3">
                <c:v>42</c:v>
              </c:pt>
            </c:numLit>
          </c:val>
          <c:extLst>
            <c:ext xmlns:c16="http://schemas.microsoft.com/office/drawing/2014/chart" uri="{C3380CC4-5D6E-409C-BE32-E72D297353CC}">
              <c16:uniqueId val="{00000002-30EE-DA47-8976-97B79B920917}"/>
            </c:ext>
          </c:extLst>
        </c:ser>
        <c:dLbls>
          <c:showLegendKey val="0"/>
          <c:showVal val="0"/>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72768"/>
        <c:crosses val="autoZero"/>
        <c:auto val="1"/>
        <c:lblAlgn val="ctr"/>
        <c:lblOffset val="100"/>
        <c:noMultiLvlLbl val="0"/>
      </c:catAx>
      <c:valAx>
        <c:axId val="48672768"/>
        <c:scaling>
          <c:orientation val="minMax"/>
        </c:scaling>
        <c:delete val="1"/>
        <c:axPos val="l"/>
        <c:numFmt formatCode="General" sourceLinked="1"/>
        <c:majorTickMark val="none"/>
        <c:minorTickMark val="none"/>
        <c:tickLblPos val="nextTo"/>
        <c:crossAx val="48650112"/>
        <c:crosses val="autoZero"/>
        <c:crossBetween val="between"/>
      </c:valAx>
    </c:plotArea>
    <c:legend>
      <c:legendPos val="b"/>
      <c:overlay val="0"/>
    </c:legend>
    <c:plotVisOnly val="1"/>
    <c:dispBlanksAs val="zero"/>
    <c:showDLblsOverMax val="1"/>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267469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7C68E-3EE9-082B-8966-A2E2F8C8BE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45858C-62EC-3BD0-1356-63C40ED73D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E04B3A-0A29-5A31-4248-1CAD7F310EB0}"/>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B55F3A23-A557-EB25-A9D6-761DB965841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0382177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F9409-303F-A6FB-71DB-AA0A2D015C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AE734A-455E-5B6A-E380-117132B197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A14E96-8BF4-88ED-24D7-91BC3CE624BA}"/>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28F88E93-C47F-7DFE-8240-392A3CA5BA9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3749811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4FFEA-DE92-9A75-4EA1-C1A25B5F91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8BE50C-4163-3322-5F04-F7B5F11EB2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33A326-CF59-8E36-CC7C-B48E748125EE}"/>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9B35BD5C-8A9C-5EB2-4A0E-E71BBB981C6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1816980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E2823-2954-7DC5-D8E1-BF22621189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0827E0-FE2E-9DD1-6DF8-8137F1237E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94DFFB-8173-9B9D-CBB6-A6BF5592EB44}"/>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378B070B-401D-2F18-EBDE-A7ADA3A4D30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9082525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2223E-5E60-BF67-15ED-6553FFEF6B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8A99D4-7F17-06F0-0B6F-7E2D69D7DB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25D08B-5D65-1997-BE86-C47307446A3A}"/>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6E92060F-C302-2849-93AD-4B3AD2AFD78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8638954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0E4E4-EF43-17C3-BB97-2B12566ED7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F2645E-F566-D7FD-0F77-5594696BF6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BE0924-957B-7FDE-3CC1-EDBA61EBA782}"/>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334F0E95-E00B-94BF-4324-49EFAE02332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0073969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8C042-4BD2-3C6E-795F-AC49C897BB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CA8F1E-C1B7-5FAA-E462-1C68163654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27F571-9CD0-B265-258F-F829254C4B03}"/>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0085FB0B-82BD-0FB3-4E54-FA695219295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946534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BCCB5-7B5C-7E2B-57F9-69DCDA7B38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DD5C68-5CCE-D824-3251-FD4A0E5CE9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0FAD54-7DE2-70A5-0B95-48CB304F0DA6}"/>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BED249DC-3F97-9B1C-D65D-ED9E6E600A7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0601522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6CFA9-168E-2C6E-2064-14CFAC6ABD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5C51C0-F9FA-DC91-1BC7-262BC41588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8B183E-198E-8A03-E531-70CB306641D0}"/>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0AEB6CA3-9B45-E051-9098-F3827580DA4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2661095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DF159-EF5E-727E-0023-2A0A06D799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AA872C-E562-537E-41FF-ECEB18FA70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A864D2-AF73-90B8-BF9E-11FAF13A4798}"/>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D3D97FEA-23E7-35E9-CA2F-19A78940F75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0129911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37663-02C9-2662-66DE-C37C57A3DF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5A2D27-405F-94CF-FC89-CCC8487EEA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9891E9-80C5-3C45-9FB7-BDCB29D965A1}"/>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1C53702B-BDEF-8F99-222E-8E0DA5CDE94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959232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3AE12-E275-C2C5-133B-E7DA413F80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FB3F08-6001-96B0-1F9C-36EA671BBE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3E8273-4C52-AA4D-7D61-442641AF32C5}"/>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E1E6F331-8E96-1E96-4846-91C00DF55A0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1796576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95B64-FCEB-EB21-D3B6-F7019EA658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EF1145-89F8-F53F-D3F0-E392E5F097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5593D2-0488-895C-BC3B-1BD4317B383E}"/>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553B39D4-D906-9935-8012-181E8FC7FB5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906896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FAF45-08C2-775D-FBC8-C8A7AD74CA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2B9396-F7FF-C14F-5329-46DD132071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B54777-838F-05CE-1DB3-176C5281427E}"/>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65823388-6CBC-9AE0-595F-3129A12AF11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1141741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09D07-19AB-108A-CEC2-BA0CB829F5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B6F35E-67E8-9C2D-4E61-D80B3D8292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B1EFD-EB9D-017E-3A86-AE9B825E044A}"/>
              </a:ext>
            </a:extLst>
          </p:cNvPr>
          <p:cNvSpPr>
            <a:spLocks noGrp="1"/>
          </p:cNvSpPr>
          <p:nvPr>
            <p:ph type="body" idx="1"/>
          </p:nvPr>
        </p:nvSpPr>
        <p:spPr/>
        <p:txBody>
          <a:bodyPr/>
          <a:lstStyle/>
          <a:p>
            <a:r>
              <a:rPr lang="zh-CN" altLang="en-US" dirty="0">
                <a:effectLst/>
              </a:rPr>
              <a:t>根据目前官方发布的资料，我们需要先明确一点：</a:t>
            </a:r>
            <a:r>
              <a:rPr lang="zh-CN" altLang="en-US" b="1" dirty="0">
                <a:effectLst/>
              </a:rPr>
              <a:t>研发团队并没有公开“谐波推理（</a:t>
            </a:r>
            <a:r>
              <a:rPr lang="en-US" b="1" dirty="0">
                <a:effectLst/>
              </a:rPr>
              <a:t>Harmonic Reasoning）”</a:t>
            </a:r>
            <a:r>
              <a:rPr lang="zh-CN" altLang="en-US" b="1" dirty="0">
                <a:effectLst/>
              </a:rPr>
              <a:t>的具体数学原理或底层算法细节</a:t>
            </a:r>
            <a:r>
              <a:rPr lang="zh-CN" altLang="en-US" dirty="0">
                <a:effectLst/>
              </a:rPr>
              <a:t>。这篇资料偏向于宏观的技术愿景和能力展示。</a:t>
            </a:r>
          </a:p>
          <a:p>
            <a:r>
              <a:rPr lang="zh-CN" altLang="en-US" dirty="0">
                <a:effectLst/>
              </a:rPr>
              <a:t>不过，综合资料中的描述，我们可以从它在 </a:t>
            </a:r>
            <a:r>
              <a:rPr lang="en-US" dirty="0">
                <a:effectLst/>
              </a:rPr>
              <a:t>GEN-1 </a:t>
            </a:r>
            <a:r>
              <a:rPr lang="zh-CN" altLang="en-US" dirty="0">
                <a:effectLst/>
              </a:rPr>
              <a:t>系统中的</a:t>
            </a:r>
            <a:r>
              <a:rPr lang="zh-CN" altLang="en-US" b="1" dirty="0">
                <a:effectLst/>
              </a:rPr>
              <a:t>定位、作用和实际效果</a:t>
            </a:r>
            <a:r>
              <a:rPr lang="zh-CN" altLang="en-US" dirty="0">
                <a:effectLst/>
              </a:rPr>
              <a:t>，为您分点直观地梳理清楚它到底是个什么技术：</a:t>
            </a:r>
          </a:p>
          <a:p>
            <a:r>
              <a:rPr lang="en-US" altLang="zh-CN" b="1" dirty="0">
                <a:effectLst/>
              </a:rPr>
              <a:t>1. </a:t>
            </a:r>
            <a:r>
              <a:rPr lang="zh-CN" altLang="en-US" b="1" dirty="0">
                <a:effectLst/>
              </a:rPr>
              <a:t>定位：一种全新的“推理时（</a:t>
            </a:r>
            <a:r>
              <a:rPr lang="en-US" b="1" dirty="0">
                <a:effectLst/>
              </a:rPr>
              <a:t>Inference-time）”</a:t>
            </a:r>
            <a:r>
              <a:rPr lang="zh-CN" altLang="en-US" b="1" dirty="0">
                <a:effectLst/>
              </a:rPr>
              <a:t>技术</a:t>
            </a:r>
            <a:r>
              <a:rPr lang="zh-CN" altLang="en-US" dirty="0">
                <a:effectLst/>
              </a:rPr>
              <a:t> 传统的 </a:t>
            </a:r>
            <a:r>
              <a:rPr lang="en-US" dirty="0">
                <a:effectLst/>
              </a:rPr>
              <a:t>AI </a:t>
            </a:r>
            <a:r>
              <a:rPr lang="zh-CN" altLang="en-US" dirty="0">
                <a:effectLst/>
              </a:rPr>
              <a:t>优化往往集中在如何“训练”模型上，而谐波推理是一种发力于“推理阶段”的技术。这意味着它发生在机器人真正上场执行任务、大脑开始实时运转并输出动作指令的那一刻。它旨在优化模型在实际控制机器人时的计算调度效率。</a:t>
            </a:r>
          </a:p>
          <a:p>
            <a:r>
              <a:rPr lang="en-US" altLang="zh-CN" b="1" dirty="0">
                <a:effectLst/>
              </a:rPr>
              <a:t>2. </a:t>
            </a:r>
            <a:r>
              <a:rPr lang="zh-CN" altLang="en-US" b="1" dirty="0">
                <a:effectLst/>
              </a:rPr>
              <a:t>本质：模型“思考方式”的底层演进</a:t>
            </a:r>
            <a:r>
              <a:rPr lang="zh-CN" altLang="en-US" dirty="0">
                <a:effectLst/>
              </a:rPr>
              <a:t> 官方将谐波推理描述为“在我们进行推理的方式上引入的一种演进（</a:t>
            </a:r>
            <a:r>
              <a:rPr lang="en-US" dirty="0">
                <a:effectLst/>
              </a:rPr>
              <a:t>evolution）”。</a:t>
            </a:r>
            <a:r>
              <a:rPr lang="zh-CN" altLang="en-US" dirty="0">
                <a:effectLst/>
              </a:rPr>
              <a:t>这说明它改变了传统具身模型按部就班、逐步规划物理动作的旧范式，让模型在面对瞬息万变的物理世界时，能用一种更高效的新逻辑来生成动作序列。</a:t>
            </a:r>
          </a:p>
          <a:p>
            <a:r>
              <a:rPr lang="en-US" altLang="zh-CN" b="1" dirty="0">
                <a:effectLst/>
              </a:rPr>
              <a:t>3. </a:t>
            </a:r>
            <a:r>
              <a:rPr lang="zh-CN" altLang="en-US" b="1" dirty="0">
                <a:effectLst/>
              </a:rPr>
              <a:t>核心效果：打破机器人的“速度壁垒”</a:t>
            </a:r>
            <a:r>
              <a:rPr lang="zh-CN" altLang="en-US" dirty="0">
                <a:effectLst/>
              </a:rPr>
              <a:t> 在机器人领域，动作越快，面临的物理问题就越复杂（比如摩擦力变化、视觉模糊等），这就对模型推理速度提出了极高的要求，导致以前的通用模型往往动作迟缓。 引入谐波推理后，模型获得了极快的任务处理能力。结合从预训练数据中学习到的高速动态规律，</a:t>
            </a:r>
            <a:r>
              <a:rPr lang="en-US" dirty="0">
                <a:effectLst/>
              </a:rPr>
              <a:t>GEN-1 </a:t>
            </a:r>
            <a:r>
              <a:rPr lang="zh-CN" altLang="en-US" dirty="0">
                <a:effectLst/>
              </a:rPr>
              <a:t>的任务执行速度达到了此前最先进水平（</a:t>
            </a:r>
            <a:r>
              <a:rPr lang="en-US" dirty="0">
                <a:effectLst/>
              </a:rPr>
              <a:t>SOTA）</a:t>
            </a:r>
            <a:r>
              <a:rPr lang="zh-CN" altLang="en-US" dirty="0">
                <a:effectLst/>
              </a:rPr>
              <a:t>的约 </a:t>
            </a:r>
            <a:r>
              <a:rPr lang="en-US" altLang="zh-CN" dirty="0">
                <a:effectLst/>
              </a:rPr>
              <a:t>3 </a:t>
            </a:r>
            <a:r>
              <a:rPr lang="zh-CN" altLang="en-US" dirty="0">
                <a:effectLst/>
              </a:rPr>
              <a:t>倍。例如，折叠一个纸箱仅需 </a:t>
            </a:r>
            <a:r>
              <a:rPr lang="en-US" altLang="zh-CN" dirty="0">
                <a:effectLst/>
              </a:rPr>
              <a:t>12.1 </a:t>
            </a:r>
            <a:r>
              <a:rPr lang="zh-CN" altLang="en-US" dirty="0">
                <a:effectLst/>
              </a:rPr>
              <a:t>秒（此前模型需要约 </a:t>
            </a:r>
            <a:r>
              <a:rPr lang="en-US" altLang="zh-CN" dirty="0">
                <a:effectLst/>
              </a:rPr>
              <a:t>34 </a:t>
            </a:r>
            <a:r>
              <a:rPr lang="zh-CN" altLang="en-US" dirty="0">
                <a:effectLst/>
              </a:rPr>
              <a:t>秒）。可以说，它是帮助机器人“想得快，从而动得快”的关键引擎。</a:t>
            </a:r>
          </a:p>
          <a:p>
            <a:r>
              <a:rPr lang="en-US" altLang="zh-CN" b="1" dirty="0">
                <a:effectLst/>
              </a:rPr>
              <a:t>4. </a:t>
            </a:r>
            <a:r>
              <a:rPr lang="zh-CN" altLang="en-US" b="1" dirty="0">
                <a:effectLst/>
              </a:rPr>
              <a:t>协同系统：为“实时响应”保驾护航</a:t>
            </a:r>
            <a:r>
              <a:rPr lang="zh-CN" altLang="en-US" dirty="0">
                <a:effectLst/>
              </a:rPr>
              <a:t> 谐波推理并不是孤立存在的。它与团队构建的“定制内核（</a:t>
            </a:r>
            <a:r>
              <a:rPr lang="en-US" dirty="0">
                <a:effectLst/>
              </a:rPr>
              <a:t>custom kernels）”</a:t>
            </a:r>
            <a:r>
              <a:rPr lang="zh-CN" altLang="en-US" dirty="0">
                <a:effectLst/>
              </a:rPr>
              <a:t>以及新发明的“分页注意力（</a:t>
            </a:r>
            <a:r>
              <a:rPr lang="en-US" dirty="0">
                <a:effectLst/>
              </a:rPr>
              <a:t>paged attention）”</a:t>
            </a:r>
            <a:r>
              <a:rPr lang="zh-CN" altLang="en-US" dirty="0">
                <a:effectLst/>
              </a:rPr>
              <a:t>机制紧密配合。这一套全新的推理时技术组合拳，共同确保了机器人在高速运动下不会“卡壳”，能够做到极低延迟的实时响应和精确控制。</a:t>
            </a:r>
          </a:p>
          <a:p>
            <a:r>
              <a:rPr lang="zh-CN" altLang="en-US" b="1" dirty="0">
                <a:effectLst/>
              </a:rPr>
              <a:t>直观总结来说：</a:t>
            </a:r>
            <a:r>
              <a:rPr lang="zh-CN" altLang="en-US" dirty="0">
                <a:effectLst/>
              </a:rPr>
              <a:t> 如果把机器人的大脑比作汽车引擎，那么**“谐波推理”就像是为其专门换上了一套专为赛车设计的“极速传动系统”**。虽然官方没告诉你这套系统内部的齿轮是怎么咬合的，但它的直接结果就是让机器人处理动作规划的节奏变得前所未有地紧凑，彻底打破了传统机器人的“慢动作”魔咒，使其能够以人类般的高速流畅完成物理任务。</a:t>
            </a:r>
          </a:p>
          <a:p>
            <a:endParaRPr lang="en-US" dirty="0"/>
          </a:p>
          <a:p>
            <a:r>
              <a:rPr lang="zh-CN" altLang="en-US" dirty="0">
                <a:effectLst/>
              </a:rPr>
              <a:t>官方资料并没有公开这套“分页注意力（</a:t>
            </a:r>
            <a:r>
              <a:rPr lang="en-US" dirty="0">
                <a:effectLst/>
              </a:rPr>
              <a:t>Paged Attention）”</a:t>
            </a:r>
            <a:r>
              <a:rPr lang="zh-CN" altLang="en-US" dirty="0">
                <a:effectLst/>
              </a:rPr>
              <a:t>机制的具体底层算法、显存调度逻辑或网络结构图。</a:t>
            </a:r>
          </a:p>
          <a:p>
            <a:r>
              <a:rPr lang="zh-CN" altLang="en-US" dirty="0">
                <a:effectLst/>
              </a:rPr>
              <a:t>但根据资料中对它应用场景和最终效果的描述，我们可以分点、直观地梳理出这项技术在 </a:t>
            </a:r>
            <a:r>
              <a:rPr lang="en-US" dirty="0">
                <a:effectLst/>
              </a:rPr>
              <a:t>GEN-1 </a:t>
            </a:r>
            <a:r>
              <a:rPr lang="zh-CN" altLang="en-US" dirty="0">
                <a:effectLst/>
              </a:rPr>
              <a:t>系统中的核心面貌：</a:t>
            </a:r>
          </a:p>
          <a:p>
            <a:r>
              <a:rPr lang="en-US" altLang="zh-CN" b="1" dirty="0">
                <a:effectLst/>
              </a:rPr>
              <a:t>1. </a:t>
            </a:r>
            <a:r>
              <a:rPr lang="zh-CN" altLang="en-US" b="1" dirty="0">
                <a:effectLst/>
              </a:rPr>
              <a:t>核心定位：</a:t>
            </a:r>
            <a:r>
              <a:rPr lang="en-US" b="1" dirty="0">
                <a:effectLst/>
              </a:rPr>
              <a:t>GEN-1 </a:t>
            </a:r>
            <a:r>
              <a:rPr lang="zh-CN" altLang="en-US" b="1" dirty="0">
                <a:effectLst/>
              </a:rPr>
              <a:t>团队“全新发明”的底层机制</a:t>
            </a:r>
            <a:endParaRPr lang="zh-CN" altLang="en-US" dirty="0">
              <a:effectLst/>
            </a:endParaRPr>
          </a:p>
          <a:p>
            <a:r>
              <a:rPr lang="zh-CN" altLang="en-US" sz="1200" b="0" i="0" kern="1200" dirty="0">
                <a:effectLst/>
              </a:rPr>
              <a:t>以往的语言大模型或其他 </a:t>
            </a:r>
            <a:r>
              <a:rPr lang="en-US" sz="1200" b="0" i="0" kern="1200" dirty="0">
                <a:effectLst/>
              </a:rPr>
              <a:t>AI </a:t>
            </a:r>
            <a:r>
              <a:rPr lang="zh-CN" altLang="en-US" sz="1200" b="0" i="0" kern="1200" dirty="0">
                <a:effectLst/>
              </a:rPr>
              <a:t>模型中也有注意力的概念，但资料特别强调，为了适配物理世界，研发团队**“发明了新的 </a:t>
            </a:r>
            <a:r>
              <a:rPr lang="en-US" sz="1200" b="0" i="0" kern="1200" dirty="0">
                <a:effectLst/>
              </a:rPr>
              <a:t>paged attention（</a:t>
            </a:r>
            <a:r>
              <a:rPr lang="zh-CN" altLang="en-US" sz="1200" b="0" i="0" kern="1200" dirty="0">
                <a:effectLst/>
              </a:rPr>
              <a:t>分页注意力）形式”**。</a:t>
            </a:r>
          </a:p>
          <a:p>
            <a:r>
              <a:rPr lang="zh-CN" altLang="en-US" sz="1200" b="0" i="0" kern="1200" dirty="0">
                <a:effectLst/>
              </a:rPr>
              <a:t>它并不是对旧有框架的简单修补，而是 </a:t>
            </a:r>
            <a:r>
              <a:rPr lang="en-US" sz="1200" b="0" i="0" kern="1200" dirty="0">
                <a:effectLst/>
              </a:rPr>
              <a:t>GEN-1 </a:t>
            </a:r>
            <a:r>
              <a:rPr lang="zh-CN" altLang="en-US" sz="1200" b="0" i="0" kern="1200" dirty="0">
                <a:effectLst/>
              </a:rPr>
              <a:t>这一次新提出并独创的底层处理机制。</a:t>
            </a:r>
          </a:p>
          <a:p>
            <a:r>
              <a:rPr lang="en-US" altLang="zh-CN" b="1" dirty="0">
                <a:effectLst/>
              </a:rPr>
              <a:t>2. </a:t>
            </a:r>
            <a:r>
              <a:rPr lang="zh-CN" altLang="en-US" b="1" dirty="0">
                <a:effectLst/>
              </a:rPr>
              <a:t>终极目标：为了大脑能做到“实时推理（</a:t>
            </a:r>
            <a:r>
              <a:rPr lang="en-US" b="1" dirty="0">
                <a:effectLst/>
              </a:rPr>
              <a:t>Real-time Inference）”</a:t>
            </a:r>
            <a:endParaRPr lang="en-US" dirty="0">
              <a:effectLst/>
            </a:endParaRPr>
          </a:p>
          <a:p>
            <a:r>
              <a:rPr lang="zh-CN" altLang="en-US" sz="1200" b="1" i="0" kern="1200" dirty="0">
                <a:effectLst/>
              </a:rPr>
              <a:t>直观理解</a:t>
            </a:r>
            <a:r>
              <a:rPr lang="zh-CN" altLang="en-US" sz="1200" b="0" i="0" kern="1200" dirty="0">
                <a:effectLst/>
              </a:rPr>
              <a:t>：如果机器人以极快的速度（比如快了 </a:t>
            </a:r>
            <a:r>
              <a:rPr lang="en-US" altLang="zh-CN" sz="1200" b="0" i="0" kern="1200" dirty="0">
                <a:effectLst/>
              </a:rPr>
              <a:t>3 </a:t>
            </a:r>
            <a:r>
              <a:rPr lang="zh-CN" altLang="en-US" sz="1200" b="0" i="0" kern="1200" dirty="0">
                <a:effectLst/>
              </a:rPr>
              <a:t>倍）去折纸箱，但它的“大脑”（模型）处理视觉和动作数据的速度跟不上，机器人就会卡顿、抽搐或者动作变形。</a:t>
            </a:r>
          </a:p>
          <a:p>
            <a:r>
              <a:rPr lang="zh-CN" altLang="en-US" sz="1200" b="0" i="0" kern="1200" dirty="0">
                <a:effectLst/>
              </a:rPr>
              <a:t>分页注意力就是为了解决这个“卡脖子”问题而生的。它的根本目的就是</a:t>
            </a:r>
            <a:r>
              <a:rPr lang="zh-CN" altLang="en-US" sz="1200" b="1" i="0" kern="1200" dirty="0">
                <a:effectLst/>
              </a:rPr>
              <a:t>实现实时推理</a:t>
            </a:r>
            <a:r>
              <a:rPr lang="zh-CN" altLang="en-US" sz="1200" b="0" i="0" kern="1200" dirty="0">
                <a:effectLst/>
              </a:rPr>
              <a:t>，确保模型在控制机器人进行高速运动时，大脑能够毫无延迟地做出</a:t>
            </a:r>
            <a:r>
              <a:rPr lang="zh-CN" altLang="en-US" sz="1200" b="1" i="0" kern="1200" dirty="0">
                <a:effectLst/>
              </a:rPr>
              <a:t>实时响应</a:t>
            </a:r>
            <a:r>
              <a:rPr lang="zh-CN" altLang="en-US" sz="1200" b="0" i="0" kern="1200" dirty="0">
                <a:effectLst/>
              </a:rPr>
              <a:t>。</a:t>
            </a:r>
          </a:p>
          <a:p>
            <a:r>
              <a:rPr lang="en-US" altLang="zh-CN" b="1" dirty="0">
                <a:effectLst/>
              </a:rPr>
              <a:t>3. </a:t>
            </a:r>
            <a:r>
              <a:rPr lang="zh-CN" altLang="en-US" b="1" dirty="0">
                <a:effectLst/>
              </a:rPr>
              <a:t>协同作战：与“定制内核（</a:t>
            </a:r>
            <a:r>
              <a:rPr lang="en-US" b="1" dirty="0">
                <a:effectLst/>
              </a:rPr>
              <a:t>Custom Kernels）”</a:t>
            </a:r>
            <a:r>
              <a:rPr lang="zh-CN" altLang="en-US" b="1" dirty="0">
                <a:effectLst/>
              </a:rPr>
              <a:t>强强联手</a:t>
            </a:r>
            <a:endParaRPr lang="zh-CN" altLang="en-US" dirty="0">
              <a:effectLst/>
            </a:endParaRPr>
          </a:p>
          <a:p>
            <a:r>
              <a:rPr lang="zh-CN" altLang="en-US" sz="1200" b="0" i="0" kern="1200" dirty="0">
                <a:effectLst/>
              </a:rPr>
              <a:t>分页注意力不是一个悬在空中的纯软件概念。为了支撑这种新的注意力机制发挥出极速处理的能力，研发团队花费了数月时间重写了底层的基础设施，</a:t>
            </a:r>
            <a:r>
              <a:rPr lang="zh-CN" altLang="en-US" sz="1200" b="1" i="0" kern="1200" dirty="0">
                <a:effectLst/>
              </a:rPr>
              <a:t>专门构建了定制内核（</a:t>
            </a:r>
            <a:r>
              <a:rPr lang="en-US" sz="1200" b="1" i="0" kern="1200" dirty="0">
                <a:effectLst/>
              </a:rPr>
              <a:t>custom kernels）</a:t>
            </a:r>
            <a:r>
              <a:rPr lang="en-US" sz="1200" b="0" i="0" kern="1200" dirty="0">
                <a:effectLst/>
              </a:rPr>
              <a:t>。</a:t>
            </a:r>
          </a:p>
          <a:p>
            <a:r>
              <a:rPr lang="zh-CN" altLang="en-US" sz="1200" b="1" i="0" kern="1200" dirty="0">
                <a:effectLst/>
              </a:rPr>
              <a:t>直观理解</a:t>
            </a:r>
            <a:r>
              <a:rPr lang="zh-CN" altLang="en-US" sz="1200" b="0" i="0" kern="1200" dirty="0">
                <a:effectLst/>
              </a:rPr>
              <a:t>：这就像是团队不仅设计了一套全新的极速数据分发图纸（分页注意力），还专门为此去工厂定制了能跑满这种图纸速度的特殊芯片调度通道（定制内核），两者软硬结合，打通了算力的高速公路。</a:t>
            </a:r>
          </a:p>
          <a:p>
            <a:r>
              <a:rPr lang="en-US" altLang="zh-CN" b="1" dirty="0">
                <a:effectLst/>
              </a:rPr>
              <a:t>4. </a:t>
            </a:r>
            <a:r>
              <a:rPr lang="zh-CN" altLang="en-US" b="1" dirty="0">
                <a:effectLst/>
              </a:rPr>
              <a:t>最终效果：造就极其“平滑”与“精确”的动作</a:t>
            </a:r>
            <a:endParaRPr lang="zh-CN" altLang="en-US" dirty="0">
              <a:effectLst/>
            </a:endParaRPr>
          </a:p>
          <a:p>
            <a:r>
              <a:rPr lang="zh-CN" altLang="en-US" sz="1200" b="0" i="0" kern="1200" dirty="0">
                <a:effectLst/>
              </a:rPr>
              <a:t>因为有了定制内核和分页注意力的支持，</a:t>
            </a:r>
            <a:r>
              <a:rPr lang="en-US" sz="1200" b="0" i="0" kern="1200" dirty="0">
                <a:effectLst/>
              </a:rPr>
              <a:t>GEN-1 </a:t>
            </a:r>
            <a:r>
              <a:rPr lang="zh-CN" altLang="en-US" sz="1200" b="0" i="0" kern="1200" dirty="0">
                <a:effectLst/>
              </a:rPr>
              <a:t>彻底消除了模型在复杂运算时的延迟，这使得团队能够在此基础上</a:t>
            </a:r>
            <a:r>
              <a:rPr lang="zh-CN" altLang="en-US" sz="1200" b="1" i="0" kern="1200" dirty="0">
                <a:effectLst/>
              </a:rPr>
              <a:t>进一步打磨和强化控制系统</a:t>
            </a:r>
            <a:r>
              <a:rPr lang="zh-CN" altLang="en-US" sz="1200" b="0" i="0" kern="1200" dirty="0">
                <a:effectLst/>
              </a:rPr>
              <a:t>。</a:t>
            </a:r>
          </a:p>
          <a:p>
            <a:r>
              <a:rPr lang="zh-CN" altLang="en-US" sz="1200" b="1" i="0" kern="1200" dirty="0">
                <a:effectLst/>
              </a:rPr>
              <a:t>直观理解</a:t>
            </a:r>
            <a:r>
              <a:rPr lang="zh-CN" altLang="en-US" sz="1200" b="0" i="0" kern="1200" dirty="0">
                <a:effectLst/>
              </a:rPr>
              <a:t>：这直接反映在机器人的手部动作上</a:t>
            </a:r>
            <a:r>
              <a:rPr lang="en-US" altLang="zh-CN" sz="1200" b="0" i="0" kern="1200" dirty="0">
                <a:effectLst/>
              </a:rPr>
              <a:t>——</a:t>
            </a:r>
            <a:r>
              <a:rPr lang="zh-CN" altLang="en-US" sz="1200" b="0" i="0" kern="1200" dirty="0">
                <a:effectLst/>
              </a:rPr>
              <a:t>即便在极速运行或发生意外需要即兴应变时，机器人的动作也能保持</a:t>
            </a:r>
            <a:r>
              <a:rPr lang="zh-CN" altLang="en-US" sz="1200" b="1" i="0" kern="1200" dirty="0">
                <a:effectLst/>
              </a:rPr>
              <a:t>更加平滑（流畅无卡顿）、更加精确</a:t>
            </a:r>
            <a:r>
              <a:rPr lang="zh-CN" altLang="en-US" sz="1200" b="0" i="0" kern="1200" dirty="0">
                <a:effectLst/>
              </a:rPr>
              <a:t>。</a:t>
            </a:r>
          </a:p>
          <a:p>
            <a:r>
              <a:rPr lang="zh-CN" altLang="en-US" b="1" dirty="0">
                <a:effectLst/>
              </a:rPr>
              <a:t>一句话直观总结：</a:t>
            </a:r>
            <a:r>
              <a:rPr lang="zh-CN" altLang="en-US" dirty="0">
                <a:effectLst/>
              </a:rPr>
              <a:t> 如果说“谐波推理”是让机器人**“想得快”</a:t>
            </a:r>
            <a:r>
              <a:rPr lang="zh-CN" altLang="en-US" b="1" dirty="0">
                <a:effectLst/>
              </a:rPr>
              <a:t>的思维演进，那么</a:t>
            </a:r>
            <a:r>
              <a:rPr lang="zh-CN" altLang="en-US" dirty="0">
                <a:effectLst/>
              </a:rPr>
              <a:t>“新形式的分页注意力”加上“定制内核”</a:t>
            </a:r>
            <a:r>
              <a:rPr lang="zh-CN" altLang="en-US" b="1" dirty="0">
                <a:effectLst/>
              </a:rPr>
              <a:t>，就是一套专为物理世界打造的</a:t>
            </a:r>
            <a:r>
              <a:rPr lang="zh-CN" altLang="en-US" dirty="0">
                <a:effectLst/>
              </a:rPr>
              <a:t>“零延迟脑机通讯系统”**。它确保了模型庞大的数据计算不会造成任何卡顿，让机器人即便在人类级别的极速动作下，依然能保持丝滑与精准。</a:t>
            </a:r>
          </a:p>
          <a:p>
            <a:endParaRPr dirty="0"/>
          </a:p>
        </p:txBody>
      </p:sp>
      <p:sp>
        <p:nvSpPr>
          <p:cNvPr id="4" name="Slide Number Placeholder 3">
            <a:extLst>
              <a:ext uri="{FF2B5EF4-FFF2-40B4-BE49-F238E27FC236}">
                <a16:creationId xmlns:a16="http://schemas.microsoft.com/office/drawing/2014/main" id="{7348102F-F82F-30C4-B964-5CD5388063B5}"/>
              </a:ext>
            </a:extLst>
          </p:cNvPr>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cs typeface="Calibri"/>
            </a:endParaRPr>
          </a:p>
        </p:txBody>
      </p:sp>
    </p:spTree>
    <p:extLst>
      <p:ext uri="{BB962C8B-B14F-4D97-AF65-F5344CB8AC3E}">
        <p14:creationId xmlns:p14="http://schemas.microsoft.com/office/powerpoint/2010/main" val="30535680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_rels/slide21.xml.rels><?xml version="1.0" encoding="UTF-8" standalone="yes"?>
<Relationships xmlns="http://schemas.openxmlformats.org/package/2006/relationships"><Relationship Id="rId3" Type="http://schemas.openxmlformats.org/officeDocument/2006/relationships/image" Target="../media/image18.jpeg"/><Relationship Id="rId7"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4.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564BCF2-4BDE-4C1B-9666-5C11050B4BC1}"/>
              </a:ext>
            </a:extLst>
          </p:cNvPr>
          <p:cNvSpPr>
            <a:spLocks noGrp="1"/>
          </p:cNvSpPr>
          <p:nvPr/>
        </p:nvSpPr>
        <p:spPr>
          <a:prstGeom prst="rect">
            <a:avLst/>
          </a:prstGeom>
        </p:spPr>
        <p:txBody>
          <a:bodyPr/>
          <a:lstStyle/>
          <a:p>
            <a:endParaRPr lang="en-US"/>
          </a:p>
        </p:txBody>
      </p:sp>
      <p:sp>
        <p:nvSpPr>
          <p:cNvPr id="2" name="cover-eyebrow">
            <a:extLst>
              <a:ext uri="{FF2B5EF4-FFF2-40B4-BE49-F238E27FC236}">
                <a16:creationId xmlns:a16="http://schemas.microsoft.com/office/drawing/2014/main" id="{85BDC5B3-B97E-4F89-A2DB-797DF2C8B089}"/>
              </a:ext>
            </a:extLst>
          </p:cNvPr>
          <p:cNvSpPr>
            <a:spLocks noGrp="1"/>
          </p:cNvSpPr>
          <p:nvPr/>
        </p:nvSpPr>
        <p:spPr>
          <a:xfrm>
            <a:off x="1143000" y="914400"/>
            <a:ext cx="11811000" cy="209550"/>
          </a:xfrm>
          <a:prstGeom prst="rect">
            <a:avLst/>
          </a:prstGeom>
        </p:spPr>
        <p:txBody>
          <a:bodyPr lIns="0" tIns="0" rIns="0" bIns="0"/>
          <a:lstStyle/>
          <a:p>
            <a:pPr algn="l">
              <a:defRPr sz="1350" b="1" i="0">
                <a:solidFill>
                  <a:srgbClr val="C00000"/>
                </a:solidFill>
                <a:latin typeface="Avenir Next"/>
                <a:ea typeface="Avenir Next"/>
                <a:cs typeface="Avenir Next"/>
              </a:defRPr>
            </a:pPr>
            <a:r>
              <a:rPr sz="1350" b="1" i="0">
                <a:solidFill>
                  <a:srgbClr val="C00000"/>
                </a:solidFill>
                <a:latin typeface="Avenir Next"/>
                <a:ea typeface="Avenir Next"/>
                <a:cs typeface="Avenir Next"/>
              </a:rPr>
              <a:t>Paper Reading</a:t>
            </a:r>
          </a:p>
        </p:txBody>
      </p:sp>
      <p:sp>
        <p:nvSpPr>
          <p:cNvPr id="3" name="cover-title">
            <a:extLst>
              <a:ext uri="{FF2B5EF4-FFF2-40B4-BE49-F238E27FC236}">
                <a16:creationId xmlns:a16="http://schemas.microsoft.com/office/drawing/2014/main" id="{EAF3E3E5-B43B-411C-9425-52A49EBD6A16}"/>
              </a:ext>
            </a:extLst>
          </p:cNvPr>
          <p:cNvSpPr>
            <a:spLocks noGrp="1"/>
          </p:cNvSpPr>
          <p:nvPr/>
        </p:nvSpPr>
        <p:spPr>
          <a:xfrm>
            <a:off x="1143000" y="1238250"/>
            <a:ext cx="11811000" cy="609600"/>
          </a:xfrm>
          <a:prstGeom prst="rect">
            <a:avLst/>
          </a:prstGeom>
        </p:spPr>
        <p:txBody>
          <a:bodyPr lIns="0" tIns="0" rIns="0" bIns="0"/>
          <a:lstStyle/>
          <a:p>
            <a:pPr algn="l">
              <a:defRPr sz="3900" b="1">
                <a:solidFill>
                  <a:srgbClr val="1B1A17"/>
                </a:solidFill>
                <a:latin typeface="Songti SC"/>
                <a:ea typeface="Songti SC"/>
                <a:cs typeface="Songti SC"/>
              </a:defRPr>
            </a:pPr>
            <a:r>
              <a:rPr sz="3900" b="1">
                <a:solidFill>
                  <a:srgbClr val="1B1A17"/>
                </a:solidFill>
                <a:latin typeface="Songti SC"/>
                <a:ea typeface="Songti SC"/>
                <a:cs typeface="Songti SC"/>
              </a:rPr>
              <a:t>GEN-1：把具身基础模型推向“精通”</a:t>
            </a:r>
          </a:p>
        </p:txBody>
      </p:sp>
      <p:sp>
        <p:nvSpPr>
          <p:cNvPr id="4" name="cover-subtitle">
            <a:extLst>
              <a:ext uri="{FF2B5EF4-FFF2-40B4-BE49-F238E27FC236}">
                <a16:creationId xmlns:a16="http://schemas.microsoft.com/office/drawing/2014/main" id="{0A0AA9F0-ABEC-4DB8-ABAA-F2A45D275875}"/>
              </a:ext>
            </a:extLst>
          </p:cNvPr>
          <p:cNvSpPr>
            <a:spLocks noGrp="1"/>
          </p:cNvSpPr>
          <p:nvPr/>
        </p:nvSpPr>
        <p:spPr>
          <a:xfrm>
            <a:off x="1143000" y="1943100"/>
            <a:ext cx="11811000" cy="266700"/>
          </a:xfrm>
          <a:prstGeom prst="rect">
            <a:avLst/>
          </a:prstGeom>
        </p:spPr>
        <p:txBody>
          <a:bodyPr lIns="0" tIns="0" rIns="0" bIns="0"/>
          <a:lstStyle/>
          <a:p>
            <a:pPr algn="l">
              <a:defRPr sz="1650">
                <a:solidFill>
                  <a:srgbClr val="5D5A55"/>
                </a:solidFill>
                <a:latin typeface="PingFang SC"/>
                <a:ea typeface="PingFang SC"/>
                <a:cs typeface="PingFang SC"/>
              </a:defRPr>
            </a:pPr>
            <a:r>
              <a:rPr sz="1650">
                <a:solidFill>
                  <a:srgbClr val="5D5A55"/>
                </a:solidFill>
                <a:latin typeface="PingFang SC"/>
                <a:ea typeface="PingFang SC"/>
                <a:cs typeface="PingFang SC"/>
              </a:rPr>
              <a:t>Generalist AI · 2026-04-02 · Blog / Research</a:t>
            </a:r>
          </a:p>
        </p:txBody>
      </p:sp>
      <p:sp>
        <p:nvSpPr>
          <p:cNvPr id="5" name="cover-promise">
            <a:extLst>
              <a:ext uri="{FF2B5EF4-FFF2-40B4-BE49-F238E27FC236}">
                <a16:creationId xmlns:a16="http://schemas.microsoft.com/office/drawing/2014/main" id="{A3290BF1-CAB0-48FC-8909-502CEC9255DD}"/>
              </a:ext>
            </a:extLst>
          </p:cNvPr>
          <p:cNvSpPr>
            <a:spLocks noGrp="1"/>
          </p:cNvSpPr>
          <p:nvPr/>
        </p:nvSpPr>
        <p:spPr>
          <a:xfrm>
            <a:off x="1143000" y="2438400"/>
            <a:ext cx="9144000" cy="285750"/>
          </a:xfrm>
          <a:prstGeom prst="rect">
            <a:avLst/>
          </a:prstGeom>
        </p:spPr>
        <p:txBody>
          <a:bodyPr lIns="0" tIns="0" rIns="0" bIns="0"/>
          <a:lstStyle/>
          <a:p>
            <a:pPr algn="l">
              <a:defRPr sz="1800" b="0" i="0">
                <a:solidFill>
                  <a:srgbClr val="5D5A55"/>
                </a:solidFill>
                <a:latin typeface="PingFang SC"/>
                <a:ea typeface="PingFang SC"/>
                <a:cs typeface="PingFang SC"/>
              </a:defRPr>
            </a:pPr>
            <a:r>
              <a:rPr sz="1800" b="0" i="0">
                <a:solidFill>
                  <a:srgbClr val="5D5A55"/>
                </a:solidFill>
                <a:latin typeface="PingFang SC"/>
                <a:ea typeface="PingFang SC"/>
                <a:cs typeface="PingFang SC"/>
              </a:rPr>
              <a:t>从“能做什么”到“做得多好”</a:t>
            </a:r>
          </a:p>
        </p:txBody>
      </p:sp>
      <p:pic>
        <p:nvPicPr>
          <p:cNvPr id="6" name="cover-hero"/>
          <p:cNvPicPr>
            <a:picLocks noChangeAspect="1"/>
          </p:cNvPicPr>
          <p:nvPr/>
        </p:nvPicPr>
        <p:blipFill>
          <a:blip r:embed="rId3"/>
          <a:srcRect t="22698" b="22698"/>
          <a:stretch>
            <a:fillRect/>
          </a:stretch>
        </p:blipFill>
        <p:spPr>
          <a:xfrm>
            <a:off x="1143000" y="3086100"/>
            <a:ext cx="14287500" cy="4095750"/>
          </a:xfrm>
          <a:prstGeom prst="rect">
            <a:avLst/>
          </a:prstGeom>
        </p:spPr>
      </p:pic>
      <p:sp>
        <p:nvSpPr>
          <p:cNvPr id="7" name="Rectangle 6">
            <a:extLst>
              <a:ext uri="{FF2B5EF4-FFF2-40B4-BE49-F238E27FC236}">
                <a16:creationId xmlns:a16="http://schemas.microsoft.com/office/drawing/2014/main" id="{117764BC-CB09-4CB0-9A11-6465405B2A3F}"/>
              </a:ext>
            </a:extLst>
          </p:cNvPr>
          <p:cNvSpPr>
            <a:spLocks noGrp="1"/>
          </p:cNvSpPr>
          <p:nvPr/>
        </p:nvSpPr>
        <p:spPr>
          <a:prstGeom prst="rect">
            <a:avLst/>
          </a:prstGeom>
        </p:spPr>
        <p:txBody>
          <a:bodyPr/>
          <a:lstStyle/>
          <a:p>
            <a:endParaRPr lang="en-US"/>
          </a:p>
        </p:txBody>
      </p:sp>
      <p:sp>
        <p:nvSpPr>
          <p:cNvPr id="8" name="cover-summary">
            <a:extLst>
              <a:ext uri="{FF2B5EF4-FFF2-40B4-BE49-F238E27FC236}">
                <a16:creationId xmlns:a16="http://schemas.microsoft.com/office/drawing/2014/main" id="{4A1452BB-FF36-4AA9-B8F1-F70FC7FE8204}"/>
              </a:ext>
            </a:extLst>
          </p:cNvPr>
          <p:cNvSpPr>
            <a:spLocks noGrp="1"/>
          </p:cNvSpPr>
          <p:nvPr/>
        </p:nvSpPr>
        <p:spPr>
          <a:xfrm>
            <a:off x="1143000" y="7696200"/>
            <a:ext cx="13430250" cy="266700"/>
          </a:xfrm>
          <a:prstGeom prst="rect">
            <a:avLst/>
          </a:prstGeom>
        </p:spPr>
        <p:txBody>
          <a:bodyPr lIns="0" tIns="0" rIns="0" bIns="0"/>
          <a:lstStyle/>
          <a:p>
            <a:pPr algn="l">
              <a:defRPr sz="1650" b="0" i="0">
                <a:solidFill>
                  <a:srgbClr val="1B1A17"/>
                </a:solidFill>
                <a:latin typeface="PingFang SC"/>
                <a:ea typeface="PingFang SC"/>
                <a:cs typeface="PingFang SC"/>
              </a:defRPr>
            </a:pPr>
            <a:r>
              <a:rPr sz="1650" b="0" i="0">
                <a:solidFill>
                  <a:srgbClr val="1B1A17"/>
                </a:solidFill>
                <a:latin typeface="PingFang SC"/>
                <a:ea typeface="PingFang SC"/>
                <a:cs typeface="PingFang SC"/>
              </a:rPr>
              <a:t>重点不是“泛化 demo”，而是 reliability、speed 与 improvisation 是否跨过了商业阈值。</a:t>
            </a:r>
          </a:p>
        </p:txBody>
      </p:sp>
      <p:sp>
        <p:nvSpPr>
          <p:cNvPr id="9" name="cover-note">
            <a:extLst>
              <a:ext uri="{FF2B5EF4-FFF2-40B4-BE49-F238E27FC236}">
                <a16:creationId xmlns:a16="http://schemas.microsoft.com/office/drawing/2014/main" id="{95A6643D-77A0-4796-9A58-B61FC2EF17DC}"/>
              </a:ext>
            </a:extLst>
          </p:cNvPr>
          <p:cNvSpPr>
            <a:spLocks noGrp="1"/>
          </p:cNvSpPr>
          <p:nvPr/>
        </p:nvSpPr>
        <p:spPr>
          <a:xfrm>
            <a:off x="1143000" y="9734550"/>
            <a:ext cx="5715000" cy="171450"/>
          </a:xfrm>
          <a:prstGeom prst="rect">
            <a:avLst/>
          </a:prstGeom>
        </p:spPr>
        <p:txBody>
          <a:bodyPr lIns="0" tIns="0" rIns="0" bIns="0"/>
          <a:lstStyle/>
          <a:p>
            <a:pPr algn="l">
              <a:defRPr sz="1050" b="0" i="0">
                <a:solidFill>
                  <a:srgbClr val="5D5A55"/>
                </a:solidFill>
                <a:latin typeface="PingFang SC"/>
                <a:ea typeface="PingFang SC"/>
                <a:cs typeface="PingFang SC"/>
              </a:defRPr>
            </a:pPr>
            <a:r>
              <a:rPr sz="1050" b="0" i="0">
                <a:solidFill>
                  <a:srgbClr val="5D5A55"/>
                </a:solidFill>
                <a:latin typeface="PingFang SC"/>
                <a:ea typeface="PingFang SC"/>
                <a:cs typeface="PingFang SC"/>
              </a:rPr>
              <a:t>基于原文与公开材料整理</a:t>
            </a:r>
          </a:p>
        </p:txBody>
      </p:sp>
      <p:sp>
        <p:nvSpPr>
          <p:cNvPr id="10" name="cover-page">
            <a:extLst>
              <a:ext uri="{FF2B5EF4-FFF2-40B4-BE49-F238E27FC236}">
                <a16:creationId xmlns:a16="http://schemas.microsoft.com/office/drawing/2014/main" id="{04D2AD32-82B2-4500-A85A-A15A3BB9EC74}"/>
              </a:ext>
            </a:extLst>
          </p:cNvPr>
          <p:cNvSpPr>
            <a:spLocks noGrp="1"/>
          </p:cNvSpPr>
          <p:nvPr/>
        </p:nvSpPr>
        <p:spPr>
          <a:xfrm>
            <a:off x="15811500" y="9715500"/>
            <a:ext cx="1524000" cy="152400"/>
          </a:xfrm>
          <a:prstGeom prst="rect">
            <a:avLst/>
          </a:prstGeom>
        </p:spPr>
        <p:txBody>
          <a:bodyPr lIns="0" tIns="0" rIns="0" bIns="0"/>
          <a:lstStyle/>
          <a:p>
            <a:pPr algn="r">
              <a:defRPr sz="975" b="0" i="0">
                <a:solidFill>
                  <a:srgbClr val="5D5A55"/>
                </a:solidFill>
                <a:latin typeface="Avenir Next"/>
                <a:ea typeface="Avenir Next"/>
                <a:cs typeface="Avenir Next"/>
              </a:defRPr>
            </a:pPr>
            <a:r>
              <a:rPr sz="975" b="0" i="0">
                <a:solidFill>
                  <a:srgbClr val="5D5A55"/>
                </a:solidFill>
                <a:latin typeface="Avenir Next"/>
                <a:ea typeface="Avenir Next"/>
                <a:cs typeface="Avenir Next"/>
              </a:rPr>
              <a:t>01 / 10</a:t>
            </a:r>
          </a:p>
        </p:txBody>
      </p:sp>
      <p:sp>
        <p:nvSpPr>
          <p:cNvPr id="11" name="cover-logo">
            <a:extLst>
              <a:ext uri="{FF2B5EF4-FFF2-40B4-BE49-F238E27FC236}">
                <a16:creationId xmlns:a16="http://schemas.microsoft.com/office/drawing/2014/main" id="{EEB8A0FB-4F36-412C-9723-1EF16C3FE968}"/>
              </a:ext>
            </a:extLst>
          </p:cNvPr>
          <p:cNvSpPr>
            <a:spLocks noGrp="1"/>
          </p:cNvSpPr>
          <p:nvPr/>
        </p:nvSpPr>
        <p:spPr>
          <a:xfrm>
            <a:off x="14478000" y="590550"/>
            <a:ext cx="2667000" cy="266700"/>
          </a:xfrm>
          <a:prstGeom prst="rect">
            <a:avLst/>
          </a:prstGeom>
        </p:spPr>
        <p:txBody>
          <a:bodyPr lIns="0" tIns="0" rIns="0" bIns="0"/>
          <a:lstStyle/>
          <a:p>
            <a:pPr algn="r">
              <a:defRPr sz="1650" b="1" i="0">
                <a:solidFill>
                  <a:srgbClr val="C00000"/>
                </a:solidFill>
                <a:latin typeface="Avenir Next"/>
                <a:ea typeface="Avenir Next"/>
                <a:cs typeface="Avenir Next"/>
              </a:defRPr>
            </a:pPr>
            <a:r>
              <a:rPr sz="1650" b="1" i="0">
                <a:solidFill>
                  <a:srgbClr val="C00000"/>
                </a:solidFill>
                <a:latin typeface="Avenir Next"/>
                <a:ea typeface="Avenir Next"/>
                <a:cs typeface="Avenir Next"/>
              </a:rPr>
              <a:t>Generalist AI</a:t>
            </a:r>
          </a:p>
        </p:txBody>
      </p:sp>
    </p:spTree>
    <p:extLst>
      <p:ext uri="{BB962C8B-B14F-4D97-AF65-F5344CB8AC3E}">
        <p14:creationId xmlns:p14="http://schemas.microsoft.com/office/powerpoint/2010/main" val="12061589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01EB3D2-0903-44E9-801B-D33914068C1E}"/>
              </a:ext>
            </a:extLst>
          </p:cNvPr>
          <p:cNvSpPr>
            <a:spLocks noGrp="1"/>
          </p:cNvSpPr>
          <p:nvPr/>
        </p:nvSpPr>
        <p:spPr>
          <a:prstGeom prst="rect">
            <a:avLst/>
          </a:prstGeom>
        </p:spPr>
        <p:txBody>
          <a:bodyPr/>
          <a:lstStyle/>
          <a:p>
            <a:endParaRPr lang="en-US"/>
          </a:p>
        </p:txBody>
      </p:sp>
      <p:sp>
        <p:nvSpPr>
          <p:cNvPr id="4" name="logo-wordmark">
            <a:extLst>
              <a:ext uri="{FF2B5EF4-FFF2-40B4-BE49-F238E27FC236}">
                <a16:creationId xmlns:a16="http://schemas.microsoft.com/office/drawing/2014/main" id="{DB74D25A-9A7A-45B2-9864-B996D30D708C}"/>
              </a:ext>
            </a:extLst>
          </p:cNvPr>
          <p:cNvSpPr>
            <a:spLocks noGrp="1"/>
          </p:cNvSpPr>
          <p:nvPr/>
        </p:nvSpPr>
        <p:spPr>
          <a:xfrm>
            <a:off x="14478000" y="590550"/>
            <a:ext cx="2667000" cy="266700"/>
          </a:xfrm>
          <a:prstGeom prst="rect">
            <a:avLst/>
          </a:prstGeom>
        </p:spPr>
        <p:txBody>
          <a:bodyPr lIns="0" tIns="0" rIns="0" bIns="0"/>
          <a:lstStyle/>
          <a:p>
            <a:pPr algn="r">
              <a:defRPr sz="1650" b="1" i="0">
                <a:solidFill>
                  <a:srgbClr val="C00000"/>
                </a:solidFill>
                <a:latin typeface="Avenir Next"/>
                <a:ea typeface="Avenir Next"/>
                <a:cs typeface="Avenir Next"/>
              </a:defRPr>
            </a:pPr>
            <a:r>
              <a:rPr sz="1650" b="1" i="0">
                <a:solidFill>
                  <a:srgbClr val="C00000"/>
                </a:solidFill>
                <a:latin typeface="Avenir Next"/>
                <a:ea typeface="Avenir Next"/>
                <a:cs typeface="Avenir Next"/>
              </a:rPr>
              <a:t>Generalist AI</a:t>
            </a:r>
          </a:p>
        </p:txBody>
      </p:sp>
      <p:sp>
        <p:nvSpPr>
          <p:cNvPr id="5" name="source-line">
            <a:extLst>
              <a:ext uri="{FF2B5EF4-FFF2-40B4-BE49-F238E27FC236}">
                <a16:creationId xmlns:a16="http://schemas.microsoft.com/office/drawing/2014/main" id="{FA31A025-D6C2-4781-ABF0-9E94247C284E}"/>
              </a:ext>
            </a:extLst>
          </p:cNvPr>
          <p:cNvSpPr>
            <a:spLocks noGrp="1"/>
          </p:cNvSpPr>
          <p:nvPr/>
        </p:nvSpPr>
        <p:spPr>
          <a:xfrm>
            <a:off x="1143000" y="9734550"/>
            <a:ext cx="11430000" cy="152400"/>
          </a:xfrm>
          <a:prstGeom prst="rect">
            <a:avLst/>
          </a:prstGeom>
        </p:spPr>
        <p:txBody>
          <a:bodyPr lIns="0" tIns="0" rIns="0" bIns="0"/>
          <a:lstStyle/>
          <a:p>
            <a:pPr algn="l">
              <a:defRPr sz="900" b="0" i="0">
                <a:solidFill>
                  <a:srgbClr val="5D5A55"/>
                </a:solidFill>
                <a:latin typeface="PingFang SC"/>
                <a:ea typeface="PingFang SC"/>
                <a:cs typeface="PingFang SC"/>
              </a:defRPr>
            </a:pPr>
            <a:r>
              <a:rPr sz="900" b="0" i="0">
                <a:solidFill>
                  <a:srgbClr val="5D5A55"/>
                </a:solidFill>
                <a:latin typeface="PingFang SC"/>
                <a:ea typeface="PingFang SC"/>
                <a:cs typeface="PingFang SC"/>
              </a:rPr>
              <a:t>Source: Generalist AI Blog, 2026-04-02</a:t>
            </a:r>
          </a:p>
        </p:txBody>
      </p:sp>
      <p:sp>
        <p:nvSpPr>
          <p:cNvPr id="6" name="page-number">
            <a:extLst>
              <a:ext uri="{FF2B5EF4-FFF2-40B4-BE49-F238E27FC236}">
                <a16:creationId xmlns:a16="http://schemas.microsoft.com/office/drawing/2014/main" id="{DEC12F3C-4FB5-4543-BEBB-0148596FD74B}"/>
              </a:ext>
            </a:extLst>
          </p:cNvPr>
          <p:cNvSpPr>
            <a:spLocks noGrp="1"/>
          </p:cNvSpPr>
          <p:nvPr/>
        </p:nvSpPr>
        <p:spPr>
          <a:xfrm>
            <a:off x="15811500" y="9715500"/>
            <a:ext cx="1524000" cy="152400"/>
          </a:xfrm>
          <a:prstGeom prst="rect">
            <a:avLst/>
          </a:prstGeom>
        </p:spPr>
        <p:txBody>
          <a:bodyPr lIns="0" tIns="0" rIns="0" bIns="0"/>
          <a:lstStyle/>
          <a:p>
            <a:pPr algn="r">
              <a:defRPr sz="975" b="0" i="0">
                <a:solidFill>
                  <a:srgbClr val="5D5A55"/>
                </a:solidFill>
                <a:latin typeface="Avenir Next"/>
                <a:ea typeface="Avenir Next"/>
                <a:cs typeface="Avenir Next"/>
              </a:defRPr>
            </a:pPr>
            <a:r>
              <a:rPr sz="975" b="0" i="0">
                <a:solidFill>
                  <a:srgbClr val="5D5A55"/>
                </a:solidFill>
                <a:latin typeface="Avenir Next"/>
                <a:ea typeface="Avenir Next"/>
                <a:cs typeface="Avenir Next"/>
              </a:rPr>
              <a:t>02 / 10</a:t>
            </a:r>
          </a:p>
        </p:txBody>
      </p:sp>
      <p:sp>
        <p:nvSpPr>
          <p:cNvPr id="7" name="Rectangle 6">
            <a:extLst>
              <a:ext uri="{FF2B5EF4-FFF2-40B4-BE49-F238E27FC236}">
                <a16:creationId xmlns:a16="http://schemas.microsoft.com/office/drawing/2014/main" id="{CDE51986-B676-4229-80FE-744BD4E4F795}"/>
              </a:ext>
            </a:extLst>
          </p:cNvPr>
          <p:cNvSpPr>
            <a:spLocks noGrp="1"/>
          </p:cNvSpPr>
          <p:nvPr/>
        </p:nvSpPr>
        <p:spPr>
          <a:prstGeom prst="rect">
            <a:avLst/>
          </a:prstGeom>
        </p:spPr>
        <p:txBody>
          <a:bodyPr/>
          <a:lstStyle/>
          <a:p>
            <a:endParaRPr lang="en-US"/>
          </a:p>
        </p:txBody>
      </p:sp>
      <p:pic>
        <p:nvPicPr>
          <p:cNvPr id="8" name="Picture 7">
            <a:extLst>
              <a:ext uri="{FF2B5EF4-FFF2-40B4-BE49-F238E27FC236}">
                <a16:creationId xmlns:a16="http://schemas.microsoft.com/office/drawing/2014/main" id="{A67AB4E7-F353-43E3-0946-87EC73E39926}"/>
              </a:ext>
            </a:extLst>
          </p:cNvPr>
          <p:cNvPicPr>
            <a:picLocks noChangeAspect="1"/>
          </p:cNvPicPr>
          <p:nvPr/>
        </p:nvPicPr>
        <p:blipFill>
          <a:blip r:embed="rId3"/>
          <a:stretch>
            <a:fillRect/>
          </a:stretch>
        </p:blipFill>
        <p:spPr>
          <a:xfrm>
            <a:off x="2092778" y="1220483"/>
            <a:ext cx="14102443" cy="7846033"/>
          </a:xfrm>
          <a:prstGeom prst="rect">
            <a:avLst/>
          </a:prstGeom>
        </p:spPr>
      </p:pic>
    </p:spTree>
    <p:extLst>
      <p:ext uri="{BB962C8B-B14F-4D97-AF65-F5344CB8AC3E}">
        <p14:creationId xmlns:p14="http://schemas.microsoft.com/office/powerpoint/2010/main" val="858511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a:extLst>
            <a:ext uri="{FF2B5EF4-FFF2-40B4-BE49-F238E27FC236}">
              <a16:creationId xmlns:a16="http://schemas.microsoft.com/office/drawing/2014/main" id="{123C3AF9-2C4E-A7B1-80D3-BD6D0BED0DF8}"/>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62D38CB7-3F27-4053-BB7E-08E0EA1ACDEE}"/>
              </a:ext>
            </a:extLst>
          </p:cNvPr>
          <p:cNvSpPr>
            <a:spLocks noGrp="1"/>
          </p:cNvSpPr>
          <p:nvPr/>
        </p:nvSpPr>
        <p:spPr>
          <a:prstGeom prst="rect">
            <a:avLst/>
          </a:prstGeom>
        </p:spPr>
        <p:txBody>
          <a:bodyPr/>
          <a:lstStyle/>
          <a:p>
            <a:endParaRPr lang="en-US"/>
          </a:p>
        </p:txBody>
      </p:sp>
      <p:sp>
        <p:nvSpPr>
          <p:cNvPr id="4" name="logo-wordmark">
            <a:extLst>
              <a:ext uri="{FF2B5EF4-FFF2-40B4-BE49-F238E27FC236}">
                <a16:creationId xmlns:a16="http://schemas.microsoft.com/office/drawing/2014/main" id="{48DA2776-1770-D0D1-FECF-DB7BCBB60B96}"/>
              </a:ext>
            </a:extLst>
          </p:cNvPr>
          <p:cNvSpPr>
            <a:spLocks noGrp="1"/>
          </p:cNvSpPr>
          <p:nvPr/>
        </p:nvSpPr>
        <p:spPr>
          <a:xfrm>
            <a:off x="14478000" y="590550"/>
            <a:ext cx="2667000" cy="266700"/>
          </a:xfrm>
          <a:prstGeom prst="rect">
            <a:avLst/>
          </a:prstGeom>
        </p:spPr>
        <p:txBody>
          <a:bodyPr lIns="0" tIns="0" rIns="0" bIns="0"/>
          <a:lstStyle/>
          <a:p>
            <a:pPr algn="r">
              <a:defRPr sz="1650" b="1" i="0">
                <a:solidFill>
                  <a:srgbClr val="C00000"/>
                </a:solidFill>
                <a:latin typeface="Avenir Next"/>
                <a:ea typeface="Avenir Next"/>
                <a:cs typeface="Avenir Next"/>
              </a:defRPr>
            </a:pPr>
            <a:r>
              <a:rPr sz="1650" b="1" i="0">
                <a:solidFill>
                  <a:srgbClr val="C00000"/>
                </a:solidFill>
                <a:latin typeface="Avenir Next"/>
                <a:ea typeface="Avenir Next"/>
                <a:cs typeface="Avenir Next"/>
              </a:rPr>
              <a:t>Generalist AI</a:t>
            </a:r>
          </a:p>
        </p:txBody>
      </p:sp>
      <p:sp>
        <p:nvSpPr>
          <p:cNvPr id="5" name="source-line">
            <a:extLst>
              <a:ext uri="{FF2B5EF4-FFF2-40B4-BE49-F238E27FC236}">
                <a16:creationId xmlns:a16="http://schemas.microsoft.com/office/drawing/2014/main" id="{A408F8FF-05B6-C030-7815-A1CAFE4BAC86}"/>
              </a:ext>
            </a:extLst>
          </p:cNvPr>
          <p:cNvSpPr>
            <a:spLocks noGrp="1"/>
          </p:cNvSpPr>
          <p:nvPr/>
        </p:nvSpPr>
        <p:spPr>
          <a:xfrm>
            <a:off x="1143000" y="9734550"/>
            <a:ext cx="11430000" cy="152400"/>
          </a:xfrm>
          <a:prstGeom prst="rect">
            <a:avLst/>
          </a:prstGeom>
        </p:spPr>
        <p:txBody>
          <a:bodyPr lIns="0" tIns="0" rIns="0" bIns="0"/>
          <a:lstStyle/>
          <a:p>
            <a:pPr algn="l">
              <a:defRPr sz="900" b="0" i="0">
                <a:solidFill>
                  <a:srgbClr val="5D5A55"/>
                </a:solidFill>
                <a:latin typeface="PingFang SC"/>
                <a:ea typeface="PingFang SC"/>
                <a:cs typeface="PingFang SC"/>
              </a:defRPr>
            </a:pPr>
            <a:r>
              <a:rPr sz="900" b="0" i="0">
                <a:solidFill>
                  <a:srgbClr val="5D5A55"/>
                </a:solidFill>
                <a:latin typeface="PingFang SC"/>
                <a:ea typeface="PingFang SC"/>
                <a:cs typeface="PingFang SC"/>
              </a:rPr>
              <a:t>Source: Generalist AI Blog, 2026-04-02</a:t>
            </a:r>
          </a:p>
        </p:txBody>
      </p:sp>
      <p:sp>
        <p:nvSpPr>
          <p:cNvPr id="6" name="page-number">
            <a:extLst>
              <a:ext uri="{FF2B5EF4-FFF2-40B4-BE49-F238E27FC236}">
                <a16:creationId xmlns:a16="http://schemas.microsoft.com/office/drawing/2014/main" id="{AC9454CB-0E39-40A9-63EE-2903D4E2BC0B}"/>
              </a:ext>
            </a:extLst>
          </p:cNvPr>
          <p:cNvSpPr>
            <a:spLocks noGrp="1"/>
          </p:cNvSpPr>
          <p:nvPr/>
        </p:nvSpPr>
        <p:spPr>
          <a:xfrm>
            <a:off x="15811500" y="9715500"/>
            <a:ext cx="1524000" cy="152400"/>
          </a:xfrm>
          <a:prstGeom prst="rect">
            <a:avLst/>
          </a:prstGeom>
        </p:spPr>
        <p:txBody>
          <a:bodyPr lIns="0" tIns="0" rIns="0" bIns="0"/>
          <a:lstStyle/>
          <a:p>
            <a:pPr algn="r">
              <a:defRPr sz="975" b="0" i="0">
                <a:solidFill>
                  <a:srgbClr val="5D5A55"/>
                </a:solidFill>
                <a:latin typeface="Avenir Next"/>
                <a:ea typeface="Avenir Next"/>
                <a:cs typeface="Avenir Next"/>
              </a:defRPr>
            </a:pPr>
            <a:r>
              <a:rPr sz="975" b="0" i="0">
                <a:solidFill>
                  <a:srgbClr val="5D5A55"/>
                </a:solidFill>
                <a:latin typeface="Avenir Next"/>
                <a:ea typeface="Avenir Next"/>
                <a:cs typeface="Avenir Next"/>
              </a:rPr>
              <a:t>02 / 10</a:t>
            </a:r>
          </a:p>
        </p:txBody>
      </p:sp>
      <p:sp>
        <p:nvSpPr>
          <p:cNvPr id="7" name="Rectangle 6">
            <a:extLst>
              <a:ext uri="{FF2B5EF4-FFF2-40B4-BE49-F238E27FC236}">
                <a16:creationId xmlns:a16="http://schemas.microsoft.com/office/drawing/2014/main" id="{0F1E326D-2205-C3AF-C5BE-57568276C027}"/>
              </a:ext>
            </a:extLst>
          </p:cNvPr>
          <p:cNvSpPr>
            <a:spLocks noGrp="1"/>
          </p:cNvSpPr>
          <p:nvPr/>
        </p:nvSpPr>
        <p:spPr>
          <a:prstGeom prst="rect">
            <a:avLst/>
          </a:prstGeom>
        </p:spPr>
        <p:txBody>
          <a:bodyPr/>
          <a:lstStyle/>
          <a:p>
            <a:endParaRPr lang="en-US"/>
          </a:p>
        </p:txBody>
      </p:sp>
      <p:pic>
        <p:nvPicPr>
          <p:cNvPr id="2" name="Picture 1">
            <a:extLst>
              <a:ext uri="{FF2B5EF4-FFF2-40B4-BE49-F238E27FC236}">
                <a16:creationId xmlns:a16="http://schemas.microsoft.com/office/drawing/2014/main" id="{57CF3CEB-2C88-B44D-B510-647DA581FE68}"/>
              </a:ext>
            </a:extLst>
          </p:cNvPr>
          <p:cNvPicPr>
            <a:picLocks noChangeAspect="1"/>
          </p:cNvPicPr>
          <p:nvPr/>
        </p:nvPicPr>
        <p:blipFill>
          <a:blip r:embed="rId3"/>
          <a:stretch>
            <a:fillRect/>
          </a:stretch>
        </p:blipFill>
        <p:spPr>
          <a:xfrm>
            <a:off x="1907073" y="1121324"/>
            <a:ext cx="14473853" cy="8044352"/>
          </a:xfrm>
          <a:prstGeom prst="rect">
            <a:avLst/>
          </a:prstGeom>
        </p:spPr>
      </p:pic>
    </p:spTree>
    <p:extLst>
      <p:ext uri="{BB962C8B-B14F-4D97-AF65-F5344CB8AC3E}">
        <p14:creationId xmlns:p14="http://schemas.microsoft.com/office/powerpoint/2010/main" val="1400481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a:extLst>
            <a:ext uri="{FF2B5EF4-FFF2-40B4-BE49-F238E27FC236}">
              <a16:creationId xmlns:a16="http://schemas.microsoft.com/office/drawing/2014/main" id="{72D30C4C-C537-29A5-C17D-E52D6A377491}"/>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3140B58F-A0DE-BA4B-C112-D992C7536AA0}"/>
              </a:ext>
            </a:extLst>
          </p:cNvPr>
          <p:cNvSpPr>
            <a:spLocks noGrp="1"/>
          </p:cNvSpPr>
          <p:nvPr/>
        </p:nvSpPr>
        <p:spPr>
          <a:prstGeom prst="rect">
            <a:avLst/>
          </a:prstGeom>
        </p:spPr>
        <p:txBody>
          <a:bodyPr/>
          <a:lstStyle/>
          <a:p>
            <a:endParaRPr lang="en-US"/>
          </a:p>
        </p:txBody>
      </p:sp>
      <p:sp>
        <p:nvSpPr>
          <p:cNvPr id="4" name="logo-wordmark">
            <a:extLst>
              <a:ext uri="{FF2B5EF4-FFF2-40B4-BE49-F238E27FC236}">
                <a16:creationId xmlns:a16="http://schemas.microsoft.com/office/drawing/2014/main" id="{ECE0DB06-9B06-EAA6-A280-68B71D664360}"/>
              </a:ext>
            </a:extLst>
          </p:cNvPr>
          <p:cNvSpPr>
            <a:spLocks noGrp="1"/>
          </p:cNvSpPr>
          <p:nvPr/>
        </p:nvSpPr>
        <p:spPr>
          <a:xfrm>
            <a:off x="14478000" y="590550"/>
            <a:ext cx="2667000" cy="266700"/>
          </a:xfrm>
          <a:prstGeom prst="rect">
            <a:avLst/>
          </a:prstGeom>
        </p:spPr>
        <p:txBody>
          <a:bodyPr lIns="0" tIns="0" rIns="0" bIns="0"/>
          <a:lstStyle/>
          <a:p>
            <a:pPr algn="r">
              <a:defRPr sz="1650" b="1" i="0">
                <a:solidFill>
                  <a:srgbClr val="C00000"/>
                </a:solidFill>
                <a:latin typeface="Avenir Next"/>
                <a:ea typeface="Avenir Next"/>
                <a:cs typeface="Avenir Next"/>
              </a:defRPr>
            </a:pPr>
            <a:r>
              <a:rPr sz="1650" b="1" i="0">
                <a:solidFill>
                  <a:srgbClr val="C00000"/>
                </a:solidFill>
                <a:latin typeface="Avenir Next"/>
                <a:ea typeface="Avenir Next"/>
                <a:cs typeface="Avenir Next"/>
              </a:rPr>
              <a:t>Generalist AI</a:t>
            </a:r>
          </a:p>
        </p:txBody>
      </p:sp>
      <p:sp>
        <p:nvSpPr>
          <p:cNvPr id="5" name="source-line">
            <a:extLst>
              <a:ext uri="{FF2B5EF4-FFF2-40B4-BE49-F238E27FC236}">
                <a16:creationId xmlns:a16="http://schemas.microsoft.com/office/drawing/2014/main" id="{0270DA50-AB1A-A144-7D0B-7862F420A79D}"/>
              </a:ext>
            </a:extLst>
          </p:cNvPr>
          <p:cNvSpPr>
            <a:spLocks noGrp="1"/>
          </p:cNvSpPr>
          <p:nvPr/>
        </p:nvSpPr>
        <p:spPr>
          <a:xfrm>
            <a:off x="1143000" y="9734550"/>
            <a:ext cx="11430000" cy="152400"/>
          </a:xfrm>
          <a:prstGeom prst="rect">
            <a:avLst/>
          </a:prstGeom>
        </p:spPr>
        <p:txBody>
          <a:bodyPr lIns="0" tIns="0" rIns="0" bIns="0"/>
          <a:lstStyle/>
          <a:p>
            <a:pPr algn="l">
              <a:defRPr sz="900" b="0" i="0">
                <a:solidFill>
                  <a:srgbClr val="5D5A55"/>
                </a:solidFill>
                <a:latin typeface="PingFang SC"/>
                <a:ea typeface="PingFang SC"/>
                <a:cs typeface="PingFang SC"/>
              </a:defRPr>
            </a:pPr>
            <a:r>
              <a:rPr sz="900" b="0" i="0">
                <a:solidFill>
                  <a:srgbClr val="5D5A55"/>
                </a:solidFill>
                <a:latin typeface="PingFang SC"/>
                <a:ea typeface="PingFang SC"/>
                <a:cs typeface="PingFang SC"/>
              </a:rPr>
              <a:t>Source: Generalist AI Blog, 2026-04-02</a:t>
            </a:r>
          </a:p>
        </p:txBody>
      </p:sp>
      <p:sp>
        <p:nvSpPr>
          <p:cNvPr id="6" name="page-number">
            <a:extLst>
              <a:ext uri="{FF2B5EF4-FFF2-40B4-BE49-F238E27FC236}">
                <a16:creationId xmlns:a16="http://schemas.microsoft.com/office/drawing/2014/main" id="{DAD95B49-7B67-0EF2-4420-8D487627B255}"/>
              </a:ext>
            </a:extLst>
          </p:cNvPr>
          <p:cNvSpPr>
            <a:spLocks noGrp="1"/>
          </p:cNvSpPr>
          <p:nvPr/>
        </p:nvSpPr>
        <p:spPr>
          <a:xfrm>
            <a:off x="15811500" y="9715500"/>
            <a:ext cx="1524000" cy="152400"/>
          </a:xfrm>
          <a:prstGeom prst="rect">
            <a:avLst/>
          </a:prstGeom>
        </p:spPr>
        <p:txBody>
          <a:bodyPr lIns="0" tIns="0" rIns="0" bIns="0"/>
          <a:lstStyle/>
          <a:p>
            <a:pPr algn="r">
              <a:defRPr sz="975" b="0" i="0">
                <a:solidFill>
                  <a:srgbClr val="5D5A55"/>
                </a:solidFill>
                <a:latin typeface="Avenir Next"/>
                <a:ea typeface="Avenir Next"/>
                <a:cs typeface="Avenir Next"/>
              </a:defRPr>
            </a:pPr>
            <a:r>
              <a:rPr sz="975" b="0" i="0">
                <a:solidFill>
                  <a:srgbClr val="5D5A55"/>
                </a:solidFill>
                <a:latin typeface="Avenir Next"/>
                <a:ea typeface="Avenir Next"/>
                <a:cs typeface="Avenir Next"/>
              </a:rPr>
              <a:t>02 / 10</a:t>
            </a:r>
          </a:p>
        </p:txBody>
      </p:sp>
      <p:sp>
        <p:nvSpPr>
          <p:cNvPr id="7" name="Rectangle 6">
            <a:extLst>
              <a:ext uri="{FF2B5EF4-FFF2-40B4-BE49-F238E27FC236}">
                <a16:creationId xmlns:a16="http://schemas.microsoft.com/office/drawing/2014/main" id="{0A218EBB-8E56-0436-88DB-53D62B5FB68B}"/>
              </a:ext>
            </a:extLst>
          </p:cNvPr>
          <p:cNvSpPr>
            <a:spLocks noGrp="1"/>
          </p:cNvSpPr>
          <p:nvPr/>
        </p:nvSpPr>
        <p:spPr>
          <a:prstGeom prst="rect">
            <a:avLst/>
          </a:prstGeom>
        </p:spPr>
        <p:txBody>
          <a:bodyPr/>
          <a:lstStyle/>
          <a:p>
            <a:endParaRPr lang="en-US"/>
          </a:p>
        </p:txBody>
      </p:sp>
      <p:pic>
        <p:nvPicPr>
          <p:cNvPr id="3" name="Picture 2">
            <a:extLst>
              <a:ext uri="{FF2B5EF4-FFF2-40B4-BE49-F238E27FC236}">
                <a16:creationId xmlns:a16="http://schemas.microsoft.com/office/drawing/2014/main" id="{6B25A014-10E5-9C1B-21FD-9F14B0FDAE3C}"/>
              </a:ext>
            </a:extLst>
          </p:cNvPr>
          <p:cNvPicPr>
            <a:picLocks noChangeAspect="1"/>
          </p:cNvPicPr>
          <p:nvPr/>
        </p:nvPicPr>
        <p:blipFill>
          <a:blip r:embed="rId3"/>
          <a:stretch>
            <a:fillRect/>
          </a:stretch>
        </p:blipFill>
        <p:spPr>
          <a:xfrm>
            <a:off x="1877785" y="1222172"/>
            <a:ext cx="14532429" cy="7842656"/>
          </a:xfrm>
          <a:prstGeom prst="rect">
            <a:avLst/>
          </a:prstGeom>
        </p:spPr>
      </p:pic>
    </p:spTree>
    <p:extLst>
      <p:ext uri="{BB962C8B-B14F-4D97-AF65-F5344CB8AC3E}">
        <p14:creationId xmlns:p14="http://schemas.microsoft.com/office/powerpoint/2010/main" val="1485310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a:extLst>
            <a:ext uri="{FF2B5EF4-FFF2-40B4-BE49-F238E27FC236}">
              <a16:creationId xmlns:a16="http://schemas.microsoft.com/office/drawing/2014/main" id="{8619EAE3-49D4-B6C4-104D-6D9808549402}"/>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078FDAC7-36C5-BCB4-29F7-13E23A9D787C}"/>
              </a:ext>
            </a:extLst>
          </p:cNvPr>
          <p:cNvSpPr>
            <a:spLocks noGrp="1"/>
          </p:cNvSpPr>
          <p:nvPr/>
        </p:nvSpPr>
        <p:spPr>
          <a:prstGeom prst="rect">
            <a:avLst/>
          </a:prstGeom>
        </p:spPr>
        <p:txBody>
          <a:bodyPr/>
          <a:lstStyle/>
          <a:p>
            <a:endParaRPr lang="en-US"/>
          </a:p>
        </p:txBody>
      </p:sp>
      <p:sp>
        <p:nvSpPr>
          <p:cNvPr id="4" name="logo-wordmark">
            <a:extLst>
              <a:ext uri="{FF2B5EF4-FFF2-40B4-BE49-F238E27FC236}">
                <a16:creationId xmlns:a16="http://schemas.microsoft.com/office/drawing/2014/main" id="{D1BEB04E-3425-7817-D747-FF9A179C7C66}"/>
              </a:ext>
            </a:extLst>
          </p:cNvPr>
          <p:cNvSpPr>
            <a:spLocks noGrp="1"/>
          </p:cNvSpPr>
          <p:nvPr/>
        </p:nvSpPr>
        <p:spPr>
          <a:xfrm>
            <a:off x="14478000" y="590550"/>
            <a:ext cx="2667000" cy="266700"/>
          </a:xfrm>
          <a:prstGeom prst="rect">
            <a:avLst/>
          </a:prstGeom>
        </p:spPr>
        <p:txBody>
          <a:bodyPr lIns="0" tIns="0" rIns="0" bIns="0"/>
          <a:lstStyle/>
          <a:p>
            <a:pPr algn="r">
              <a:defRPr sz="1650" b="1" i="0">
                <a:solidFill>
                  <a:srgbClr val="C00000"/>
                </a:solidFill>
                <a:latin typeface="Avenir Next"/>
                <a:ea typeface="Avenir Next"/>
                <a:cs typeface="Avenir Next"/>
              </a:defRPr>
            </a:pPr>
            <a:r>
              <a:rPr sz="1650" b="1" i="0">
                <a:solidFill>
                  <a:srgbClr val="C00000"/>
                </a:solidFill>
                <a:latin typeface="Avenir Next"/>
                <a:ea typeface="Avenir Next"/>
                <a:cs typeface="Avenir Next"/>
              </a:rPr>
              <a:t>Generalist AI</a:t>
            </a:r>
          </a:p>
        </p:txBody>
      </p:sp>
      <p:sp>
        <p:nvSpPr>
          <p:cNvPr id="5" name="source-line">
            <a:extLst>
              <a:ext uri="{FF2B5EF4-FFF2-40B4-BE49-F238E27FC236}">
                <a16:creationId xmlns:a16="http://schemas.microsoft.com/office/drawing/2014/main" id="{53D132BD-0474-638F-ABA0-430C981D2052}"/>
              </a:ext>
            </a:extLst>
          </p:cNvPr>
          <p:cNvSpPr>
            <a:spLocks noGrp="1"/>
          </p:cNvSpPr>
          <p:nvPr/>
        </p:nvSpPr>
        <p:spPr>
          <a:xfrm>
            <a:off x="1143000" y="9734550"/>
            <a:ext cx="11430000" cy="152400"/>
          </a:xfrm>
          <a:prstGeom prst="rect">
            <a:avLst/>
          </a:prstGeom>
        </p:spPr>
        <p:txBody>
          <a:bodyPr lIns="0" tIns="0" rIns="0" bIns="0"/>
          <a:lstStyle/>
          <a:p>
            <a:pPr algn="l">
              <a:defRPr sz="900" b="0" i="0">
                <a:solidFill>
                  <a:srgbClr val="5D5A55"/>
                </a:solidFill>
                <a:latin typeface="PingFang SC"/>
                <a:ea typeface="PingFang SC"/>
                <a:cs typeface="PingFang SC"/>
              </a:defRPr>
            </a:pPr>
            <a:r>
              <a:rPr sz="900" b="0" i="0">
                <a:solidFill>
                  <a:srgbClr val="5D5A55"/>
                </a:solidFill>
                <a:latin typeface="PingFang SC"/>
                <a:ea typeface="PingFang SC"/>
                <a:cs typeface="PingFang SC"/>
              </a:rPr>
              <a:t>Source: Generalist AI Blog, 2026-04-02</a:t>
            </a:r>
          </a:p>
        </p:txBody>
      </p:sp>
      <p:sp>
        <p:nvSpPr>
          <p:cNvPr id="6" name="page-number">
            <a:extLst>
              <a:ext uri="{FF2B5EF4-FFF2-40B4-BE49-F238E27FC236}">
                <a16:creationId xmlns:a16="http://schemas.microsoft.com/office/drawing/2014/main" id="{4AC3062E-C143-F40A-DF6A-BBBD4521B536}"/>
              </a:ext>
            </a:extLst>
          </p:cNvPr>
          <p:cNvSpPr>
            <a:spLocks noGrp="1"/>
          </p:cNvSpPr>
          <p:nvPr/>
        </p:nvSpPr>
        <p:spPr>
          <a:xfrm>
            <a:off x="15811500" y="9715500"/>
            <a:ext cx="1524000" cy="152400"/>
          </a:xfrm>
          <a:prstGeom prst="rect">
            <a:avLst/>
          </a:prstGeom>
        </p:spPr>
        <p:txBody>
          <a:bodyPr lIns="0" tIns="0" rIns="0" bIns="0"/>
          <a:lstStyle/>
          <a:p>
            <a:pPr algn="r">
              <a:defRPr sz="975" b="0" i="0">
                <a:solidFill>
                  <a:srgbClr val="5D5A55"/>
                </a:solidFill>
                <a:latin typeface="Avenir Next"/>
                <a:ea typeface="Avenir Next"/>
                <a:cs typeface="Avenir Next"/>
              </a:defRPr>
            </a:pPr>
            <a:r>
              <a:rPr sz="975" b="0" i="0">
                <a:solidFill>
                  <a:srgbClr val="5D5A55"/>
                </a:solidFill>
                <a:latin typeface="Avenir Next"/>
                <a:ea typeface="Avenir Next"/>
                <a:cs typeface="Avenir Next"/>
              </a:rPr>
              <a:t>02 / 10</a:t>
            </a:r>
          </a:p>
        </p:txBody>
      </p:sp>
      <p:sp>
        <p:nvSpPr>
          <p:cNvPr id="7" name="Rectangle 6">
            <a:extLst>
              <a:ext uri="{FF2B5EF4-FFF2-40B4-BE49-F238E27FC236}">
                <a16:creationId xmlns:a16="http://schemas.microsoft.com/office/drawing/2014/main" id="{EFAE113C-CD65-A371-E943-302016423526}"/>
              </a:ext>
            </a:extLst>
          </p:cNvPr>
          <p:cNvSpPr>
            <a:spLocks noGrp="1"/>
          </p:cNvSpPr>
          <p:nvPr/>
        </p:nvSpPr>
        <p:spPr>
          <a:prstGeom prst="rect">
            <a:avLst/>
          </a:prstGeom>
        </p:spPr>
        <p:txBody>
          <a:bodyPr/>
          <a:lstStyle/>
          <a:p>
            <a:endParaRPr lang="en-US"/>
          </a:p>
        </p:txBody>
      </p:sp>
      <p:pic>
        <p:nvPicPr>
          <p:cNvPr id="2" name="Picture 1">
            <a:extLst>
              <a:ext uri="{FF2B5EF4-FFF2-40B4-BE49-F238E27FC236}">
                <a16:creationId xmlns:a16="http://schemas.microsoft.com/office/drawing/2014/main" id="{86EB052D-0F39-1D5E-D43B-0D6AB393113F}"/>
              </a:ext>
            </a:extLst>
          </p:cNvPr>
          <p:cNvPicPr>
            <a:picLocks noChangeAspect="1"/>
          </p:cNvPicPr>
          <p:nvPr/>
        </p:nvPicPr>
        <p:blipFill>
          <a:blip r:embed="rId3"/>
          <a:stretch>
            <a:fillRect/>
          </a:stretch>
        </p:blipFill>
        <p:spPr>
          <a:xfrm>
            <a:off x="1698171" y="1191952"/>
            <a:ext cx="14891657" cy="8050801"/>
          </a:xfrm>
          <a:prstGeom prst="rect">
            <a:avLst/>
          </a:prstGeom>
        </p:spPr>
      </p:pic>
    </p:spTree>
    <p:extLst>
      <p:ext uri="{BB962C8B-B14F-4D97-AF65-F5344CB8AC3E}">
        <p14:creationId xmlns:p14="http://schemas.microsoft.com/office/powerpoint/2010/main" val="8513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a:extLst>
            <a:ext uri="{FF2B5EF4-FFF2-40B4-BE49-F238E27FC236}">
              <a16:creationId xmlns:a16="http://schemas.microsoft.com/office/drawing/2014/main" id="{C21B0861-93A4-C8A5-9B0D-AE032306C463}"/>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CDE14F54-4DDC-FE81-E87C-E651F37FE3C1}"/>
              </a:ext>
            </a:extLst>
          </p:cNvPr>
          <p:cNvSpPr>
            <a:spLocks noGrp="1"/>
          </p:cNvSpPr>
          <p:nvPr/>
        </p:nvSpPr>
        <p:spPr>
          <a:prstGeom prst="rect">
            <a:avLst/>
          </a:prstGeom>
        </p:spPr>
        <p:txBody>
          <a:bodyPr/>
          <a:lstStyle/>
          <a:p>
            <a:endParaRPr lang="en-US"/>
          </a:p>
        </p:txBody>
      </p:sp>
      <p:sp>
        <p:nvSpPr>
          <p:cNvPr id="4" name="logo-wordmark">
            <a:extLst>
              <a:ext uri="{FF2B5EF4-FFF2-40B4-BE49-F238E27FC236}">
                <a16:creationId xmlns:a16="http://schemas.microsoft.com/office/drawing/2014/main" id="{CD824954-5D1C-23C5-A2F1-D5E924D66030}"/>
              </a:ext>
            </a:extLst>
          </p:cNvPr>
          <p:cNvSpPr>
            <a:spLocks noGrp="1"/>
          </p:cNvSpPr>
          <p:nvPr/>
        </p:nvSpPr>
        <p:spPr>
          <a:xfrm>
            <a:off x="14478000" y="590550"/>
            <a:ext cx="2667000" cy="266700"/>
          </a:xfrm>
          <a:prstGeom prst="rect">
            <a:avLst/>
          </a:prstGeom>
        </p:spPr>
        <p:txBody>
          <a:bodyPr lIns="0" tIns="0" rIns="0" bIns="0"/>
          <a:lstStyle/>
          <a:p>
            <a:pPr algn="r">
              <a:defRPr sz="1650" b="1" i="0">
                <a:solidFill>
                  <a:srgbClr val="C00000"/>
                </a:solidFill>
                <a:latin typeface="Avenir Next"/>
                <a:ea typeface="Avenir Next"/>
                <a:cs typeface="Avenir Next"/>
              </a:defRPr>
            </a:pPr>
            <a:r>
              <a:rPr sz="1650" b="1" i="0">
                <a:solidFill>
                  <a:srgbClr val="C00000"/>
                </a:solidFill>
                <a:latin typeface="Avenir Next"/>
                <a:ea typeface="Avenir Next"/>
                <a:cs typeface="Avenir Next"/>
              </a:rPr>
              <a:t>Generalist AI</a:t>
            </a:r>
          </a:p>
        </p:txBody>
      </p:sp>
      <p:sp>
        <p:nvSpPr>
          <p:cNvPr id="5" name="source-line">
            <a:extLst>
              <a:ext uri="{FF2B5EF4-FFF2-40B4-BE49-F238E27FC236}">
                <a16:creationId xmlns:a16="http://schemas.microsoft.com/office/drawing/2014/main" id="{1141764A-D54A-A5E9-88B4-14379566E70B}"/>
              </a:ext>
            </a:extLst>
          </p:cNvPr>
          <p:cNvSpPr>
            <a:spLocks noGrp="1"/>
          </p:cNvSpPr>
          <p:nvPr/>
        </p:nvSpPr>
        <p:spPr>
          <a:xfrm>
            <a:off x="1143000" y="9734550"/>
            <a:ext cx="11430000" cy="152400"/>
          </a:xfrm>
          <a:prstGeom prst="rect">
            <a:avLst/>
          </a:prstGeom>
        </p:spPr>
        <p:txBody>
          <a:bodyPr lIns="0" tIns="0" rIns="0" bIns="0"/>
          <a:lstStyle/>
          <a:p>
            <a:pPr algn="l">
              <a:defRPr sz="900" b="0" i="0">
                <a:solidFill>
                  <a:srgbClr val="5D5A55"/>
                </a:solidFill>
                <a:latin typeface="PingFang SC"/>
                <a:ea typeface="PingFang SC"/>
                <a:cs typeface="PingFang SC"/>
              </a:defRPr>
            </a:pPr>
            <a:r>
              <a:rPr sz="900" b="0" i="0">
                <a:solidFill>
                  <a:srgbClr val="5D5A55"/>
                </a:solidFill>
                <a:latin typeface="PingFang SC"/>
                <a:ea typeface="PingFang SC"/>
                <a:cs typeface="PingFang SC"/>
              </a:rPr>
              <a:t>Source: Generalist AI Blog, 2026-04-02</a:t>
            </a:r>
          </a:p>
        </p:txBody>
      </p:sp>
      <p:sp>
        <p:nvSpPr>
          <p:cNvPr id="6" name="page-number">
            <a:extLst>
              <a:ext uri="{FF2B5EF4-FFF2-40B4-BE49-F238E27FC236}">
                <a16:creationId xmlns:a16="http://schemas.microsoft.com/office/drawing/2014/main" id="{4BB60D92-F602-BFDD-5B62-91E2CC7E9A24}"/>
              </a:ext>
            </a:extLst>
          </p:cNvPr>
          <p:cNvSpPr>
            <a:spLocks noGrp="1"/>
          </p:cNvSpPr>
          <p:nvPr/>
        </p:nvSpPr>
        <p:spPr>
          <a:xfrm>
            <a:off x="15811500" y="9715500"/>
            <a:ext cx="1524000" cy="152400"/>
          </a:xfrm>
          <a:prstGeom prst="rect">
            <a:avLst/>
          </a:prstGeom>
        </p:spPr>
        <p:txBody>
          <a:bodyPr lIns="0" tIns="0" rIns="0" bIns="0"/>
          <a:lstStyle/>
          <a:p>
            <a:pPr algn="r">
              <a:defRPr sz="975" b="0" i="0">
                <a:solidFill>
                  <a:srgbClr val="5D5A55"/>
                </a:solidFill>
                <a:latin typeface="Avenir Next"/>
                <a:ea typeface="Avenir Next"/>
                <a:cs typeface="Avenir Next"/>
              </a:defRPr>
            </a:pPr>
            <a:r>
              <a:rPr sz="975" b="0" i="0">
                <a:solidFill>
                  <a:srgbClr val="5D5A55"/>
                </a:solidFill>
                <a:latin typeface="Avenir Next"/>
                <a:ea typeface="Avenir Next"/>
                <a:cs typeface="Avenir Next"/>
              </a:rPr>
              <a:t>02 / 10</a:t>
            </a:r>
          </a:p>
        </p:txBody>
      </p:sp>
      <p:sp>
        <p:nvSpPr>
          <p:cNvPr id="7" name="Rectangle 6">
            <a:extLst>
              <a:ext uri="{FF2B5EF4-FFF2-40B4-BE49-F238E27FC236}">
                <a16:creationId xmlns:a16="http://schemas.microsoft.com/office/drawing/2014/main" id="{3A8F0A0F-779F-356A-C19C-379A66A1403C}"/>
              </a:ext>
            </a:extLst>
          </p:cNvPr>
          <p:cNvSpPr>
            <a:spLocks noGrp="1"/>
          </p:cNvSpPr>
          <p:nvPr/>
        </p:nvSpPr>
        <p:spPr>
          <a:prstGeom prst="rect">
            <a:avLst/>
          </a:prstGeom>
        </p:spPr>
        <p:txBody>
          <a:bodyPr/>
          <a:lstStyle/>
          <a:p>
            <a:endParaRPr lang="en-US"/>
          </a:p>
        </p:txBody>
      </p:sp>
      <p:pic>
        <p:nvPicPr>
          <p:cNvPr id="3" name="Picture 2">
            <a:extLst>
              <a:ext uri="{FF2B5EF4-FFF2-40B4-BE49-F238E27FC236}">
                <a16:creationId xmlns:a16="http://schemas.microsoft.com/office/drawing/2014/main" id="{075D7FF5-A923-8472-B8A6-550A6D592D5D}"/>
              </a:ext>
            </a:extLst>
          </p:cNvPr>
          <p:cNvPicPr>
            <a:picLocks noChangeAspect="1"/>
          </p:cNvPicPr>
          <p:nvPr/>
        </p:nvPicPr>
        <p:blipFill>
          <a:blip r:embed="rId3"/>
          <a:stretch>
            <a:fillRect/>
          </a:stretch>
        </p:blipFill>
        <p:spPr>
          <a:xfrm>
            <a:off x="1847849" y="1111020"/>
            <a:ext cx="14592301" cy="8064959"/>
          </a:xfrm>
          <a:prstGeom prst="rect">
            <a:avLst/>
          </a:prstGeom>
        </p:spPr>
      </p:pic>
    </p:spTree>
    <p:extLst>
      <p:ext uri="{BB962C8B-B14F-4D97-AF65-F5344CB8AC3E}">
        <p14:creationId xmlns:p14="http://schemas.microsoft.com/office/powerpoint/2010/main" val="3526373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a:extLst>
            <a:ext uri="{FF2B5EF4-FFF2-40B4-BE49-F238E27FC236}">
              <a16:creationId xmlns:a16="http://schemas.microsoft.com/office/drawing/2014/main" id="{4827FBE6-CEC5-ADF2-B8AA-4028A8AB2AB2}"/>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9B66A9D3-0C72-F05E-71FA-2854D151A507}"/>
              </a:ext>
            </a:extLst>
          </p:cNvPr>
          <p:cNvSpPr>
            <a:spLocks noGrp="1"/>
          </p:cNvSpPr>
          <p:nvPr/>
        </p:nvSpPr>
        <p:spPr>
          <a:prstGeom prst="rect">
            <a:avLst/>
          </a:prstGeom>
        </p:spPr>
        <p:txBody>
          <a:bodyPr/>
          <a:lstStyle/>
          <a:p>
            <a:endParaRPr lang="en-US"/>
          </a:p>
        </p:txBody>
      </p:sp>
      <p:sp>
        <p:nvSpPr>
          <p:cNvPr id="4" name="logo-wordmark">
            <a:extLst>
              <a:ext uri="{FF2B5EF4-FFF2-40B4-BE49-F238E27FC236}">
                <a16:creationId xmlns:a16="http://schemas.microsoft.com/office/drawing/2014/main" id="{BF3AD86F-47B1-B6B8-E91C-8EB8FD490126}"/>
              </a:ext>
            </a:extLst>
          </p:cNvPr>
          <p:cNvSpPr>
            <a:spLocks noGrp="1"/>
          </p:cNvSpPr>
          <p:nvPr/>
        </p:nvSpPr>
        <p:spPr>
          <a:xfrm>
            <a:off x="14478000" y="590550"/>
            <a:ext cx="2667000" cy="266700"/>
          </a:xfrm>
          <a:prstGeom prst="rect">
            <a:avLst/>
          </a:prstGeom>
        </p:spPr>
        <p:txBody>
          <a:bodyPr lIns="0" tIns="0" rIns="0" bIns="0"/>
          <a:lstStyle/>
          <a:p>
            <a:pPr algn="r">
              <a:defRPr sz="1650" b="1" i="0">
                <a:solidFill>
                  <a:srgbClr val="C00000"/>
                </a:solidFill>
                <a:latin typeface="Avenir Next"/>
                <a:ea typeface="Avenir Next"/>
                <a:cs typeface="Avenir Next"/>
              </a:defRPr>
            </a:pPr>
            <a:r>
              <a:rPr sz="1650" b="1" i="0">
                <a:solidFill>
                  <a:srgbClr val="C00000"/>
                </a:solidFill>
                <a:latin typeface="Avenir Next"/>
                <a:ea typeface="Avenir Next"/>
                <a:cs typeface="Avenir Next"/>
              </a:rPr>
              <a:t>Generalist AI</a:t>
            </a:r>
          </a:p>
        </p:txBody>
      </p:sp>
      <p:sp>
        <p:nvSpPr>
          <p:cNvPr id="5" name="source-line">
            <a:extLst>
              <a:ext uri="{FF2B5EF4-FFF2-40B4-BE49-F238E27FC236}">
                <a16:creationId xmlns:a16="http://schemas.microsoft.com/office/drawing/2014/main" id="{2AABDF18-2FEC-0307-DCED-C1D642AC5441}"/>
              </a:ext>
            </a:extLst>
          </p:cNvPr>
          <p:cNvSpPr>
            <a:spLocks noGrp="1"/>
          </p:cNvSpPr>
          <p:nvPr/>
        </p:nvSpPr>
        <p:spPr>
          <a:xfrm>
            <a:off x="1143000" y="9734550"/>
            <a:ext cx="11430000" cy="152400"/>
          </a:xfrm>
          <a:prstGeom prst="rect">
            <a:avLst/>
          </a:prstGeom>
        </p:spPr>
        <p:txBody>
          <a:bodyPr lIns="0" tIns="0" rIns="0" bIns="0"/>
          <a:lstStyle/>
          <a:p>
            <a:pPr algn="l">
              <a:defRPr sz="900" b="0" i="0">
                <a:solidFill>
                  <a:srgbClr val="5D5A55"/>
                </a:solidFill>
                <a:latin typeface="PingFang SC"/>
                <a:ea typeface="PingFang SC"/>
                <a:cs typeface="PingFang SC"/>
              </a:defRPr>
            </a:pPr>
            <a:r>
              <a:rPr sz="900" b="0" i="0">
                <a:solidFill>
                  <a:srgbClr val="5D5A55"/>
                </a:solidFill>
                <a:latin typeface="PingFang SC"/>
                <a:ea typeface="PingFang SC"/>
                <a:cs typeface="PingFang SC"/>
              </a:rPr>
              <a:t>Source: Generalist AI Blog, 2026-04-02</a:t>
            </a:r>
          </a:p>
        </p:txBody>
      </p:sp>
      <p:sp>
        <p:nvSpPr>
          <p:cNvPr id="6" name="page-number">
            <a:extLst>
              <a:ext uri="{FF2B5EF4-FFF2-40B4-BE49-F238E27FC236}">
                <a16:creationId xmlns:a16="http://schemas.microsoft.com/office/drawing/2014/main" id="{4EFC454D-7199-7F32-529F-CE682E619B45}"/>
              </a:ext>
            </a:extLst>
          </p:cNvPr>
          <p:cNvSpPr>
            <a:spLocks noGrp="1"/>
          </p:cNvSpPr>
          <p:nvPr/>
        </p:nvSpPr>
        <p:spPr>
          <a:xfrm>
            <a:off x="15811500" y="9715500"/>
            <a:ext cx="1524000" cy="152400"/>
          </a:xfrm>
          <a:prstGeom prst="rect">
            <a:avLst/>
          </a:prstGeom>
        </p:spPr>
        <p:txBody>
          <a:bodyPr lIns="0" tIns="0" rIns="0" bIns="0"/>
          <a:lstStyle/>
          <a:p>
            <a:pPr algn="r">
              <a:defRPr sz="975" b="0" i="0">
                <a:solidFill>
                  <a:srgbClr val="5D5A55"/>
                </a:solidFill>
                <a:latin typeface="Avenir Next"/>
                <a:ea typeface="Avenir Next"/>
                <a:cs typeface="Avenir Next"/>
              </a:defRPr>
            </a:pPr>
            <a:r>
              <a:rPr sz="975" b="0" i="0">
                <a:solidFill>
                  <a:srgbClr val="5D5A55"/>
                </a:solidFill>
                <a:latin typeface="Avenir Next"/>
                <a:ea typeface="Avenir Next"/>
                <a:cs typeface="Avenir Next"/>
              </a:rPr>
              <a:t>02 / 10</a:t>
            </a:r>
          </a:p>
        </p:txBody>
      </p:sp>
      <p:sp>
        <p:nvSpPr>
          <p:cNvPr id="7" name="Rectangle 6">
            <a:extLst>
              <a:ext uri="{FF2B5EF4-FFF2-40B4-BE49-F238E27FC236}">
                <a16:creationId xmlns:a16="http://schemas.microsoft.com/office/drawing/2014/main" id="{53BBB756-305D-1265-AB42-9FF4A975BD28}"/>
              </a:ext>
            </a:extLst>
          </p:cNvPr>
          <p:cNvSpPr>
            <a:spLocks noGrp="1"/>
          </p:cNvSpPr>
          <p:nvPr/>
        </p:nvSpPr>
        <p:spPr>
          <a:prstGeom prst="rect">
            <a:avLst/>
          </a:prstGeom>
        </p:spPr>
        <p:txBody>
          <a:bodyPr/>
          <a:lstStyle/>
          <a:p>
            <a:endParaRPr lang="en-US"/>
          </a:p>
        </p:txBody>
      </p:sp>
      <p:pic>
        <p:nvPicPr>
          <p:cNvPr id="2" name="Picture 1">
            <a:extLst>
              <a:ext uri="{FF2B5EF4-FFF2-40B4-BE49-F238E27FC236}">
                <a16:creationId xmlns:a16="http://schemas.microsoft.com/office/drawing/2014/main" id="{927D1229-4193-D53E-D94E-F30CE2391206}"/>
              </a:ext>
            </a:extLst>
          </p:cNvPr>
          <p:cNvPicPr>
            <a:picLocks noChangeAspect="1"/>
          </p:cNvPicPr>
          <p:nvPr/>
        </p:nvPicPr>
        <p:blipFill>
          <a:blip r:embed="rId3"/>
          <a:stretch>
            <a:fillRect/>
          </a:stretch>
        </p:blipFill>
        <p:spPr>
          <a:xfrm>
            <a:off x="1747157" y="1135619"/>
            <a:ext cx="14793686" cy="8015761"/>
          </a:xfrm>
          <a:prstGeom prst="rect">
            <a:avLst/>
          </a:prstGeom>
        </p:spPr>
      </p:pic>
    </p:spTree>
    <p:extLst>
      <p:ext uri="{BB962C8B-B14F-4D97-AF65-F5344CB8AC3E}">
        <p14:creationId xmlns:p14="http://schemas.microsoft.com/office/powerpoint/2010/main" val="1080850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a:extLst>
            <a:ext uri="{FF2B5EF4-FFF2-40B4-BE49-F238E27FC236}">
              <a16:creationId xmlns:a16="http://schemas.microsoft.com/office/drawing/2014/main" id="{52CC056D-ED29-718F-4E30-6B23B6B45546}"/>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57F9877-5337-702F-5B4F-E70B5E79F118}"/>
              </a:ext>
            </a:extLst>
          </p:cNvPr>
          <p:cNvSpPr>
            <a:spLocks noGrp="1"/>
          </p:cNvSpPr>
          <p:nvPr/>
        </p:nvSpPr>
        <p:spPr>
          <a:prstGeom prst="rect">
            <a:avLst/>
          </a:prstGeom>
        </p:spPr>
        <p:txBody>
          <a:bodyPr/>
          <a:lstStyle/>
          <a:p>
            <a:endParaRPr lang="en-US"/>
          </a:p>
        </p:txBody>
      </p:sp>
      <p:sp>
        <p:nvSpPr>
          <p:cNvPr id="4" name="logo-wordmark">
            <a:extLst>
              <a:ext uri="{FF2B5EF4-FFF2-40B4-BE49-F238E27FC236}">
                <a16:creationId xmlns:a16="http://schemas.microsoft.com/office/drawing/2014/main" id="{D012E8F2-712F-A258-E7DA-14AABC1D2F7F}"/>
              </a:ext>
            </a:extLst>
          </p:cNvPr>
          <p:cNvSpPr>
            <a:spLocks noGrp="1"/>
          </p:cNvSpPr>
          <p:nvPr/>
        </p:nvSpPr>
        <p:spPr>
          <a:xfrm>
            <a:off x="14478000" y="590550"/>
            <a:ext cx="2667000" cy="266700"/>
          </a:xfrm>
          <a:prstGeom prst="rect">
            <a:avLst/>
          </a:prstGeom>
        </p:spPr>
        <p:txBody>
          <a:bodyPr lIns="0" tIns="0" rIns="0" bIns="0"/>
          <a:lstStyle/>
          <a:p>
            <a:pPr algn="r">
              <a:defRPr sz="1650" b="1" i="0">
                <a:solidFill>
                  <a:srgbClr val="C00000"/>
                </a:solidFill>
                <a:latin typeface="Avenir Next"/>
                <a:ea typeface="Avenir Next"/>
                <a:cs typeface="Avenir Next"/>
              </a:defRPr>
            </a:pPr>
            <a:r>
              <a:rPr sz="1650" b="1" i="0">
                <a:solidFill>
                  <a:srgbClr val="C00000"/>
                </a:solidFill>
                <a:latin typeface="Avenir Next"/>
                <a:ea typeface="Avenir Next"/>
                <a:cs typeface="Avenir Next"/>
              </a:rPr>
              <a:t>Generalist AI</a:t>
            </a:r>
          </a:p>
        </p:txBody>
      </p:sp>
      <p:sp>
        <p:nvSpPr>
          <p:cNvPr id="5" name="source-line">
            <a:extLst>
              <a:ext uri="{FF2B5EF4-FFF2-40B4-BE49-F238E27FC236}">
                <a16:creationId xmlns:a16="http://schemas.microsoft.com/office/drawing/2014/main" id="{FBBB3487-3267-E153-D60E-CC824049C4FB}"/>
              </a:ext>
            </a:extLst>
          </p:cNvPr>
          <p:cNvSpPr>
            <a:spLocks noGrp="1"/>
          </p:cNvSpPr>
          <p:nvPr/>
        </p:nvSpPr>
        <p:spPr>
          <a:xfrm>
            <a:off x="1143000" y="9734550"/>
            <a:ext cx="11430000" cy="152400"/>
          </a:xfrm>
          <a:prstGeom prst="rect">
            <a:avLst/>
          </a:prstGeom>
        </p:spPr>
        <p:txBody>
          <a:bodyPr lIns="0" tIns="0" rIns="0" bIns="0"/>
          <a:lstStyle/>
          <a:p>
            <a:pPr algn="l">
              <a:defRPr sz="900" b="0" i="0">
                <a:solidFill>
                  <a:srgbClr val="5D5A55"/>
                </a:solidFill>
                <a:latin typeface="PingFang SC"/>
                <a:ea typeface="PingFang SC"/>
                <a:cs typeface="PingFang SC"/>
              </a:defRPr>
            </a:pPr>
            <a:r>
              <a:rPr sz="900" b="0" i="0">
                <a:solidFill>
                  <a:srgbClr val="5D5A55"/>
                </a:solidFill>
                <a:latin typeface="PingFang SC"/>
                <a:ea typeface="PingFang SC"/>
                <a:cs typeface="PingFang SC"/>
              </a:rPr>
              <a:t>Source: Generalist AI Blog, 2026-04-02</a:t>
            </a:r>
          </a:p>
        </p:txBody>
      </p:sp>
      <p:sp>
        <p:nvSpPr>
          <p:cNvPr id="6" name="page-number">
            <a:extLst>
              <a:ext uri="{FF2B5EF4-FFF2-40B4-BE49-F238E27FC236}">
                <a16:creationId xmlns:a16="http://schemas.microsoft.com/office/drawing/2014/main" id="{329259E8-F84A-5E94-E0D5-F8DC5593E0DA}"/>
              </a:ext>
            </a:extLst>
          </p:cNvPr>
          <p:cNvSpPr>
            <a:spLocks noGrp="1"/>
          </p:cNvSpPr>
          <p:nvPr/>
        </p:nvSpPr>
        <p:spPr>
          <a:xfrm>
            <a:off x="15811500" y="9715500"/>
            <a:ext cx="1524000" cy="152400"/>
          </a:xfrm>
          <a:prstGeom prst="rect">
            <a:avLst/>
          </a:prstGeom>
        </p:spPr>
        <p:txBody>
          <a:bodyPr lIns="0" tIns="0" rIns="0" bIns="0"/>
          <a:lstStyle/>
          <a:p>
            <a:pPr algn="r">
              <a:defRPr sz="975" b="0" i="0">
                <a:solidFill>
                  <a:srgbClr val="5D5A55"/>
                </a:solidFill>
                <a:latin typeface="Avenir Next"/>
                <a:ea typeface="Avenir Next"/>
                <a:cs typeface="Avenir Next"/>
              </a:defRPr>
            </a:pPr>
            <a:r>
              <a:rPr sz="975" b="0" i="0">
                <a:solidFill>
                  <a:srgbClr val="5D5A55"/>
                </a:solidFill>
                <a:latin typeface="Avenir Next"/>
                <a:ea typeface="Avenir Next"/>
                <a:cs typeface="Avenir Next"/>
              </a:rPr>
              <a:t>02 / 10</a:t>
            </a:r>
          </a:p>
        </p:txBody>
      </p:sp>
      <p:sp>
        <p:nvSpPr>
          <p:cNvPr id="7" name="Rectangle 6">
            <a:extLst>
              <a:ext uri="{FF2B5EF4-FFF2-40B4-BE49-F238E27FC236}">
                <a16:creationId xmlns:a16="http://schemas.microsoft.com/office/drawing/2014/main" id="{1AD81003-2535-4D94-5176-7106DDBDB6C1}"/>
              </a:ext>
            </a:extLst>
          </p:cNvPr>
          <p:cNvSpPr>
            <a:spLocks noGrp="1"/>
          </p:cNvSpPr>
          <p:nvPr/>
        </p:nvSpPr>
        <p:spPr>
          <a:prstGeom prst="rect">
            <a:avLst/>
          </a:prstGeom>
        </p:spPr>
        <p:txBody>
          <a:bodyPr/>
          <a:lstStyle/>
          <a:p>
            <a:endParaRPr lang="en-US"/>
          </a:p>
        </p:txBody>
      </p:sp>
      <p:pic>
        <p:nvPicPr>
          <p:cNvPr id="3" name="Picture 2">
            <a:extLst>
              <a:ext uri="{FF2B5EF4-FFF2-40B4-BE49-F238E27FC236}">
                <a16:creationId xmlns:a16="http://schemas.microsoft.com/office/drawing/2014/main" id="{3DE5DBBD-5213-E21B-F499-8667868728C2}"/>
              </a:ext>
            </a:extLst>
          </p:cNvPr>
          <p:cNvPicPr>
            <a:picLocks noChangeAspect="1"/>
          </p:cNvPicPr>
          <p:nvPr/>
        </p:nvPicPr>
        <p:blipFill>
          <a:blip r:embed="rId3"/>
          <a:stretch>
            <a:fillRect/>
          </a:stretch>
        </p:blipFill>
        <p:spPr>
          <a:xfrm>
            <a:off x="1888671" y="1171058"/>
            <a:ext cx="14510657" cy="7944883"/>
          </a:xfrm>
          <a:prstGeom prst="rect">
            <a:avLst/>
          </a:prstGeom>
        </p:spPr>
      </p:pic>
    </p:spTree>
    <p:extLst>
      <p:ext uri="{BB962C8B-B14F-4D97-AF65-F5344CB8AC3E}">
        <p14:creationId xmlns:p14="http://schemas.microsoft.com/office/powerpoint/2010/main" val="927271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a:extLst>
            <a:ext uri="{FF2B5EF4-FFF2-40B4-BE49-F238E27FC236}">
              <a16:creationId xmlns:a16="http://schemas.microsoft.com/office/drawing/2014/main" id="{5F4ED1A1-0F3D-884A-2DB9-6D2A2843831A}"/>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AD9C8159-66AA-28B1-CC9B-969EE3EA6F1E}"/>
              </a:ext>
            </a:extLst>
          </p:cNvPr>
          <p:cNvSpPr>
            <a:spLocks noGrp="1"/>
          </p:cNvSpPr>
          <p:nvPr/>
        </p:nvSpPr>
        <p:spPr>
          <a:prstGeom prst="rect">
            <a:avLst/>
          </a:prstGeom>
        </p:spPr>
        <p:txBody>
          <a:bodyPr/>
          <a:lstStyle/>
          <a:p>
            <a:endParaRPr lang="en-US"/>
          </a:p>
        </p:txBody>
      </p:sp>
      <p:sp>
        <p:nvSpPr>
          <p:cNvPr id="4" name="logo-wordmark">
            <a:extLst>
              <a:ext uri="{FF2B5EF4-FFF2-40B4-BE49-F238E27FC236}">
                <a16:creationId xmlns:a16="http://schemas.microsoft.com/office/drawing/2014/main" id="{E3BECB25-7D34-6205-5C7F-9BBE3C0E627E}"/>
              </a:ext>
            </a:extLst>
          </p:cNvPr>
          <p:cNvSpPr>
            <a:spLocks noGrp="1"/>
          </p:cNvSpPr>
          <p:nvPr/>
        </p:nvSpPr>
        <p:spPr>
          <a:xfrm>
            <a:off x="14478000" y="590550"/>
            <a:ext cx="2667000" cy="266700"/>
          </a:xfrm>
          <a:prstGeom prst="rect">
            <a:avLst/>
          </a:prstGeom>
        </p:spPr>
        <p:txBody>
          <a:bodyPr lIns="0" tIns="0" rIns="0" bIns="0"/>
          <a:lstStyle/>
          <a:p>
            <a:pPr algn="r">
              <a:defRPr sz="1650" b="1" i="0">
                <a:solidFill>
                  <a:srgbClr val="C00000"/>
                </a:solidFill>
                <a:latin typeface="Avenir Next"/>
                <a:ea typeface="Avenir Next"/>
                <a:cs typeface="Avenir Next"/>
              </a:defRPr>
            </a:pPr>
            <a:r>
              <a:rPr sz="1650" b="1" i="0">
                <a:solidFill>
                  <a:srgbClr val="C00000"/>
                </a:solidFill>
                <a:latin typeface="Avenir Next"/>
                <a:ea typeface="Avenir Next"/>
                <a:cs typeface="Avenir Next"/>
              </a:rPr>
              <a:t>Generalist AI</a:t>
            </a:r>
          </a:p>
        </p:txBody>
      </p:sp>
      <p:sp>
        <p:nvSpPr>
          <p:cNvPr id="5" name="source-line">
            <a:extLst>
              <a:ext uri="{FF2B5EF4-FFF2-40B4-BE49-F238E27FC236}">
                <a16:creationId xmlns:a16="http://schemas.microsoft.com/office/drawing/2014/main" id="{7D4FA59F-13D5-8D6B-DD20-9625F631291F}"/>
              </a:ext>
            </a:extLst>
          </p:cNvPr>
          <p:cNvSpPr>
            <a:spLocks noGrp="1"/>
          </p:cNvSpPr>
          <p:nvPr/>
        </p:nvSpPr>
        <p:spPr>
          <a:xfrm>
            <a:off x="1143000" y="9734550"/>
            <a:ext cx="11430000" cy="152400"/>
          </a:xfrm>
          <a:prstGeom prst="rect">
            <a:avLst/>
          </a:prstGeom>
        </p:spPr>
        <p:txBody>
          <a:bodyPr lIns="0" tIns="0" rIns="0" bIns="0"/>
          <a:lstStyle/>
          <a:p>
            <a:pPr algn="l">
              <a:defRPr sz="900" b="0" i="0">
                <a:solidFill>
                  <a:srgbClr val="5D5A55"/>
                </a:solidFill>
                <a:latin typeface="PingFang SC"/>
                <a:ea typeface="PingFang SC"/>
                <a:cs typeface="PingFang SC"/>
              </a:defRPr>
            </a:pPr>
            <a:r>
              <a:rPr sz="900" b="0" i="0">
                <a:solidFill>
                  <a:srgbClr val="5D5A55"/>
                </a:solidFill>
                <a:latin typeface="PingFang SC"/>
                <a:ea typeface="PingFang SC"/>
                <a:cs typeface="PingFang SC"/>
              </a:rPr>
              <a:t>Source: Generalist AI Blog, 2026-04-02</a:t>
            </a:r>
          </a:p>
        </p:txBody>
      </p:sp>
      <p:sp>
        <p:nvSpPr>
          <p:cNvPr id="6" name="page-number">
            <a:extLst>
              <a:ext uri="{FF2B5EF4-FFF2-40B4-BE49-F238E27FC236}">
                <a16:creationId xmlns:a16="http://schemas.microsoft.com/office/drawing/2014/main" id="{C9273084-F9EA-FFEB-EACE-3C8B64F9D1D4}"/>
              </a:ext>
            </a:extLst>
          </p:cNvPr>
          <p:cNvSpPr>
            <a:spLocks noGrp="1"/>
          </p:cNvSpPr>
          <p:nvPr/>
        </p:nvSpPr>
        <p:spPr>
          <a:xfrm>
            <a:off x="15811500" y="9715500"/>
            <a:ext cx="1524000" cy="152400"/>
          </a:xfrm>
          <a:prstGeom prst="rect">
            <a:avLst/>
          </a:prstGeom>
        </p:spPr>
        <p:txBody>
          <a:bodyPr lIns="0" tIns="0" rIns="0" bIns="0"/>
          <a:lstStyle/>
          <a:p>
            <a:pPr algn="r">
              <a:defRPr sz="975" b="0" i="0">
                <a:solidFill>
                  <a:srgbClr val="5D5A55"/>
                </a:solidFill>
                <a:latin typeface="Avenir Next"/>
                <a:ea typeface="Avenir Next"/>
                <a:cs typeface="Avenir Next"/>
              </a:defRPr>
            </a:pPr>
            <a:r>
              <a:rPr sz="975" b="0" i="0">
                <a:solidFill>
                  <a:srgbClr val="5D5A55"/>
                </a:solidFill>
                <a:latin typeface="Avenir Next"/>
                <a:ea typeface="Avenir Next"/>
                <a:cs typeface="Avenir Next"/>
              </a:rPr>
              <a:t>02 / 10</a:t>
            </a:r>
          </a:p>
        </p:txBody>
      </p:sp>
      <p:sp>
        <p:nvSpPr>
          <p:cNvPr id="7" name="Rectangle 6">
            <a:extLst>
              <a:ext uri="{FF2B5EF4-FFF2-40B4-BE49-F238E27FC236}">
                <a16:creationId xmlns:a16="http://schemas.microsoft.com/office/drawing/2014/main" id="{312BD189-8E33-0817-A3B2-9A72648036AB}"/>
              </a:ext>
            </a:extLst>
          </p:cNvPr>
          <p:cNvSpPr>
            <a:spLocks noGrp="1"/>
          </p:cNvSpPr>
          <p:nvPr/>
        </p:nvSpPr>
        <p:spPr>
          <a:prstGeom prst="rect">
            <a:avLst/>
          </a:prstGeom>
        </p:spPr>
        <p:txBody>
          <a:bodyPr/>
          <a:lstStyle/>
          <a:p>
            <a:endParaRPr lang="en-US"/>
          </a:p>
        </p:txBody>
      </p:sp>
      <p:pic>
        <p:nvPicPr>
          <p:cNvPr id="2" name="Picture 1">
            <a:extLst>
              <a:ext uri="{FF2B5EF4-FFF2-40B4-BE49-F238E27FC236}">
                <a16:creationId xmlns:a16="http://schemas.microsoft.com/office/drawing/2014/main" id="{F91400E0-16D4-E4AF-7904-DECC5F3BE5AC}"/>
              </a:ext>
            </a:extLst>
          </p:cNvPr>
          <p:cNvPicPr>
            <a:picLocks noChangeAspect="1"/>
          </p:cNvPicPr>
          <p:nvPr/>
        </p:nvPicPr>
        <p:blipFill>
          <a:blip r:embed="rId3"/>
          <a:stretch>
            <a:fillRect/>
          </a:stretch>
        </p:blipFill>
        <p:spPr>
          <a:xfrm>
            <a:off x="2302328" y="1498770"/>
            <a:ext cx="13683343" cy="7575210"/>
          </a:xfrm>
          <a:prstGeom prst="rect">
            <a:avLst/>
          </a:prstGeom>
        </p:spPr>
      </p:pic>
    </p:spTree>
    <p:extLst>
      <p:ext uri="{BB962C8B-B14F-4D97-AF65-F5344CB8AC3E}">
        <p14:creationId xmlns:p14="http://schemas.microsoft.com/office/powerpoint/2010/main" val="11932934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a:extLst>
            <a:ext uri="{FF2B5EF4-FFF2-40B4-BE49-F238E27FC236}">
              <a16:creationId xmlns:a16="http://schemas.microsoft.com/office/drawing/2014/main" id="{8C53D8CD-9DEA-B14F-F8D7-7B0D568202FC}"/>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1C4DFE52-C2E7-98CC-EF73-E0A82D18952A}"/>
              </a:ext>
            </a:extLst>
          </p:cNvPr>
          <p:cNvSpPr>
            <a:spLocks noGrp="1"/>
          </p:cNvSpPr>
          <p:nvPr/>
        </p:nvSpPr>
        <p:spPr>
          <a:prstGeom prst="rect">
            <a:avLst/>
          </a:prstGeom>
        </p:spPr>
        <p:txBody>
          <a:bodyPr/>
          <a:lstStyle/>
          <a:p>
            <a:endParaRPr lang="en-US"/>
          </a:p>
        </p:txBody>
      </p:sp>
      <p:sp>
        <p:nvSpPr>
          <p:cNvPr id="4" name="logo-wordmark">
            <a:extLst>
              <a:ext uri="{FF2B5EF4-FFF2-40B4-BE49-F238E27FC236}">
                <a16:creationId xmlns:a16="http://schemas.microsoft.com/office/drawing/2014/main" id="{5A828142-CD6E-4553-99ED-D7C35289603E}"/>
              </a:ext>
            </a:extLst>
          </p:cNvPr>
          <p:cNvSpPr>
            <a:spLocks noGrp="1"/>
          </p:cNvSpPr>
          <p:nvPr/>
        </p:nvSpPr>
        <p:spPr>
          <a:xfrm>
            <a:off x="14478000" y="590550"/>
            <a:ext cx="2667000" cy="266700"/>
          </a:xfrm>
          <a:prstGeom prst="rect">
            <a:avLst/>
          </a:prstGeom>
        </p:spPr>
        <p:txBody>
          <a:bodyPr lIns="0" tIns="0" rIns="0" bIns="0"/>
          <a:lstStyle/>
          <a:p>
            <a:pPr algn="r">
              <a:defRPr sz="1650" b="1" i="0">
                <a:solidFill>
                  <a:srgbClr val="C00000"/>
                </a:solidFill>
                <a:latin typeface="Avenir Next"/>
                <a:ea typeface="Avenir Next"/>
                <a:cs typeface="Avenir Next"/>
              </a:defRPr>
            </a:pPr>
            <a:r>
              <a:rPr sz="1650" b="1" i="0">
                <a:solidFill>
                  <a:srgbClr val="C00000"/>
                </a:solidFill>
                <a:latin typeface="Avenir Next"/>
                <a:ea typeface="Avenir Next"/>
                <a:cs typeface="Avenir Next"/>
              </a:rPr>
              <a:t>Generalist AI</a:t>
            </a:r>
          </a:p>
        </p:txBody>
      </p:sp>
      <p:sp>
        <p:nvSpPr>
          <p:cNvPr id="5" name="source-line">
            <a:extLst>
              <a:ext uri="{FF2B5EF4-FFF2-40B4-BE49-F238E27FC236}">
                <a16:creationId xmlns:a16="http://schemas.microsoft.com/office/drawing/2014/main" id="{288B63C0-86D7-A5A9-53A4-BFF3C1418739}"/>
              </a:ext>
            </a:extLst>
          </p:cNvPr>
          <p:cNvSpPr>
            <a:spLocks noGrp="1"/>
          </p:cNvSpPr>
          <p:nvPr/>
        </p:nvSpPr>
        <p:spPr>
          <a:xfrm>
            <a:off x="1143000" y="9734550"/>
            <a:ext cx="11430000" cy="152400"/>
          </a:xfrm>
          <a:prstGeom prst="rect">
            <a:avLst/>
          </a:prstGeom>
        </p:spPr>
        <p:txBody>
          <a:bodyPr lIns="0" tIns="0" rIns="0" bIns="0"/>
          <a:lstStyle/>
          <a:p>
            <a:pPr algn="l">
              <a:defRPr sz="900" b="0" i="0">
                <a:solidFill>
                  <a:srgbClr val="5D5A55"/>
                </a:solidFill>
                <a:latin typeface="PingFang SC"/>
                <a:ea typeface="PingFang SC"/>
                <a:cs typeface="PingFang SC"/>
              </a:defRPr>
            </a:pPr>
            <a:r>
              <a:rPr sz="900" b="0" i="0">
                <a:solidFill>
                  <a:srgbClr val="5D5A55"/>
                </a:solidFill>
                <a:latin typeface="PingFang SC"/>
                <a:ea typeface="PingFang SC"/>
                <a:cs typeface="PingFang SC"/>
              </a:rPr>
              <a:t>Source: Generalist AI Blog, 2026-04-02</a:t>
            </a:r>
          </a:p>
        </p:txBody>
      </p:sp>
      <p:sp>
        <p:nvSpPr>
          <p:cNvPr id="6" name="page-number">
            <a:extLst>
              <a:ext uri="{FF2B5EF4-FFF2-40B4-BE49-F238E27FC236}">
                <a16:creationId xmlns:a16="http://schemas.microsoft.com/office/drawing/2014/main" id="{08B2F5E1-6B41-E653-ABFD-4EDA06C5330E}"/>
              </a:ext>
            </a:extLst>
          </p:cNvPr>
          <p:cNvSpPr>
            <a:spLocks noGrp="1"/>
          </p:cNvSpPr>
          <p:nvPr/>
        </p:nvSpPr>
        <p:spPr>
          <a:xfrm>
            <a:off x="15811500" y="9715500"/>
            <a:ext cx="1524000" cy="152400"/>
          </a:xfrm>
          <a:prstGeom prst="rect">
            <a:avLst/>
          </a:prstGeom>
        </p:spPr>
        <p:txBody>
          <a:bodyPr lIns="0" tIns="0" rIns="0" bIns="0"/>
          <a:lstStyle/>
          <a:p>
            <a:pPr algn="r">
              <a:defRPr sz="975" b="0" i="0">
                <a:solidFill>
                  <a:srgbClr val="5D5A55"/>
                </a:solidFill>
                <a:latin typeface="Avenir Next"/>
                <a:ea typeface="Avenir Next"/>
                <a:cs typeface="Avenir Next"/>
              </a:defRPr>
            </a:pPr>
            <a:r>
              <a:rPr sz="975" b="0" i="0">
                <a:solidFill>
                  <a:srgbClr val="5D5A55"/>
                </a:solidFill>
                <a:latin typeface="Avenir Next"/>
                <a:ea typeface="Avenir Next"/>
                <a:cs typeface="Avenir Next"/>
              </a:rPr>
              <a:t>02 / 10</a:t>
            </a:r>
          </a:p>
        </p:txBody>
      </p:sp>
      <p:sp>
        <p:nvSpPr>
          <p:cNvPr id="7" name="Rectangle 6">
            <a:extLst>
              <a:ext uri="{FF2B5EF4-FFF2-40B4-BE49-F238E27FC236}">
                <a16:creationId xmlns:a16="http://schemas.microsoft.com/office/drawing/2014/main" id="{5CB428D1-FF33-775F-2DD1-47413F40F1B0}"/>
              </a:ext>
            </a:extLst>
          </p:cNvPr>
          <p:cNvSpPr>
            <a:spLocks noGrp="1"/>
          </p:cNvSpPr>
          <p:nvPr/>
        </p:nvSpPr>
        <p:spPr>
          <a:prstGeom prst="rect">
            <a:avLst/>
          </a:prstGeom>
        </p:spPr>
        <p:txBody>
          <a:bodyPr/>
          <a:lstStyle/>
          <a:p>
            <a:endParaRPr lang="en-US"/>
          </a:p>
        </p:txBody>
      </p:sp>
      <p:pic>
        <p:nvPicPr>
          <p:cNvPr id="3" name="Picture 2">
            <a:extLst>
              <a:ext uri="{FF2B5EF4-FFF2-40B4-BE49-F238E27FC236}">
                <a16:creationId xmlns:a16="http://schemas.microsoft.com/office/drawing/2014/main" id="{3C41E218-3790-E176-CF3E-E6AB06FD65EE}"/>
              </a:ext>
            </a:extLst>
          </p:cNvPr>
          <p:cNvPicPr>
            <a:picLocks noChangeAspect="1"/>
          </p:cNvPicPr>
          <p:nvPr/>
        </p:nvPicPr>
        <p:blipFill>
          <a:blip r:embed="rId3"/>
          <a:stretch>
            <a:fillRect/>
          </a:stretch>
        </p:blipFill>
        <p:spPr>
          <a:xfrm>
            <a:off x="1779814" y="1266890"/>
            <a:ext cx="14728371" cy="7926050"/>
          </a:xfrm>
          <a:prstGeom prst="rect">
            <a:avLst/>
          </a:prstGeom>
        </p:spPr>
      </p:pic>
    </p:spTree>
    <p:extLst>
      <p:ext uri="{BB962C8B-B14F-4D97-AF65-F5344CB8AC3E}">
        <p14:creationId xmlns:p14="http://schemas.microsoft.com/office/powerpoint/2010/main" val="3710978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a:extLst>
            <a:ext uri="{FF2B5EF4-FFF2-40B4-BE49-F238E27FC236}">
              <a16:creationId xmlns:a16="http://schemas.microsoft.com/office/drawing/2014/main" id="{429312E5-C65D-7506-EC31-FA22A8C42593}"/>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F531FB9-15B4-1ACE-D875-FABFB2DD2589}"/>
              </a:ext>
            </a:extLst>
          </p:cNvPr>
          <p:cNvSpPr>
            <a:spLocks noGrp="1"/>
          </p:cNvSpPr>
          <p:nvPr/>
        </p:nvSpPr>
        <p:spPr>
          <a:prstGeom prst="rect">
            <a:avLst/>
          </a:prstGeom>
        </p:spPr>
        <p:txBody>
          <a:bodyPr/>
          <a:lstStyle/>
          <a:p>
            <a:endParaRPr lang="en-US"/>
          </a:p>
        </p:txBody>
      </p:sp>
      <p:sp>
        <p:nvSpPr>
          <p:cNvPr id="4" name="logo-wordmark">
            <a:extLst>
              <a:ext uri="{FF2B5EF4-FFF2-40B4-BE49-F238E27FC236}">
                <a16:creationId xmlns:a16="http://schemas.microsoft.com/office/drawing/2014/main" id="{17D71FCC-64B3-ED83-53F3-5C859DDEB055}"/>
              </a:ext>
            </a:extLst>
          </p:cNvPr>
          <p:cNvSpPr>
            <a:spLocks noGrp="1"/>
          </p:cNvSpPr>
          <p:nvPr/>
        </p:nvSpPr>
        <p:spPr>
          <a:xfrm>
            <a:off x="14478000" y="590550"/>
            <a:ext cx="2667000" cy="266700"/>
          </a:xfrm>
          <a:prstGeom prst="rect">
            <a:avLst/>
          </a:prstGeom>
        </p:spPr>
        <p:txBody>
          <a:bodyPr lIns="0" tIns="0" rIns="0" bIns="0"/>
          <a:lstStyle/>
          <a:p>
            <a:pPr algn="r">
              <a:defRPr sz="1650" b="1" i="0">
                <a:solidFill>
                  <a:srgbClr val="C00000"/>
                </a:solidFill>
                <a:latin typeface="Avenir Next"/>
                <a:ea typeface="Avenir Next"/>
                <a:cs typeface="Avenir Next"/>
              </a:defRPr>
            </a:pPr>
            <a:r>
              <a:rPr sz="1650" b="1" i="0">
                <a:solidFill>
                  <a:srgbClr val="C00000"/>
                </a:solidFill>
                <a:latin typeface="Avenir Next"/>
                <a:ea typeface="Avenir Next"/>
                <a:cs typeface="Avenir Next"/>
              </a:rPr>
              <a:t>Generalist AI</a:t>
            </a:r>
          </a:p>
        </p:txBody>
      </p:sp>
      <p:sp>
        <p:nvSpPr>
          <p:cNvPr id="5" name="source-line">
            <a:extLst>
              <a:ext uri="{FF2B5EF4-FFF2-40B4-BE49-F238E27FC236}">
                <a16:creationId xmlns:a16="http://schemas.microsoft.com/office/drawing/2014/main" id="{200452CA-79AF-3393-0F65-001B0E6A93D5}"/>
              </a:ext>
            </a:extLst>
          </p:cNvPr>
          <p:cNvSpPr>
            <a:spLocks noGrp="1"/>
          </p:cNvSpPr>
          <p:nvPr/>
        </p:nvSpPr>
        <p:spPr>
          <a:xfrm>
            <a:off x="1143000" y="9734550"/>
            <a:ext cx="11430000" cy="152400"/>
          </a:xfrm>
          <a:prstGeom prst="rect">
            <a:avLst/>
          </a:prstGeom>
        </p:spPr>
        <p:txBody>
          <a:bodyPr lIns="0" tIns="0" rIns="0" bIns="0"/>
          <a:lstStyle/>
          <a:p>
            <a:pPr algn="l">
              <a:defRPr sz="900" b="0" i="0">
                <a:solidFill>
                  <a:srgbClr val="5D5A55"/>
                </a:solidFill>
                <a:latin typeface="PingFang SC"/>
                <a:ea typeface="PingFang SC"/>
                <a:cs typeface="PingFang SC"/>
              </a:defRPr>
            </a:pPr>
            <a:r>
              <a:rPr sz="900" b="0" i="0">
                <a:solidFill>
                  <a:srgbClr val="5D5A55"/>
                </a:solidFill>
                <a:latin typeface="PingFang SC"/>
                <a:ea typeface="PingFang SC"/>
                <a:cs typeface="PingFang SC"/>
              </a:rPr>
              <a:t>Source: Generalist AI Blog, 2026-04-02</a:t>
            </a:r>
          </a:p>
        </p:txBody>
      </p:sp>
      <p:sp>
        <p:nvSpPr>
          <p:cNvPr id="6" name="page-number">
            <a:extLst>
              <a:ext uri="{FF2B5EF4-FFF2-40B4-BE49-F238E27FC236}">
                <a16:creationId xmlns:a16="http://schemas.microsoft.com/office/drawing/2014/main" id="{5B936C3E-7106-DA6C-0435-F8199440BE85}"/>
              </a:ext>
            </a:extLst>
          </p:cNvPr>
          <p:cNvSpPr>
            <a:spLocks noGrp="1"/>
          </p:cNvSpPr>
          <p:nvPr/>
        </p:nvSpPr>
        <p:spPr>
          <a:xfrm>
            <a:off x="15811500" y="9715500"/>
            <a:ext cx="1524000" cy="152400"/>
          </a:xfrm>
          <a:prstGeom prst="rect">
            <a:avLst/>
          </a:prstGeom>
        </p:spPr>
        <p:txBody>
          <a:bodyPr lIns="0" tIns="0" rIns="0" bIns="0"/>
          <a:lstStyle/>
          <a:p>
            <a:pPr algn="r">
              <a:defRPr sz="975" b="0" i="0">
                <a:solidFill>
                  <a:srgbClr val="5D5A55"/>
                </a:solidFill>
                <a:latin typeface="Avenir Next"/>
                <a:ea typeface="Avenir Next"/>
                <a:cs typeface="Avenir Next"/>
              </a:defRPr>
            </a:pPr>
            <a:r>
              <a:rPr sz="975" b="0" i="0">
                <a:solidFill>
                  <a:srgbClr val="5D5A55"/>
                </a:solidFill>
                <a:latin typeface="Avenir Next"/>
                <a:ea typeface="Avenir Next"/>
                <a:cs typeface="Avenir Next"/>
              </a:rPr>
              <a:t>02 / 10</a:t>
            </a:r>
          </a:p>
        </p:txBody>
      </p:sp>
      <p:sp>
        <p:nvSpPr>
          <p:cNvPr id="7" name="Rectangle 6">
            <a:extLst>
              <a:ext uri="{FF2B5EF4-FFF2-40B4-BE49-F238E27FC236}">
                <a16:creationId xmlns:a16="http://schemas.microsoft.com/office/drawing/2014/main" id="{A5EDF42E-6DB9-CEC3-7F13-DD27903DC8F8}"/>
              </a:ext>
            </a:extLst>
          </p:cNvPr>
          <p:cNvSpPr>
            <a:spLocks noGrp="1"/>
          </p:cNvSpPr>
          <p:nvPr/>
        </p:nvSpPr>
        <p:spPr>
          <a:prstGeom prst="rect">
            <a:avLst/>
          </a:prstGeom>
        </p:spPr>
        <p:txBody>
          <a:bodyPr/>
          <a:lstStyle/>
          <a:p>
            <a:endParaRPr lang="en-US"/>
          </a:p>
        </p:txBody>
      </p:sp>
      <p:pic>
        <p:nvPicPr>
          <p:cNvPr id="2" name="Picture 1">
            <a:extLst>
              <a:ext uri="{FF2B5EF4-FFF2-40B4-BE49-F238E27FC236}">
                <a16:creationId xmlns:a16="http://schemas.microsoft.com/office/drawing/2014/main" id="{11A881AA-3A60-D016-88A1-DEA7AF11E63E}"/>
              </a:ext>
            </a:extLst>
          </p:cNvPr>
          <p:cNvPicPr>
            <a:picLocks noChangeAspect="1"/>
          </p:cNvPicPr>
          <p:nvPr/>
        </p:nvPicPr>
        <p:blipFill>
          <a:blip r:embed="rId3"/>
          <a:stretch>
            <a:fillRect/>
          </a:stretch>
        </p:blipFill>
        <p:spPr>
          <a:xfrm>
            <a:off x="1804307" y="1189974"/>
            <a:ext cx="14679385" cy="7977925"/>
          </a:xfrm>
          <a:prstGeom prst="rect">
            <a:avLst/>
          </a:prstGeom>
        </p:spPr>
      </p:pic>
    </p:spTree>
    <p:extLst>
      <p:ext uri="{BB962C8B-B14F-4D97-AF65-F5344CB8AC3E}">
        <p14:creationId xmlns:p14="http://schemas.microsoft.com/office/powerpoint/2010/main" val="39667663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a:extLst>
            <a:ext uri="{FF2B5EF4-FFF2-40B4-BE49-F238E27FC236}">
              <a16:creationId xmlns:a16="http://schemas.microsoft.com/office/drawing/2014/main" id="{6256A4D5-8D6A-82BF-8DED-A5C6DDBF0236}"/>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5F32C95B-E2F0-575F-A7C9-C2622DF7A709}"/>
              </a:ext>
            </a:extLst>
          </p:cNvPr>
          <p:cNvSpPr>
            <a:spLocks noGrp="1"/>
          </p:cNvSpPr>
          <p:nvPr/>
        </p:nvSpPr>
        <p:spPr>
          <a:prstGeom prst="rect">
            <a:avLst/>
          </a:prstGeom>
        </p:spPr>
        <p:txBody>
          <a:bodyPr/>
          <a:lstStyle/>
          <a:p>
            <a:endParaRPr lang="en-US"/>
          </a:p>
        </p:txBody>
      </p:sp>
      <p:sp>
        <p:nvSpPr>
          <p:cNvPr id="4" name="logo-wordmark">
            <a:extLst>
              <a:ext uri="{FF2B5EF4-FFF2-40B4-BE49-F238E27FC236}">
                <a16:creationId xmlns:a16="http://schemas.microsoft.com/office/drawing/2014/main" id="{518CB9A1-5FB6-E360-2AA0-167737D8D41C}"/>
              </a:ext>
            </a:extLst>
          </p:cNvPr>
          <p:cNvSpPr>
            <a:spLocks noGrp="1"/>
          </p:cNvSpPr>
          <p:nvPr/>
        </p:nvSpPr>
        <p:spPr>
          <a:xfrm>
            <a:off x="14478000" y="590550"/>
            <a:ext cx="2667000" cy="266700"/>
          </a:xfrm>
          <a:prstGeom prst="rect">
            <a:avLst/>
          </a:prstGeom>
        </p:spPr>
        <p:txBody>
          <a:bodyPr lIns="0" tIns="0" rIns="0" bIns="0"/>
          <a:lstStyle/>
          <a:p>
            <a:pPr algn="r">
              <a:defRPr sz="1650" b="1" i="0">
                <a:solidFill>
                  <a:srgbClr val="C00000"/>
                </a:solidFill>
                <a:latin typeface="Avenir Next"/>
                <a:ea typeface="Avenir Next"/>
                <a:cs typeface="Avenir Next"/>
              </a:defRPr>
            </a:pPr>
            <a:r>
              <a:rPr sz="1650" b="1" i="0">
                <a:solidFill>
                  <a:srgbClr val="C00000"/>
                </a:solidFill>
                <a:latin typeface="Avenir Next"/>
                <a:ea typeface="Avenir Next"/>
                <a:cs typeface="Avenir Next"/>
              </a:rPr>
              <a:t>Generalist AI</a:t>
            </a:r>
          </a:p>
        </p:txBody>
      </p:sp>
      <p:sp>
        <p:nvSpPr>
          <p:cNvPr id="5" name="source-line">
            <a:extLst>
              <a:ext uri="{FF2B5EF4-FFF2-40B4-BE49-F238E27FC236}">
                <a16:creationId xmlns:a16="http://schemas.microsoft.com/office/drawing/2014/main" id="{A72954CE-C584-DFCE-8A3F-461777859518}"/>
              </a:ext>
            </a:extLst>
          </p:cNvPr>
          <p:cNvSpPr>
            <a:spLocks noGrp="1"/>
          </p:cNvSpPr>
          <p:nvPr/>
        </p:nvSpPr>
        <p:spPr>
          <a:xfrm>
            <a:off x="1143000" y="9734550"/>
            <a:ext cx="11430000" cy="152400"/>
          </a:xfrm>
          <a:prstGeom prst="rect">
            <a:avLst/>
          </a:prstGeom>
        </p:spPr>
        <p:txBody>
          <a:bodyPr lIns="0" tIns="0" rIns="0" bIns="0"/>
          <a:lstStyle/>
          <a:p>
            <a:pPr algn="l">
              <a:defRPr sz="900" b="0" i="0">
                <a:solidFill>
                  <a:srgbClr val="5D5A55"/>
                </a:solidFill>
                <a:latin typeface="PingFang SC"/>
                <a:ea typeface="PingFang SC"/>
                <a:cs typeface="PingFang SC"/>
              </a:defRPr>
            </a:pPr>
            <a:r>
              <a:rPr sz="900" b="0" i="0">
                <a:solidFill>
                  <a:srgbClr val="5D5A55"/>
                </a:solidFill>
                <a:latin typeface="PingFang SC"/>
                <a:ea typeface="PingFang SC"/>
                <a:cs typeface="PingFang SC"/>
              </a:rPr>
              <a:t>Source: Generalist AI Blog, 2026-04-02</a:t>
            </a:r>
          </a:p>
        </p:txBody>
      </p:sp>
      <p:sp>
        <p:nvSpPr>
          <p:cNvPr id="6" name="page-number">
            <a:extLst>
              <a:ext uri="{FF2B5EF4-FFF2-40B4-BE49-F238E27FC236}">
                <a16:creationId xmlns:a16="http://schemas.microsoft.com/office/drawing/2014/main" id="{CE6E1E79-F6F7-BC24-D4C5-B61678CFB06B}"/>
              </a:ext>
            </a:extLst>
          </p:cNvPr>
          <p:cNvSpPr>
            <a:spLocks noGrp="1"/>
          </p:cNvSpPr>
          <p:nvPr/>
        </p:nvSpPr>
        <p:spPr>
          <a:xfrm>
            <a:off x="15811500" y="9715500"/>
            <a:ext cx="1524000" cy="152400"/>
          </a:xfrm>
          <a:prstGeom prst="rect">
            <a:avLst/>
          </a:prstGeom>
        </p:spPr>
        <p:txBody>
          <a:bodyPr lIns="0" tIns="0" rIns="0" bIns="0"/>
          <a:lstStyle/>
          <a:p>
            <a:pPr algn="r">
              <a:defRPr sz="975" b="0" i="0">
                <a:solidFill>
                  <a:srgbClr val="5D5A55"/>
                </a:solidFill>
                <a:latin typeface="Avenir Next"/>
                <a:ea typeface="Avenir Next"/>
                <a:cs typeface="Avenir Next"/>
              </a:defRPr>
            </a:pPr>
            <a:r>
              <a:rPr sz="975" b="0" i="0">
                <a:solidFill>
                  <a:srgbClr val="5D5A55"/>
                </a:solidFill>
                <a:latin typeface="Avenir Next"/>
                <a:ea typeface="Avenir Next"/>
                <a:cs typeface="Avenir Next"/>
              </a:rPr>
              <a:t>02 / 10</a:t>
            </a:r>
          </a:p>
        </p:txBody>
      </p:sp>
      <p:sp>
        <p:nvSpPr>
          <p:cNvPr id="7" name="Rectangle 6">
            <a:extLst>
              <a:ext uri="{FF2B5EF4-FFF2-40B4-BE49-F238E27FC236}">
                <a16:creationId xmlns:a16="http://schemas.microsoft.com/office/drawing/2014/main" id="{E1830EBE-8859-CB41-9A2C-1B4B7DB9D8A0}"/>
              </a:ext>
            </a:extLst>
          </p:cNvPr>
          <p:cNvSpPr>
            <a:spLocks noGrp="1"/>
          </p:cNvSpPr>
          <p:nvPr/>
        </p:nvSpPr>
        <p:spPr>
          <a:prstGeom prst="rect">
            <a:avLst/>
          </a:prstGeom>
        </p:spPr>
        <p:txBody>
          <a:bodyPr/>
          <a:lstStyle/>
          <a:p>
            <a:endParaRPr lang="en-US"/>
          </a:p>
        </p:txBody>
      </p:sp>
      <p:pic>
        <p:nvPicPr>
          <p:cNvPr id="3" name="Picture 2">
            <a:extLst>
              <a:ext uri="{FF2B5EF4-FFF2-40B4-BE49-F238E27FC236}">
                <a16:creationId xmlns:a16="http://schemas.microsoft.com/office/drawing/2014/main" id="{D88F5616-B04D-2509-B0C6-C6A5F73F5C47}"/>
              </a:ext>
            </a:extLst>
          </p:cNvPr>
          <p:cNvPicPr>
            <a:picLocks noChangeAspect="1"/>
          </p:cNvPicPr>
          <p:nvPr/>
        </p:nvPicPr>
        <p:blipFill>
          <a:blip r:embed="rId3"/>
          <a:stretch>
            <a:fillRect/>
          </a:stretch>
        </p:blipFill>
        <p:spPr>
          <a:xfrm>
            <a:off x="1768928" y="1258051"/>
            <a:ext cx="14750143" cy="8033292"/>
          </a:xfrm>
          <a:prstGeom prst="rect">
            <a:avLst/>
          </a:prstGeom>
        </p:spPr>
      </p:pic>
    </p:spTree>
    <p:extLst>
      <p:ext uri="{BB962C8B-B14F-4D97-AF65-F5344CB8AC3E}">
        <p14:creationId xmlns:p14="http://schemas.microsoft.com/office/powerpoint/2010/main" val="1316962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a:extLst>
            <a:ext uri="{FF2B5EF4-FFF2-40B4-BE49-F238E27FC236}">
              <a16:creationId xmlns:a16="http://schemas.microsoft.com/office/drawing/2014/main" id="{4A136CAE-39B6-CDC8-3382-0B1A728D1581}"/>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A6028DC-74B3-5190-277B-ECBC2E608541}"/>
              </a:ext>
            </a:extLst>
          </p:cNvPr>
          <p:cNvSpPr>
            <a:spLocks noGrp="1"/>
          </p:cNvSpPr>
          <p:nvPr/>
        </p:nvSpPr>
        <p:spPr>
          <a:prstGeom prst="rect">
            <a:avLst/>
          </a:prstGeom>
        </p:spPr>
        <p:txBody>
          <a:bodyPr/>
          <a:lstStyle/>
          <a:p>
            <a:endParaRPr lang="en-US"/>
          </a:p>
        </p:txBody>
      </p:sp>
      <p:sp>
        <p:nvSpPr>
          <p:cNvPr id="4" name="logo-wordmark">
            <a:extLst>
              <a:ext uri="{FF2B5EF4-FFF2-40B4-BE49-F238E27FC236}">
                <a16:creationId xmlns:a16="http://schemas.microsoft.com/office/drawing/2014/main" id="{FA180C89-B319-0C58-8290-77933502D99A}"/>
              </a:ext>
            </a:extLst>
          </p:cNvPr>
          <p:cNvSpPr>
            <a:spLocks noGrp="1"/>
          </p:cNvSpPr>
          <p:nvPr/>
        </p:nvSpPr>
        <p:spPr>
          <a:xfrm>
            <a:off x="14478000" y="590550"/>
            <a:ext cx="2667000" cy="266700"/>
          </a:xfrm>
          <a:prstGeom prst="rect">
            <a:avLst/>
          </a:prstGeom>
        </p:spPr>
        <p:txBody>
          <a:bodyPr lIns="0" tIns="0" rIns="0" bIns="0"/>
          <a:lstStyle/>
          <a:p>
            <a:pPr algn="r">
              <a:defRPr sz="1650" b="1" i="0">
                <a:solidFill>
                  <a:srgbClr val="C00000"/>
                </a:solidFill>
                <a:latin typeface="Avenir Next"/>
                <a:ea typeface="Avenir Next"/>
                <a:cs typeface="Avenir Next"/>
              </a:defRPr>
            </a:pPr>
            <a:r>
              <a:rPr sz="1650" b="1" i="0">
                <a:solidFill>
                  <a:srgbClr val="C00000"/>
                </a:solidFill>
                <a:latin typeface="Avenir Next"/>
                <a:ea typeface="Avenir Next"/>
                <a:cs typeface="Avenir Next"/>
              </a:rPr>
              <a:t>Generalist AI</a:t>
            </a:r>
          </a:p>
        </p:txBody>
      </p:sp>
      <p:sp>
        <p:nvSpPr>
          <p:cNvPr id="5" name="source-line">
            <a:extLst>
              <a:ext uri="{FF2B5EF4-FFF2-40B4-BE49-F238E27FC236}">
                <a16:creationId xmlns:a16="http://schemas.microsoft.com/office/drawing/2014/main" id="{1472C7F3-6B51-D4E9-8456-299E198AF8B3}"/>
              </a:ext>
            </a:extLst>
          </p:cNvPr>
          <p:cNvSpPr>
            <a:spLocks noGrp="1"/>
          </p:cNvSpPr>
          <p:nvPr/>
        </p:nvSpPr>
        <p:spPr>
          <a:xfrm>
            <a:off x="1143000" y="9734550"/>
            <a:ext cx="11430000" cy="152400"/>
          </a:xfrm>
          <a:prstGeom prst="rect">
            <a:avLst/>
          </a:prstGeom>
        </p:spPr>
        <p:txBody>
          <a:bodyPr lIns="0" tIns="0" rIns="0" bIns="0"/>
          <a:lstStyle/>
          <a:p>
            <a:pPr algn="l">
              <a:defRPr sz="900" b="0" i="0">
                <a:solidFill>
                  <a:srgbClr val="5D5A55"/>
                </a:solidFill>
                <a:latin typeface="PingFang SC"/>
                <a:ea typeface="PingFang SC"/>
                <a:cs typeface="PingFang SC"/>
              </a:defRPr>
            </a:pPr>
            <a:r>
              <a:rPr sz="900" b="0" i="0">
                <a:solidFill>
                  <a:srgbClr val="5D5A55"/>
                </a:solidFill>
                <a:latin typeface="PingFang SC"/>
                <a:ea typeface="PingFang SC"/>
                <a:cs typeface="PingFang SC"/>
              </a:rPr>
              <a:t>Source: Generalist AI Blog, 2026-04-02</a:t>
            </a:r>
          </a:p>
        </p:txBody>
      </p:sp>
      <p:sp>
        <p:nvSpPr>
          <p:cNvPr id="6" name="page-number">
            <a:extLst>
              <a:ext uri="{FF2B5EF4-FFF2-40B4-BE49-F238E27FC236}">
                <a16:creationId xmlns:a16="http://schemas.microsoft.com/office/drawing/2014/main" id="{0E39E7CC-BD31-8617-04FA-2A07AA317308}"/>
              </a:ext>
            </a:extLst>
          </p:cNvPr>
          <p:cNvSpPr>
            <a:spLocks noGrp="1"/>
          </p:cNvSpPr>
          <p:nvPr/>
        </p:nvSpPr>
        <p:spPr>
          <a:xfrm>
            <a:off x="15811500" y="9715500"/>
            <a:ext cx="1524000" cy="152400"/>
          </a:xfrm>
          <a:prstGeom prst="rect">
            <a:avLst/>
          </a:prstGeom>
        </p:spPr>
        <p:txBody>
          <a:bodyPr lIns="0" tIns="0" rIns="0" bIns="0"/>
          <a:lstStyle/>
          <a:p>
            <a:pPr algn="r">
              <a:defRPr sz="975" b="0" i="0">
                <a:solidFill>
                  <a:srgbClr val="5D5A55"/>
                </a:solidFill>
                <a:latin typeface="Avenir Next"/>
                <a:ea typeface="Avenir Next"/>
                <a:cs typeface="Avenir Next"/>
              </a:defRPr>
            </a:pPr>
            <a:r>
              <a:rPr sz="975" b="0" i="0">
                <a:solidFill>
                  <a:srgbClr val="5D5A55"/>
                </a:solidFill>
                <a:latin typeface="Avenir Next"/>
                <a:ea typeface="Avenir Next"/>
                <a:cs typeface="Avenir Next"/>
              </a:rPr>
              <a:t>02 / 10</a:t>
            </a:r>
          </a:p>
        </p:txBody>
      </p:sp>
      <p:sp>
        <p:nvSpPr>
          <p:cNvPr id="7" name="Rectangle 6">
            <a:extLst>
              <a:ext uri="{FF2B5EF4-FFF2-40B4-BE49-F238E27FC236}">
                <a16:creationId xmlns:a16="http://schemas.microsoft.com/office/drawing/2014/main" id="{3AB53B76-D9E0-CBFB-C954-6FDCE51BD52D}"/>
              </a:ext>
            </a:extLst>
          </p:cNvPr>
          <p:cNvSpPr>
            <a:spLocks noGrp="1"/>
          </p:cNvSpPr>
          <p:nvPr/>
        </p:nvSpPr>
        <p:spPr>
          <a:prstGeom prst="rect">
            <a:avLst/>
          </a:prstGeom>
        </p:spPr>
        <p:txBody>
          <a:bodyPr/>
          <a:lstStyle/>
          <a:p>
            <a:endParaRPr lang="en-US"/>
          </a:p>
        </p:txBody>
      </p:sp>
      <p:pic>
        <p:nvPicPr>
          <p:cNvPr id="2" name="Picture 1">
            <a:extLst>
              <a:ext uri="{FF2B5EF4-FFF2-40B4-BE49-F238E27FC236}">
                <a16:creationId xmlns:a16="http://schemas.microsoft.com/office/drawing/2014/main" id="{17B6657F-9971-E753-3DE3-CE798E8D3C3E}"/>
              </a:ext>
            </a:extLst>
          </p:cNvPr>
          <p:cNvPicPr>
            <a:picLocks noChangeAspect="1"/>
          </p:cNvPicPr>
          <p:nvPr/>
        </p:nvPicPr>
        <p:blipFill>
          <a:blip r:embed="rId3"/>
          <a:stretch>
            <a:fillRect/>
          </a:stretch>
        </p:blipFill>
        <p:spPr>
          <a:xfrm>
            <a:off x="1453991" y="1050558"/>
            <a:ext cx="15380017" cy="8185883"/>
          </a:xfrm>
          <a:prstGeom prst="rect">
            <a:avLst/>
          </a:prstGeom>
        </p:spPr>
      </p:pic>
      <p:pic>
        <p:nvPicPr>
          <p:cNvPr id="8" name="Picture 7">
            <a:extLst>
              <a:ext uri="{FF2B5EF4-FFF2-40B4-BE49-F238E27FC236}">
                <a16:creationId xmlns:a16="http://schemas.microsoft.com/office/drawing/2014/main" id="{4DCF2C2B-ED86-46E0-205A-884ACE96C46B}"/>
              </a:ext>
            </a:extLst>
          </p:cNvPr>
          <p:cNvPicPr>
            <a:picLocks noChangeAspect="1"/>
          </p:cNvPicPr>
          <p:nvPr/>
        </p:nvPicPr>
        <p:blipFill>
          <a:blip r:embed="rId4"/>
          <a:stretch>
            <a:fillRect/>
          </a:stretch>
        </p:blipFill>
        <p:spPr>
          <a:xfrm>
            <a:off x="1840591" y="6468835"/>
            <a:ext cx="7303409" cy="2392136"/>
          </a:xfrm>
          <a:prstGeom prst="rect">
            <a:avLst/>
          </a:prstGeom>
        </p:spPr>
      </p:pic>
    </p:spTree>
    <p:extLst>
      <p:ext uri="{BB962C8B-B14F-4D97-AF65-F5344CB8AC3E}">
        <p14:creationId xmlns:p14="http://schemas.microsoft.com/office/powerpoint/2010/main" val="14262341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a:extLst>
            <a:ext uri="{FF2B5EF4-FFF2-40B4-BE49-F238E27FC236}">
              <a16:creationId xmlns:a16="http://schemas.microsoft.com/office/drawing/2014/main" id="{078A604C-5479-6B27-4533-E5DB6EA6F280}"/>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AF283A61-1605-0C2F-E594-F6AA876A8693}"/>
              </a:ext>
            </a:extLst>
          </p:cNvPr>
          <p:cNvSpPr>
            <a:spLocks noGrp="1"/>
          </p:cNvSpPr>
          <p:nvPr/>
        </p:nvSpPr>
        <p:spPr>
          <a:prstGeom prst="rect">
            <a:avLst/>
          </a:prstGeom>
        </p:spPr>
        <p:txBody>
          <a:bodyPr/>
          <a:lstStyle/>
          <a:p>
            <a:endParaRPr lang="en-US"/>
          </a:p>
        </p:txBody>
      </p:sp>
      <p:sp>
        <p:nvSpPr>
          <p:cNvPr id="2" name="slide-title">
            <a:extLst>
              <a:ext uri="{FF2B5EF4-FFF2-40B4-BE49-F238E27FC236}">
                <a16:creationId xmlns:a16="http://schemas.microsoft.com/office/drawing/2014/main" id="{B19432D0-DC83-B52E-B32D-AF91E012F66E}"/>
              </a:ext>
            </a:extLst>
          </p:cNvPr>
          <p:cNvSpPr>
            <a:spLocks noGrp="1"/>
          </p:cNvSpPr>
          <p:nvPr/>
        </p:nvSpPr>
        <p:spPr>
          <a:xfrm>
            <a:off x="1143000" y="495300"/>
            <a:ext cx="13144500" cy="514350"/>
          </a:xfrm>
          <a:prstGeom prst="rect">
            <a:avLst/>
          </a:prstGeom>
        </p:spPr>
        <p:txBody>
          <a:bodyPr lIns="0" tIns="0" rIns="0" bIns="0"/>
          <a:lstStyle/>
          <a:p>
            <a:pPr algn="l">
              <a:defRPr sz="3300" b="1">
                <a:solidFill>
                  <a:srgbClr val="1B1A17"/>
                </a:solidFill>
                <a:latin typeface="Songti SC"/>
                <a:ea typeface="Songti SC"/>
                <a:cs typeface="Songti SC"/>
              </a:defRPr>
            </a:pPr>
            <a:r>
              <a:rPr sz="3300" b="1">
                <a:solidFill>
                  <a:srgbClr val="1B1A17"/>
                </a:solidFill>
                <a:latin typeface="Songti SC"/>
                <a:ea typeface="Songti SC"/>
                <a:cs typeface="Songti SC"/>
              </a:rPr>
              <a:t>这篇文章看什么</a:t>
            </a:r>
          </a:p>
        </p:txBody>
      </p:sp>
      <p:sp>
        <p:nvSpPr>
          <p:cNvPr id="3" name="slide-subtitle">
            <a:extLst>
              <a:ext uri="{FF2B5EF4-FFF2-40B4-BE49-F238E27FC236}">
                <a16:creationId xmlns:a16="http://schemas.microsoft.com/office/drawing/2014/main" id="{263D5560-5640-271B-75C0-DEB8FD2A78EE}"/>
              </a:ext>
            </a:extLst>
          </p:cNvPr>
          <p:cNvSpPr>
            <a:spLocks noGrp="1"/>
          </p:cNvSpPr>
          <p:nvPr/>
        </p:nvSpPr>
        <p:spPr>
          <a:xfrm>
            <a:off x="1143000" y="1066800"/>
            <a:ext cx="13144500" cy="266700"/>
          </a:xfrm>
          <a:prstGeom prst="rect">
            <a:avLst/>
          </a:prstGeom>
        </p:spPr>
        <p:txBody>
          <a:bodyPr lIns="0" tIns="0" rIns="0" bIns="0"/>
          <a:lstStyle/>
          <a:p>
            <a:pPr algn="l">
              <a:defRPr sz="1650">
                <a:solidFill>
                  <a:srgbClr val="5D5A55"/>
                </a:solidFill>
                <a:latin typeface="PingFang SC"/>
                <a:ea typeface="PingFang SC"/>
                <a:cs typeface="PingFang SC"/>
              </a:defRPr>
            </a:pPr>
            <a:r>
              <a:rPr sz="1650">
                <a:solidFill>
                  <a:srgbClr val="5D5A55"/>
                </a:solidFill>
                <a:latin typeface="PingFang SC"/>
                <a:ea typeface="PingFang SC"/>
                <a:cs typeface="PingFang SC"/>
              </a:rPr>
              <a:t>十页内把 GEN-1 的主张、证据和边界讲清楚</a:t>
            </a:r>
          </a:p>
        </p:txBody>
      </p:sp>
      <p:sp>
        <p:nvSpPr>
          <p:cNvPr id="4" name="logo-wordmark">
            <a:extLst>
              <a:ext uri="{FF2B5EF4-FFF2-40B4-BE49-F238E27FC236}">
                <a16:creationId xmlns:a16="http://schemas.microsoft.com/office/drawing/2014/main" id="{3DC241E3-E8DC-5475-967F-06A36A47F7C6}"/>
              </a:ext>
            </a:extLst>
          </p:cNvPr>
          <p:cNvSpPr>
            <a:spLocks noGrp="1"/>
          </p:cNvSpPr>
          <p:nvPr/>
        </p:nvSpPr>
        <p:spPr>
          <a:xfrm>
            <a:off x="14478000" y="590550"/>
            <a:ext cx="2667000" cy="266700"/>
          </a:xfrm>
          <a:prstGeom prst="rect">
            <a:avLst/>
          </a:prstGeom>
        </p:spPr>
        <p:txBody>
          <a:bodyPr lIns="0" tIns="0" rIns="0" bIns="0"/>
          <a:lstStyle/>
          <a:p>
            <a:pPr algn="r">
              <a:defRPr sz="1650" b="1" i="0">
                <a:solidFill>
                  <a:srgbClr val="C00000"/>
                </a:solidFill>
                <a:latin typeface="Avenir Next"/>
                <a:ea typeface="Avenir Next"/>
                <a:cs typeface="Avenir Next"/>
              </a:defRPr>
            </a:pPr>
            <a:r>
              <a:rPr sz="1650" b="1" i="0">
                <a:solidFill>
                  <a:srgbClr val="C00000"/>
                </a:solidFill>
                <a:latin typeface="Avenir Next"/>
                <a:ea typeface="Avenir Next"/>
                <a:cs typeface="Avenir Next"/>
              </a:rPr>
              <a:t>Generalist AI</a:t>
            </a:r>
          </a:p>
        </p:txBody>
      </p:sp>
      <p:sp>
        <p:nvSpPr>
          <p:cNvPr id="5" name="source-line">
            <a:extLst>
              <a:ext uri="{FF2B5EF4-FFF2-40B4-BE49-F238E27FC236}">
                <a16:creationId xmlns:a16="http://schemas.microsoft.com/office/drawing/2014/main" id="{6807D0A7-130E-9368-5A7B-A58B1CD7AF59}"/>
              </a:ext>
            </a:extLst>
          </p:cNvPr>
          <p:cNvSpPr>
            <a:spLocks noGrp="1"/>
          </p:cNvSpPr>
          <p:nvPr/>
        </p:nvSpPr>
        <p:spPr>
          <a:xfrm>
            <a:off x="1143000" y="9734550"/>
            <a:ext cx="11430000" cy="152400"/>
          </a:xfrm>
          <a:prstGeom prst="rect">
            <a:avLst/>
          </a:prstGeom>
        </p:spPr>
        <p:txBody>
          <a:bodyPr lIns="0" tIns="0" rIns="0" bIns="0"/>
          <a:lstStyle/>
          <a:p>
            <a:pPr algn="l">
              <a:defRPr sz="900" b="0" i="0">
                <a:solidFill>
                  <a:srgbClr val="5D5A55"/>
                </a:solidFill>
                <a:latin typeface="PingFang SC"/>
                <a:ea typeface="PingFang SC"/>
                <a:cs typeface="PingFang SC"/>
              </a:defRPr>
            </a:pPr>
            <a:r>
              <a:rPr sz="900" b="0" i="0">
                <a:solidFill>
                  <a:srgbClr val="5D5A55"/>
                </a:solidFill>
                <a:latin typeface="PingFang SC"/>
                <a:ea typeface="PingFang SC"/>
                <a:cs typeface="PingFang SC"/>
              </a:rPr>
              <a:t>Source: Generalist AI Blog, 2026-04-02</a:t>
            </a:r>
          </a:p>
        </p:txBody>
      </p:sp>
      <p:sp>
        <p:nvSpPr>
          <p:cNvPr id="6" name="page-number">
            <a:extLst>
              <a:ext uri="{FF2B5EF4-FFF2-40B4-BE49-F238E27FC236}">
                <a16:creationId xmlns:a16="http://schemas.microsoft.com/office/drawing/2014/main" id="{3EEB37A2-417C-9B08-0AFD-361149E13A3C}"/>
              </a:ext>
            </a:extLst>
          </p:cNvPr>
          <p:cNvSpPr>
            <a:spLocks noGrp="1"/>
          </p:cNvSpPr>
          <p:nvPr/>
        </p:nvSpPr>
        <p:spPr>
          <a:xfrm>
            <a:off x="15811500" y="9715500"/>
            <a:ext cx="1524000" cy="152400"/>
          </a:xfrm>
          <a:prstGeom prst="rect">
            <a:avLst/>
          </a:prstGeom>
        </p:spPr>
        <p:txBody>
          <a:bodyPr lIns="0" tIns="0" rIns="0" bIns="0"/>
          <a:lstStyle/>
          <a:p>
            <a:pPr algn="r">
              <a:defRPr sz="975" b="0" i="0">
                <a:solidFill>
                  <a:srgbClr val="5D5A55"/>
                </a:solidFill>
                <a:latin typeface="Avenir Next"/>
                <a:ea typeface="Avenir Next"/>
                <a:cs typeface="Avenir Next"/>
              </a:defRPr>
            </a:pPr>
            <a:r>
              <a:rPr sz="975" b="0" i="0">
                <a:solidFill>
                  <a:srgbClr val="5D5A55"/>
                </a:solidFill>
                <a:latin typeface="Avenir Next"/>
                <a:ea typeface="Avenir Next"/>
                <a:cs typeface="Avenir Next"/>
              </a:rPr>
              <a:t>02 / 10</a:t>
            </a:r>
          </a:p>
        </p:txBody>
      </p:sp>
      <p:sp>
        <p:nvSpPr>
          <p:cNvPr id="7" name="Rectangle 6">
            <a:extLst>
              <a:ext uri="{FF2B5EF4-FFF2-40B4-BE49-F238E27FC236}">
                <a16:creationId xmlns:a16="http://schemas.microsoft.com/office/drawing/2014/main" id="{2A40F410-45CE-4655-AA3F-AA672F8E6653}"/>
              </a:ext>
            </a:extLst>
          </p:cNvPr>
          <p:cNvSpPr>
            <a:spLocks noGrp="1"/>
          </p:cNvSpPr>
          <p:nvPr/>
        </p:nvSpPr>
        <p:spPr>
          <a:prstGeom prst="rect">
            <a:avLst/>
          </a:prstGeom>
        </p:spPr>
        <p:txBody>
          <a:bodyPr/>
          <a:lstStyle/>
          <a:p>
            <a:endParaRPr lang="en-US"/>
          </a:p>
        </p:txBody>
      </p:sp>
      <p:sp>
        <p:nvSpPr>
          <p:cNvPr id="8" name="agenda-index-1">
            <a:extLst>
              <a:ext uri="{FF2B5EF4-FFF2-40B4-BE49-F238E27FC236}">
                <a16:creationId xmlns:a16="http://schemas.microsoft.com/office/drawing/2014/main" id="{30F1B95E-EBF6-D32E-27E9-F7C969249131}"/>
              </a:ext>
            </a:extLst>
          </p:cNvPr>
          <p:cNvSpPr>
            <a:spLocks noGrp="1"/>
          </p:cNvSpPr>
          <p:nvPr/>
        </p:nvSpPr>
        <p:spPr>
          <a:xfrm>
            <a:off x="2095500" y="3009900"/>
            <a:ext cx="533400" cy="285750"/>
          </a:xfrm>
          <a:prstGeom prst="rect">
            <a:avLst/>
          </a:prstGeom>
        </p:spPr>
        <p:txBody>
          <a:bodyPr lIns="0" tIns="0" rIns="0" bIns="0"/>
          <a:lstStyle/>
          <a:p>
            <a:pPr algn="l">
              <a:defRPr sz="1800" b="1">
                <a:solidFill>
                  <a:srgbClr val="C00000"/>
                </a:solidFill>
                <a:latin typeface="Avenir Next"/>
                <a:ea typeface="Avenir Next"/>
                <a:cs typeface="Avenir Next"/>
              </a:defRPr>
            </a:pPr>
            <a:r>
              <a:rPr sz="1800" b="1">
                <a:solidFill>
                  <a:srgbClr val="C00000"/>
                </a:solidFill>
                <a:latin typeface="Avenir Next"/>
                <a:ea typeface="Avenir Next"/>
                <a:cs typeface="Avenir Next"/>
              </a:rPr>
              <a:t>01</a:t>
            </a:r>
          </a:p>
        </p:txBody>
      </p:sp>
      <p:sp>
        <p:nvSpPr>
          <p:cNvPr id="9" name="agenda-text-1">
            <a:extLst>
              <a:ext uri="{FF2B5EF4-FFF2-40B4-BE49-F238E27FC236}">
                <a16:creationId xmlns:a16="http://schemas.microsoft.com/office/drawing/2014/main" id="{D3DE3F6F-8224-7158-43C0-19DD419E64D1}"/>
              </a:ext>
            </a:extLst>
          </p:cNvPr>
          <p:cNvSpPr>
            <a:spLocks noGrp="1"/>
          </p:cNvSpPr>
          <p:nvPr/>
        </p:nvSpPr>
        <p:spPr>
          <a:xfrm>
            <a:off x="2819400" y="3009900"/>
            <a:ext cx="12992100" cy="304800"/>
          </a:xfrm>
          <a:prstGeom prst="rect">
            <a:avLst/>
          </a:prstGeom>
        </p:spPr>
        <p:txBody>
          <a:bodyPr lIns="0" tIns="0" rIns="0" bIns="0"/>
          <a:lstStyle/>
          <a:p>
            <a:pPr algn="l">
              <a:defRPr sz="1950">
                <a:solidFill>
                  <a:srgbClr val="1B1A17"/>
                </a:solidFill>
                <a:latin typeface="PingFang SC"/>
                <a:ea typeface="PingFang SC"/>
                <a:cs typeface="PingFang SC"/>
              </a:defRPr>
            </a:pPr>
            <a:r>
              <a:rPr sz="1950">
                <a:solidFill>
                  <a:srgbClr val="1B1A17"/>
                </a:solidFill>
                <a:latin typeface="PingFang SC"/>
                <a:ea typeface="PingFang SC"/>
                <a:cs typeface="PingFang SC"/>
              </a:rPr>
              <a:t>核心 claim：机器人预训练第一次开始碰到 commercial viability 的阈值</a:t>
            </a:r>
          </a:p>
        </p:txBody>
      </p:sp>
      <p:sp>
        <p:nvSpPr>
          <p:cNvPr id="10" name="agenda-index-2">
            <a:extLst>
              <a:ext uri="{FF2B5EF4-FFF2-40B4-BE49-F238E27FC236}">
                <a16:creationId xmlns:a16="http://schemas.microsoft.com/office/drawing/2014/main" id="{F6868B3A-B793-6171-4365-57B03716B2C3}"/>
              </a:ext>
            </a:extLst>
          </p:cNvPr>
          <p:cNvSpPr>
            <a:spLocks noGrp="1"/>
          </p:cNvSpPr>
          <p:nvPr/>
        </p:nvSpPr>
        <p:spPr>
          <a:xfrm>
            <a:off x="2095500" y="3543300"/>
            <a:ext cx="533400" cy="285750"/>
          </a:xfrm>
          <a:prstGeom prst="rect">
            <a:avLst/>
          </a:prstGeom>
        </p:spPr>
        <p:txBody>
          <a:bodyPr lIns="0" tIns="0" rIns="0" bIns="0"/>
          <a:lstStyle/>
          <a:p>
            <a:pPr algn="l">
              <a:defRPr sz="1800" b="1">
                <a:solidFill>
                  <a:srgbClr val="C00000"/>
                </a:solidFill>
                <a:latin typeface="Avenir Next"/>
                <a:ea typeface="Avenir Next"/>
                <a:cs typeface="Avenir Next"/>
              </a:defRPr>
            </a:pPr>
            <a:r>
              <a:rPr sz="1800" b="1">
                <a:solidFill>
                  <a:srgbClr val="C00000"/>
                </a:solidFill>
                <a:latin typeface="Avenir Next"/>
                <a:ea typeface="Avenir Next"/>
                <a:cs typeface="Avenir Next"/>
              </a:rPr>
              <a:t>02</a:t>
            </a:r>
          </a:p>
        </p:txBody>
      </p:sp>
      <p:sp>
        <p:nvSpPr>
          <p:cNvPr id="11" name="agenda-text-2">
            <a:extLst>
              <a:ext uri="{FF2B5EF4-FFF2-40B4-BE49-F238E27FC236}">
                <a16:creationId xmlns:a16="http://schemas.microsoft.com/office/drawing/2014/main" id="{B1DD3C8C-BE24-1ECE-8BF3-E05B16F2C71E}"/>
              </a:ext>
            </a:extLst>
          </p:cNvPr>
          <p:cNvSpPr>
            <a:spLocks noGrp="1"/>
          </p:cNvSpPr>
          <p:nvPr/>
        </p:nvSpPr>
        <p:spPr>
          <a:xfrm>
            <a:off x="2819400" y="3543300"/>
            <a:ext cx="12992100" cy="304800"/>
          </a:xfrm>
          <a:prstGeom prst="rect">
            <a:avLst/>
          </a:prstGeom>
        </p:spPr>
        <p:txBody>
          <a:bodyPr lIns="0" tIns="0" rIns="0" bIns="0"/>
          <a:lstStyle/>
          <a:p>
            <a:pPr algn="l">
              <a:defRPr sz="1950">
                <a:solidFill>
                  <a:srgbClr val="1B1A17"/>
                </a:solidFill>
                <a:latin typeface="PingFang SC"/>
                <a:ea typeface="PingFang SC"/>
                <a:cs typeface="PingFang SC"/>
              </a:defRPr>
            </a:pPr>
            <a:r>
              <a:rPr sz="1950">
                <a:solidFill>
                  <a:srgbClr val="1B1A17"/>
                </a:solidFill>
                <a:latin typeface="PingFang SC"/>
                <a:ea typeface="PingFang SC"/>
                <a:cs typeface="PingFang SC"/>
              </a:rPr>
              <a:t>评价框架：mastery = reliability + speed + improvisation</a:t>
            </a:r>
          </a:p>
        </p:txBody>
      </p:sp>
      <p:sp>
        <p:nvSpPr>
          <p:cNvPr id="12" name="agenda-index-3">
            <a:extLst>
              <a:ext uri="{FF2B5EF4-FFF2-40B4-BE49-F238E27FC236}">
                <a16:creationId xmlns:a16="http://schemas.microsoft.com/office/drawing/2014/main" id="{341FA444-8BC2-EE0E-EF71-53D19CAFFDD3}"/>
              </a:ext>
            </a:extLst>
          </p:cNvPr>
          <p:cNvSpPr>
            <a:spLocks noGrp="1"/>
          </p:cNvSpPr>
          <p:nvPr/>
        </p:nvSpPr>
        <p:spPr>
          <a:xfrm>
            <a:off x="2095500" y="4095750"/>
            <a:ext cx="533400" cy="285750"/>
          </a:xfrm>
          <a:prstGeom prst="rect">
            <a:avLst/>
          </a:prstGeom>
        </p:spPr>
        <p:txBody>
          <a:bodyPr lIns="0" tIns="0" rIns="0" bIns="0"/>
          <a:lstStyle/>
          <a:p>
            <a:pPr algn="l">
              <a:defRPr sz="1800" b="1">
                <a:solidFill>
                  <a:srgbClr val="C00000"/>
                </a:solidFill>
                <a:latin typeface="Avenir Next"/>
                <a:ea typeface="Avenir Next"/>
                <a:cs typeface="Avenir Next"/>
              </a:defRPr>
            </a:pPr>
            <a:r>
              <a:rPr sz="1800" b="1">
                <a:solidFill>
                  <a:srgbClr val="C00000"/>
                </a:solidFill>
                <a:latin typeface="Avenir Next"/>
                <a:ea typeface="Avenir Next"/>
                <a:cs typeface="Avenir Next"/>
              </a:rPr>
              <a:t>03</a:t>
            </a:r>
          </a:p>
        </p:txBody>
      </p:sp>
      <p:sp>
        <p:nvSpPr>
          <p:cNvPr id="13" name="agenda-text-3">
            <a:extLst>
              <a:ext uri="{FF2B5EF4-FFF2-40B4-BE49-F238E27FC236}">
                <a16:creationId xmlns:a16="http://schemas.microsoft.com/office/drawing/2014/main" id="{B6FD580C-199F-1083-9684-FCBA58A24CD6}"/>
              </a:ext>
            </a:extLst>
          </p:cNvPr>
          <p:cNvSpPr>
            <a:spLocks noGrp="1"/>
          </p:cNvSpPr>
          <p:nvPr/>
        </p:nvSpPr>
        <p:spPr>
          <a:xfrm>
            <a:off x="2819400" y="4095750"/>
            <a:ext cx="12992100" cy="304800"/>
          </a:xfrm>
          <a:prstGeom prst="rect">
            <a:avLst/>
          </a:prstGeom>
        </p:spPr>
        <p:txBody>
          <a:bodyPr lIns="0" tIns="0" rIns="0" bIns="0"/>
          <a:lstStyle/>
          <a:p>
            <a:pPr>
              <a:defRPr sz="1950">
                <a:solidFill>
                  <a:srgbClr val="1B1A17"/>
                </a:solidFill>
                <a:latin typeface="PingFang SC"/>
                <a:ea typeface="PingFang SC"/>
                <a:cs typeface="PingFang SC"/>
              </a:defRPr>
            </a:pPr>
            <a:r>
              <a:rPr sz="1950" dirty="0">
                <a:solidFill>
                  <a:srgbClr val="1B1A17"/>
                </a:solidFill>
                <a:latin typeface="PingFang SC"/>
                <a:ea typeface="PingFang SC"/>
                <a:cs typeface="PingFang SC"/>
              </a:rPr>
              <a:t>证据重点：99% </a:t>
            </a:r>
            <a:r>
              <a:rPr sz="1950" dirty="0" err="1">
                <a:solidFill>
                  <a:srgbClr val="1B1A17"/>
                </a:solidFill>
                <a:latin typeface="PingFang SC"/>
                <a:ea typeface="PingFang SC"/>
                <a:cs typeface="PingFang SC"/>
              </a:rPr>
              <a:t>成功率</a:t>
            </a:r>
            <a:r>
              <a:rPr sz="1950" dirty="0">
                <a:solidFill>
                  <a:srgbClr val="1B1A17"/>
                </a:solidFill>
                <a:latin typeface="PingFang SC"/>
                <a:ea typeface="PingFang SC"/>
                <a:cs typeface="PingFang SC"/>
              </a:rPr>
              <a:t>、~3x </a:t>
            </a:r>
            <a:r>
              <a:rPr sz="1950" dirty="0" err="1">
                <a:solidFill>
                  <a:srgbClr val="1B1A17"/>
                </a:solidFill>
                <a:latin typeface="PingFang SC"/>
                <a:ea typeface="PingFang SC"/>
                <a:cs typeface="PingFang SC"/>
              </a:rPr>
              <a:t>速度</a:t>
            </a:r>
            <a:r>
              <a:rPr lang="en-US" sz="1950" dirty="0">
                <a:solidFill>
                  <a:srgbClr val="1B1A17"/>
                </a:solidFill>
                <a:latin typeface="PingFang SC"/>
                <a:ea typeface="PingFang SC"/>
                <a:cs typeface="PingFang SC"/>
              </a:rPr>
              <a:t> 、~</a:t>
            </a:r>
            <a:r>
              <a:rPr lang="en-US" altLang="zh-CN" sz="1950" dirty="0">
                <a:solidFill>
                  <a:srgbClr val="1B1A17"/>
                </a:solidFill>
                <a:latin typeface="PingFang SC"/>
                <a:ea typeface="PingFang SC"/>
                <a:cs typeface="PingFang SC"/>
              </a:rPr>
              <a:t>500,000</a:t>
            </a:r>
            <a:r>
              <a:rPr lang="en-US" sz="1950" dirty="0">
                <a:solidFill>
                  <a:srgbClr val="1B1A17"/>
                </a:solidFill>
                <a:latin typeface="PingFang SC"/>
                <a:ea typeface="PingFang SC"/>
                <a:cs typeface="PingFang SC"/>
              </a:rPr>
              <a:t>h human data </a:t>
            </a:r>
            <a:r>
              <a:rPr sz="1950" dirty="0">
                <a:solidFill>
                  <a:srgbClr val="1B1A17"/>
                </a:solidFill>
                <a:latin typeface="PingFang SC"/>
                <a:ea typeface="PingFang SC"/>
                <a:cs typeface="PingFang SC"/>
              </a:rPr>
              <a:t>、~1h robot data</a:t>
            </a:r>
          </a:p>
        </p:txBody>
      </p:sp>
      <p:sp>
        <p:nvSpPr>
          <p:cNvPr id="14" name="agenda-index-4">
            <a:extLst>
              <a:ext uri="{FF2B5EF4-FFF2-40B4-BE49-F238E27FC236}">
                <a16:creationId xmlns:a16="http://schemas.microsoft.com/office/drawing/2014/main" id="{FF071998-8938-7AAB-07D0-CC9FB72FE038}"/>
              </a:ext>
            </a:extLst>
          </p:cNvPr>
          <p:cNvSpPr>
            <a:spLocks noGrp="1"/>
          </p:cNvSpPr>
          <p:nvPr/>
        </p:nvSpPr>
        <p:spPr>
          <a:xfrm>
            <a:off x="2095500" y="4629150"/>
            <a:ext cx="533400" cy="285750"/>
          </a:xfrm>
          <a:prstGeom prst="rect">
            <a:avLst/>
          </a:prstGeom>
        </p:spPr>
        <p:txBody>
          <a:bodyPr lIns="0" tIns="0" rIns="0" bIns="0"/>
          <a:lstStyle/>
          <a:p>
            <a:pPr algn="l">
              <a:defRPr sz="1800" b="1">
                <a:solidFill>
                  <a:srgbClr val="C00000"/>
                </a:solidFill>
                <a:latin typeface="Avenir Next"/>
                <a:ea typeface="Avenir Next"/>
                <a:cs typeface="Avenir Next"/>
              </a:defRPr>
            </a:pPr>
            <a:r>
              <a:rPr sz="1800" b="1">
                <a:solidFill>
                  <a:srgbClr val="C00000"/>
                </a:solidFill>
                <a:latin typeface="Avenir Next"/>
                <a:ea typeface="Avenir Next"/>
                <a:cs typeface="Avenir Next"/>
              </a:rPr>
              <a:t>04</a:t>
            </a:r>
          </a:p>
        </p:txBody>
      </p:sp>
      <p:sp>
        <p:nvSpPr>
          <p:cNvPr id="15" name="agenda-text-4">
            <a:extLst>
              <a:ext uri="{FF2B5EF4-FFF2-40B4-BE49-F238E27FC236}">
                <a16:creationId xmlns:a16="http://schemas.microsoft.com/office/drawing/2014/main" id="{1F807A28-4089-8B50-2453-792EB4224173}"/>
              </a:ext>
            </a:extLst>
          </p:cNvPr>
          <p:cNvSpPr>
            <a:spLocks noGrp="1"/>
          </p:cNvSpPr>
          <p:nvPr/>
        </p:nvSpPr>
        <p:spPr>
          <a:xfrm>
            <a:off x="2819400" y="4629150"/>
            <a:ext cx="12992100" cy="304800"/>
          </a:xfrm>
          <a:prstGeom prst="rect">
            <a:avLst/>
          </a:prstGeom>
        </p:spPr>
        <p:txBody>
          <a:bodyPr lIns="0" tIns="0" rIns="0" bIns="0"/>
          <a:lstStyle/>
          <a:p>
            <a:pPr algn="l">
              <a:defRPr sz="1950">
                <a:solidFill>
                  <a:srgbClr val="1B1A17"/>
                </a:solidFill>
                <a:latin typeface="PingFang SC"/>
                <a:ea typeface="PingFang SC"/>
                <a:cs typeface="PingFang SC"/>
              </a:defRPr>
            </a:pPr>
            <a:r>
              <a:rPr sz="1950">
                <a:solidFill>
                  <a:srgbClr val="1B1A17"/>
                </a:solidFill>
                <a:latin typeface="PingFang SC"/>
                <a:ea typeface="PingFang SC"/>
                <a:cs typeface="PingFang SC"/>
              </a:rPr>
              <a:t>底层路线：500k h physical interaction data + no robot-data pretraining</a:t>
            </a:r>
          </a:p>
        </p:txBody>
      </p:sp>
      <p:sp>
        <p:nvSpPr>
          <p:cNvPr id="16" name="agenda-index-5">
            <a:extLst>
              <a:ext uri="{FF2B5EF4-FFF2-40B4-BE49-F238E27FC236}">
                <a16:creationId xmlns:a16="http://schemas.microsoft.com/office/drawing/2014/main" id="{DA889626-1F6D-FCF2-F2AD-288DA6A7A504}"/>
              </a:ext>
            </a:extLst>
          </p:cNvPr>
          <p:cNvSpPr>
            <a:spLocks noGrp="1"/>
          </p:cNvSpPr>
          <p:nvPr/>
        </p:nvSpPr>
        <p:spPr>
          <a:xfrm>
            <a:off x="2095500" y="5181600"/>
            <a:ext cx="533400" cy="285750"/>
          </a:xfrm>
          <a:prstGeom prst="rect">
            <a:avLst/>
          </a:prstGeom>
        </p:spPr>
        <p:txBody>
          <a:bodyPr lIns="0" tIns="0" rIns="0" bIns="0"/>
          <a:lstStyle/>
          <a:p>
            <a:pPr algn="l">
              <a:defRPr sz="1800" b="1">
                <a:solidFill>
                  <a:srgbClr val="C00000"/>
                </a:solidFill>
                <a:latin typeface="Avenir Next"/>
                <a:ea typeface="Avenir Next"/>
                <a:cs typeface="Avenir Next"/>
              </a:defRPr>
            </a:pPr>
            <a:r>
              <a:rPr sz="1800" b="1">
                <a:solidFill>
                  <a:srgbClr val="C00000"/>
                </a:solidFill>
                <a:latin typeface="Avenir Next"/>
                <a:ea typeface="Avenir Next"/>
                <a:cs typeface="Avenir Next"/>
              </a:rPr>
              <a:t>05</a:t>
            </a:r>
          </a:p>
        </p:txBody>
      </p:sp>
      <p:sp>
        <p:nvSpPr>
          <p:cNvPr id="17" name="agenda-text-5">
            <a:extLst>
              <a:ext uri="{FF2B5EF4-FFF2-40B4-BE49-F238E27FC236}">
                <a16:creationId xmlns:a16="http://schemas.microsoft.com/office/drawing/2014/main" id="{A9A698DD-096C-B798-9106-413865D70DF6}"/>
              </a:ext>
            </a:extLst>
          </p:cNvPr>
          <p:cNvSpPr>
            <a:spLocks noGrp="1"/>
          </p:cNvSpPr>
          <p:nvPr/>
        </p:nvSpPr>
        <p:spPr>
          <a:xfrm>
            <a:off x="2819400" y="5181600"/>
            <a:ext cx="12992100" cy="304800"/>
          </a:xfrm>
          <a:prstGeom prst="rect">
            <a:avLst/>
          </a:prstGeom>
        </p:spPr>
        <p:txBody>
          <a:bodyPr lIns="0" tIns="0" rIns="0" bIns="0"/>
          <a:lstStyle/>
          <a:p>
            <a:pPr algn="l">
              <a:defRPr sz="1950">
                <a:solidFill>
                  <a:srgbClr val="1B1A17"/>
                </a:solidFill>
                <a:latin typeface="PingFang SC"/>
                <a:ea typeface="PingFang SC"/>
                <a:cs typeface="PingFang SC"/>
              </a:defRPr>
            </a:pPr>
            <a:r>
              <a:rPr sz="1950">
                <a:solidFill>
                  <a:srgbClr val="1B1A17"/>
                </a:solidFill>
                <a:latin typeface="PingFang SC"/>
                <a:ea typeface="PingFang SC"/>
                <a:cs typeface="PingFang SC"/>
              </a:rPr>
              <a:t>保留问题：泛化边界、alignment、公开评估透明度</a:t>
            </a:r>
          </a:p>
        </p:txBody>
      </p:sp>
    </p:spTree>
    <p:extLst>
      <p:ext uri="{BB962C8B-B14F-4D97-AF65-F5344CB8AC3E}">
        <p14:creationId xmlns:p14="http://schemas.microsoft.com/office/powerpoint/2010/main" val="3663303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47A9F79-11EB-4896-90A9-70BDF44D199C}"/>
              </a:ext>
            </a:extLst>
          </p:cNvPr>
          <p:cNvSpPr>
            <a:spLocks noGrp="1"/>
          </p:cNvSpPr>
          <p:nvPr/>
        </p:nvSpPr>
        <p:spPr>
          <a:prstGeom prst="rect">
            <a:avLst/>
          </a:prstGeom>
        </p:spPr>
        <p:txBody>
          <a:bodyPr/>
          <a:lstStyle/>
          <a:p>
            <a:endParaRPr lang="en-US"/>
          </a:p>
        </p:txBody>
      </p:sp>
      <p:sp>
        <p:nvSpPr>
          <p:cNvPr id="2" name="slide-title">
            <a:extLst>
              <a:ext uri="{FF2B5EF4-FFF2-40B4-BE49-F238E27FC236}">
                <a16:creationId xmlns:a16="http://schemas.microsoft.com/office/drawing/2014/main" id="{5ED8323E-4A9A-48C4-8CD3-394C1E410E9C}"/>
              </a:ext>
            </a:extLst>
          </p:cNvPr>
          <p:cNvSpPr>
            <a:spLocks noGrp="1"/>
          </p:cNvSpPr>
          <p:nvPr/>
        </p:nvSpPr>
        <p:spPr>
          <a:xfrm>
            <a:off x="1143000" y="495300"/>
            <a:ext cx="13144500" cy="514350"/>
          </a:xfrm>
          <a:prstGeom prst="rect">
            <a:avLst/>
          </a:prstGeom>
        </p:spPr>
        <p:txBody>
          <a:bodyPr lIns="0" tIns="0" rIns="0" bIns="0"/>
          <a:lstStyle/>
          <a:p>
            <a:pPr algn="l">
              <a:defRPr sz="3300" b="1">
                <a:solidFill>
                  <a:srgbClr val="1B1A17"/>
                </a:solidFill>
                <a:latin typeface="Songti SC"/>
                <a:ea typeface="Songti SC"/>
                <a:cs typeface="Songti SC"/>
              </a:defRPr>
            </a:pPr>
            <a:r>
              <a:rPr sz="3300" b="1">
                <a:solidFill>
                  <a:srgbClr val="1B1A17"/>
                </a:solidFill>
                <a:latin typeface="Songti SC"/>
                <a:ea typeface="Songti SC"/>
                <a:cs typeface="Songti SC"/>
              </a:rPr>
              <a:t>一句话结论：GEN-1 的重心是“精通”</a:t>
            </a:r>
          </a:p>
        </p:txBody>
      </p:sp>
      <p:sp>
        <p:nvSpPr>
          <p:cNvPr id="3" name="slide-subtitle">
            <a:extLst>
              <a:ext uri="{FF2B5EF4-FFF2-40B4-BE49-F238E27FC236}">
                <a16:creationId xmlns:a16="http://schemas.microsoft.com/office/drawing/2014/main" id="{44D57BD0-CCD4-4241-A3B2-FFC4F15B31F3}"/>
              </a:ext>
            </a:extLst>
          </p:cNvPr>
          <p:cNvSpPr>
            <a:spLocks noGrp="1"/>
          </p:cNvSpPr>
          <p:nvPr/>
        </p:nvSpPr>
        <p:spPr>
          <a:xfrm>
            <a:off x="1143000" y="1066800"/>
            <a:ext cx="13144500" cy="266700"/>
          </a:xfrm>
          <a:prstGeom prst="rect">
            <a:avLst/>
          </a:prstGeom>
        </p:spPr>
        <p:txBody>
          <a:bodyPr lIns="0" tIns="0" rIns="0" bIns="0"/>
          <a:lstStyle/>
          <a:p>
            <a:pPr algn="l">
              <a:defRPr sz="1650">
                <a:solidFill>
                  <a:srgbClr val="5D5A55"/>
                </a:solidFill>
                <a:latin typeface="PingFang SC"/>
                <a:ea typeface="PingFang SC"/>
                <a:cs typeface="PingFang SC"/>
              </a:defRPr>
            </a:pPr>
            <a:r>
              <a:rPr sz="1650">
                <a:solidFill>
                  <a:srgbClr val="5D5A55"/>
                </a:solidFill>
                <a:latin typeface="PingFang SC"/>
                <a:ea typeface="PingFang SC"/>
                <a:cs typeface="PingFang SC"/>
              </a:rPr>
              <a:t>文章最想证明的不是“会做”，而是“高可靠、快执行、能恢复”。</a:t>
            </a:r>
          </a:p>
        </p:txBody>
      </p:sp>
      <p:sp>
        <p:nvSpPr>
          <p:cNvPr id="4" name="logo-wordmark">
            <a:extLst>
              <a:ext uri="{FF2B5EF4-FFF2-40B4-BE49-F238E27FC236}">
                <a16:creationId xmlns:a16="http://schemas.microsoft.com/office/drawing/2014/main" id="{424FA16B-3BCD-4DF9-BE35-9B65EB83E946}"/>
              </a:ext>
            </a:extLst>
          </p:cNvPr>
          <p:cNvSpPr>
            <a:spLocks noGrp="1"/>
          </p:cNvSpPr>
          <p:nvPr/>
        </p:nvSpPr>
        <p:spPr>
          <a:xfrm>
            <a:off x="14478000" y="590550"/>
            <a:ext cx="2667000" cy="266700"/>
          </a:xfrm>
          <a:prstGeom prst="rect">
            <a:avLst/>
          </a:prstGeom>
        </p:spPr>
        <p:txBody>
          <a:bodyPr lIns="0" tIns="0" rIns="0" bIns="0"/>
          <a:lstStyle/>
          <a:p>
            <a:pPr algn="r">
              <a:defRPr sz="1650" b="1" i="0">
                <a:solidFill>
                  <a:srgbClr val="C00000"/>
                </a:solidFill>
                <a:latin typeface="Avenir Next"/>
                <a:ea typeface="Avenir Next"/>
                <a:cs typeface="Avenir Next"/>
              </a:defRPr>
            </a:pPr>
            <a:r>
              <a:rPr sz="1650" b="1" i="0">
                <a:solidFill>
                  <a:srgbClr val="C00000"/>
                </a:solidFill>
                <a:latin typeface="Avenir Next"/>
                <a:ea typeface="Avenir Next"/>
                <a:cs typeface="Avenir Next"/>
              </a:rPr>
              <a:t>Generalist AI</a:t>
            </a:r>
          </a:p>
        </p:txBody>
      </p:sp>
      <p:sp>
        <p:nvSpPr>
          <p:cNvPr id="5" name="source-line">
            <a:extLst>
              <a:ext uri="{FF2B5EF4-FFF2-40B4-BE49-F238E27FC236}">
                <a16:creationId xmlns:a16="http://schemas.microsoft.com/office/drawing/2014/main" id="{9B0A05DC-0947-4913-8D38-C14E29378FB6}"/>
              </a:ext>
            </a:extLst>
          </p:cNvPr>
          <p:cNvSpPr>
            <a:spLocks noGrp="1"/>
          </p:cNvSpPr>
          <p:nvPr/>
        </p:nvSpPr>
        <p:spPr>
          <a:xfrm>
            <a:off x="1143000" y="9734550"/>
            <a:ext cx="11430000" cy="152400"/>
          </a:xfrm>
          <a:prstGeom prst="rect">
            <a:avLst/>
          </a:prstGeom>
        </p:spPr>
        <p:txBody>
          <a:bodyPr lIns="0" tIns="0" rIns="0" bIns="0"/>
          <a:lstStyle/>
          <a:p>
            <a:pPr algn="l">
              <a:defRPr sz="900" b="0" i="0">
                <a:solidFill>
                  <a:srgbClr val="5D5A55"/>
                </a:solidFill>
                <a:latin typeface="PingFang SC"/>
                <a:ea typeface="PingFang SC"/>
                <a:cs typeface="PingFang SC"/>
              </a:defRPr>
            </a:pPr>
            <a:r>
              <a:rPr sz="900" b="0" i="0">
                <a:solidFill>
                  <a:srgbClr val="5D5A55"/>
                </a:solidFill>
                <a:latin typeface="PingFang SC"/>
                <a:ea typeface="PingFang SC"/>
                <a:cs typeface="PingFang SC"/>
              </a:rPr>
              <a:t>Source: Generalist AI Blog, 2026-04-02</a:t>
            </a:r>
          </a:p>
        </p:txBody>
      </p:sp>
      <p:sp>
        <p:nvSpPr>
          <p:cNvPr id="6" name="page-number">
            <a:extLst>
              <a:ext uri="{FF2B5EF4-FFF2-40B4-BE49-F238E27FC236}">
                <a16:creationId xmlns:a16="http://schemas.microsoft.com/office/drawing/2014/main" id="{15689C44-6CFE-401A-928C-E61777726DFD}"/>
              </a:ext>
            </a:extLst>
          </p:cNvPr>
          <p:cNvSpPr>
            <a:spLocks noGrp="1"/>
          </p:cNvSpPr>
          <p:nvPr/>
        </p:nvSpPr>
        <p:spPr>
          <a:xfrm>
            <a:off x="15811500" y="9715500"/>
            <a:ext cx="1524000" cy="152400"/>
          </a:xfrm>
          <a:prstGeom prst="rect">
            <a:avLst/>
          </a:prstGeom>
        </p:spPr>
        <p:txBody>
          <a:bodyPr lIns="0" tIns="0" rIns="0" bIns="0"/>
          <a:lstStyle/>
          <a:p>
            <a:pPr algn="r">
              <a:defRPr sz="975" b="0" i="0">
                <a:solidFill>
                  <a:srgbClr val="5D5A55"/>
                </a:solidFill>
                <a:latin typeface="Avenir Next"/>
                <a:ea typeface="Avenir Next"/>
                <a:cs typeface="Avenir Next"/>
              </a:defRPr>
            </a:pPr>
            <a:r>
              <a:rPr sz="975" b="0" i="0">
                <a:solidFill>
                  <a:srgbClr val="5D5A55"/>
                </a:solidFill>
                <a:latin typeface="Avenir Next"/>
                <a:ea typeface="Avenir Next"/>
                <a:cs typeface="Avenir Next"/>
              </a:rPr>
              <a:t>03 / 10</a:t>
            </a:r>
          </a:p>
        </p:txBody>
      </p:sp>
      <p:sp>
        <p:nvSpPr>
          <p:cNvPr id="7" name="summary-rule">
            <a:extLst>
              <a:ext uri="{FF2B5EF4-FFF2-40B4-BE49-F238E27FC236}">
                <a16:creationId xmlns:a16="http://schemas.microsoft.com/office/drawing/2014/main" id="{AEB7DBC5-81D5-4B10-B764-5F3A8685267F}"/>
              </a:ext>
            </a:extLst>
          </p:cNvPr>
          <p:cNvSpPr>
            <a:spLocks noGrp="1"/>
          </p:cNvSpPr>
          <p:nvPr/>
        </p:nvSpPr>
        <p:spPr>
          <a:xfrm>
            <a:off x="1143000" y="2209800"/>
            <a:ext cx="1905000" cy="38100"/>
          </a:xfrm>
          <a:prstGeom prst="rect">
            <a:avLst/>
          </a:prstGeom>
          <a:solidFill>
            <a:srgbClr val="C00000"/>
          </a:solidFill>
          <a:ln w="0">
            <a:solidFill>
              <a:srgbClr val="C00000"/>
            </a:solidFill>
            <a:prstDash val="solid"/>
          </a:ln>
        </p:spPr>
        <p:txBody>
          <a:bodyPr/>
          <a:lstStyle/>
          <a:p>
            <a:endParaRPr lang="en-US"/>
          </a:p>
        </p:txBody>
      </p:sp>
      <p:sp>
        <p:nvSpPr>
          <p:cNvPr id="8" name="Rectangle 7">
            <a:extLst>
              <a:ext uri="{FF2B5EF4-FFF2-40B4-BE49-F238E27FC236}">
                <a16:creationId xmlns:a16="http://schemas.microsoft.com/office/drawing/2014/main" id="{DAB647B5-D381-4B43-9B61-D75BDA1AF05C}"/>
              </a:ext>
            </a:extLst>
          </p:cNvPr>
          <p:cNvSpPr>
            <a:spLocks noGrp="1"/>
          </p:cNvSpPr>
          <p:nvPr/>
        </p:nvSpPr>
        <p:spPr>
          <a:prstGeom prst="rect">
            <a:avLst/>
          </a:prstGeom>
        </p:spPr>
        <p:txBody>
          <a:bodyPr/>
          <a:lstStyle/>
          <a:p>
            <a:endParaRPr lang="en-US"/>
          </a:p>
        </p:txBody>
      </p:sp>
      <p:sp>
        <p:nvSpPr>
          <p:cNvPr id="9" name="Rectangle 8">
            <a:extLst>
              <a:ext uri="{FF2B5EF4-FFF2-40B4-BE49-F238E27FC236}">
                <a16:creationId xmlns:a16="http://schemas.microsoft.com/office/drawing/2014/main" id="{F60C11EB-487E-434E-B5C0-3560974D72A0}"/>
              </a:ext>
            </a:extLst>
          </p:cNvPr>
          <p:cNvSpPr>
            <a:spLocks noGrp="1"/>
          </p:cNvSpPr>
          <p:nvPr/>
        </p:nvSpPr>
        <p:spPr>
          <a:prstGeom prst="rect">
            <a:avLst/>
          </a:prstGeom>
        </p:spPr>
        <p:txBody>
          <a:bodyPr/>
          <a:lstStyle/>
          <a:p>
            <a:endParaRPr lang="en-US"/>
          </a:p>
        </p:txBody>
      </p:sp>
      <p:sp>
        <p:nvSpPr>
          <p:cNvPr id="10" name="metric-value-1">
            <a:extLst>
              <a:ext uri="{FF2B5EF4-FFF2-40B4-BE49-F238E27FC236}">
                <a16:creationId xmlns:a16="http://schemas.microsoft.com/office/drawing/2014/main" id="{D2EC6D02-56BA-49A4-B3FA-26D91F3AEE04}"/>
              </a:ext>
            </a:extLst>
          </p:cNvPr>
          <p:cNvSpPr>
            <a:spLocks noGrp="1"/>
          </p:cNvSpPr>
          <p:nvPr/>
        </p:nvSpPr>
        <p:spPr>
          <a:xfrm>
            <a:off x="1333500" y="2857500"/>
            <a:ext cx="4800600" cy="1219200"/>
          </a:xfrm>
          <a:prstGeom prst="rect">
            <a:avLst/>
          </a:prstGeom>
        </p:spPr>
        <p:txBody>
          <a:bodyPr lIns="0" tIns="0" rIns="0" bIns="0"/>
          <a:lstStyle/>
          <a:p>
            <a:pPr algn="ctr">
              <a:defRPr sz="7950" b="1">
                <a:solidFill>
                  <a:srgbClr val="C00000"/>
                </a:solidFill>
                <a:latin typeface="Avenir Next"/>
                <a:ea typeface="Avenir Next"/>
                <a:cs typeface="Avenir Next"/>
              </a:defRPr>
            </a:pPr>
            <a:r>
              <a:rPr sz="7950" b="1">
                <a:solidFill>
                  <a:srgbClr val="C00000"/>
                </a:solidFill>
                <a:latin typeface="Avenir Next"/>
                <a:ea typeface="Avenir Next"/>
                <a:cs typeface="Avenir Next"/>
              </a:rPr>
              <a:t>99%</a:t>
            </a:r>
          </a:p>
        </p:txBody>
      </p:sp>
      <p:sp>
        <p:nvSpPr>
          <p:cNvPr id="11" name="metric-label-1">
            <a:extLst>
              <a:ext uri="{FF2B5EF4-FFF2-40B4-BE49-F238E27FC236}">
                <a16:creationId xmlns:a16="http://schemas.microsoft.com/office/drawing/2014/main" id="{E8EEF294-08FE-437B-930A-CA7EC1FCDB85}"/>
              </a:ext>
            </a:extLst>
          </p:cNvPr>
          <p:cNvSpPr>
            <a:spLocks noGrp="1"/>
          </p:cNvSpPr>
          <p:nvPr/>
        </p:nvSpPr>
        <p:spPr>
          <a:xfrm>
            <a:off x="1333500" y="4152900"/>
            <a:ext cx="4800600" cy="285750"/>
          </a:xfrm>
          <a:prstGeom prst="rect">
            <a:avLst/>
          </a:prstGeom>
        </p:spPr>
        <p:txBody>
          <a:bodyPr lIns="0" tIns="0" rIns="0" bIns="0"/>
          <a:lstStyle/>
          <a:p>
            <a:pPr algn="ctr">
              <a:defRPr sz="1800" b="1">
                <a:solidFill>
                  <a:srgbClr val="1B1A17"/>
                </a:solidFill>
                <a:latin typeface="PingFang SC"/>
                <a:ea typeface="PingFang SC"/>
                <a:cs typeface="PingFang SC"/>
              </a:defRPr>
            </a:pPr>
            <a:r>
              <a:rPr sz="1800" b="1">
                <a:solidFill>
                  <a:srgbClr val="1B1A17"/>
                </a:solidFill>
                <a:latin typeface="PingFang SC"/>
                <a:ea typeface="PingFang SC"/>
                <a:cs typeface="PingFang SC"/>
              </a:rPr>
              <a:t>平均成功率</a:t>
            </a:r>
          </a:p>
        </p:txBody>
      </p:sp>
      <p:sp>
        <p:nvSpPr>
          <p:cNvPr id="12" name="metric-note-1">
            <a:extLst>
              <a:ext uri="{FF2B5EF4-FFF2-40B4-BE49-F238E27FC236}">
                <a16:creationId xmlns:a16="http://schemas.microsoft.com/office/drawing/2014/main" id="{023DFB90-5DC8-448C-8B76-AC2280772F86}"/>
              </a:ext>
            </a:extLst>
          </p:cNvPr>
          <p:cNvSpPr>
            <a:spLocks noGrp="1"/>
          </p:cNvSpPr>
          <p:nvPr/>
        </p:nvSpPr>
        <p:spPr>
          <a:xfrm>
            <a:off x="1333500" y="4495800"/>
            <a:ext cx="4800600" cy="209550"/>
          </a:xfrm>
          <a:prstGeom prst="rect">
            <a:avLst/>
          </a:prstGeom>
        </p:spPr>
        <p:txBody>
          <a:bodyPr lIns="0" tIns="0" rIns="0" bIns="0"/>
          <a:lstStyle/>
          <a:p>
            <a:pPr algn="ctr">
              <a:defRPr sz="1350">
                <a:solidFill>
                  <a:srgbClr val="5D5A55"/>
                </a:solidFill>
                <a:latin typeface="PingFang SC"/>
                <a:ea typeface="PingFang SC"/>
                <a:cs typeface="PingFang SC"/>
              </a:defRPr>
            </a:pPr>
            <a:r>
              <a:rPr sz="1350">
                <a:solidFill>
                  <a:srgbClr val="5D5A55"/>
                </a:solidFill>
                <a:latin typeface="PingFang SC"/>
                <a:ea typeface="PingFang SC"/>
                <a:cs typeface="PingFang SC"/>
              </a:rPr>
              <a:t>vs GEN-0 的 64%</a:t>
            </a:r>
          </a:p>
        </p:txBody>
      </p:sp>
      <p:sp>
        <p:nvSpPr>
          <p:cNvPr id="13" name="metric-value-2">
            <a:extLst>
              <a:ext uri="{FF2B5EF4-FFF2-40B4-BE49-F238E27FC236}">
                <a16:creationId xmlns:a16="http://schemas.microsoft.com/office/drawing/2014/main" id="{AB6412DD-3CCE-4238-A9F6-F9D75C8FEA69}"/>
              </a:ext>
            </a:extLst>
          </p:cNvPr>
          <p:cNvSpPr>
            <a:spLocks noGrp="1"/>
          </p:cNvSpPr>
          <p:nvPr/>
        </p:nvSpPr>
        <p:spPr>
          <a:xfrm>
            <a:off x="6648450" y="2857500"/>
            <a:ext cx="4800600" cy="1219200"/>
          </a:xfrm>
          <a:prstGeom prst="rect">
            <a:avLst/>
          </a:prstGeom>
        </p:spPr>
        <p:txBody>
          <a:bodyPr lIns="0" tIns="0" rIns="0" bIns="0"/>
          <a:lstStyle/>
          <a:p>
            <a:pPr algn="ctr">
              <a:defRPr sz="7950" b="1">
                <a:solidFill>
                  <a:srgbClr val="0C2441"/>
                </a:solidFill>
                <a:latin typeface="Avenir Next"/>
                <a:ea typeface="Avenir Next"/>
                <a:cs typeface="Avenir Next"/>
              </a:defRPr>
            </a:pPr>
            <a:r>
              <a:rPr sz="7950" b="1">
                <a:solidFill>
                  <a:srgbClr val="0C2441"/>
                </a:solidFill>
                <a:latin typeface="Avenir Next"/>
                <a:ea typeface="Avenir Next"/>
                <a:cs typeface="Avenir Next"/>
              </a:rPr>
              <a:t>~3x</a:t>
            </a:r>
          </a:p>
        </p:txBody>
      </p:sp>
      <p:sp>
        <p:nvSpPr>
          <p:cNvPr id="14" name="metric-label-2">
            <a:extLst>
              <a:ext uri="{FF2B5EF4-FFF2-40B4-BE49-F238E27FC236}">
                <a16:creationId xmlns:a16="http://schemas.microsoft.com/office/drawing/2014/main" id="{EEFCFDD1-E583-4F3C-9FC1-51A600E84727}"/>
              </a:ext>
            </a:extLst>
          </p:cNvPr>
          <p:cNvSpPr>
            <a:spLocks noGrp="1"/>
          </p:cNvSpPr>
          <p:nvPr/>
        </p:nvSpPr>
        <p:spPr>
          <a:xfrm>
            <a:off x="6648450" y="4152900"/>
            <a:ext cx="4800600" cy="285750"/>
          </a:xfrm>
          <a:prstGeom prst="rect">
            <a:avLst/>
          </a:prstGeom>
        </p:spPr>
        <p:txBody>
          <a:bodyPr lIns="0" tIns="0" rIns="0" bIns="0"/>
          <a:lstStyle/>
          <a:p>
            <a:pPr algn="ctr">
              <a:defRPr sz="1800" b="1">
                <a:solidFill>
                  <a:srgbClr val="1B1A17"/>
                </a:solidFill>
                <a:latin typeface="PingFang SC"/>
                <a:ea typeface="PingFang SC"/>
                <a:cs typeface="PingFang SC"/>
              </a:defRPr>
            </a:pPr>
            <a:r>
              <a:rPr sz="1800" b="1">
                <a:solidFill>
                  <a:srgbClr val="1B1A17"/>
                </a:solidFill>
                <a:latin typeface="PingFang SC"/>
                <a:ea typeface="PingFang SC"/>
                <a:cs typeface="PingFang SC"/>
              </a:rPr>
              <a:t>任务完成更快</a:t>
            </a:r>
          </a:p>
        </p:txBody>
      </p:sp>
      <p:sp>
        <p:nvSpPr>
          <p:cNvPr id="15" name="metric-note-2">
            <a:extLst>
              <a:ext uri="{FF2B5EF4-FFF2-40B4-BE49-F238E27FC236}">
                <a16:creationId xmlns:a16="http://schemas.microsoft.com/office/drawing/2014/main" id="{F6AC9A01-084C-4EDA-B936-497D74AE5C2C}"/>
              </a:ext>
            </a:extLst>
          </p:cNvPr>
          <p:cNvSpPr>
            <a:spLocks noGrp="1"/>
          </p:cNvSpPr>
          <p:nvPr/>
        </p:nvSpPr>
        <p:spPr>
          <a:xfrm>
            <a:off x="6648450" y="4495800"/>
            <a:ext cx="4800600" cy="209550"/>
          </a:xfrm>
          <a:prstGeom prst="rect">
            <a:avLst/>
          </a:prstGeom>
        </p:spPr>
        <p:txBody>
          <a:bodyPr lIns="0" tIns="0" rIns="0" bIns="0"/>
          <a:lstStyle/>
          <a:p>
            <a:pPr algn="ctr">
              <a:defRPr sz="1350">
                <a:solidFill>
                  <a:srgbClr val="5D5A55"/>
                </a:solidFill>
                <a:latin typeface="PingFang SC"/>
                <a:ea typeface="PingFang SC"/>
                <a:cs typeface="PingFang SC"/>
              </a:defRPr>
            </a:pPr>
            <a:r>
              <a:rPr sz="1350">
                <a:solidFill>
                  <a:srgbClr val="5D5A55"/>
                </a:solidFill>
                <a:latin typeface="PingFang SC"/>
                <a:ea typeface="PingFang SC"/>
                <a:cs typeface="PingFang SC"/>
              </a:rPr>
              <a:t>box folding / phone packing</a:t>
            </a:r>
          </a:p>
        </p:txBody>
      </p:sp>
      <p:sp>
        <p:nvSpPr>
          <p:cNvPr id="16" name="metric-value-3">
            <a:extLst>
              <a:ext uri="{FF2B5EF4-FFF2-40B4-BE49-F238E27FC236}">
                <a16:creationId xmlns:a16="http://schemas.microsoft.com/office/drawing/2014/main" id="{F0EECB77-4BFA-472C-8F86-DEC040463064}"/>
              </a:ext>
            </a:extLst>
          </p:cNvPr>
          <p:cNvSpPr>
            <a:spLocks noGrp="1"/>
          </p:cNvSpPr>
          <p:nvPr/>
        </p:nvSpPr>
        <p:spPr>
          <a:xfrm>
            <a:off x="11963400" y="2857500"/>
            <a:ext cx="4800600" cy="1219200"/>
          </a:xfrm>
          <a:prstGeom prst="rect">
            <a:avLst/>
          </a:prstGeom>
        </p:spPr>
        <p:txBody>
          <a:bodyPr lIns="0" tIns="0" rIns="0" bIns="0"/>
          <a:lstStyle/>
          <a:p>
            <a:pPr algn="ctr">
              <a:defRPr sz="7950" b="1">
                <a:solidFill>
                  <a:srgbClr val="E6C84F"/>
                </a:solidFill>
                <a:latin typeface="Avenir Next"/>
                <a:ea typeface="Avenir Next"/>
                <a:cs typeface="Avenir Next"/>
              </a:defRPr>
            </a:pPr>
            <a:r>
              <a:rPr sz="7950" b="1">
                <a:solidFill>
                  <a:srgbClr val="E6C84F"/>
                </a:solidFill>
                <a:latin typeface="Avenir Next"/>
                <a:ea typeface="Avenir Next"/>
                <a:cs typeface="Avenir Next"/>
              </a:rPr>
              <a:t>~1 h</a:t>
            </a:r>
          </a:p>
        </p:txBody>
      </p:sp>
      <p:sp>
        <p:nvSpPr>
          <p:cNvPr id="17" name="metric-label-3">
            <a:extLst>
              <a:ext uri="{FF2B5EF4-FFF2-40B4-BE49-F238E27FC236}">
                <a16:creationId xmlns:a16="http://schemas.microsoft.com/office/drawing/2014/main" id="{0F7DA70A-F7D9-4830-89DF-87DECF31B556}"/>
              </a:ext>
            </a:extLst>
          </p:cNvPr>
          <p:cNvSpPr>
            <a:spLocks noGrp="1"/>
          </p:cNvSpPr>
          <p:nvPr/>
        </p:nvSpPr>
        <p:spPr>
          <a:xfrm>
            <a:off x="11963400" y="4152900"/>
            <a:ext cx="4800600" cy="285750"/>
          </a:xfrm>
          <a:prstGeom prst="rect">
            <a:avLst/>
          </a:prstGeom>
        </p:spPr>
        <p:txBody>
          <a:bodyPr lIns="0" tIns="0" rIns="0" bIns="0"/>
          <a:lstStyle/>
          <a:p>
            <a:pPr algn="ctr">
              <a:defRPr sz="1800" b="1">
                <a:solidFill>
                  <a:srgbClr val="1B1A17"/>
                </a:solidFill>
                <a:latin typeface="PingFang SC"/>
                <a:ea typeface="PingFang SC"/>
                <a:cs typeface="PingFang SC"/>
              </a:defRPr>
            </a:pPr>
            <a:r>
              <a:rPr sz="1800" b="1">
                <a:solidFill>
                  <a:srgbClr val="1B1A17"/>
                </a:solidFill>
                <a:latin typeface="PingFang SC"/>
                <a:ea typeface="PingFang SC"/>
                <a:cs typeface="PingFang SC"/>
              </a:rPr>
              <a:t>每项结果所需 robot data</a:t>
            </a:r>
          </a:p>
        </p:txBody>
      </p:sp>
      <p:sp>
        <p:nvSpPr>
          <p:cNvPr id="18" name="metric-note-3">
            <a:extLst>
              <a:ext uri="{FF2B5EF4-FFF2-40B4-BE49-F238E27FC236}">
                <a16:creationId xmlns:a16="http://schemas.microsoft.com/office/drawing/2014/main" id="{B372F6A7-7785-4DCE-9B0A-5313FACADF20}"/>
              </a:ext>
            </a:extLst>
          </p:cNvPr>
          <p:cNvSpPr>
            <a:spLocks noGrp="1"/>
          </p:cNvSpPr>
          <p:nvPr/>
        </p:nvSpPr>
        <p:spPr>
          <a:xfrm>
            <a:off x="11963400" y="4495800"/>
            <a:ext cx="4800600" cy="209550"/>
          </a:xfrm>
          <a:prstGeom prst="rect">
            <a:avLst/>
          </a:prstGeom>
        </p:spPr>
        <p:txBody>
          <a:bodyPr lIns="0" tIns="0" rIns="0" bIns="0"/>
          <a:lstStyle/>
          <a:p>
            <a:pPr algn="ctr">
              <a:defRPr sz="1350">
                <a:solidFill>
                  <a:srgbClr val="5D5A55"/>
                </a:solidFill>
                <a:latin typeface="PingFang SC"/>
                <a:ea typeface="PingFang SC"/>
                <a:cs typeface="PingFang SC"/>
              </a:defRPr>
            </a:pPr>
            <a:r>
              <a:rPr sz="1350">
                <a:solidFill>
                  <a:srgbClr val="5D5A55"/>
                </a:solidFill>
                <a:latin typeface="PingFang SC"/>
                <a:ea typeface="PingFang SC"/>
                <a:cs typeface="PingFang SC"/>
              </a:rPr>
              <a:t>文章所有展示均约 1 小时</a:t>
            </a:r>
          </a:p>
        </p:txBody>
      </p:sp>
      <p:sp>
        <p:nvSpPr>
          <p:cNvPr id="19" name="summary-bottom">
            <a:extLst>
              <a:ext uri="{FF2B5EF4-FFF2-40B4-BE49-F238E27FC236}">
                <a16:creationId xmlns:a16="http://schemas.microsoft.com/office/drawing/2014/main" id="{9A2B9946-55B6-4393-8366-77439F9E2523}"/>
              </a:ext>
            </a:extLst>
          </p:cNvPr>
          <p:cNvSpPr>
            <a:spLocks noGrp="1"/>
          </p:cNvSpPr>
          <p:nvPr/>
        </p:nvSpPr>
        <p:spPr>
          <a:xfrm>
            <a:off x="2095500" y="7048500"/>
            <a:ext cx="12573000" cy="323850"/>
          </a:xfrm>
          <a:prstGeom prst="rect">
            <a:avLst/>
          </a:prstGeom>
        </p:spPr>
        <p:txBody>
          <a:bodyPr lIns="0" tIns="0" rIns="0" bIns="0"/>
          <a:lstStyle/>
          <a:p>
            <a:pPr algn="l">
              <a:defRPr sz="2100" b="1" i="0">
                <a:solidFill>
                  <a:srgbClr val="1B1A17"/>
                </a:solidFill>
                <a:latin typeface="Songti SC"/>
                <a:ea typeface="Songti SC"/>
                <a:cs typeface="Songti SC"/>
              </a:defRPr>
            </a:pPr>
            <a:r>
              <a:rPr sz="2100" b="1" i="0">
                <a:solidFill>
                  <a:srgbClr val="1B1A17"/>
                </a:solidFill>
                <a:latin typeface="Songti SC"/>
                <a:ea typeface="Songti SC"/>
                <a:cs typeface="Songti SC"/>
              </a:rPr>
              <a:t>这使“commercial viability”第一次成为整篇文章的主叙事，而不只是附带结论。</a:t>
            </a:r>
          </a:p>
        </p:txBody>
      </p:sp>
    </p:spTree>
    <p:extLst>
      <p:ext uri="{BB962C8B-B14F-4D97-AF65-F5344CB8AC3E}">
        <p14:creationId xmlns:p14="http://schemas.microsoft.com/office/powerpoint/2010/main" val="19601987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DB3ABB3D-A243-406F-8A78-84CBA2608E09}"/>
              </a:ext>
            </a:extLst>
          </p:cNvPr>
          <p:cNvSpPr>
            <a:spLocks noGrp="1"/>
          </p:cNvSpPr>
          <p:nvPr/>
        </p:nvSpPr>
        <p:spPr>
          <a:prstGeom prst="rect">
            <a:avLst/>
          </a:prstGeom>
        </p:spPr>
        <p:txBody>
          <a:bodyPr/>
          <a:lstStyle/>
          <a:p>
            <a:endParaRPr lang="en-US"/>
          </a:p>
        </p:txBody>
      </p:sp>
      <p:sp>
        <p:nvSpPr>
          <p:cNvPr id="2" name="slide-title">
            <a:extLst>
              <a:ext uri="{FF2B5EF4-FFF2-40B4-BE49-F238E27FC236}">
                <a16:creationId xmlns:a16="http://schemas.microsoft.com/office/drawing/2014/main" id="{734894E0-CCEF-4C8D-BBB1-FCF88A0A8732}"/>
              </a:ext>
            </a:extLst>
          </p:cNvPr>
          <p:cNvSpPr>
            <a:spLocks noGrp="1"/>
          </p:cNvSpPr>
          <p:nvPr/>
        </p:nvSpPr>
        <p:spPr>
          <a:xfrm>
            <a:off x="1143000" y="495300"/>
            <a:ext cx="13144500" cy="514350"/>
          </a:xfrm>
          <a:prstGeom prst="rect">
            <a:avLst/>
          </a:prstGeom>
        </p:spPr>
        <p:txBody>
          <a:bodyPr lIns="0" tIns="0" rIns="0" bIns="0"/>
          <a:lstStyle/>
          <a:p>
            <a:pPr algn="l">
              <a:defRPr sz="3300" b="1">
                <a:solidFill>
                  <a:srgbClr val="1B1A17"/>
                </a:solidFill>
                <a:latin typeface="Songti SC"/>
                <a:ea typeface="Songti SC"/>
                <a:cs typeface="Songti SC"/>
              </a:defRPr>
            </a:pPr>
            <a:r>
              <a:rPr sz="3300" b="1">
                <a:solidFill>
                  <a:srgbClr val="1B1A17"/>
                </a:solidFill>
                <a:latin typeface="Songti SC"/>
                <a:ea typeface="Songti SC"/>
                <a:cs typeface="Songti SC"/>
              </a:rPr>
              <a:t>从 GEN-0 到 GEN-1：预训练时代继续放大</a:t>
            </a:r>
          </a:p>
        </p:txBody>
      </p:sp>
      <p:sp>
        <p:nvSpPr>
          <p:cNvPr id="3" name="slide-subtitle">
            <a:extLst>
              <a:ext uri="{FF2B5EF4-FFF2-40B4-BE49-F238E27FC236}">
                <a16:creationId xmlns:a16="http://schemas.microsoft.com/office/drawing/2014/main" id="{F6F4C061-848F-415F-B98B-14A389462A72}"/>
              </a:ext>
            </a:extLst>
          </p:cNvPr>
          <p:cNvSpPr>
            <a:spLocks noGrp="1"/>
          </p:cNvSpPr>
          <p:nvPr/>
        </p:nvSpPr>
        <p:spPr>
          <a:xfrm>
            <a:off x="1143000" y="1066800"/>
            <a:ext cx="13144500" cy="266700"/>
          </a:xfrm>
          <a:prstGeom prst="rect">
            <a:avLst/>
          </a:prstGeom>
        </p:spPr>
        <p:txBody>
          <a:bodyPr lIns="0" tIns="0" rIns="0" bIns="0"/>
          <a:lstStyle/>
          <a:p>
            <a:pPr algn="l">
              <a:defRPr sz="1650">
                <a:solidFill>
                  <a:srgbClr val="5D5A55"/>
                </a:solidFill>
                <a:latin typeface="PingFang SC"/>
                <a:ea typeface="PingFang SC"/>
                <a:cs typeface="PingFang SC"/>
              </a:defRPr>
            </a:pPr>
            <a:r>
              <a:rPr sz="1650">
                <a:solidFill>
                  <a:srgbClr val="5D5A55"/>
                </a:solidFill>
                <a:latin typeface="PingFang SC"/>
                <a:ea typeface="PingFang SC"/>
                <a:cs typeface="PingFang SC"/>
              </a:rPr>
              <a:t>真正的变量不是单个 demo，而是数据引擎 + compute + system redesign。</a:t>
            </a:r>
          </a:p>
        </p:txBody>
      </p:sp>
      <p:sp>
        <p:nvSpPr>
          <p:cNvPr id="4" name="logo-wordmark">
            <a:extLst>
              <a:ext uri="{FF2B5EF4-FFF2-40B4-BE49-F238E27FC236}">
                <a16:creationId xmlns:a16="http://schemas.microsoft.com/office/drawing/2014/main" id="{C7EAC669-B8EF-4816-BA14-E876F7A0E507}"/>
              </a:ext>
            </a:extLst>
          </p:cNvPr>
          <p:cNvSpPr>
            <a:spLocks noGrp="1"/>
          </p:cNvSpPr>
          <p:nvPr/>
        </p:nvSpPr>
        <p:spPr>
          <a:xfrm>
            <a:off x="14478000" y="590550"/>
            <a:ext cx="2667000" cy="266700"/>
          </a:xfrm>
          <a:prstGeom prst="rect">
            <a:avLst/>
          </a:prstGeom>
        </p:spPr>
        <p:txBody>
          <a:bodyPr lIns="0" tIns="0" rIns="0" bIns="0"/>
          <a:lstStyle/>
          <a:p>
            <a:pPr algn="r">
              <a:defRPr sz="1650" b="1" i="0">
                <a:solidFill>
                  <a:srgbClr val="C00000"/>
                </a:solidFill>
                <a:latin typeface="Avenir Next"/>
                <a:ea typeface="Avenir Next"/>
                <a:cs typeface="Avenir Next"/>
              </a:defRPr>
            </a:pPr>
            <a:r>
              <a:rPr sz="1650" b="1" i="0">
                <a:solidFill>
                  <a:srgbClr val="C00000"/>
                </a:solidFill>
                <a:latin typeface="Avenir Next"/>
                <a:ea typeface="Avenir Next"/>
                <a:cs typeface="Avenir Next"/>
              </a:rPr>
              <a:t>Generalist AI</a:t>
            </a:r>
          </a:p>
        </p:txBody>
      </p:sp>
      <p:sp>
        <p:nvSpPr>
          <p:cNvPr id="5" name="source-line">
            <a:extLst>
              <a:ext uri="{FF2B5EF4-FFF2-40B4-BE49-F238E27FC236}">
                <a16:creationId xmlns:a16="http://schemas.microsoft.com/office/drawing/2014/main" id="{52A1E730-3E8A-48ED-8270-44D5F05E562E}"/>
              </a:ext>
            </a:extLst>
          </p:cNvPr>
          <p:cNvSpPr>
            <a:spLocks noGrp="1"/>
          </p:cNvSpPr>
          <p:nvPr/>
        </p:nvSpPr>
        <p:spPr>
          <a:xfrm>
            <a:off x="1143000" y="9734550"/>
            <a:ext cx="11430000" cy="152400"/>
          </a:xfrm>
          <a:prstGeom prst="rect">
            <a:avLst/>
          </a:prstGeom>
        </p:spPr>
        <p:txBody>
          <a:bodyPr lIns="0" tIns="0" rIns="0" bIns="0"/>
          <a:lstStyle/>
          <a:p>
            <a:pPr algn="l">
              <a:defRPr sz="900" b="0" i="0">
                <a:solidFill>
                  <a:srgbClr val="5D5A55"/>
                </a:solidFill>
                <a:latin typeface="PingFang SC"/>
                <a:ea typeface="PingFang SC"/>
                <a:cs typeface="PingFang SC"/>
              </a:defRPr>
            </a:pPr>
            <a:r>
              <a:rPr sz="900" b="0" i="0">
                <a:solidFill>
                  <a:srgbClr val="5D5A55"/>
                </a:solidFill>
                <a:latin typeface="PingFang SC"/>
                <a:ea typeface="PingFang SC"/>
                <a:cs typeface="PingFang SC"/>
              </a:rPr>
              <a:t>Source: Generalist AI Blog, 2026-04-02</a:t>
            </a:r>
          </a:p>
        </p:txBody>
      </p:sp>
      <p:sp>
        <p:nvSpPr>
          <p:cNvPr id="6" name="page-number">
            <a:extLst>
              <a:ext uri="{FF2B5EF4-FFF2-40B4-BE49-F238E27FC236}">
                <a16:creationId xmlns:a16="http://schemas.microsoft.com/office/drawing/2014/main" id="{8FE09067-A532-4755-B63B-79719CF0B708}"/>
              </a:ext>
            </a:extLst>
          </p:cNvPr>
          <p:cNvSpPr>
            <a:spLocks noGrp="1"/>
          </p:cNvSpPr>
          <p:nvPr/>
        </p:nvSpPr>
        <p:spPr>
          <a:xfrm>
            <a:off x="15811500" y="9715500"/>
            <a:ext cx="1524000" cy="152400"/>
          </a:xfrm>
          <a:prstGeom prst="rect">
            <a:avLst/>
          </a:prstGeom>
        </p:spPr>
        <p:txBody>
          <a:bodyPr lIns="0" tIns="0" rIns="0" bIns="0"/>
          <a:lstStyle/>
          <a:p>
            <a:pPr algn="r">
              <a:defRPr sz="975" b="0" i="0">
                <a:solidFill>
                  <a:srgbClr val="5D5A55"/>
                </a:solidFill>
                <a:latin typeface="Avenir Next"/>
                <a:ea typeface="Avenir Next"/>
                <a:cs typeface="Avenir Next"/>
              </a:defRPr>
            </a:pPr>
            <a:r>
              <a:rPr sz="975" b="0" i="0">
                <a:solidFill>
                  <a:srgbClr val="5D5A55"/>
                </a:solidFill>
                <a:latin typeface="Avenir Next"/>
                <a:ea typeface="Avenir Next"/>
                <a:cs typeface="Avenir Next"/>
              </a:rPr>
              <a:t>04 / 10</a:t>
            </a:r>
          </a:p>
        </p:txBody>
      </p:sp>
      <p:sp>
        <p:nvSpPr>
          <p:cNvPr id="7" name="scale-big-number">
            <a:extLst>
              <a:ext uri="{FF2B5EF4-FFF2-40B4-BE49-F238E27FC236}">
                <a16:creationId xmlns:a16="http://schemas.microsoft.com/office/drawing/2014/main" id="{C9583A7E-FC51-4D1E-BAFC-F00A66A7854F}"/>
              </a:ext>
            </a:extLst>
          </p:cNvPr>
          <p:cNvSpPr>
            <a:spLocks noGrp="1"/>
          </p:cNvSpPr>
          <p:nvPr/>
        </p:nvSpPr>
        <p:spPr>
          <a:xfrm>
            <a:off x="1143000" y="2667000"/>
            <a:ext cx="4762500" cy="1409700"/>
          </a:xfrm>
          <a:prstGeom prst="rect">
            <a:avLst/>
          </a:prstGeom>
        </p:spPr>
        <p:txBody>
          <a:bodyPr lIns="0" tIns="0" rIns="0" bIns="0"/>
          <a:lstStyle/>
          <a:p>
            <a:pPr algn="l">
              <a:defRPr sz="9150" b="1">
                <a:solidFill>
                  <a:srgbClr val="C00000"/>
                </a:solidFill>
                <a:latin typeface="Avenir Next"/>
                <a:ea typeface="Avenir Next"/>
                <a:cs typeface="Avenir Next"/>
              </a:defRPr>
            </a:pPr>
            <a:r>
              <a:rPr sz="9150" b="1">
                <a:solidFill>
                  <a:srgbClr val="C00000"/>
                </a:solidFill>
                <a:latin typeface="Avenir Next"/>
                <a:ea typeface="Avenir Next"/>
                <a:cs typeface="Avenir Next"/>
              </a:rPr>
              <a:t>500k h</a:t>
            </a:r>
          </a:p>
        </p:txBody>
      </p:sp>
      <p:sp>
        <p:nvSpPr>
          <p:cNvPr id="8" name="scale-big-label">
            <a:extLst>
              <a:ext uri="{FF2B5EF4-FFF2-40B4-BE49-F238E27FC236}">
                <a16:creationId xmlns:a16="http://schemas.microsoft.com/office/drawing/2014/main" id="{A0FEC7D8-6F7C-4249-9E95-54A5D6202AAE}"/>
              </a:ext>
            </a:extLst>
          </p:cNvPr>
          <p:cNvSpPr>
            <a:spLocks noGrp="1"/>
          </p:cNvSpPr>
          <p:nvPr/>
        </p:nvSpPr>
        <p:spPr>
          <a:xfrm>
            <a:off x="1143000" y="4133850"/>
            <a:ext cx="4762500" cy="304800"/>
          </a:xfrm>
          <a:prstGeom prst="rect">
            <a:avLst/>
          </a:prstGeom>
        </p:spPr>
        <p:txBody>
          <a:bodyPr lIns="0" tIns="0" rIns="0" bIns="0"/>
          <a:lstStyle/>
          <a:p>
            <a:pPr algn="l">
              <a:defRPr sz="1950" b="1" i="0">
                <a:solidFill>
                  <a:srgbClr val="1B1A17"/>
                </a:solidFill>
                <a:latin typeface="PingFang SC"/>
                <a:ea typeface="PingFang SC"/>
                <a:cs typeface="PingFang SC"/>
              </a:defRPr>
            </a:pPr>
            <a:r>
              <a:rPr sz="1950" b="1" i="0">
                <a:solidFill>
                  <a:srgbClr val="1B1A17"/>
                </a:solidFill>
                <a:latin typeface="PingFang SC"/>
                <a:ea typeface="PingFang SC"/>
                <a:cs typeface="PingFang SC"/>
              </a:rPr>
              <a:t>high-fidelity physical interaction data</a:t>
            </a:r>
          </a:p>
        </p:txBody>
      </p:sp>
      <p:sp>
        <p:nvSpPr>
          <p:cNvPr id="9" name="scale-left-note">
            <a:extLst>
              <a:ext uri="{FF2B5EF4-FFF2-40B4-BE49-F238E27FC236}">
                <a16:creationId xmlns:a16="http://schemas.microsoft.com/office/drawing/2014/main" id="{53426891-F794-4B7F-869C-7467DF0FF3C1}"/>
              </a:ext>
            </a:extLst>
          </p:cNvPr>
          <p:cNvSpPr>
            <a:spLocks noGrp="1"/>
          </p:cNvSpPr>
          <p:nvPr/>
        </p:nvSpPr>
        <p:spPr>
          <a:xfrm>
            <a:off x="1143000" y="4514850"/>
            <a:ext cx="4762500" cy="685800"/>
          </a:xfrm>
          <a:prstGeom prst="rect">
            <a:avLst/>
          </a:prstGeom>
        </p:spPr>
        <p:txBody>
          <a:bodyPr lIns="0" tIns="0" rIns="0" bIns="0"/>
          <a:lstStyle/>
          <a:p>
            <a:pPr algn="l">
              <a:defRPr sz="1500" b="0" i="0">
                <a:solidFill>
                  <a:srgbClr val="5D5A55"/>
                </a:solidFill>
                <a:latin typeface="PingFang SC"/>
                <a:ea typeface="PingFang SC"/>
                <a:cs typeface="PingFang SC"/>
              </a:defRPr>
            </a:pPr>
            <a:r>
              <a:rPr sz="1500" b="0" i="0">
                <a:solidFill>
                  <a:srgbClr val="5D5A55"/>
                </a:solidFill>
                <a:latin typeface="PingFang SC"/>
                <a:ea typeface="PingFang SC"/>
                <a:cs typeface="PingFang SC"/>
              </a:rPr>
              <a:t>文章把这视作 robotics 版本的数据引擎：更大的数据、更长的物理交互、更强的 system-level 训练与推理栈。</a:t>
            </a:r>
          </a:p>
        </p:txBody>
      </p:sp>
      <p:sp>
        <p:nvSpPr>
          <p:cNvPr id="10" name="Rectangle 9">
            <a:extLst>
              <a:ext uri="{FF2B5EF4-FFF2-40B4-BE49-F238E27FC236}">
                <a16:creationId xmlns:a16="http://schemas.microsoft.com/office/drawing/2014/main" id="{B27A8CED-283F-442D-B439-E90BF277C3E6}"/>
              </a:ext>
            </a:extLst>
          </p:cNvPr>
          <p:cNvSpPr>
            <a:spLocks noGrp="1"/>
          </p:cNvSpPr>
          <p:nvPr/>
        </p:nvSpPr>
        <p:spPr>
          <a:prstGeom prst="rect">
            <a:avLst/>
          </a:prstGeom>
        </p:spPr>
        <p:txBody>
          <a:bodyPr/>
          <a:lstStyle/>
          <a:p>
            <a:endParaRPr lang="en-US"/>
          </a:p>
        </p:txBody>
      </p:sp>
      <p:sp>
        <p:nvSpPr>
          <p:cNvPr id="11" name="Wearable human data-title">
            <a:extLst>
              <a:ext uri="{FF2B5EF4-FFF2-40B4-BE49-F238E27FC236}">
                <a16:creationId xmlns:a16="http://schemas.microsoft.com/office/drawing/2014/main" id="{0E8B855A-FF82-42A6-97B5-2B48C79121FD}"/>
              </a:ext>
            </a:extLst>
          </p:cNvPr>
          <p:cNvSpPr>
            <a:spLocks noGrp="1"/>
          </p:cNvSpPr>
          <p:nvPr/>
        </p:nvSpPr>
        <p:spPr>
          <a:xfrm>
            <a:off x="7448550" y="2933700"/>
            <a:ext cx="1676400" cy="514350"/>
          </a:xfrm>
          <a:prstGeom prst="rect">
            <a:avLst/>
          </a:prstGeom>
        </p:spPr>
        <p:txBody>
          <a:bodyPr lIns="0" tIns="0" rIns="0" bIns="0"/>
          <a:lstStyle/>
          <a:p>
            <a:pPr algn="l">
              <a:defRPr sz="1650" b="1" i="0">
                <a:solidFill>
                  <a:srgbClr val="1B1A17"/>
                </a:solidFill>
                <a:latin typeface="Avenir Next"/>
                <a:ea typeface="Avenir Next"/>
                <a:cs typeface="Avenir Next"/>
              </a:defRPr>
            </a:pPr>
            <a:r>
              <a:rPr sz="1650" b="1" i="0">
                <a:solidFill>
                  <a:srgbClr val="1B1A17"/>
                </a:solidFill>
                <a:latin typeface="Avenir Next"/>
                <a:ea typeface="Avenir Next"/>
                <a:cs typeface="Avenir Next"/>
              </a:rPr>
              <a:t>Wearable human data</a:t>
            </a:r>
          </a:p>
        </p:txBody>
      </p:sp>
      <p:sp>
        <p:nvSpPr>
          <p:cNvPr id="12" name="Wearable human data-body">
            <a:extLst>
              <a:ext uri="{FF2B5EF4-FFF2-40B4-BE49-F238E27FC236}">
                <a16:creationId xmlns:a16="http://schemas.microsoft.com/office/drawing/2014/main" id="{ADE3F4C2-F2FF-4C71-B28C-C4F96892DFCA}"/>
              </a:ext>
            </a:extLst>
          </p:cNvPr>
          <p:cNvSpPr>
            <a:spLocks noGrp="1"/>
          </p:cNvSpPr>
          <p:nvPr/>
        </p:nvSpPr>
        <p:spPr>
          <a:xfrm>
            <a:off x="7448550" y="3562350"/>
            <a:ext cx="1295400" cy="419100"/>
          </a:xfrm>
          <a:prstGeom prst="rect">
            <a:avLst/>
          </a:prstGeom>
        </p:spPr>
        <p:txBody>
          <a:bodyPr lIns="0" tIns="0" rIns="0" bIns="0"/>
          <a:lstStyle/>
          <a:p>
            <a:pPr algn="l">
              <a:defRPr sz="1350" b="0" i="0">
                <a:solidFill>
                  <a:srgbClr val="5D5A55"/>
                </a:solidFill>
                <a:latin typeface="PingFang SC"/>
                <a:ea typeface="PingFang SC"/>
                <a:cs typeface="PingFang SC"/>
              </a:defRPr>
            </a:pPr>
            <a:r>
              <a:rPr sz="1350" b="0" i="0">
                <a:solidFill>
                  <a:srgbClr val="5D5A55"/>
                </a:solidFill>
                <a:latin typeface="PingFang SC"/>
                <a:ea typeface="PingFang SC"/>
                <a:cs typeface="PingFang SC"/>
              </a:rPr>
              <a:t>base pretraining 不用 robot data</a:t>
            </a:r>
          </a:p>
        </p:txBody>
      </p:sp>
      <p:sp>
        <p:nvSpPr>
          <p:cNvPr id="13" name="Rectangle 12">
            <a:extLst>
              <a:ext uri="{FF2B5EF4-FFF2-40B4-BE49-F238E27FC236}">
                <a16:creationId xmlns:a16="http://schemas.microsoft.com/office/drawing/2014/main" id="{2CA43EF1-B7E9-47B9-BB5A-B796C448D530}"/>
              </a:ext>
            </a:extLst>
          </p:cNvPr>
          <p:cNvSpPr>
            <a:spLocks noGrp="1"/>
          </p:cNvSpPr>
          <p:nvPr/>
        </p:nvSpPr>
        <p:spPr>
          <a:prstGeom prst="rect">
            <a:avLst/>
          </a:prstGeom>
        </p:spPr>
        <p:txBody>
          <a:bodyPr/>
          <a:lstStyle/>
          <a:p>
            <a:endParaRPr lang="en-US"/>
          </a:p>
        </p:txBody>
      </p:sp>
      <p:sp>
        <p:nvSpPr>
          <p:cNvPr id="14" name="Foundation pretraining-title">
            <a:extLst>
              <a:ext uri="{FF2B5EF4-FFF2-40B4-BE49-F238E27FC236}">
                <a16:creationId xmlns:a16="http://schemas.microsoft.com/office/drawing/2014/main" id="{C9340ACA-B479-4A72-B982-669A536840DC}"/>
              </a:ext>
            </a:extLst>
          </p:cNvPr>
          <p:cNvSpPr>
            <a:spLocks noGrp="1"/>
          </p:cNvSpPr>
          <p:nvPr/>
        </p:nvSpPr>
        <p:spPr>
          <a:xfrm>
            <a:off x="10020300" y="2933700"/>
            <a:ext cx="1676400" cy="514350"/>
          </a:xfrm>
          <a:prstGeom prst="rect">
            <a:avLst/>
          </a:prstGeom>
        </p:spPr>
        <p:txBody>
          <a:bodyPr lIns="0" tIns="0" rIns="0" bIns="0"/>
          <a:lstStyle/>
          <a:p>
            <a:pPr algn="l">
              <a:defRPr sz="1650" b="1" i="0">
                <a:solidFill>
                  <a:srgbClr val="1B1A17"/>
                </a:solidFill>
                <a:latin typeface="Avenir Next"/>
                <a:ea typeface="Avenir Next"/>
                <a:cs typeface="Avenir Next"/>
              </a:defRPr>
            </a:pPr>
            <a:r>
              <a:rPr sz="1650" b="1" i="0">
                <a:solidFill>
                  <a:srgbClr val="1B1A17"/>
                </a:solidFill>
                <a:latin typeface="Avenir Next"/>
                <a:ea typeface="Avenir Next"/>
                <a:cs typeface="Avenir Next"/>
              </a:rPr>
              <a:t>Foundation pretraining</a:t>
            </a:r>
          </a:p>
        </p:txBody>
      </p:sp>
      <p:sp>
        <p:nvSpPr>
          <p:cNvPr id="15" name="Foundation pretraining-body">
            <a:extLst>
              <a:ext uri="{FF2B5EF4-FFF2-40B4-BE49-F238E27FC236}">
                <a16:creationId xmlns:a16="http://schemas.microsoft.com/office/drawing/2014/main" id="{BC932097-5AF1-4A76-B322-AEB3F96B0F8E}"/>
              </a:ext>
            </a:extLst>
          </p:cNvPr>
          <p:cNvSpPr>
            <a:spLocks noGrp="1"/>
          </p:cNvSpPr>
          <p:nvPr/>
        </p:nvSpPr>
        <p:spPr>
          <a:xfrm>
            <a:off x="10020300" y="3562350"/>
            <a:ext cx="1543050" cy="838200"/>
          </a:xfrm>
          <a:prstGeom prst="rect">
            <a:avLst/>
          </a:prstGeom>
        </p:spPr>
        <p:txBody>
          <a:bodyPr lIns="0" tIns="0" rIns="0" bIns="0"/>
          <a:lstStyle/>
          <a:p>
            <a:pPr algn="l">
              <a:defRPr sz="1350" b="0" i="0">
                <a:solidFill>
                  <a:srgbClr val="5D5A55"/>
                </a:solidFill>
                <a:latin typeface="PingFang SC"/>
                <a:ea typeface="PingFang SC"/>
                <a:cs typeface="PingFang SC"/>
              </a:defRPr>
            </a:pPr>
            <a:r>
              <a:rPr sz="1350" b="0" i="0">
                <a:solidFill>
                  <a:srgbClr val="5D5A55"/>
                </a:solidFill>
                <a:latin typeface="PingFang SC"/>
                <a:ea typeface="PingFang SC"/>
                <a:cs typeface="PingFang SC"/>
              </a:rPr>
              <a:t>把感知与动作直接放到 physical interaction stream 里</a:t>
            </a:r>
          </a:p>
        </p:txBody>
      </p:sp>
      <p:sp>
        <p:nvSpPr>
          <p:cNvPr id="16" name="Rectangle 15">
            <a:extLst>
              <a:ext uri="{FF2B5EF4-FFF2-40B4-BE49-F238E27FC236}">
                <a16:creationId xmlns:a16="http://schemas.microsoft.com/office/drawing/2014/main" id="{88F091FF-1A20-4469-BF1A-5EDFECE4A0EF}"/>
              </a:ext>
            </a:extLst>
          </p:cNvPr>
          <p:cNvSpPr>
            <a:spLocks noGrp="1"/>
          </p:cNvSpPr>
          <p:nvPr/>
        </p:nvSpPr>
        <p:spPr>
          <a:prstGeom prst="rect">
            <a:avLst/>
          </a:prstGeom>
        </p:spPr>
        <p:txBody>
          <a:bodyPr/>
          <a:lstStyle/>
          <a:p>
            <a:endParaRPr lang="en-US"/>
          </a:p>
        </p:txBody>
      </p:sp>
      <p:sp>
        <p:nvSpPr>
          <p:cNvPr id="17" name="Task adaptation-title">
            <a:extLst>
              <a:ext uri="{FF2B5EF4-FFF2-40B4-BE49-F238E27FC236}">
                <a16:creationId xmlns:a16="http://schemas.microsoft.com/office/drawing/2014/main" id="{C400022C-A688-43D3-89B0-B71595DA20E7}"/>
              </a:ext>
            </a:extLst>
          </p:cNvPr>
          <p:cNvSpPr>
            <a:spLocks noGrp="1"/>
          </p:cNvSpPr>
          <p:nvPr/>
        </p:nvSpPr>
        <p:spPr>
          <a:xfrm>
            <a:off x="12592050" y="2933700"/>
            <a:ext cx="1676400" cy="266700"/>
          </a:xfrm>
          <a:prstGeom prst="rect">
            <a:avLst/>
          </a:prstGeom>
        </p:spPr>
        <p:txBody>
          <a:bodyPr lIns="0" tIns="0" rIns="0" bIns="0"/>
          <a:lstStyle/>
          <a:p>
            <a:pPr algn="l">
              <a:defRPr sz="1650" b="1" i="0">
                <a:solidFill>
                  <a:srgbClr val="1B1A17"/>
                </a:solidFill>
                <a:latin typeface="Avenir Next"/>
                <a:ea typeface="Avenir Next"/>
                <a:cs typeface="Avenir Next"/>
              </a:defRPr>
            </a:pPr>
            <a:r>
              <a:rPr sz="1650" b="1" i="0">
                <a:solidFill>
                  <a:srgbClr val="1B1A17"/>
                </a:solidFill>
                <a:latin typeface="Avenir Next"/>
                <a:ea typeface="Avenir Next"/>
                <a:cs typeface="Avenir Next"/>
              </a:rPr>
              <a:t>Task adaptation</a:t>
            </a:r>
          </a:p>
        </p:txBody>
      </p:sp>
      <p:sp>
        <p:nvSpPr>
          <p:cNvPr id="18" name="Task adaptation-body">
            <a:extLst>
              <a:ext uri="{FF2B5EF4-FFF2-40B4-BE49-F238E27FC236}">
                <a16:creationId xmlns:a16="http://schemas.microsoft.com/office/drawing/2014/main" id="{B12A43DB-0E37-4EF9-90F8-1551DF8A4EB7}"/>
              </a:ext>
            </a:extLst>
          </p:cNvPr>
          <p:cNvSpPr>
            <a:spLocks noGrp="1"/>
          </p:cNvSpPr>
          <p:nvPr/>
        </p:nvSpPr>
        <p:spPr>
          <a:xfrm>
            <a:off x="12592050" y="3314700"/>
            <a:ext cx="1581150" cy="419100"/>
          </a:xfrm>
          <a:prstGeom prst="rect">
            <a:avLst/>
          </a:prstGeom>
        </p:spPr>
        <p:txBody>
          <a:bodyPr lIns="0" tIns="0" rIns="0" bIns="0"/>
          <a:lstStyle/>
          <a:p>
            <a:pPr algn="l">
              <a:defRPr sz="1350" b="0" i="0">
                <a:solidFill>
                  <a:srgbClr val="5D5A55"/>
                </a:solidFill>
                <a:latin typeface="PingFang SC"/>
                <a:ea typeface="PingFang SC"/>
                <a:cs typeface="PingFang SC"/>
              </a:defRPr>
            </a:pPr>
            <a:r>
              <a:rPr sz="1350" b="0" i="0">
                <a:solidFill>
                  <a:srgbClr val="5D5A55"/>
                </a:solidFill>
                <a:latin typeface="PingFang SC"/>
                <a:ea typeface="PingFang SC"/>
                <a:cs typeface="PingFang SC"/>
              </a:rPr>
              <a:t>约 1 小时 robot data 即构建结果</a:t>
            </a:r>
          </a:p>
        </p:txBody>
      </p:sp>
      <p:sp>
        <p:nvSpPr>
          <p:cNvPr id="19" name="Rectangle 18">
            <a:extLst>
              <a:ext uri="{FF2B5EF4-FFF2-40B4-BE49-F238E27FC236}">
                <a16:creationId xmlns:a16="http://schemas.microsoft.com/office/drawing/2014/main" id="{AA82FCA6-1596-4874-9727-C2F5ACDADBFB}"/>
              </a:ext>
            </a:extLst>
          </p:cNvPr>
          <p:cNvSpPr>
            <a:spLocks noGrp="1"/>
          </p:cNvSpPr>
          <p:nvPr/>
        </p:nvSpPr>
        <p:spPr>
          <a:prstGeom prst="rect">
            <a:avLst/>
          </a:prstGeom>
        </p:spPr>
        <p:txBody>
          <a:bodyPr/>
          <a:lstStyle/>
          <a:p>
            <a:endParaRPr lang="en-US"/>
          </a:p>
        </p:txBody>
      </p:sp>
      <p:sp>
        <p:nvSpPr>
          <p:cNvPr id="20" name="Commercial threshold-title">
            <a:extLst>
              <a:ext uri="{FF2B5EF4-FFF2-40B4-BE49-F238E27FC236}">
                <a16:creationId xmlns:a16="http://schemas.microsoft.com/office/drawing/2014/main" id="{072CBDDD-EFD7-436F-94A9-ACA497CD05BA}"/>
              </a:ext>
            </a:extLst>
          </p:cNvPr>
          <p:cNvSpPr>
            <a:spLocks noGrp="1"/>
          </p:cNvSpPr>
          <p:nvPr/>
        </p:nvSpPr>
        <p:spPr>
          <a:xfrm>
            <a:off x="15163800" y="2933700"/>
            <a:ext cx="1676400" cy="514350"/>
          </a:xfrm>
          <a:prstGeom prst="rect">
            <a:avLst/>
          </a:prstGeom>
        </p:spPr>
        <p:txBody>
          <a:bodyPr lIns="0" tIns="0" rIns="0" bIns="0"/>
          <a:lstStyle/>
          <a:p>
            <a:pPr algn="l">
              <a:defRPr sz="1650" b="1" i="0">
                <a:solidFill>
                  <a:srgbClr val="1B1A17"/>
                </a:solidFill>
                <a:latin typeface="Avenir Next"/>
                <a:ea typeface="Avenir Next"/>
                <a:cs typeface="Avenir Next"/>
              </a:defRPr>
            </a:pPr>
            <a:r>
              <a:rPr sz="1650" b="1" i="0">
                <a:solidFill>
                  <a:srgbClr val="1B1A17"/>
                </a:solidFill>
                <a:latin typeface="Avenir Next"/>
                <a:ea typeface="Avenir Next"/>
                <a:cs typeface="Avenir Next"/>
              </a:rPr>
              <a:t>Commercial threshold</a:t>
            </a:r>
          </a:p>
        </p:txBody>
      </p:sp>
      <p:sp>
        <p:nvSpPr>
          <p:cNvPr id="21" name="Commercial threshold-body">
            <a:extLst>
              <a:ext uri="{FF2B5EF4-FFF2-40B4-BE49-F238E27FC236}">
                <a16:creationId xmlns:a16="http://schemas.microsoft.com/office/drawing/2014/main" id="{30C79F98-4577-4F15-B2B9-CEA5DC197893}"/>
              </a:ext>
            </a:extLst>
          </p:cNvPr>
          <p:cNvSpPr>
            <a:spLocks noGrp="1"/>
          </p:cNvSpPr>
          <p:nvPr/>
        </p:nvSpPr>
        <p:spPr>
          <a:xfrm>
            <a:off x="15163800" y="3562350"/>
            <a:ext cx="1543050" cy="628650"/>
          </a:xfrm>
          <a:prstGeom prst="rect">
            <a:avLst/>
          </a:prstGeom>
        </p:spPr>
        <p:txBody>
          <a:bodyPr lIns="0" tIns="0" rIns="0" bIns="0"/>
          <a:lstStyle/>
          <a:p>
            <a:pPr algn="l">
              <a:defRPr sz="1350" b="0" i="0">
                <a:solidFill>
                  <a:srgbClr val="5D5A55"/>
                </a:solidFill>
                <a:latin typeface="PingFang SC"/>
                <a:ea typeface="PingFang SC"/>
                <a:cs typeface="PingFang SC"/>
              </a:defRPr>
            </a:pPr>
            <a:r>
              <a:rPr sz="1350" b="0" i="0">
                <a:solidFill>
                  <a:srgbClr val="5D5A55"/>
                </a:solidFill>
                <a:latin typeface="PingFang SC"/>
                <a:ea typeface="PingFang SC"/>
                <a:cs typeface="PingFang SC"/>
              </a:rPr>
              <a:t>某些简单任务开始达到 economically useful settings</a:t>
            </a:r>
          </a:p>
        </p:txBody>
      </p:sp>
      <p:sp>
        <p:nvSpPr>
          <p:cNvPr id="22" name="scale-side-note-metric">
            <a:extLst>
              <a:ext uri="{FF2B5EF4-FFF2-40B4-BE49-F238E27FC236}">
                <a16:creationId xmlns:a16="http://schemas.microsoft.com/office/drawing/2014/main" id="{ED7BF588-E2C0-424D-8467-B45CB0A3F527}"/>
              </a:ext>
            </a:extLst>
          </p:cNvPr>
          <p:cNvSpPr>
            <a:spLocks noGrp="1"/>
          </p:cNvSpPr>
          <p:nvPr/>
        </p:nvSpPr>
        <p:spPr>
          <a:xfrm>
            <a:off x="1143000" y="6667500"/>
            <a:ext cx="4000500" cy="895350"/>
          </a:xfrm>
          <a:prstGeom prst="rect">
            <a:avLst/>
          </a:prstGeom>
        </p:spPr>
        <p:txBody>
          <a:bodyPr lIns="0" tIns="0" rIns="0" bIns="0"/>
          <a:lstStyle/>
          <a:p>
            <a:pPr algn="l">
              <a:defRPr sz="5850" b="1">
                <a:solidFill>
                  <a:srgbClr val="0C2441"/>
                </a:solidFill>
                <a:latin typeface="Avenir Next"/>
                <a:ea typeface="Avenir Next"/>
                <a:cs typeface="Avenir Next"/>
              </a:defRPr>
            </a:pPr>
            <a:r>
              <a:rPr sz="5850" b="1">
                <a:solidFill>
                  <a:srgbClr val="0C2441"/>
                </a:solidFill>
                <a:latin typeface="Avenir Next"/>
                <a:ea typeface="Avenir Next"/>
                <a:cs typeface="Avenir Next"/>
              </a:rPr>
              <a:t>10x less</a:t>
            </a:r>
          </a:p>
        </p:txBody>
      </p:sp>
      <p:sp>
        <p:nvSpPr>
          <p:cNvPr id="23" name="scale-bottom-note">
            <a:extLst>
              <a:ext uri="{FF2B5EF4-FFF2-40B4-BE49-F238E27FC236}">
                <a16:creationId xmlns:a16="http://schemas.microsoft.com/office/drawing/2014/main" id="{8801939F-8268-46D0-BBF2-59217156BD59}"/>
              </a:ext>
            </a:extLst>
          </p:cNvPr>
          <p:cNvSpPr>
            <a:spLocks noGrp="1"/>
          </p:cNvSpPr>
          <p:nvPr/>
        </p:nvSpPr>
        <p:spPr>
          <a:xfrm>
            <a:off x="1143000" y="7715250"/>
            <a:ext cx="4953000" cy="514350"/>
          </a:xfrm>
          <a:prstGeom prst="rect">
            <a:avLst/>
          </a:prstGeom>
        </p:spPr>
        <p:txBody>
          <a:bodyPr lIns="0" tIns="0" rIns="0" bIns="0"/>
          <a:lstStyle/>
          <a:p>
            <a:pPr algn="l">
              <a:defRPr sz="1650" b="0" i="0">
                <a:solidFill>
                  <a:srgbClr val="1B1A17"/>
                </a:solidFill>
                <a:latin typeface="PingFang SC"/>
                <a:ea typeface="PingFang SC"/>
                <a:cs typeface="PingFang SC"/>
              </a:defRPr>
            </a:pPr>
            <a:r>
              <a:rPr sz="1650" b="0" i="0">
                <a:solidFill>
                  <a:srgbClr val="1B1A17"/>
                </a:solidFill>
                <a:latin typeface="PingFang SC"/>
                <a:ea typeface="PingFang SC"/>
                <a:cs typeface="PingFang SC"/>
              </a:rPr>
              <a:t>某些测试里，GEN-1 用更少的 task-specific data 与 fine-tuning steps 达到 comparable performance。</a:t>
            </a:r>
          </a:p>
        </p:txBody>
      </p:sp>
    </p:spTree>
    <p:extLst>
      <p:ext uri="{BB962C8B-B14F-4D97-AF65-F5344CB8AC3E}">
        <p14:creationId xmlns:p14="http://schemas.microsoft.com/office/powerpoint/2010/main" val="2135736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66235017-9787-4420-BCEE-0F5773DA0369}"/>
              </a:ext>
            </a:extLst>
          </p:cNvPr>
          <p:cNvSpPr>
            <a:spLocks noGrp="1"/>
          </p:cNvSpPr>
          <p:nvPr/>
        </p:nvSpPr>
        <p:spPr>
          <a:prstGeom prst="rect">
            <a:avLst/>
          </a:prstGeom>
        </p:spPr>
        <p:txBody>
          <a:bodyPr/>
          <a:lstStyle/>
          <a:p>
            <a:endParaRPr lang="en-US"/>
          </a:p>
        </p:txBody>
      </p:sp>
      <p:sp>
        <p:nvSpPr>
          <p:cNvPr id="2" name="slide-title">
            <a:extLst>
              <a:ext uri="{FF2B5EF4-FFF2-40B4-BE49-F238E27FC236}">
                <a16:creationId xmlns:a16="http://schemas.microsoft.com/office/drawing/2014/main" id="{DF88C8E1-4CCA-425B-A453-D6A7BB1DA154}"/>
              </a:ext>
            </a:extLst>
          </p:cNvPr>
          <p:cNvSpPr>
            <a:spLocks noGrp="1"/>
          </p:cNvSpPr>
          <p:nvPr/>
        </p:nvSpPr>
        <p:spPr>
          <a:xfrm>
            <a:off x="1143000" y="495300"/>
            <a:ext cx="13144500" cy="514350"/>
          </a:xfrm>
          <a:prstGeom prst="rect">
            <a:avLst/>
          </a:prstGeom>
        </p:spPr>
        <p:txBody>
          <a:bodyPr lIns="0" tIns="0" rIns="0" bIns="0"/>
          <a:lstStyle/>
          <a:p>
            <a:pPr algn="l">
              <a:defRPr sz="3300" b="1">
                <a:solidFill>
                  <a:srgbClr val="1B1A17"/>
                </a:solidFill>
                <a:latin typeface="Songti SC"/>
                <a:ea typeface="Songti SC"/>
                <a:cs typeface="Songti SC"/>
              </a:defRPr>
            </a:pPr>
            <a:r>
              <a:rPr sz="3300" b="1">
                <a:solidFill>
                  <a:srgbClr val="1B1A17"/>
                </a:solidFill>
                <a:latin typeface="Songti SC"/>
                <a:ea typeface="Songti SC"/>
                <a:cs typeface="Songti SC"/>
              </a:rPr>
              <a:t>文章如何定义 mastery</a:t>
            </a:r>
          </a:p>
        </p:txBody>
      </p:sp>
      <p:sp>
        <p:nvSpPr>
          <p:cNvPr id="3" name="slide-subtitle">
            <a:extLst>
              <a:ext uri="{FF2B5EF4-FFF2-40B4-BE49-F238E27FC236}">
                <a16:creationId xmlns:a16="http://schemas.microsoft.com/office/drawing/2014/main" id="{24E87EB5-83AC-4707-A9C7-00D3F00B8D9C}"/>
              </a:ext>
            </a:extLst>
          </p:cNvPr>
          <p:cNvSpPr>
            <a:spLocks noGrp="1"/>
          </p:cNvSpPr>
          <p:nvPr/>
        </p:nvSpPr>
        <p:spPr>
          <a:xfrm>
            <a:off x="1143000" y="1066800"/>
            <a:ext cx="13144500" cy="266700"/>
          </a:xfrm>
          <a:prstGeom prst="rect">
            <a:avLst/>
          </a:prstGeom>
        </p:spPr>
        <p:txBody>
          <a:bodyPr lIns="0" tIns="0" rIns="0" bIns="0"/>
          <a:lstStyle/>
          <a:p>
            <a:pPr algn="l">
              <a:defRPr sz="1650">
                <a:solidFill>
                  <a:srgbClr val="5D5A55"/>
                </a:solidFill>
                <a:latin typeface="PingFang SC"/>
                <a:ea typeface="PingFang SC"/>
                <a:cs typeface="PingFang SC"/>
              </a:defRPr>
            </a:pPr>
            <a:r>
              <a:rPr sz="1650">
                <a:solidFill>
                  <a:srgbClr val="5D5A55"/>
                </a:solidFill>
                <a:latin typeface="PingFang SC"/>
                <a:ea typeface="PingFang SC"/>
                <a:cs typeface="PingFang SC"/>
              </a:rPr>
              <a:t>不是单一成功率，而是 reliability、speed 与 improvisation 的组合。</a:t>
            </a:r>
          </a:p>
        </p:txBody>
      </p:sp>
      <p:sp>
        <p:nvSpPr>
          <p:cNvPr id="4" name="logo-wordmark">
            <a:extLst>
              <a:ext uri="{FF2B5EF4-FFF2-40B4-BE49-F238E27FC236}">
                <a16:creationId xmlns:a16="http://schemas.microsoft.com/office/drawing/2014/main" id="{5A162306-8C9B-4EF4-92A3-7E8335F868AB}"/>
              </a:ext>
            </a:extLst>
          </p:cNvPr>
          <p:cNvSpPr>
            <a:spLocks noGrp="1"/>
          </p:cNvSpPr>
          <p:nvPr/>
        </p:nvSpPr>
        <p:spPr>
          <a:xfrm>
            <a:off x="14478000" y="590550"/>
            <a:ext cx="2667000" cy="266700"/>
          </a:xfrm>
          <a:prstGeom prst="rect">
            <a:avLst/>
          </a:prstGeom>
        </p:spPr>
        <p:txBody>
          <a:bodyPr lIns="0" tIns="0" rIns="0" bIns="0"/>
          <a:lstStyle/>
          <a:p>
            <a:pPr algn="r">
              <a:defRPr sz="1650" b="1" i="0">
                <a:solidFill>
                  <a:srgbClr val="C00000"/>
                </a:solidFill>
                <a:latin typeface="Avenir Next"/>
                <a:ea typeface="Avenir Next"/>
                <a:cs typeface="Avenir Next"/>
              </a:defRPr>
            </a:pPr>
            <a:r>
              <a:rPr sz="1650" b="1" i="0">
                <a:solidFill>
                  <a:srgbClr val="C00000"/>
                </a:solidFill>
                <a:latin typeface="Avenir Next"/>
                <a:ea typeface="Avenir Next"/>
                <a:cs typeface="Avenir Next"/>
              </a:rPr>
              <a:t>Generalist AI</a:t>
            </a:r>
          </a:p>
        </p:txBody>
      </p:sp>
      <p:sp>
        <p:nvSpPr>
          <p:cNvPr id="5" name="source-line">
            <a:extLst>
              <a:ext uri="{FF2B5EF4-FFF2-40B4-BE49-F238E27FC236}">
                <a16:creationId xmlns:a16="http://schemas.microsoft.com/office/drawing/2014/main" id="{CD8CD75B-5D8C-45F3-910E-BB2CC909F1C0}"/>
              </a:ext>
            </a:extLst>
          </p:cNvPr>
          <p:cNvSpPr>
            <a:spLocks noGrp="1"/>
          </p:cNvSpPr>
          <p:nvPr/>
        </p:nvSpPr>
        <p:spPr>
          <a:xfrm>
            <a:off x="1143000" y="9734550"/>
            <a:ext cx="11430000" cy="152400"/>
          </a:xfrm>
          <a:prstGeom prst="rect">
            <a:avLst/>
          </a:prstGeom>
        </p:spPr>
        <p:txBody>
          <a:bodyPr lIns="0" tIns="0" rIns="0" bIns="0"/>
          <a:lstStyle/>
          <a:p>
            <a:pPr algn="l">
              <a:defRPr sz="900" b="0" i="0">
                <a:solidFill>
                  <a:srgbClr val="5D5A55"/>
                </a:solidFill>
                <a:latin typeface="PingFang SC"/>
                <a:ea typeface="PingFang SC"/>
                <a:cs typeface="PingFang SC"/>
              </a:defRPr>
            </a:pPr>
            <a:r>
              <a:rPr sz="900" b="0" i="0">
                <a:solidFill>
                  <a:srgbClr val="5D5A55"/>
                </a:solidFill>
                <a:latin typeface="PingFang SC"/>
                <a:ea typeface="PingFang SC"/>
                <a:cs typeface="PingFang SC"/>
              </a:rPr>
              <a:t>Source: Generalist AI Blog, 2026-04-02</a:t>
            </a:r>
          </a:p>
        </p:txBody>
      </p:sp>
      <p:sp>
        <p:nvSpPr>
          <p:cNvPr id="6" name="page-number">
            <a:extLst>
              <a:ext uri="{FF2B5EF4-FFF2-40B4-BE49-F238E27FC236}">
                <a16:creationId xmlns:a16="http://schemas.microsoft.com/office/drawing/2014/main" id="{9080D694-1471-4172-AFA0-04E0EE789208}"/>
              </a:ext>
            </a:extLst>
          </p:cNvPr>
          <p:cNvSpPr>
            <a:spLocks noGrp="1"/>
          </p:cNvSpPr>
          <p:nvPr/>
        </p:nvSpPr>
        <p:spPr>
          <a:xfrm>
            <a:off x="15811500" y="9715500"/>
            <a:ext cx="1524000" cy="152400"/>
          </a:xfrm>
          <a:prstGeom prst="rect">
            <a:avLst/>
          </a:prstGeom>
        </p:spPr>
        <p:txBody>
          <a:bodyPr lIns="0" tIns="0" rIns="0" bIns="0"/>
          <a:lstStyle/>
          <a:p>
            <a:pPr algn="r">
              <a:defRPr sz="975" b="0" i="0">
                <a:solidFill>
                  <a:srgbClr val="5D5A55"/>
                </a:solidFill>
                <a:latin typeface="Avenir Next"/>
                <a:ea typeface="Avenir Next"/>
                <a:cs typeface="Avenir Next"/>
              </a:defRPr>
            </a:pPr>
            <a:r>
              <a:rPr sz="975" b="0" i="0">
                <a:solidFill>
                  <a:srgbClr val="5D5A55"/>
                </a:solidFill>
                <a:latin typeface="Avenir Next"/>
                <a:ea typeface="Avenir Next"/>
                <a:cs typeface="Avenir Next"/>
              </a:rPr>
              <a:t>05 / 10</a:t>
            </a:r>
          </a:p>
        </p:txBody>
      </p:sp>
      <p:sp>
        <p:nvSpPr>
          <p:cNvPr id="7" name="mastery-watermark">
            <a:extLst>
              <a:ext uri="{FF2B5EF4-FFF2-40B4-BE49-F238E27FC236}">
                <a16:creationId xmlns:a16="http://schemas.microsoft.com/office/drawing/2014/main" id="{80063797-1DC5-40C4-87C5-C02304D9BB72}"/>
              </a:ext>
            </a:extLst>
          </p:cNvPr>
          <p:cNvSpPr>
            <a:spLocks noGrp="1"/>
          </p:cNvSpPr>
          <p:nvPr/>
        </p:nvSpPr>
        <p:spPr>
          <a:xfrm>
            <a:off x="2095500" y="2381250"/>
            <a:ext cx="14287500" cy="2057400"/>
          </a:xfrm>
          <a:prstGeom prst="rect">
            <a:avLst/>
          </a:prstGeom>
        </p:spPr>
        <p:txBody>
          <a:bodyPr lIns="0" tIns="0" rIns="0" bIns="0"/>
          <a:lstStyle/>
          <a:p>
            <a:pPr algn="ctr">
              <a:defRPr sz="13500" b="1">
                <a:solidFill>
                  <a:srgbClr val="E6E0D8"/>
                </a:solidFill>
                <a:latin typeface="Avenir Next"/>
                <a:ea typeface="Avenir Next"/>
                <a:cs typeface="Avenir Next"/>
              </a:defRPr>
            </a:pPr>
            <a:r>
              <a:rPr sz="13500" b="1" dirty="0">
                <a:solidFill>
                  <a:srgbClr val="E6E0D8"/>
                </a:solidFill>
                <a:latin typeface="Avenir Next"/>
                <a:ea typeface="Avenir Next"/>
                <a:cs typeface="Avenir Next"/>
              </a:rPr>
              <a:t>MASTERY</a:t>
            </a:r>
          </a:p>
        </p:txBody>
      </p:sp>
      <p:sp>
        <p:nvSpPr>
          <p:cNvPr id="8" name="pillar-1-title">
            <a:extLst>
              <a:ext uri="{FF2B5EF4-FFF2-40B4-BE49-F238E27FC236}">
                <a16:creationId xmlns:a16="http://schemas.microsoft.com/office/drawing/2014/main" id="{79B17AEE-D48B-42C6-BB8A-D1EFA0B2EF2C}"/>
              </a:ext>
            </a:extLst>
          </p:cNvPr>
          <p:cNvSpPr>
            <a:spLocks noGrp="1"/>
          </p:cNvSpPr>
          <p:nvPr/>
        </p:nvSpPr>
        <p:spPr>
          <a:xfrm>
            <a:off x="1333500" y="4762500"/>
            <a:ext cx="4819650" cy="381000"/>
          </a:xfrm>
          <a:prstGeom prst="rect">
            <a:avLst/>
          </a:prstGeom>
        </p:spPr>
        <p:txBody>
          <a:bodyPr lIns="0" tIns="0" rIns="0" bIns="0"/>
          <a:lstStyle/>
          <a:p>
            <a:pPr algn="l">
              <a:defRPr sz="2400" b="1" i="0">
                <a:solidFill>
                  <a:srgbClr val="C00000"/>
                </a:solidFill>
                <a:latin typeface="Avenir Next"/>
                <a:ea typeface="Avenir Next"/>
                <a:cs typeface="Avenir Next"/>
              </a:defRPr>
            </a:pPr>
            <a:r>
              <a:rPr sz="2400" b="1" i="0">
                <a:solidFill>
                  <a:srgbClr val="C00000"/>
                </a:solidFill>
                <a:latin typeface="Avenir Next"/>
                <a:ea typeface="Avenir Next"/>
                <a:cs typeface="Avenir Next"/>
              </a:rPr>
              <a:t>Reliability</a:t>
            </a:r>
          </a:p>
        </p:txBody>
      </p:sp>
      <p:sp>
        <p:nvSpPr>
          <p:cNvPr id="9" name="pillar-1-body">
            <a:extLst>
              <a:ext uri="{FF2B5EF4-FFF2-40B4-BE49-F238E27FC236}">
                <a16:creationId xmlns:a16="http://schemas.microsoft.com/office/drawing/2014/main" id="{A60698AB-DF77-41D3-B154-26757C8AA4C7}"/>
              </a:ext>
            </a:extLst>
          </p:cNvPr>
          <p:cNvSpPr>
            <a:spLocks noGrp="1"/>
          </p:cNvSpPr>
          <p:nvPr/>
        </p:nvSpPr>
        <p:spPr>
          <a:xfrm>
            <a:off x="1333500" y="5238750"/>
            <a:ext cx="3352800" cy="514350"/>
          </a:xfrm>
          <a:prstGeom prst="rect">
            <a:avLst/>
          </a:prstGeom>
        </p:spPr>
        <p:txBody>
          <a:bodyPr lIns="0" tIns="0" rIns="0" bIns="0"/>
          <a:lstStyle/>
          <a:p>
            <a:pPr algn="l">
              <a:defRPr sz="1650" b="0" i="0">
                <a:solidFill>
                  <a:srgbClr val="1B1A17"/>
                </a:solidFill>
                <a:latin typeface="PingFang SC"/>
                <a:ea typeface="PingFang SC"/>
                <a:cs typeface="PingFang SC"/>
              </a:defRPr>
            </a:pPr>
            <a:r>
              <a:rPr sz="1650" b="0" i="0">
                <a:solidFill>
                  <a:srgbClr val="1B1A17"/>
                </a:solidFill>
                <a:latin typeface="PingFang SC"/>
                <a:ea typeface="PingFang SC"/>
                <a:cs typeface="PingFang SC"/>
              </a:rPr>
              <a:t>跨任务、跨系统、跨环境都能重复地把事做成。</a:t>
            </a:r>
          </a:p>
        </p:txBody>
      </p:sp>
      <p:sp>
        <p:nvSpPr>
          <p:cNvPr id="10" name="pillar-2-title">
            <a:extLst>
              <a:ext uri="{FF2B5EF4-FFF2-40B4-BE49-F238E27FC236}">
                <a16:creationId xmlns:a16="http://schemas.microsoft.com/office/drawing/2014/main" id="{13BE6954-08DD-47CA-A8FC-0E9E4EFBB422}"/>
              </a:ext>
            </a:extLst>
          </p:cNvPr>
          <p:cNvSpPr>
            <a:spLocks noGrp="1"/>
          </p:cNvSpPr>
          <p:nvPr/>
        </p:nvSpPr>
        <p:spPr>
          <a:xfrm>
            <a:off x="6724650" y="4762500"/>
            <a:ext cx="4819650" cy="381000"/>
          </a:xfrm>
          <a:prstGeom prst="rect">
            <a:avLst/>
          </a:prstGeom>
        </p:spPr>
        <p:txBody>
          <a:bodyPr lIns="0" tIns="0" rIns="0" bIns="0"/>
          <a:lstStyle/>
          <a:p>
            <a:pPr algn="l">
              <a:defRPr sz="2400" b="1" i="0">
                <a:solidFill>
                  <a:srgbClr val="C00000"/>
                </a:solidFill>
                <a:latin typeface="Avenir Next"/>
                <a:ea typeface="Avenir Next"/>
                <a:cs typeface="Avenir Next"/>
              </a:defRPr>
            </a:pPr>
            <a:r>
              <a:rPr sz="2400" b="1" i="0">
                <a:solidFill>
                  <a:srgbClr val="C00000"/>
                </a:solidFill>
                <a:latin typeface="Avenir Next"/>
                <a:ea typeface="Avenir Next"/>
                <a:cs typeface="Avenir Next"/>
              </a:rPr>
              <a:t>Speed</a:t>
            </a:r>
          </a:p>
        </p:txBody>
      </p:sp>
      <p:sp>
        <p:nvSpPr>
          <p:cNvPr id="11" name="pillar-2-body">
            <a:extLst>
              <a:ext uri="{FF2B5EF4-FFF2-40B4-BE49-F238E27FC236}">
                <a16:creationId xmlns:a16="http://schemas.microsoft.com/office/drawing/2014/main" id="{675C7969-CE74-427B-9B36-6338AD263B9C}"/>
              </a:ext>
            </a:extLst>
          </p:cNvPr>
          <p:cNvSpPr>
            <a:spLocks noGrp="1"/>
          </p:cNvSpPr>
          <p:nvPr/>
        </p:nvSpPr>
        <p:spPr>
          <a:xfrm>
            <a:off x="6724650" y="5238750"/>
            <a:ext cx="3352800" cy="514350"/>
          </a:xfrm>
          <a:prstGeom prst="rect">
            <a:avLst/>
          </a:prstGeom>
        </p:spPr>
        <p:txBody>
          <a:bodyPr lIns="0" tIns="0" rIns="0" bIns="0"/>
          <a:lstStyle/>
          <a:p>
            <a:pPr algn="l">
              <a:defRPr sz="1650" b="0" i="0">
                <a:solidFill>
                  <a:srgbClr val="1B1A17"/>
                </a:solidFill>
                <a:latin typeface="PingFang SC"/>
                <a:ea typeface="PingFang SC"/>
                <a:cs typeface="PingFang SC"/>
              </a:defRPr>
            </a:pPr>
            <a:r>
              <a:rPr sz="1650" b="0" i="0">
                <a:solidFill>
                  <a:srgbClr val="1B1A17"/>
                </a:solidFill>
                <a:latin typeface="PingFang SC"/>
                <a:ea typeface="PingFang SC"/>
                <a:cs typeface="PingFang SC"/>
              </a:rPr>
              <a:t>不是电机动作快，而是任务更快完成，并且还要稳。</a:t>
            </a:r>
          </a:p>
        </p:txBody>
      </p:sp>
      <p:sp>
        <p:nvSpPr>
          <p:cNvPr id="12" name="pillar-3-title">
            <a:extLst>
              <a:ext uri="{FF2B5EF4-FFF2-40B4-BE49-F238E27FC236}">
                <a16:creationId xmlns:a16="http://schemas.microsoft.com/office/drawing/2014/main" id="{0F0AA6F0-2F19-46E3-9590-F452C8E719A1}"/>
              </a:ext>
            </a:extLst>
          </p:cNvPr>
          <p:cNvSpPr>
            <a:spLocks noGrp="1"/>
          </p:cNvSpPr>
          <p:nvPr/>
        </p:nvSpPr>
        <p:spPr>
          <a:xfrm>
            <a:off x="12134850" y="4762500"/>
            <a:ext cx="4819650" cy="381000"/>
          </a:xfrm>
          <a:prstGeom prst="rect">
            <a:avLst/>
          </a:prstGeom>
        </p:spPr>
        <p:txBody>
          <a:bodyPr lIns="0" tIns="0" rIns="0" bIns="0"/>
          <a:lstStyle/>
          <a:p>
            <a:pPr algn="l">
              <a:defRPr sz="2400" b="1" i="0">
                <a:solidFill>
                  <a:srgbClr val="C00000"/>
                </a:solidFill>
                <a:latin typeface="Avenir Next"/>
                <a:ea typeface="Avenir Next"/>
                <a:cs typeface="Avenir Next"/>
              </a:defRPr>
            </a:pPr>
            <a:r>
              <a:rPr sz="2400" b="1" i="0">
                <a:solidFill>
                  <a:srgbClr val="C00000"/>
                </a:solidFill>
                <a:latin typeface="Avenir Next"/>
                <a:ea typeface="Avenir Next"/>
                <a:cs typeface="Avenir Next"/>
              </a:rPr>
              <a:t>Improvisation</a:t>
            </a:r>
          </a:p>
        </p:txBody>
      </p:sp>
      <p:sp>
        <p:nvSpPr>
          <p:cNvPr id="13" name="pillar-3-body">
            <a:extLst>
              <a:ext uri="{FF2B5EF4-FFF2-40B4-BE49-F238E27FC236}">
                <a16:creationId xmlns:a16="http://schemas.microsoft.com/office/drawing/2014/main" id="{448F9301-09AF-4E87-89F3-401A6C33E75C}"/>
              </a:ext>
            </a:extLst>
          </p:cNvPr>
          <p:cNvSpPr>
            <a:spLocks noGrp="1"/>
          </p:cNvSpPr>
          <p:nvPr/>
        </p:nvSpPr>
        <p:spPr>
          <a:xfrm>
            <a:off x="12134850" y="5238750"/>
            <a:ext cx="3352800" cy="514350"/>
          </a:xfrm>
          <a:prstGeom prst="rect">
            <a:avLst/>
          </a:prstGeom>
        </p:spPr>
        <p:txBody>
          <a:bodyPr lIns="0" tIns="0" rIns="0" bIns="0"/>
          <a:lstStyle/>
          <a:p>
            <a:pPr algn="l">
              <a:defRPr sz="1650" b="0" i="0">
                <a:solidFill>
                  <a:srgbClr val="1B1A17"/>
                </a:solidFill>
                <a:latin typeface="PingFang SC"/>
                <a:ea typeface="PingFang SC"/>
                <a:cs typeface="PingFang SC"/>
              </a:defRPr>
            </a:pPr>
            <a:r>
              <a:rPr sz="1650" b="0" i="0">
                <a:solidFill>
                  <a:srgbClr val="1B1A17"/>
                </a:solidFill>
                <a:latin typeface="PingFang SC"/>
                <a:ea typeface="PingFang SC"/>
                <a:cs typeface="PingFang SC"/>
              </a:rPr>
              <a:t>意外场景下能恢复、重抓、变通，而不是一偏离脚本就卡住。</a:t>
            </a:r>
          </a:p>
        </p:txBody>
      </p:sp>
      <p:sp>
        <p:nvSpPr>
          <p:cNvPr id="14" name="mastery-bottom">
            <a:extLst>
              <a:ext uri="{FF2B5EF4-FFF2-40B4-BE49-F238E27FC236}">
                <a16:creationId xmlns:a16="http://schemas.microsoft.com/office/drawing/2014/main" id="{6B9F76D6-8DAA-4A40-AC92-889A315E7F09}"/>
              </a:ext>
            </a:extLst>
          </p:cNvPr>
          <p:cNvSpPr>
            <a:spLocks noGrp="1"/>
          </p:cNvSpPr>
          <p:nvPr/>
        </p:nvSpPr>
        <p:spPr>
          <a:xfrm>
            <a:off x="2286000" y="7810500"/>
            <a:ext cx="13144500" cy="304800"/>
          </a:xfrm>
          <a:prstGeom prst="rect">
            <a:avLst/>
          </a:prstGeom>
        </p:spPr>
        <p:txBody>
          <a:bodyPr lIns="0" tIns="0" rIns="0" bIns="0"/>
          <a:lstStyle/>
          <a:p>
            <a:pPr algn="ctr">
              <a:defRPr sz="1950" b="0" i="0">
                <a:solidFill>
                  <a:srgbClr val="5D5A55"/>
                </a:solidFill>
                <a:latin typeface="Songti SC"/>
                <a:ea typeface="Songti SC"/>
                <a:cs typeface="Songti SC"/>
              </a:defRPr>
            </a:pPr>
            <a:r>
              <a:rPr sz="1950" b="0" i="0">
                <a:solidFill>
                  <a:srgbClr val="5D5A55"/>
                </a:solidFill>
                <a:latin typeface="Songti SC"/>
                <a:ea typeface="Songti SC"/>
                <a:cs typeface="Songti SC"/>
              </a:rPr>
              <a:t>文章明确认为：此前 robotics 最缺的不是“完成一次任务”，而是 improvisational intelligence。</a:t>
            </a:r>
          </a:p>
        </p:txBody>
      </p:sp>
    </p:spTree>
    <p:extLst>
      <p:ext uri="{BB962C8B-B14F-4D97-AF65-F5344CB8AC3E}">
        <p14:creationId xmlns:p14="http://schemas.microsoft.com/office/powerpoint/2010/main" val="15488227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B5E44768-4285-4CCA-BE13-A980E14935F3}"/>
              </a:ext>
            </a:extLst>
          </p:cNvPr>
          <p:cNvSpPr>
            <a:spLocks noGrp="1"/>
          </p:cNvSpPr>
          <p:nvPr/>
        </p:nvSpPr>
        <p:spPr>
          <a:prstGeom prst="rect">
            <a:avLst/>
          </a:prstGeom>
        </p:spPr>
        <p:txBody>
          <a:bodyPr/>
          <a:lstStyle/>
          <a:p>
            <a:endParaRPr lang="en-US"/>
          </a:p>
        </p:txBody>
      </p:sp>
      <p:sp>
        <p:nvSpPr>
          <p:cNvPr id="2" name="slide-title">
            <a:extLst>
              <a:ext uri="{FF2B5EF4-FFF2-40B4-BE49-F238E27FC236}">
                <a16:creationId xmlns:a16="http://schemas.microsoft.com/office/drawing/2014/main" id="{BF266AF1-5096-4BA3-9BEA-3A3BC96CD5EB}"/>
              </a:ext>
            </a:extLst>
          </p:cNvPr>
          <p:cNvSpPr>
            <a:spLocks noGrp="1"/>
          </p:cNvSpPr>
          <p:nvPr/>
        </p:nvSpPr>
        <p:spPr>
          <a:xfrm>
            <a:off x="1143000" y="495300"/>
            <a:ext cx="13144500" cy="514350"/>
          </a:xfrm>
          <a:prstGeom prst="rect">
            <a:avLst/>
          </a:prstGeom>
        </p:spPr>
        <p:txBody>
          <a:bodyPr lIns="0" tIns="0" rIns="0" bIns="0"/>
          <a:lstStyle/>
          <a:p>
            <a:pPr algn="l">
              <a:defRPr sz="3300" b="1">
                <a:solidFill>
                  <a:srgbClr val="1B1A17"/>
                </a:solidFill>
                <a:latin typeface="Songti SC"/>
                <a:ea typeface="Songti SC"/>
                <a:cs typeface="Songti SC"/>
              </a:defRPr>
            </a:pPr>
            <a:r>
              <a:rPr sz="3300" b="1">
                <a:solidFill>
                  <a:srgbClr val="1B1A17"/>
                </a:solidFill>
                <a:latin typeface="Songti SC"/>
                <a:ea typeface="Songti SC"/>
                <a:cs typeface="Songti SC"/>
              </a:rPr>
              <a:t>可靠性：从演示视频走向长时间无干预</a:t>
            </a:r>
          </a:p>
        </p:txBody>
      </p:sp>
      <p:sp>
        <p:nvSpPr>
          <p:cNvPr id="3" name="slide-subtitle">
            <a:extLst>
              <a:ext uri="{FF2B5EF4-FFF2-40B4-BE49-F238E27FC236}">
                <a16:creationId xmlns:a16="http://schemas.microsoft.com/office/drawing/2014/main" id="{9BFCFAB6-31B2-48D1-98DE-78543C9D2AFA}"/>
              </a:ext>
            </a:extLst>
          </p:cNvPr>
          <p:cNvSpPr>
            <a:spLocks noGrp="1"/>
          </p:cNvSpPr>
          <p:nvPr/>
        </p:nvSpPr>
        <p:spPr>
          <a:xfrm>
            <a:off x="1143000" y="1066800"/>
            <a:ext cx="13144500" cy="266700"/>
          </a:xfrm>
          <a:prstGeom prst="rect">
            <a:avLst/>
          </a:prstGeom>
        </p:spPr>
        <p:txBody>
          <a:bodyPr lIns="0" tIns="0" rIns="0" bIns="0"/>
          <a:lstStyle/>
          <a:p>
            <a:pPr algn="l">
              <a:defRPr sz="1650">
                <a:solidFill>
                  <a:srgbClr val="5D5A55"/>
                </a:solidFill>
                <a:latin typeface="PingFang SC"/>
                <a:ea typeface="PingFang SC"/>
                <a:cs typeface="PingFang SC"/>
              </a:defRPr>
            </a:pPr>
            <a:r>
              <a:rPr sz="1650">
                <a:solidFill>
                  <a:srgbClr val="5D5A55"/>
                </a:solidFill>
                <a:latin typeface="PingFang SC"/>
                <a:ea typeface="PingFang SC"/>
                <a:cs typeface="PingFang SC"/>
              </a:rPr>
              <a:t>最强证据不是单次成功，而是 hundreds / thousands 次连续执行。</a:t>
            </a:r>
          </a:p>
        </p:txBody>
      </p:sp>
      <p:sp>
        <p:nvSpPr>
          <p:cNvPr id="4" name="logo-wordmark">
            <a:extLst>
              <a:ext uri="{FF2B5EF4-FFF2-40B4-BE49-F238E27FC236}">
                <a16:creationId xmlns:a16="http://schemas.microsoft.com/office/drawing/2014/main" id="{D3A9901D-1777-4E24-924B-152D212AD211}"/>
              </a:ext>
            </a:extLst>
          </p:cNvPr>
          <p:cNvSpPr>
            <a:spLocks noGrp="1"/>
          </p:cNvSpPr>
          <p:nvPr/>
        </p:nvSpPr>
        <p:spPr>
          <a:xfrm>
            <a:off x="14478000" y="590550"/>
            <a:ext cx="2667000" cy="266700"/>
          </a:xfrm>
          <a:prstGeom prst="rect">
            <a:avLst/>
          </a:prstGeom>
        </p:spPr>
        <p:txBody>
          <a:bodyPr lIns="0" tIns="0" rIns="0" bIns="0"/>
          <a:lstStyle/>
          <a:p>
            <a:pPr algn="r">
              <a:defRPr sz="1650" b="1" i="0">
                <a:solidFill>
                  <a:srgbClr val="C00000"/>
                </a:solidFill>
                <a:latin typeface="Avenir Next"/>
                <a:ea typeface="Avenir Next"/>
                <a:cs typeface="Avenir Next"/>
              </a:defRPr>
            </a:pPr>
            <a:r>
              <a:rPr sz="1650" b="1" i="0">
                <a:solidFill>
                  <a:srgbClr val="C00000"/>
                </a:solidFill>
                <a:latin typeface="Avenir Next"/>
                <a:ea typeface="Avenir Next"/>
                <a:cs typeface="Avenir Next"/>
              </a:rPr>
              <a:t>Generalist AI</a:t>
            </a:r>
          </a:p>
        </p:txBody>
      </p:sp>
      <p:sp>
        <p:nvSpPr>
          <p:cNvPr id="5" name="source-line">
            <a:extLst>
              <a:ext uri="{FF2B5EF4-FFF2-40B4-BE49-F238E27FC236}">
                <a16:creationId xmlns:a16="http://schemas.microsoft.com/office/drawing/2014/main" id="{BD51134B-97A9-4BF0-8E64-209913B3C149}"/>
              </a:ext>
            </a:extLst>
          </p:cNvPr>
          <p:cNvSpPr>
            <a:spLocks noGrp="1"/>
          </p:cNvSpPr>
          <p:nvPr/>
        </p:nvSpPr>
        <p:spPr>
          <a:xfrm>
            <a:off x="1143000" y="9734550"/>
            <a:ext cx="11430000" cy="152400"/>
          </a:xfrm>
          <a:prstGeom prst="rect">
            <a:avLst/>
          </a:prstGeom>
        </p:spPr>
        <p:txBody>
          <a:bodyPr lIns="0" tIns="0" rIns="0" bIns="0"/>
          <a:lstStyle/>
          <a:p>
            <a:pPr algn="l">
              <a:defRPr sz="900" b="0" i="0">
                <a:solidFill>
                  <a:srgbClr val="5D5A55"/>
                </a:solidFill>
                <a:latin typeface="PingFang SC"/>
                <a:ea typeface="PingFang SC"/>
                <a:cs typeface="PingFang SC"/>
              </a:defRPr>
            </a:pPr>
            <a:r>
              <a:rPr sz="900" b="0" i="0">
                <a:solidFill>
                  <a:srgbClr val="5D5A55"/>
                </a:solidFill>
                <a:latin typeface="PingFang SC"/>
                <a:ea typeface="PingFang SC"/>
                <a:cs typeface="PingFang SC"/>
              </a:rPr>
              <a:t>Source: Generalist AI Blog, 2026-04-02</a:t>
            </a:r>
          </a:p>
        </p:txBody>
      </p:sp>
      <p:sp>
        <p:nvSpPr>
          <p:cNvPr id="6" name="page-number">
            <a:extLst>
              <a:ext uri="{FF2B5EF4-FFF2-40B4-BE49-F238E27FC236}">
                <a16:creationId xmlns:a16="http://schemas.microsoft.com/office/drawing/2014/main" id="{00AF737C-068B-4836-A2B0-CAAA4579260B}"/>
              </a:ext>
            </a:extLst>
          </p:cNvPr>
          <p:cNvSpPr>
            <a:spLocks noGrp="1"/>
          </p:cNvSpPr>
          <p:nvPr/>
        </p:nvSpPr>
        <p:spPr>
          <a:xfrm>
            <a:off x="15811500" y="9715500"/>
            <a:ext cx="1524000" cy="152400"/>
          </a:xfrm>
          <a:prstGeom prst="rect">
            <a:avLst/>
          </a:prstGeom>
        </p:spPr>
        <p:txBody>
          <a:bodyPr lIns="0" tIns="0" rIns="0" bIns="0"/>
          <a:lstStyle/>
          <a:p>
            <a:pPr algn="r">
              <a:defRPr sz="975" b="0" i="0">
                <a:solidFill>
                  <a:srgbClr val="5D5A55"/>
                </a:solidFill>
                <a:latin typeface="Avenir Next"/>
                <a:ea typeface="Avenir Next"/>
                <a:cs typeface="Avenir Next"/>
              </a:defRPr>
            </a:pPr>
            <a:r>
              <a:rPr sz="975" b="0" i="0">
                <a:solidFill>
                  <a:srgbClr val="5D5A55"/>
                </a:solidFill>
                <a:latin typeface="Avenir Next"/>
                <a:ea typeface="Avenir Next"/>
                <a:cs typeface="Avenir Next"/>
              </a:rPr>
              <a:t>06 / 10</a:t>
            </a:r>
          </a:p>
        </p:txBody>
      </p:sp>
      <p:sp>
        <p:nvSpPr>
          <p:cNvPr id="7" name="Rectangle 6">
            <a:extLst>
              <a:ext uri="{FF2B5EF4-FFF2-40B4-BE49-F238E27FC236}">
                <a16:creationId xmlns:a16="http://schemas.microsoft.com/office/drawing/2014/main" id="{3B2EB115-8F44-4E5A-B783-4DDF92AF10C1}"/>
              </a:ext>
            </a:extLst>
          </p:cNvPr>
          <p:cNvSpPr>
            <a:spLocks noGrp="1"/>
          </p:cNvSpPr>
          <p:nvPr/>
        </p:nvSpPr>
        <p:spPr>
          <a:prstGeom prst="rect">
            <a:avLst/>
          </a:prstGeom>
        </p:spPr>
        <p:txBody>
          <a:bodyPr/>
          <a:lstStyle/>
          <a:p>
            <a:endParaRPr lang="en-US"/>
          </a:p>
        </p:txBody>
      </p:sp>
      <p:sp>
        <p:nvSpPr>
          <p:cNvPr id="9" name="reliability-count-1">
            <a:extLst>
              <a:ext uri="{FF2B5EF4-FFF2-40B4-BE49-F238E27FC236}">
                <a16:creationId xmlns:a16="http://schemas.microsoft.com/office/drawing/2014/main" id="{85E40444-6076-4AE8-A108-FDFC462224E4}"/>
              </a:ext>
            </a:extLst>
          </p:cNvPr>
          <p:cNvSpPr>
            <a:spLocks noGrp="1"/>
          </p:cNvSpPr>
          <p:nvPr/>
        </p:nvSpPr>
        <p:spPr>
          <a:xfrm>
            <a:off x="14954250" y="3048000"/>
            <a:ext cx="2190750" cy="495300"/>
          </a:xfrm>
          <a:prstGeom prst="rect">
            <a:avLst/>
          </a:prstGeom>
        </p:spPr>
        <p:txBody>
          <a:bodyPr lIns="0" tIns="0" rIns="0" bIns="0"/>
          <a:lstStyle/>
          <a:p>
            <a:pPr algn="l">
              <a:defRPr sz="3150" b="1" i="0">
                <a:solidFill>
                  <a:srgbClr val="C00000"/>
                </a:solidFill>
                <a:latin typeface="Avenir Next"/>
                <a:ea typeface="Avenir Next"/>
                <a:cs typeface="Avenir Next"/>
              </a:defRPr>
            </a:pPr>
            <a:r>
              <a:rPr sz="3150" b="1" i="0">
                <a:solidFill>
                  <a:srgbClr val="C00000"/>
                </a:solidFill>
                <a:latin typeface="Avenir Next"/>
                <a:ea typeface="Avenir Next"/>
                <a:cs typeface="Avenir Next"/>
              </a:rPr>
              <a:t>&gt;1,800 次</a:t>
            </a:r>
          </a:p>
        </p:txBody>
      </p:sp>
      <p:sp>
        <p:nvSpPr>
          <p:cNvPr id="10" name="reliability-note-1">
            <a:extLst>
              <a:ext uri="{FF2B5EF4-FFF2-40B4-BE49-F238E27FC236}">
                <a16:creationId xmlns:a16="http://schemas.microsoft.com/office/drawing/2014/main" id="{B3588874-3382-425D-B5AB-1986A8C4934B}"/>
              </a:ext>
            </a:extLst>
          </p:cNvPr>
          <p:cNvSpPr>
            <a:spLocks noGrp="1"/>
          </p:cNvSpPr>
          <p:nvPr/>
        </p:nvSpPr>
        <p:spPr>
          <a:xfrm>
            <a:off x="14954250" y="3657600"/>
            <a:ext cx="2190750" cy="419100"/>
          </a:xfrm>
          <a:prstGeom prst="rect">
            <a:avLst/>
          </a:prstGeom>
        </p:spPr>
        <p:txBody>
          <a:bodyPr lIns="0" tIns="0" rIns="0" bIns="0"/>
          <a:lstStyle/>
          <a:p>
            <a:pPr algn="l">
              <a:defRPr sz="1350" b="0" i="0">
                <a:solidFill>
                  <a:srgbClr val="1B1A17"/>
                </a:solidFill>
                <a:latin typeface="PingFang SC"/>
                <a:ea typeface="PingFang SC"/>
                <a:cs typeface="PingFang SC"/>
              </a:defRPr>
            </a:pPr>
            <a:r>
              <a:rPr sz="1350" b="0" i="0">
                <a:solidFill>
                  <a:srgbClr val="1B1A17"/>
                </a:solidFill>
                <a:latin typeface="PingFang SC"/>
                <a:ea typeface="PingFang SC"/>
                <a:cs typeface="PingFang SC"/>
              </a:rPr>
              <a:t>block packing without intervention</a:t>
            </a:r>
          </a:p>
        </p:txBody>
      </p:sp>
      <p:sp>
        <p:nvSpPr>
          <p:cNvPr id="11" name="reliability-count-2">
            <a:extLst>
              <a:ext uri="{FF2B5EF4-FFF2-40B4-BE49-F238E27FC236}">
                <a16:creationId xmlns:a16="http://schemas.microsoft.com/office/drawing/2014/main" id="{88F287E6-40B7-47FA-84E2-125F169FF5F4}"/>
              </a:ext>
            </a:extLst>
          </p:cNvPr>
          <p:cNvSpPr>
            <a:spLocks noGrp="1"/>
          </p:cNvSpPr>
          <p:nvPr/>
        </p:nvSpPr>
        <p:spPr>
          <a:xfrm>
            <a:off x="14954250" y="4210050"/>
            <a:ext cx="2190750" cy="495300"/>
          </a:xfrm>
          <a:prstGeom prst="rect">
            <a:avLst/>
          </a:prstGeom>
        </p:spPr>
        <p:txBody>
          <a:bodyPr lIns="0" tIns="0" rIns="0" bIns="0"/>
          <a:lstStyle/>
          <a:p>
            <a:pPr algn="l">
              <a:defRPr sz="3150" b="1" i="0">
                <a:solidFill>
                  <a:srgbClr val="0C2441"/>
                </a:solidFill>
                <a:latin typeface="Avenir Next"/>
                <a:ea typeface="Avenir Next"/>
                <a:cs typeface="Avenir Next"/>
              </a:defRPr>
            </a:pPr>
            <a:r>
              <a:rPr sz="3150" b="1" i="0">
                <a:solidFill>
                  <a:srgbClr val="0C2441"/>
                </a:solidFill>
                <a:latin typeface="Avenir Next"/>
                <a:ea typeface="Avenir Next"/>
                <a:cs typeface="Avenir Next"/>
              </a:rPr>
              <a:t>&gt;200 次</a:t>
            </a:r>
          </a:p>
        </p:txBody>
      </p:sp>
      <p:sp>
        <p:nvSpPr>
          <p:cNvPr id="12" name="reliability-note-2">
            <a:extLst>
              <a:ext uri="{FF2B5EF4-FFF2-40B4-BE49-F238E27FC236}">
                <a16:creationId xmlns:a16="http://schemas.microsoft.com/office/drawing/2014/main" id="{E24DE66B-3D1A-4A94-8CD4-612210096F0C}"/>
              </a:ext>
            </a:extLst>
          </p:cNvPr>
          <p:cNvSpPr>
            <a:spLocks noGrp="1"/>
          </p:cNvSpPr>
          <p:nvPr/>
        </p:nvSpPr>
        <p:spPr>
          <a:xfrm>
            <a:off x="14954250" y="4819650"/>
            <a:ext cx="2190750" cy="419100"/>
          </a:xfrm>
          <a:prstGeom prst="rect">
            <a:avLst/>
          </a:prstGeom>
        </p:spPr>
        <p:txBody>
          <a:bodyPr lIns="0" tIns="0" rIns="0" bIns="0"/>
          <a:lstStyle/>
          <a:p>
            <a:pPr algn="l">
              <a:defRPr sz="1350" b="0" i="0">
                <a:solidFill>
                  <a:srgbClr val="1B1A17"/>
                </a:solidFill>
                <a:latin typeface="PingFang SC"/>
                <a:ea typeface="PingFang SC"/>
                <a:cs typeface="PingFang SC"/>
              </a:defRPr>
            </a:pPr>
            <a:r>
              <a:rPr sz="1350" b="0" i="0">
                <a:solidFill>
                  <a:srgbClr val="1B1A17"/>
                </a:solidFill>
                <a:latin typeface="PingFang SC"/>
                <a:ea typeface="PingFang SC"/>
                <a:cs typeface="PingFang SC"/>
              </a:rPr>
              <a:t>vacuum service / box folding</a:t>
            </a:r>
          </a:p>
        </p:txBody>
      </p:sp>
      <p:sp>
        <p:nvSpPr>
          <p:cNvPr id="13" name="reliability-count-3">
            <a:extLst>
              <a:ext uri="{FF2B5EF4-FFF2-40B4-BE49-F238E27FC236}">
                <a16:creationId xmlns:a16="http://schemas.microsoft.com/office/drawing/2014/main" id="{114BBFC9-A2C2-40CE-A7BD-A55E8F291FF4}"/>
              </a:ext>
            </a:extLst>
          </p:cNvPr>
          <p:cNvSpPr>
            <a:spLocks noGrp="1"/>
          </p:cNvSpPr>
          <p:nvPr/>
        </p:nvSpPr>
        <p:spPr>
          <a:xfrm>
            <a:off x="14954250" y="5372100"/>
            <a:ext cx="2190750" cy="495300"/>
          </a:xfrm>
          <a:prstGeom prst="rect">
            <a:avLst/>
          </a:prstGeom>
        </p:spPr>
        <p:txBody>
          <a:bodyPr lIns="0" tIns="0" rIns="0" bIns="0"/>
          <a:lstStyle/>
          <a:p>
            <a:pPr algn="l">
              <a:defRPr sz="3150" b="1" i="0">
                <a:solidFill>
                  <a:srgbClr val="E6C84F"/>
                </a:solidFill>
                <a:latin typeface="Avenir Next"/>
                <a:ea typeface="Avenir Next"/>
                <a:cs typeface="Avenir Next"/>
              </a:defRPr>
            </a:pPr>
            <a:r>
              <a:rPr sz="3150" b="1" i="0">
                <a:solidFill>
                  <a:srgbClr val="E6C84F"/>
                </a:solidFill>
                <a:latin typeface="Avenir Next"/>
                <a:ea typeface="Avenir Next"/>
                <a:cs typeface="Avenir Next"/>
              </a:rPr>
              <a:t>&gt;100 次</a:t>
            </a:r>
          </a:p>
        </p:txBody>
      </p:sp>
      <p:sp>
        <p:nvSpPr>
          <p:cNvPr id="14" name="reliability-note-3">
            <a:extLst>
              <a:ext uri="{FF2B5EF4-FFF2-40B4-BE49-F238E27FC236}">
                <a16:creationId xmlns:a16="http://schemas.microsoft.com/office/drawing/2014/main" id="{3F6ED1AF-FE67-4D91-9451-5C38924AFE77}"/>
              </a:ext>
            </a:extLst>
          </p:cNvPr>
          <p:cNvSpPr>
            <a:spLocks noGrp="1"/>
          </p:cNvSpPr>
          <p:nvPr/>
        </p:nvSpPr>
        <p:spPr>
          <a:xfrm>
            <a:off x="14954250" y="5981700"/>
            <a:ext cx="2190750" cy="419100"/>
          </a:xfrm>
          <a:prstGeom prst="rect">
            <a:avLst/>
          </a:prstGeom>
        </p:spPr>
        <p:txBody>
          <a:bodyPr lIns="0" tIns="0" rIns="0" bIns="0"/>
          <a:lstStyle/>
          <a:p>
            <a:pPr algn="l">
              <a:defRPr sz="1350" b="0" i="0">
                <a:solidFill>
                  <a:srgbClr val="1B1A17"/>
                </a:solidFill>
                <a:latin typeface="PingFang SC"/>
                <a:ea typeface="PingFang SC"/>
                <a:cs typeface="PingFang SC"/>
              </a:defRPr>
            </a:pPr>
            <a:r>
              <a:rPr sz="1350" b="0" i="0">
                <a:solidFill>
                  <a:srgbClr val="1B1A17"/>
                </a:solidFill>
                <a:latin typeface="PingFang SC"/>
                <a:ea typeface="PingFang SC"/>
                <a:cs typeface="PingFang SC"/>
              </a:rPr>
              <a:t>phone packing without intervention</a:t>
            </a:r>
          </a:p>
        </p:txBody>
      </p:sp>
      <p:pic>
        <p:nvPicPr>
          <p:cNvPr id="17" name="Picture 16">
            <a:extLst>
              <a:ext uri="{FF2B5EF4-FFF2-40B4-BE49-F238E27FC236}">
                <a16:creationId xmlns:a16="http://schemas.microsoft.com/office/drawing/2014/main" id="{A2266650-C4E5-01EE-E551-14D2FD6B1EB1}"/>
              </a:ext>
            </a:extLst>
          </p:cNvPr>
          <p:cNvPicPr>
            <a:picLocks noChangeAspect="1"/>
          </p:cNvPicPr>
          <p:nvPr/>
        </p:nvPicPr>
        <p:blipFill>
          <a:blip r:embed="rId3"/>
          <a:stretch>
            <a:fillRect/>
          </a:stretch>
        </p:blipFill>
        <p:spPr>
          <a:xfrm>
            <a:off x="517071" y="2871703"/>
            <a:ext cx="4621132" cy="3873954"/>
          </a:xfrm>
          <a:prstGeom prst="rect">
            <a:avLst/>
          </a:prstGeom>
        </p:spPr>
      </p:pic>
      <p:pic>
        <p:nvPicPr>
          <p:cNvPr id="18" name="Picture 17">
            <a:extLst>
              <a:ext uri="{FF2B5EF4-FFF2-40B4-BE49-F238E27FC236}">
                <a16:creationId xmlns:a16="http://schemas.microsoft.com/office/drawing/2014/main" id="{2BCA029E-B8E9-A727-32E4-E76E951985BF}"/>
              </a:ext>
            </a:extLst>
          </p:cNvPr>
          <p:cNvPicPr>
            <a:picLocks noChangeAspect="1"/>
          </p:cNvPicPr>
          <p:nvPr/>
        </p:nvPicPr>
        <p:blipFill>
          <a:blip r:embed="rId4"/>
          <a:stretch>
            <a:fillRect/>
          </a:stretch>
        </p:blipFill>
        <p:spPr>
          <a:xfrm>
            <a:off x="5349729" y="2871703"/>
            <a:ext cx="4549083" cy="3873954"/>
          </a:xfrm>
          <a:prstGeom prst="rect">
            <a:avLst/>
          </a:prstGeom>
        </p:spPr>
      </p:pic>
      <p:pic>
        <p:nvPicPr>
          <p:cNvPr id="19" name="Picture 18">
            <a:extLst>
              <a:ext uri="{FF2B5EF4-FFF2-40B4-BE49-F238E27FC236}">
                <a16:creationId xmlns:a16="http://schemas.microsoft.com/office/drawing/2014/main" id="{4F925DB1-9CBD-479A-1575-80DBDBB371C7}"/>
              </a:ext>
            </a:extLst>
          </p:cNvPr>
          <p:cNvPicPr>
            <a:picLocks noChangeAspect="1"/>
          </p:cNvPicPr>
          <p:nvPr/>
        </p:nvPicPr>
        <p:blipFill>
          <a:blip r:embed="rId5"/>
          <a:stretch>
            <a:fillRect/>
          </a:stretch>
        </p:blipFill>
        <p:spPr>
          <a:xfrm>
            <a:off x="10110338" y="2871703"/>
            <a:ext cx="4367662" cy="3895893"/>
          </a:xfrm>
          <a:prstGeom prst="rect">
            <a:avLst/>
          </a:prstGeom>
        </p:spPr>
      </p:pic>
    </p:spTree>
    <p:extLst>
      <p:ext uri="{BB962C8B-B14F-4D97-AF65-F5344CB8AC3E}">
        <p14:creationId xmlns:p14="http://schemas.microsoft.com/office/powerpoint/2010/main" val="7639959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a:extLst>
            <a:ext uri="{FF2B5EF4-FFF2-40B4-BE49-F238E27FC236}">
              <a16:creationId xmlns:a16="http://schemas.microsoft.com/office/drawing/2014/main" id="{92DCE5F4-0E92-9299-F350-477ABBC07CBC}"/>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47ACAA6D-0275-E503-4E91-B4DB1B309624}"/>
              </a:ext>
            </a:extLst>
          </p:cNvPr>
          <p:cNvSpPr>
            <a:spLocks noGrp="1"/>
          </p:cNvSpPr>
          <p:nvPr/>
        </p:nvSpPr>
        <p:spPr>
          <a:prstGeom prst="rect">
            <a:avLst/>
          </a:prstGeom>
        </p:spPr>
        <p:txBody>
          <a:bodyPr/>
          <a:lstStyle/>
          <a:p>
            <a:endParaRPr lang="en-US"/>
          </a:p>
        </p:txBody>
      </p:sp>
      <p:sp>
        <p:nvSpPr>
          <p:cNvPr id="2" name="slide-title">
            <a:extLst>
              <a:ext uri="{FF2B5EF4-FFF2-40B4-BE49-F238E27FC236}">
                <a16:creationId xmlns:a16="http://schemas.microsoft.com/office/drawing/2014/main" id="{B5C56EAE-EF0C-EF01-850F-22208B454CC2}"/>
              </a:ext>
            </a:extLst>
          </p:cNvPr>
          <p:cNvSpPr>
            <a:spLocks noGrp="1"/>
          </p:cNvSpPr>
          <p:nvPr/>
        </p:nvSpPr>
        <p:spPr>
          <a:xfrm>
            <a:off x="1143000" y="495300"/>
            <a:ext cx="13144500" cy="514350"/>
          </a:xfrm>
          <a:prstGeom prst="rect">
            <a:avLst/>
          </a:prstGeom>
        </p:spPr>
        <p:txBody>
          <a:bodyPr lIns="0" tIns="0" rIns="0" bIns="0"/>
          <a:lstStyle/>
          <a:p>
            <a:pPr algn="l">
              <a:defRPr sz="3300" b="1">
                <a:solidFill>
                  <a:srgbClr val="1B1A17"/>
                </a:solidFill>
                <a:latin typeface="Songti SC"/>
                <a:ea typeface="Songti SC"/>
                <a:cs typeface="Songti SC"/>
              </a:defRPr>
            </a:pPr>
            <a:r>
              <a:rPr sz="3300" b="1">
                <a:solidFill>
                  <a:srgbClr val="1B1A17"/>
                </a:solidFill>
                <a:latin typeface="Songti SC"/>
                <a:ea typeface="Songti SC"/>
                <a:cs typeface="Songti SC"/>
              </a:rPr>
              <a:t>可靠性：从演示视频走向长时间无干预</a:t>
            </a:r>
          </a:p>
        </p:txBody>
      </p:sp>
      <p:sp>
        <p:nvSpPr>
          <p:cNvPr id="3" name="slide-subtitle">
            <a:extLst>
              <a:ext uri="{FF2B5EF4-FFF2-40B4-BE49-F238E27FC236}">
                <a16:creationId xmlns:a16="http://schemas.microsoft.com/office/drawing/2014/main" id="{1A1B7709-A1F7-55E3-E633-AB826C8B8B52}"/>
              </a:ext>
            </a:extLst>
          </p:cNvPr>
          <p:cNvSpPr>
            <a:spLocks noGrp="1"/>
          </p:cNvSpPr>
          <p:nvPr/>
        </p:nvSpPr>
        <p:spPr>
          <a:xfrm>
            <a:off x="1143000" y="1066800"/>
            <a:ext cx="13144500" cy="266700"/>
          </a:xfrm>
          <a:prstGeom prst="rect">
            <a:avLst/>
          </a:prstGeom>
        </p:spPr>
        <p:txBody>
          <a:bodyPr lIns="0" tIns="0" rIns="0" bIns="0"/>
          <a:lstStyle/>
          <a:p>
            <a:pPr algn="l">
              <a:defRPr sz="1650">
                <a:solidFill>
                  <a:srgbClr val="5D5A55"/>
                </a:solidFill>
                <a:latin typeface="PingFang SC"/>
                <a:ea typeface="PingFang SC"/>
                <a:cs typeface="PingFang SC"/>
              </a:defRPr>
            </a:pPr>
            <a:r>
              <a:rPr sz="1650">
                <a:solidFill>
                  <a:srgbClr val="5D5A55"/>
                </a:solidFill>
                <a:latin typeface="PingFang SC"/>
                <a:ea typeface="PingFang SC"/>
                <a:cs typeface="PingFang SC"/>
              </a:rPr>
              <a:t>最强证据不是单次成功，而是 hundreds / thousands 次连续执行。</a:t>
            </a:r>
          </a:p>
        </p:txBody>
      </p:sp>
      <p:sp>
        <p:nvSpPr>
          <p:cNvPr id="4" name="logo-wordmark">
            <a:extLst>
              <a:ext uri="{FF2B5EF4-FFF2-40B4-BE49-F238E27FC236}">
                <a16:creationId xmlns:a16="http://schemas.microsoft.com/office/drawing/2014/main" id="{CC6A87EA-77CC-D10B-CF5F-2932D15B4DEF}"/>
              </a:ext>
            </a:extLst>
          </p:cNvPr>
          <p:cNvSpPr>
            <a:spLocks noGrp="1"/>
          </p:cNvSpPr>
          <p:nvPr/>
        </p:nvSpPr>
        <p:spPr>
          <a:xfrm>
            <a:off x="14478000" y="590550"/>
            <a:ext cx="2667000" cy="266700"/>
          </a:xfrm>
          <a:prstGeom prst="rect">
            <a:avLst/>
          </a:prstGeom>
        </p:spPr>
        <p:txBody>
          <a:bodyPr lIns="0" tIns="0" rIns="0" bIns="0"/>
          <a:lstStyle/>
          <a:p>
            <a:pPr algn="r">
              <a:defRPr sz="1650" b="1" i="0">
                <a:solidFill>
                  <a:srgbClr val="C00000"/>
                </a:solidFill>
                <a:latin typeface="Avenir Next"/>
                <a:ea typeface="Avenir Next"/>
                <a:cs typeface="Avenir Next"/>
              </a:defRPr>
            </a:pPr>
            <a:r>
              <a:rPr sz="1650" b="1" i="0">
                <a:solidFill>
                  <a:srgbClr val="C00000"/>
                </a:solidFill>
                <a:latin typeface="Avenir Next"/>
                <a:ea typeface="Avenir Next"/>
                <a:cs typeface="Avenir Next"/>
              </a:rPr>
              <a:t>Generalist AI</a:t>
            </a:r>
          </a:p>
        </p:txBody>
      </p:sp>
      <p:sp>
        <p:nvSpPr>
          <p:cNvPr id="5" name="source-line">
            <a:extLst>
              <a:ext uri="{FF2B5EF4-FFF2-40B4-BE49-F238E27FC236}">
                <a16:creationId xmlns:a16="http://schemas.microsoft.com/office/drawing/2014/main" id="{3745FEC6-3277-D1E7-A753-278EE2ED817A}"/>
              </a:ext>
            </a:extLst>
          </p:cNvPr>
          <p:cNvSpPr>
            <a:spLocks noGrp="1"/>
          </p:cNvSpPr>
          <p:nvPr/>
        </p:nvSpPr>
        <p:spPr>
          <a:xfrm>
            <a:off x="1143000" y="9734550"/>
            <a:ext cx="11430000" cy="152400"/>
          </a:xfrm>
          <a:prstGeom prst="rect">
            <a:avLst/>
          </a:prstGeom>
        </p:spPr>
        <p:txBody>
          <a:bodyPr lIns="0" tIns="0" rIns="0" bIns="0"/>
          <a:lstStyle/>
          <a:p>
            <a:pPr algn="l">
              <a:defRPr sz="900" b="0" i="0">
                <a:solidFill>
                  <a:srgbClr val="5D5A55"/>
                </a:solidFill>
                <a:latin typeface="PingFang SC"/>
                <a:ea typeface="PingFang SC"/>
                <a:cs typeface="PingFang SC"/>
              </a:defRPr>
            </a:pPr>
            <a:r>
              <a:rPr sz="900" b="0" i="0">
                <a:solidFill>
                  <a:srgbClr val="5D5A55"/>
                </a:solidFill>
                <a:latin typeface="PingFang SC"/>
                <a:ea typeface="PingFang SC"/>
                <a:cs typeface="PingFang SC"/>
              </a:rPr>
              <a:t>Source: Generalist AI Blog, 2026-04-02</a:t>
            </a:r>
          </a:p>
        </p:txBody>
      </p:sp>
      <p:sp>
        <p:nvSpPr>
          <p:cNvPr id="6" name="page-number">
            <a:extLst>
              <a:ext uri="{FF2B5EF4-FFF2-40B4-BE49-F238E27FC236}">
                <a16:creationId xmlns:a16="http://schemas.microsoft.com/office/drawing/2014/main" id="{4DCFB16C-ED09-115F-E3D5-ABE4C91C5EA8}"/>
              </a:ext>
            </a:extLst>
          </p:cNvPr>
          <p:cNvSpPr>
            <a:spLocks noGrp="1"/>
          </p:cNvSpPr>
          <p:nvPr/>
        </p:nvSpPr>
        <p:spPr>
          <a:xfrm>
            <a:off x="15811500" y="9715500"/>
            <a:ext cx="1524000" cy="152400"/>
          </a:xfrm>
          <a:prstGeom prst="rect">
            <a:avLst/>
          </a:prstGeom>
        </p:spPr>
        <p:txBody>
          <a:bodyPr lIns="0" tIns="0" rIns="0" bIns="0"/>
          <a:lstStyle/>
          <a:p>
            <a:pPr algn="r">
              <a:defRPr sz="975" b="0" i="0">
                <a:solidFill>
                  <a:srgbClr val="5D5A55"/>
                </a:solidFill>
                <a:latin typeface="Avenir Next"/>
                <a:ea typeface="Avenir Next"/>
                <a:cs typeface="Avenir Next"/>
              </a:defRPr>
            </a:pPr>
            <a:r>
              <a:rPr sz="975" b="0" i="0">
                <a:solidFill>
                  <a:srgbClr val="5D5A55"/>
                </a:solidFill>
                <a:latin typeface="Avenir Next"/>
                <a:ea typeface="Avenir Next"/>
                <a:cs typeface="Avenir Next"/>
              </a:rPr>
              <a:t>06 / 10</a:t>
            </a:r>
          </a:p>
        </p:txBody>
      </p:sp>
      <p:sp>
        <p:nvSpPr>
          <p:cNvPr id="7" name="Rectangle 6">
            <a:extLst>
              <a:ext uri="{FF2B5EF4-FFF2-40B4-BE49-F238E27FC236}">
                <a16:creationId xmlns:a16="http://schemas.microsoft.com/office/drawing/2014/main" id="{DFD91A91-121B-6C34-D887-0CA7545238D2}"/>
              </a:ext>
            </a:extLst>
          </p:cNvPr>
          <p:cNvSpPr>
            <a:spLocks noGrp="1"/>
          </p:cNvSpPr>
          <p:nvPr/>
        </p:nvSpPr>
        <p:spPr>
          <a:prstGeom prst="rect">
            <a:avLst/>
          </a:prstGeom>
        </p:spPr>
        <p:txBody>
          <a:bodyPr/>
          <a:lstStyle/>
          <a:p>
            <a:endParaRPr lang="en-US"/>
          </a:p>
        </p:txBody>
      </p:sp>
      <p:graphicFrame>
        <p:nvGraphicFramePr>
          <p:cNvPr id="8" name="reliability-chart">
            <a:extLst>
              <a:ext uri="{FF2B5EF4-FFF2-40B4-BE49-F238E27FC236}">
                <a16:creationId xmlns:a16="http://schemas.microsoft.com/office/drawing/2014/main" id="{6276EEA6-B915-F81A-5EDE-1DBC2095064B}"/>
              </a:ext>
            </a:extLst>
          </p:cNvPr>
          <p:cNvGraphicFramePr/>
          <p:nvPr/>
        </p:nvGraphicFramePr>
        <p:xfrm>
          <a:off x="1428750" y="2571750"/>
          <a:ext cx="12763500" cy="4762500"/>
        </p:xfrm>
        <a:graphic>
          <a:graphicData uri="http://schemas.openxmlformats.org/drawingml/2006/chart">
            <c:chart xmlns:c="http://schemas.openxmlformats.org/drawingml/2006/chart" xmlns:r="http://schemas.openxmlformats.org/officeDocument/2006/relationships" r:id="rId3"/>
          </a:graphicData>
        </a:graphic>
      </p:graphicFrame>
      <p:sp>
        <p:nvSpPr>
          <p:cNvPr id="9" name="reliability-count-1">
            <a:extLst>
              <a:ext uri="{FF2B5EF4-FFF2-40B4-BE49-F238E27FC236}">
                <a16:creationId xmlns:a16="http://schemas.microsoft.com/office/drawing/2014/main" id="{B76B5DD1-D6FC-0350-1F28-67F57C040C37}"/>
              </a:ext>
            </a:extLst>
          </p:cNvPr>
          <p:cNvSpPr>
            <a:spLocks noGrp="1"/>
          </p:cNvSpPr>
          <p:nvPr/>
        </p:nvSpPr>
        <p:spPr>
          <a:xfrm>
            <a:off x="14954250" y="3048000"/>
            <a:ext cx="2190750" cy="495300"/>
          </a:xfrm>
          <a:prstGeom prst="rect">
            <a:avLst/>
          </a:prstGeom>
        </p:spPr>
        <p:txBody>
          <a:bodyPr lIns="0" tIns="0" rIns="0" bIns="0"/>
          <a:lstStyle/>
          <a:p>
            <a:pPr algn="l">
              <a:defRPr sz="3150" b="1" i="0">
                <a:solidFill>
                  <a:srgbClr val="C00000"/>
                </a:solidFill>
                <a:latin typeface="Avenir Next"/>
                <a:ea typeface="Avenir Next"/>
                <a:cs typeface="Avenir Next"/>
              </a:defRPr>
            </a:pPr>
            <a:r>
              <a:rPr sz="3150" b="1" i="0">
                <a:solidFill>
                  <a:srgbClr val="C00000"/>
                </a:solidFill>
                <a:latin typeface="Avenir Next"/>
                <a:ea typeface="Avenir Next"/>
                <a:cs typeface="Avenir Next"/>
              </a:rPr>
              <a:t>&gt;1,800 次</a:t>
            </a:r>
          </a:p>
        </p:txBody>
      </p:sp>
      <p:sp>
        <p:nvSpPr>
          <p:cNvPr id="10" name="reliability-note-1">
            <a:extLst>
              <a:ext uri="{FF2B5EF4-FFF2-40B4-BE49-F238E27FC236}">
                <a16:creationId xmlns:a16="http://schemas.microsoft.com/office/drawing/2014/main" id="{1E034CAB-8127-7E38-2308-A72C665C2A89}"/>
              </a:ext>
            </a:extLst>
          </p:cNvPr>
          <p:cNvSpPr>
            <a:spLocks noGrp="1"/>
          </p:cNvSpPr>
          <p:nvPr/>
        </p:nvSpPr>
        <p:spPr>
          <a:xfrm>
            <a:off x="14954250" y="3657600"/>
            <a:ext cx="2190750" cy="419100"/>
          </a:xfrm>
          <a:prstGeom prst="rect">
            <a:avLst/>
          </a:prstGeom>
        </p:spPr>
        <p:txBody>
          <a:bodyPr lIns="0" tIns="0" rIns="0" bIns="0"/>
          <a:lstStyle/>
          <a:p>
            <a:pPr algn="l">
              <a:defRPr sz="1350" b="0" i="0">
                <a:solidFill>
                  <a:srgbClr val="1B1A17"/>
                </a:solidFill>
                <a:latin typeface="PingFang SC"/>
                <a:ea typeface="PingFang SC"/>
                <a:cs typeface="PingFang SC"/>
              </a:defRPr>
            </a:pPr>
            <a:r>
              <a:rPr sz="1350" b="0" i="0">
                <a:solidFill>
                  <a:srgbClr val="1B1A17"/>
                </a:solidFill>
                <a:latin typeface="PingFang SC"/>
                <a:ea typeface="PingFang SC"/>
                <a:cs typeface="PingFang SC"/>
              </a:rPr>
              <a:t>block packing without intervention</a:t>
            </a:r>
          </a:p>
        </p:txBody>
      </p:sp>
      <p:sp>
        <p:nvSpPr>
          <p:cNvPr id="11" name="reliability-count-2">
            <a:extLst>
              <a:ext uri="{FF2B5EF4-FFF2-40B4-BE49-F238E27FC236}">
                <a16:creationId xmlns:a16="http://schemas.microsoft.com/office/drawing/2014/main" id="{E148DF3C-C595-B0DA-4657-8A5BDBDBD640}"/>
              </a:ext>
            </a:extLst>
          </p:cNvPr>
          <p:cNvSpPr>
            <a:spLocks noGrp="1"/>
          </p:cNvSpPr>
          <p:nvPr/>
        </p:nvSpPr>
        <p:spPr>
          <a:xfrm>
            <a:off x="14954250" y="4210050"/>
            <a:ext cx="2190750" cy="495300"/>
          </a:xfrm>
          <a:prstGeom prst="rect">
            <a:avLst/>
          </a:prstGeom>
        </p:spPr>
        <p:txBody>
          <a:bodyPr lIns="0" tIns="0" rIns="0" bIns="0"/>
          <a:lstStyle/>
          <a:p>
            <a:pPr algn="l">
              <a:defRPr sz="3150" b="1" i="0">
                <a:solidFill>
                  <a:srgbClr val="0C2441"/>
                </a:solidFill>
                <a:latin typeface="Avenir Next"/>
                <a:ea typeface="Avenir Next"/>
                <a:cs typeface="Avenir Next"/>
              </a:defRPr>
            </a:pPr>
            <a:r>
              <a:rPr sz="3150" b="1" i="0">
                <a:solidFill>
                  <a:srgbClr val="0C2441"/>
                </a:solidFill>
                <a:latin typeface="Avenir Next"/>
                <a:ea typeface="Avenir Next"/>
                <a:cs typeface="Avenir Next"/>
              </a:rPr>
              <a:t>&gt;200 次</a:t>
            </a:r>
          </a:p>
        </p:txBody>
      </p:sp>
      <p:sp>
        <p:nvSpPr>
          <p:cNvPr id="12" name="reliability-note-2">
            <a:extLst>
              <a:ext uri="{FF2B5EF4-FFF2-40B4-BE49-F238E27FC236}">
                <a16:creationId xmlns:a16="http://schemas.microsoft.com/office/drawing/2014/main" id="{FD8F33F6-A512-EBA7-8F80-611AB77CC22B}"/>
              </a:ext>
            </a:extLst>
          </p:cNvPr>
          <p:cNvSpPr>
            <a:spLocks noGrp="1"/>
          </p:cNvSpPr>
          <p:nvPr/>
        </p:nvSpPr>
        <p:spPr>
          <a:xfrm>
            <a:off x="14954250" y="4819650"/>
            <a:ext cx="2190750" cy="419100"/>
          </a:xfrm>
          <a:prstGeom prst="rect">
            <a:avLst/>
          </a:prstGeom>
        </p:spPr>
        <p:txBody>
          <a:bodyPr lIns="0" tIns="0" rIns="0" bIns="0"/>
          <a:lstStyle/>
          <a:p>
            <a:pPr algn="l">
              <a:defRPr sz="1350" b="0" i="0">
                <a:solidFill>
                  <a:srgbClr val="1B1A17"/>
                </a:solidFill>
                <a:latin typeface="PingFang SC"/>
                <a:ea typeface="PingFang SC"/>
                <a:cs typeface="PingFang SC"/>
              </a:defRPr>
            </a:pPr>
            <a:r>
              <a:rPr sz="1350" b="0" i="0">
                <a:solidFill>
                  <a:srgbClr val="1B1A17"/>
                </a:solidFill>
                <a:latin typeface="PingFang SC"/>
                <a:ea typeface="PingFang SC"/>
                <a:cs typeface="PingFang SC"/>
              </a:rPr>
              <a:t>vacuum service / box folding</a:t>
            </a:r>
          </a:p>
        </p:txBody>
      </p:sp>
      <p:sp>
        <p:nvSpPr>
          <p:cNvPr id="13" name="reliability-count-3">
            <a:extLst>
              <a:ext uri="{FF2B5EF4-FFF2-40B4-BE49-F238E27FC236}">
                <a16:creationId xmlns:a16="http://schemas.microsoft.com/office/drawing/2014/main" id="{1BB490A0-F780-2E30-632A-C229B9A70BF5}"/>
              </a:ext>
            </a:extLst>
          </p:cNvPr>
          <p:cNvSpPr>
            <a:spLocks noGrp="1"/>
          </p:cNvSpPr>
          <p:nvPr/>
        </p:nvSpPr>
        <p:spPr>
          <a:xfrm>
            <a:off x="14954250" y="5372100"/>
            <a:ext cx="2190750" cy="495300"/>
          </a:xfrm>
          <a:prstGeom prst="rect">
            <a:avLst/>
          </a:prstGeom>
        </p:spPr>
        <p:txBody>
          <a:bodyPr lIns="0" tIns="0" rIns="0" bIns="0"/>
          <a:lstStyle/>
          <a:p>
            <a:pPr algn="l">
              <a:defRPr sz="3150" b="1" i="0">
                <a:solidFill>
                  <a:srgbClr val="E6C84F"/>
                </a:solidFill>
                <a:latin typeface="Avenir Next"/>
                <a:ea typeface="Avenir Next"/>
                <a:cs typeface="Avenir Next"/>
              </a:defRPr>
            </a:pPr>
            <a:r>
              <a:rPr sz="3150" b="1" i="0">
                <a:solidFill>
                  <a:srgbClr val="E6C84F"/>
                </a:solidFill>
                <a:latin typeface="Avenir Next"/>
                <a:ea typeface="Avenir Next"/>
                <a:cs typeface="Avenir Next"/>
              </a:rPr>
              <a:t>&gt;100 次</a:t>
            </a:r>
          </a:p>
        </p:txBody>
      </p:sp>
      <p:sp>
        <p:nvSpPr>
          <p:cNvPr id="14" name="reliability-note-3">
            <a:extLst>
              <a:ext uri="{FF2B5EF4-FFF2-40B4-BE49-F238E27FC236}">
                <a16:creationId xmlns:a16="http://schemas.microsoft.com/office/drawing/2014/main" id="{093E1A3A-D367-1841-9E6F-0977526321B6}"/>
              </a:ext>
            </a:extLst>
          </p:cNvPr>
          <p:cNvSpPr>
            <a:spLocks noGrp="1"/>
          </p:cNvSpPr>
          <p:nvPr/>
        </p:nvSpPr>
        <p:spPr>
          <a:xfrm>
            <a:off x="14954250" y="5981700"/>
            <a:ext cx="2190750" cy="419100"/>
          </a:xfrm>
          <a:prstGeom prst="rect">
            <a:avLst/>
          </a:prstGeom>
        </p:spPr>
        <p:txBody>
          <a:bodyPr lIns="0" tIns="0" rIns="0" bIns="0"/>
          <a:lstStyle/>
          <a:p>
            <a:pPr algn="l">
              <a:defRPr sz="1350" b="0" i="0">
                <a:solidFill>
                  <a:srgbClr val="1B1A17"/>
                </a:solidFill>
                <a:latin typeface="PingFang SC"/>
                <a:ea typeface="PingFang SC"/>
                <a:cs typeface="PingFang SC"/>
              </a:defRPr>
            </a:pPr>
            <a:r>
              <a:rPr sz="1350" b="0" i="0">
                <a:solidFill>
                  <a:srgbClr val="1B1A17"/>
                </a:solidFill>
                <a:latin typeface="PingFang SC"/>
                <a:ea typeface="PingFang SC"/>
                <a:cs typeface="PingFang SC"/>
              </a:rPr>
              <a:t>phone packing without intervention</a:t>
            </a:r>
          </a:p>
        </p:txBody>
      </p:sp>
    </p:spTree>
    <p:extLst>
      <p:ext uri="{BB962C8B-B14F-4D97-AF65-F5344CB8AC3E}">
        <p14:creationId xmlns:p14="http://schemas.microsoft.com/office/powerpoint/2010/main" val="30221643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93BED3CB-DF16-4514-8335-4094DF782BE5}"/>
              </a:ext>
            </a:extLst>
          </p:cNvPr>
          <p:cNvSpPr>
            <a:spLocks noGrp="1"/>
          </p:cNvSpPr>
          <p:nvPr/>
        </p:nvSpPr>
        <p:spPr>
          <a:prstGeom prst="rect">
            <a:avLst/>
          </a:prstGeom>
        </p:spPr>
        <p:txBody>
          <a:bodyPr/>
          <a:lstStyle/>
          <a:p>
            <a:endParaRPr lang="en-US"/>
          </a:p>
        </p:txBody>
      </p:sp>
      <p:sp>
        <p:nvSpPr>
          <p:cNvPr id="2" name="slide-title">
            <a:extLst>
              <a:ext uri="{FF2B5EF4-FFF2-40B4-BE49-F238E27FC236}">
                <a16:creationId xmlns:a16="http://schemas.microsoft.com/office/drawing/2014/main" id="{6A48FEAC-33E8-400D-9823-4C19977ED1CA}"/>
              </a:ext>
            </a:extLst>
          </p:cNvPr>
          <p:cNvSpPr>
            <a:spLocks noGrp="1"/>
          </p:cNvSpPr>
          <p:nvPr/>
        </p:nvSpPr>
        <p:spPr>
          <a:xfrm>
            <a:off x="1143000" y="495300"/>
            <a:ext cx="13144500" cy="514350"/>
          </a:xfrm>
          <a:prstGeom prst="rect">
            <a:avLst/>
          </a:prstGeom>
        </p:spPr>
        <p:txBody>
          <a:bodyPr lIns="0" tIns="0" rIns="0" bIns="0"/>
          <a:lstStyle/>
          <a:p>
            <a:pPr algn="l">
              <a:defRPr sz="3300" b="1">
                <a:solidFill>
                  <a:srgbClr val="1B1A17"/>
                </a:solidFill>
                <a:latin typeface="Songti SC"/>
                <a:ea typeface="Songti SC"/>
                <a:cs typeface="Songti SC"/>
              </a:defRPr>
            </a:pPr>
            <a:r>
              <a:rPr sz="3300" b="1">
                <a:solidFill>
                  <a:srgbClr val="1B1A17"/>
                </a:solidFill>
                <a:latin typeface="Songti SC"/>
                <a:ea typeface="Songti SC"/>
                <a:cs typeface="Songti SC"/>
              </a:rPr>
              <a:t>速度与即兴恢复：另一半才是“精通”</a:t>
            </a:r>
          </a:p>
        </p:txBody>
      </p:sp>
      <p:sp>
        <p:nvSpPr>
          <p:cNvPr id="3" name="slide-subtitle">
            <a:extLst>
              <a:ext uri="{FF2B5EF4-FFF2-40B4-BE49-F238E27FC236}">
                <a16:creationId xmlns:a16="http://schemas.microsoft.com/office/drawing/2014/main" id="{B49C4262-55D2-435E-BA44-19262868CBA7}"/>
              </a:ext>
            </a:extLst>
          </p:cNvPr>
          <p:cNvSpPr>
            <a:spLocks noGrp="1"/>
          </p:cNvSpPr>
          <p:nvPr/>
        </p:nvSpPr>
        <p:spPr>
          <a:xfrm>
            <a:off x="1143000" y="1066800"/>
            <a:ext cx="13144500" cy="266700"/>
          </a:xfrm>
          <a:prstGeom prst="rect">
            <a:avLst/>
          </a:prstGeom>
        </p:spPr>
        <p:txBody>
          <a:bodyPr lIns="0" tIns="0" rIns="0" bIns="0"/>
          <a:lstStyle/>
          <a:p>
            <a:pPr algn="l">
              <a:defRPr sz="1650">
                <a:solidFill>
                  <a:srgbClr val="5D5A55"/>
                </a:solidFill>
                <a:latin typeface="PingFang SC"/>
                <a:ea typeface="PingFang SC"/>
                <a:cs typeface="PingFang SC"/>
              </a:defRPr>
            </a:pPr>
            <a:r>
              <a:rPr sz="1650">
                <a:solidFill>
                  <a:srgbClr val="5D5A55"/>
                </a:solidFill>
                <a:latin typeface="PingFang SC"/>
                <a:ea typeface="PingFang SC"/>
                <a:cs typeface="PingFang SC"/>
              </a:rPr>
              <a:t>文章强调：快，不只是快动作；即兴，不只是炫技。</a:t>
            </a:r>
          </a:p>
        </p:txBody>
      </p:sp>
      <p:sp>
        <p:nvSpPr>
          <p:cNvPr id="4" name="logo-wordmark">
            <a:extLst>
              <a:ext uri="{FF2B5EF4-FFF2-40B4-BE49-F238E27FC236}">
                <a16:creationId xmlns:a16="http://schemas.microsoft.com/office/drawing/2014/main" id="{1832178A-42F9-4636-9243-338AB4B311CD}"/>
              </a:ext>
            </a:extLst>
          </p:cNvPr>
          <p:cNvSpPr>
            <a:spLocks noGrp="1"/>
          </p:cNvSpPr>
          <p:nvPr/>
        </p:nvSpPr>
        <p:spPr>
          <a:xfrm>
            <a:off x="14478000" y="590550"/>
            <a:ext cx="2667000" cy="266700"/>
          </a:xfrm>
          <a:prstGeom prst="rect">
            <a:avLst/>
          </a:prstGeom>
        </p:spPr>
        <p:txBody>
          <a:bodyPr lIns="0" tIns="0" rIns="0" bIns="0"/>
          <a:lstStyle/>
          <a:p>
            <a:pPr algn="r">
              <a:defRPr sz="1650" b="1" i="0">
                <a:solidFill>
                  <a:srgbClr val="C00000"/>
                </a:solidFill>
                <a:latin typeface="Avenir Next"/>
                <a:ea typeface="Avenir Next"/>
                <a:cs typeface="Avenir Next"/>
              </a:defRPr>
            </a:pPr>
            <a:r>
              <a:rPr sz="1650" b="1" i="0">
                <a:solidFill>
                  <a:srgbClr val="C00000"/>
                </a:solidFill>
                <a:latin typeface="Avenir Next"/>
                <a:ea typeface="Avenir Next"/>
                <a:cs typeface="Avenir Next"/>
              </a:rPr>
              <a:t>Generalist AI</a:t>
            </a:r>
          </a:p>
        </p:txBody>
      </p:sp>
      <p:sp>
        <p:nvSpPr>
          <p:cNvPr id="5" name="source-line">
            <a:extLst>
              <a:ext uri="{FF2B5EF4-FFF2-40B4-BE49-F238E27FC236}">
                <a16:creationId xmlns:a16="http://schemas.microsoft.com/office/drawing/2014/main" id="{190DBD8A-3845-4003-A14C-72C94E2AFFC8}"/>
              </a:ext>
            </a:extLst>
          </p:cNvPr>
          <p:cNvSpPr>
            <a:spLocks noGrp="1"/>
          </p:cNvSpPr>
          <p:nvPr/>
        </p:nvSpPr>
        <p:spPr>
          <a:xfrm>
            <a:off x="1143000" y="9734550"/>
            <a:ext cx="11430000" cy="152400"/>
          </a:xfrm>
          <a:prstGeom prst="rect">
            <a:avLst/>
          </a:prstGeom>
        </p:spPr>
        <p:txBody>
          <a:bodyPr lIns="0" tIns="0" rIns="0" bIns="0"/>
          <a:lstStyle/>
          <a:p>
            <a:pPr algn="l">
              <a:defRPr sz="900" b="0" i="0">
                <a:solidFill>
                  <a:srgbClr val="5D5A55"/>
                </a:solidFill>
                <a:latin typeface="PingFang SC"/>
                <a:ea typeface="PingFang SC"/>
                <a:cs typeface="PingFang SC"/>
              </a:defRPr>
            </a:pPr>
            <a:r>
              <a:rPr sz="900" b="0" i="0">
                <a:solidFill>
                  <a:srgbClr val="5D5A55"/>
                </a:solidFill>
                <a:latin typeface="PingFang SC"/>
                <a:ea typeface="PingFang SC"/>
                <a:cs typeface="PingFang SC"/>
              </a:rPr>
              <a:t>Source: Generalist AI Blog, 2026-04-02</a:t>
            </a:r>
          </a:p>
        </p:txBody>
      </p:sp>
      <p:sp>
        <p:nvSpPr>
          <p:cNvPr id="6" name="page-number">
            <a:extLst>
              <a:ext uri="{FF2B5EF4-FFF2-40B4-BE49-F238E27FC236}">
                <a16:creationId xmlns:a16="http://schemas.microsoft.com/office/drawing/2014/main" id="{FEF4F094-7703-4A4A-A833-C4111FB80895}"/>
              </a:ext>
            </a:extLst>
          </p:cNvPr>
          <p:cNvSpPr>
            <a:spLocks noGrp="1"/>
          </p:cNvSpPr>
          <p:nvPr/>
        </p:nvSpPr>
        <p:spPr>
          <a:xfrm>
            <a:off x="15811500" y="9715500"/>
            <a:ext cx="1524000" cy="152400"/>
          </a:xfrm>
          <a:prstGeom prst="rect">
            <a:avLst/>
          </a:prstGeom>
        </p:spPr>
        <p:txBody>
          <a:bodyPr lIns="0" tIns="0" rIns="0" bIns="0"/>
          <a:lstStyle/>
          <a:p>
            <a:pPr algn="r">
              <a:defRPr sz="975" b="0" i="0">
                <a:solidFill>
                  <a:srgbClr val="5D5A55"/>
                </a:solidFill>
                <a:latin typeface="Avenir Next"/>
                <a:ea typeface="Avenir Next"/>
                <a:cs typeface="Avenir Next"/>
              </a:defRPr>
            </a:pPr>
            <a:r>
              <a:rPr sz="975" b="0" i="0">
                <a:solidFill>
                  <a:srgbClr val="5D5A55"/>
                </a:solidFill>
                <a:latin typeface="Avenir Next"/>
                <a:ea typeface="Avenir Next"/>
                <a:cs typeface="Avenir Next"/>
              </a:rPr>
              <a:t>07 / 10</a:t>
            </a:r>
          </a:p>
        </p:txBody>
      </p:sp>
      <p:pic>
        <p:nvPicPr>
          <p:cNvPr id="7" name="demo-ethernet-image"/>
          <p:cNvPicPr>
            <a:picLocks noChangeAspect="1"/>
          </p:cNvPicPr>
          <p:nvPr/>
        </p:nvPicPr>
        <p:blipFill>
          <a:blip r:embed="rId3"/>
          <a:srcRect t="20951" b="20951"/>
          <a:stretch>
            <a:fillRect/>
          </a:stretch>
        </p:blipFill>
        <p:spPr>
          <a:xfrm>
            <a:off x="1143000" y="2381250"/>
            <a:ext cx="4371975" cy="1905000"/>
          </a:xfrm>
          <a:prstGeom prst="rect">
            <a:avLst/>
          </a:prstGeom>
        </p:spPr>
      </p:pic>
      <p:sp>
        <p:nvSpPr>
          <p:cNvPr id="8" name="demo-ethernet-caption">
            <a:extLst>
              <a:ext uri="{FF2B5EF4-FFF2-40B4-BE49-F238E27FC236}">
                <a16:creationId xmlns:a16="http://schemas.microsoft.com/office/drawing/2014/main" id="{118458BF-BFA7-4ADB-8310-98A18E429514}"/>
              </a:ext>
            </a:extLst>
          </p:cNvPr>
          <p:cNvSpPr>
            <a:spLocks noGrp="1"/>
          </p:cNvSpPr>
          <p:nvPr/>
        </p:nvSpPr>
        <p:spPr>
          <a:xfrm>
            <a:off x="1143000" y="4381500"/>
            <a:ext cx="4381500" cy="209550"/>
          </a:xfrm>
          <a:prstGeom prst="rect">
            <a:avLst/>
          </a:prstGeom>
        </p:spPr>
        <p:txBody>
          <a:bodyPr lIns="0" tIns="0" rIns="0" bIns="0"/>
          <a:lstStyle/>
          <a:p>
            <a:pPr algn="l">
              <a:defRPr sz="1275">
                <a:solidFill>
                  <a:srgbClr val="5D5A55"/>
                </a:solidFill>
                <a:latin typeface="PingFang SC"/>
                <a:ea typeface="PingFang SC"/>
                <a:cs typeface="PingFang SC"/>
              </a:defRPr>
            </a:pPr>
            <a:r>
              <a:rPr sz="1275">
                <a:solidFill>
                  <a:srgbClr val="5D5A55"/>
                </a:solidFill>
                <a:latin typeface="PingFang SC"/>
                <a:ea typeface="PingFang SC"/>
                <a:cs typeface="PingFang SC"/>
              </a:rPr>
              <a:t>插网线 · fine-grained manipulation</a:t>
            </a:r>
          </a:p>
        </p:txBody>
      </p:sp>
      <p:pic>
        <p:nvPicPr>
          <p:cNvPr id="9" name="demo-zipper-image"/>
          <p:cNvPicPr>
            <a:picLocks noChangeAspect="1"/>
          </p:cNvPicPr>
          <p:nvPr/>
        </p:nvPicPr>
        <p:blipFill>
          <a:blip r:embed="rId4"/>
          <a:srcRect t="20951" b="20951"/>
          <a:stretch>
            <a:fillRect/>
          </a:stretch>
        </p:blipFill>
        <p:spPr>
          <a:xfrm>
            <a:off x="5724525" y="2381250"/>
            <a:ext cx="4371975" cy="1905000"/>
          </a:xfrm>
          <a:prstGeom prst="rect">
            <a:avLst/>
          </a:prstGeom>
        </p:spPr>
      </p:pic>
      <p:sp>
        <p:nvSpPr>
          <p:cNvPr id="10" name="demo-zipper-caption">
            <a:extLst>
              <a:ext uri="{FF2B5EF4-FFF2-40B4-BE49-F238E27FC236}">
                <a16:creationId xmlns:a16="http://schemas.microsoft.com/office/drawing/2014/main" id="{B5C448A9-57DA-42F2-8271-6E416CE57F9D}"/>
              </a:ext>
            </a:extLst>
          </p:cNvPr>
          <p:cNvSpPr>
            <a:spLocks noGrp="1"/>
          </p:cNvSpPr>
          <p:nvPr/>
        </p:nvSpPr>
        <p:spPr>
          <a:xfrm>
            <a:off x="5734050" y="4381500"/>
            <a:ext cx="4381500" cy="209550"/>
          </a:xfrm>
          <a:prstGeom prst="rect">
            <a:avLst/>
          </a:prstGeom>
        </p:spPr>
        <p:txBody>
          <a:bodyPr lIns="0" tIns="0" rIns="0" bIns="0"/>
          <a:lstStyle/>
          <a:p>
            <a:pPr algn="l">
              <a:defRPr sz="1275">
                <a:solidFill>
                  <a:srgbClr val="5D5A55"/>
                </a:solidFill>
                <a:latin typeface="PingFang SC"/>
                <a:ea typeface="PingFang SC"/>
                <a:cs typeface="PingFang SC"/>
              </a:defRPr>
            </a:pPr>
            <a:r>
              <a:rPr sz="1275">
                <a:solidFill>
                  <a:srgbClr val="5D5A55"/>
                </a:solidFill>
                <a:latin typeface="PingFang SC"/>
                <a:ea typeface="PingFang SC"/>
                <a:cs typeface="PingFang SC"/>
              </a:rPr>
              <a:t>装笔进拉链袋 · deformable object handling</a:t>
            </a:r>
          </a:p>
        </p:txBody>
      </p:sp>
      <p:pic>
        <p:nvPicPr>
          <p:cNvPr id="11" name="demo-shell-image"/>
          <p:cNvPicPr>
            <a:picLocks noChangeAspect="1"/>
          </p:cNvPicPr>
          <p:nvPr/>
        </p:nvPicPr>
        <p:blipFill>
          <a:blip r:embed="rId5"/>
          <a:srcRect t="20951" b="20951"/>
          <a:stretch>
            <a:fillRect/>
          </a:stretch>
        </p:blipFill>
        <p:spPr>
          <a:xfrm>
            <a:off x="1143000" y="5648325"/>
            <a:ext cx="4371975" cy="1905000"/>
          </a:xfrm>
          <a:prstGeom prst="rect">
            <a:avLst/>
          </a:prstGeom>
        </p:spPr>
      </p:pic>
      <p:sp>
        <p:nvSpPr>
          <p:cNvPr id="12" name="demo-shell-caption">
            <a:extLst>
              <a:ext uri="{FF2B5EF4-FFF2-40B4-BE49-F238E27FC236}">
                <a16:creationId xmlns:a16="http://schemas.microsoft.com/office/drawing/2014/main" id="{F4188CFC-C9AC-4992-ACDA-D16C8028D63C}"/>
              </a:ext>
            </a:extLst>
          </p:cNvPr>
          <p:cNvSpPr>
            <a:spLocks noGrp="1"/>
          </p:cNvSpPr>
          <p:nvPr/>
        </p:nvSpPr>
        <p:spPr>
          <a:xfrm>
            <a:off x="1143000" y="7658100"/>
            <a:ext cx="4381500" cy="209550"/>
          </a:xfrm>
          <a:prstGeom prst="rect">
            <a:avLst/>
          </a:prstGeom>
        </p:spPr>
        <p:txBody>
          <a:bodyPr lIns="0" tIns="0" rIns="0" bIns="0"/>
          <a:lstStyle/>
          <a:p>
            <a:pPr algn="l">
              <a:defRPr sz="1275">
                <a:solidFill>
                  <a:srgbClr val="5D5A55"/>
                </a:solidFill>
                <a:latin typeface="PingFang SC"/>
                <a:ea typeface="PingFang SC"/>
                <a:cs typeface="PingFang SC"/>
              </a:defRPr>
            </a:pPr>
            <a:r>
              <a:rPr sz="1275">
                <a:solidFill>
                  <a:srgbClr val="5D5A55"/>
                </a:solidFill>
                <a:latin typeface="PingFang SC"/>
                <a:ea typeface="PingFang SC"/>
                <a:cs typeface="PingFang SC"/>
              </a:rPr>
              <a:t>Shell Game · fast reactive dexterity</a:t>
            </a:r>
          </a:p>
        </p:txBody>
      </p:sp>
      <p:pic>
        <p:nvPicPr>
          <p:cNvPr id="13" name="demo-lights-image"/>
          <p:cNvPicPr>
            <a:picLocks noChangeAspect="1"/>
          </p:cNvPicPr>
          <p:nvPr/>
        </p:nvPicPr>
        <p:blipFill>
          <a:blip r:embed="rId6"/>
          <a:srcRect t="20951" b="20951"/>
          <a:stretch>
            <a:fillRect/>
          </a:stretch>
        </p:blipFill>
        <p:spPr>
          <a:xfrm>
            <a:off x="5724525" y="5648325"/>
            <a:ext cx="4371975" cy="1905000"/>
          </a:xfrm>
          <a:prstGeom prst="rect">
            <a:avLst/>
          </a:prstGeom>
        </p:spPr>
      </p:pic>
      <p:sp>
        <p:nvSpPr>
          <p:cNvPr id="14" name="demo-lights-caption">
            <a:extLst>
              <a:ext uri="{FF2B5EF4-FFF2-40B4-BE49-F238E27FC236}">
                <a16:creationId xmlns:a16="http://schemas.microsoft.com/office/drawing/2014/main" id="{D3158F1E-6FB4-4E5E-9C4A-5F37FD4C472A}"/>
              </a:ext>
            </a:extLst>
          </p:cNvPr>
          <p:cNvSpPr>
            <a:spLocks noGrp="1"/>
          </p:cNvSpPr>
          <p:nvPr/>
        </p:nvSpPr>
        <p:spPr>
          <a:xfrm>
            <a:off x="5734050" y="7658100"/>
            <a:ext cx="4381500" cy="209550"/>
          </a:xfrm>
          <a:prstGeom prst="rect">
            <a:avLst/>
          </a:prstGeom>
        </p:spPr>
        <p:txBody>
          <a:bodyPr lIns="0" tIns="0" rIns="0" bIns="0"/>
          <a:lstStyle/>
          <a:p>
            <a:pPr algn="l">
              <a:defRPr sz="1275">
                <a:solidFill>
                  <a:srgbClr val="5D5A55"/>
                </a:solidFill>
                <a:latin typeface="PingFang SC"/>
                <a:ea typeface="PingFang SC"/>
                <a:cs typeface="PingFang SC"/>
              </a:defRPr>
            </a:pPr>
            <a:r>
              <a:rPr sz="1275">
                <a:solidFill>
                  <a:srgbClr val="5D5A55"/>
                </a:solidFill>
                <a:latin typeface="PingFang SC"/>
                <a:ea typeface="PingFang SC"/>
                <a:cs typeface="PingFang SC"/>
              </a:rPr>
              <a:t>熄灯继续工作 · robustness under disturbance</a:t>
            </a:r>
          </a:p>
        </p:txBody>
      </p:sp>
      <p:sp>
        <p:nvSpPr>
          <p:cNvPr id="15" name="speed-big-1">
            <a:extLst>
              <a:ext uri="{FF2B5EF4-FFF2-40B4-BE49-F238E27FC236}">
                <a16:creationId xmlns:a16="http://schemas.microsoft.com/office/drawing/2014/main" id="{F90C947D-295F-4BDE-ADD4-D507AE5E2277}"/>
              </a:ext>
            </a:extLst>
          </p:cNvPr>
          <p:cNvSpPr>
            <a:spLocks noGrp="1"/>
          </p:cNvSpPr>
          <p:nvPr/>
        </p:nvSpPr>
        <p:spPr>
          <a:xfrm>
            <a:off x="10668000" y="2571750"/>
            <a:ext cx="6096000" cy="990600"/>
          </a:xfrm>
          <a:prstGeom prst="rect">
            <a:avLst/>
          </a:prstGeom>
        </p:spPr>
        <p:txBody>
          <a:bodyPr lIns="0" tIns="0" rIns="0" bIns="0"/>
          <a:lstStyle/>
          <a:p>
            <a:pPr algn="l">
              <a:defRPr sz="6450" b="1" i="0">
                <a:solidFill>
                  <a:srgbClr val="C00000"/>
                </a:solidFill>
                <a:latin typeface="Avenir Next"/>
                <a:ea typeface="Avenir Next"/>
                <a:cs typeface="Avenir Next"/>
              </a:defRPr>
            </a:pPr>
            <a:r>
              <a:rPr sz="6450" b="1" i="0">
                <a:solidFill>
                  <a:srgbClr val="C00000"/>
                </a:solidFill>
                <a:latin typeface="Avenir Next"/>
                <a:ea typeface="Avenir Next"/>
                <a:cs typeface="Avenir Next"/>
              </a:rPr>
              <a:t>12.1 s</a:t>
            </a:r>
          </a:p>
        </p:txBody>
      </p:sp>
      <p:sp>
        <p:nvSpPr>
          <p:cNvPr id="16" name="speed-label-1">
            <a:extLst>
              <a:ext uri="{FF2B5EF4-FFF2-40B4-BE49-F238E27FC236}">
                <a16:creationId xmlns:a16="http://schemas.microsoft.com/office/drawing/2014/main" id="{7E699FB9-811D-4322-8428-097107F3E330}"/>
              </a:ext>
            </a:extLst>
          </p:cNvPr>
          <p:cNvSpPr>
            <a:spLocks noGrp="1"/>
          </p:cNvSpPr>
          <p:nvPr/>
        </p:nvSpPr>
        <p:spPr>
          <a:xfrm>
            <a:off x="10668000" y="3771900"/>
            <a:ext cx="6096000" cy="285750"/>
          </a:xfrm>
          <a:prstGeom prst="rect">
            <a:avLst/>
          </a:prstGeom>
        </p:spPr>
        <p:txBody>
          <a:bodyPr lIns="0" tIns="0" rIns="0" bIns="0"/>
          <a:lstStyle/>
          <a:p>
            <a:pPr algn="l">
              <a:defRPr sz="1800" b="1" i="0">
                <a:solidFill>
                  <a:srgbClr val="1B1A17"/>
                </a:solidFill>
                <a:latin typeface="PingFang SC"/>
                <a:ea typeface="PingFang SC"/>
                <a:cs typeface="PingFang SC"/>
              </a:defRPr>
            </a:pPr>
            <a:r>
              <a:rPr sz="1800" b="1" i="0">
                <a:solidFill>
                  <a:srgbClr val="1B1A17"/>
                </a:solidFill>
                <a:latin typeface="PingFang SC"/>
                <a:ea typeface="PingFang SC"/>
                <a:cs typeface="PingFang SC"/>
              </a:rPr>
              <a:t>fold a box</a:t>
            </a:r>
          </a:p>
        </p:txBody>
      </p:sp>
      <p:sp>
        <p:nvSpPr>
          <p:cNvPr id="17" name="speed-note-1">
            <a:extLst>
              <a:ext uri="{FF2B5EF4-FFF2-40B4-BE49-F238E27FC236}">
                <a16:creationId xmlns:a16="http://schemas.microsoft.com/office/drawing/2014/main" id="{7CA79CA2-25E8-4E54-A494-658B4F7C91AD}"/>
              </a:ext>
            </a:extLst>
          </p:cNvPr>
          <p:cNvSpPr>
            <a:spLocks noGrp="1"/>
          </p:cNvSpPr>
          <p:nvPr/>
        </p:nvSpPr>
        <p:spPr>
          <a:xfrm>
            <a:off x="10668000" y="4248150"/>
            <a:ext cx="6096000" cy="209550"/>
          </a:xfrm>
          <a:prstGeom prst="rect">
            <a:avLst/>
          </a:prstGeom>
        </p:spPr>
        <p:txBody>
          <a:bodyPr lIns="0" tIns="0" rIns="0" bIns="0"/>
          <a:lstStyle/>
          <a:p>
            <a:pPr algn="l">
              <a:defRPr sz="1350" b="0" i="0">
                <a:solidFill>
                  <a:srgbClr val="5D5A55"/>
                </a:solidFill>
                <a:latin typeface="PingFang SC"/>
                <a:ea typeface="PingFang SC"/>
                <a:cs typeface="PingFang SC"/>
              </a:defRPr>
            </a:pPr>
            <a:r>
              <a:rPr sz="1350" b="0" i="0">
                <a:solidFill>
                  <a:srgbClr val="5D5A55"/>
                </a:solidFill>
                <a:latin typeface="PingFang SC"/>
                <a:ea typeface="PingFang SC"/>
                <a:cs typeface="PingFang SC"/>
              </a:rPr>
              <a:t>~2.8x faster than prior SOTA (~34 s)</a:t>
            </a:r>
          </a:p>
        </p:txBody>
      </p:sp>
      <p:sp>
        <p:nvSpPr>
          <p:cNvPr id="18" name="speed-big-2">
            <a:extLst>
              <a:ext uri="{FF2B5EF4-FFF2-40B4-BE49-F238E27FC236}">
                <a16:creationId xmlns:a16="http://schemas.microsoft.com/office/drawing/2014/main" id="{E2B2F0D8-AB48-4498-928C-3727B8B9626A}"/>
              </a:ext>
            </a:extLst>
          </p:cNvPr>
          <p:cNvSpPr>
            <a:spLocks noGrp="1"/>
          </p:cNvSpPr>
          <p:nvPr/>
        </p:nvSpPr>
        <p:spPr>
          <a:xfrm>
            <a:off x="10668000" y="4667250"/>
            <a:ext cx="6096000" cy="990600"/>
          </a:xfrm>
          <a:prstGeom prst="rect">
            <a:avLst/>
          </a:prstGeom>
        </p:spPr>
        <p:txBody>
          <a:bodyPr lIns="0" tIns="0" rIns="0" bIns="0"/>
          <a:lstStyle/>
          <a:p>
            <a:pPr algn="l">
              <a:defRPr sz="6450" b="1" i="0">
                <a:solidFill>
                  <a:srgbClr val="0C2441"/>
                </a:solidFill>
                <a:latin typeface="Avenir Next"/>
                <a:ea typeface="Avenir Next"/>
                <a:cs typeface="Avenir Next"/>
              </a:defRPr>
            </a:pPr>
            <a:r>
              <a:rPr sz="6450" b="1" i="0">
                <a:solidFill>
                  <a:srgbClr val="0C2441"/>
                </a:solidFill>
                <a:latin typeface="Avenir Next"/>
                <a:ea typeface="Avenir Next"/>
                <a:cs typeface="Avenir Next"/>
              </a:rPr>
              <a:t>15.5 s</a:t>
            </a:r>
          </a:p>
        </p:txBody>
      </p:sp>
      <p:sp>
        <p:nvSpPr>
          <p:cNvPr id="19" name="speed-label-2">
            <a:extLst>
              <a:ext uri="{FF2B5EF4-FFF2-40B4-BE49-F238E27FC236}">
                <a16:creationId xmlns:a16="http://schemas.microsoft.com/office/drawing/2014/main" id="{C2FFB560-2E52-43DE-A2A1-0F61EF8C1071}"/>
              </a:ext>
            </a:extLst>
          </p:cNvPr>
          <p:cNvSpPr>
            <a:spLocks noGrp="1"/>
          </p:cNvSpPr>
          <p:nvPr/>
        </p:nvSpPr>
        <p:spPr>
          <a:xfrm>
            <a:off x="10668000" y="5848350"/>
            <a:ext cx="6096000" cy="285750"/>
          </a:xfrm>
          <a:prstGeom prst="rect">
            <a:avLst/>
          </a:prstGeom>
        </p:spPr>
        <p:txBody>
          <a:bodyPr lIns="0" tIns="0" rIns="0" bIns="0"/>
          <a:lstStyle/>
          <a:p>
            <a:pPr algn="l">
              <a:defRPr sz="1800" b="1" i="0">
                <a:solidFill>
                  <a:srgbClr val="1B1A17"/>
                </a:solidFill>
                <a:latin typeface="PingFang SC"/>
                <a:ea typeface="PingFang SC"/>
                <a:cs typeface="PingFang SC"/>
              </a:defRPr>
            </a:pPr>
            <a:r>
              <a:rPr sz="1800" b="1" i="0">
                <a:solidFill>
                  <a:srgbClr val="1B1A17"/>
                </a:solidFill>
                <a:latin typeface="PingFang SC"/>
                <a:ea typeface="PingFang SC"/>
                <a:cs typeface="PingFang SC"/>
              </a:rPr>
              <a:t>pack a phone</a:t>
            </a:r>
          </a:p>
        </p:txBody>
      </p:sp>
      <p:sp>
        <p:nvSpPr>
          <p:cNvPr id="20" name="speed-note-2">
            <a:extLst>
              <a:ext uri="{FF2B5EF4-FFF2-40B4-BE49-F238E27FC236}">
                <a16:creationId xmlns:a16="http://schemas.microsoft.com/office/drawing/2014/main" id="{A1024114-09BE-4AED-B2C1-6F7AF4DCDFFD}"/>
              </a:ext>
            </a:extLst>
          </p:cNvPr>
          <p:cNvSpPr>
            <a:spLocks noGrp="1"/>
          </p:cNvSpPr>
          <p:nvPr/>
        </p:nvSpPr>
        <p:spPr>
          <a:xfrm>
            <a:off x="10668000" y="6343650"/>
            <a:ext cx="6096000" cy="209550"/>
          </a:xfrm>
          <a:prstGeom prst="rect">
            <a:avLst/>
          </a:prstGeom>
        </p:spPr>
        <p:txBody>
          <a:bodyPr lIns="0" tIns="0" rIns="0" bIns="0"/>
          <a:lstStyle/>
          <a:p>
            <a:pPr algn="l">
              <a:defRPr sz="1350" b="0" i="0">
                <a:solidFill>
                  <a:srgbClr val="5D5A55"/>
                </a:solidFill>
                <a:latin typeface="PingFang SC"/>
                <a:ea typeface="PingFang SC"/>
                <a:cs typeface="PingFang SC"/>
              </a:defRPr>
            </a:pPr>
            <a:r>
              <a:rPr sz="1350" b="0" i="0">
                <a:solidFill>
                  <a:srgbClr val="5D5A55"/>
                </a:solidFill>
                <a:latin typeface="PingFang SC"/>
                <a:ea typeface="PingFang SC"/>
                <a:cs typeface="PingFang SC"/>
              </a:rPr>
              <a:t>~2.8x the speed of GEN-0</a:t>
            </a:r>
          </a:p>
        </p:txBody>
      </p:sp>
      <p:sp>
        <p:nvSpPr>
          <p:cNvPr id="21" name="speed-improv-note">
            <a:extLst>
              <a:ext uri="{FF2B5EF4-FFF2-40B4-BE49-F238E27FC236}">
                <a16:creationId xmlns:a16="http://schemas.microsoft.com/office/drawing/2014/main" id="{3E5AC00A-C442-4ACF-85D9-7B7D49EA1E5E}"/>
              </a:ext>
            </a:extLst>
          </p:cNvPr>
          <p:cNvSpPr>
            <a:spLocks noGrp="1"/>
          </p:cNvSpPr>
          <p:nvPr/>
        </p:nvSpPr>
        <p:spPr>
          <a:xfrm>
            <a:off x="10668000" y="6762750"/>
            <a:ext cx="5067300" cy="685800"/>
          </a:xfrm>
          <a:prstGeom prst="rect">
            <a:avLst/>
          </a:prstGeom>
        </p:spPr>
        <p:txBody>
          <a:bodyPr lIns="0" tIns="0" rIns="0" bIns="0"/>
          <a:lstStyle/>
          <a:p>
            <a:pPr algn="l">
              <a:defRPr sz="1500" b="0" i="0">
                <a:solidFill>
                  <a:srgbClr val="1B1A17"/>
                </a:solidFill>
                <a:latin typeface="PingFang SC"/>
                <a:ea typeface="PingFang SC"/>
                <a:cs typeface="PingFang SC"/>
              </a:defRPr>
            </a:pPr>
            <a:r>
              <a:rPr sz="1500" b="0" i="0">
                <a:solidFill>
                  <a:srgbClr val="1B1A17"/>
                </a:solidFill>
                <a:latin typeface="PingFang SC"/>
                <a:ea typeface="PingFang SC"/>
                <a:cs typeface="PingFang SC"/>
              </a:rPr>
              <a:t>Improvisation = regrasp, recovery, bimanual adjustment, and long-tail correction when the world departs from the script.</a:t>
            </a:r>
          </a:p>
        </p:txBody>
      </p:sp>
    </p:spTree>
    <p:extLst>
      <p:ext uri="{BB962C8B-B14F-4D97-AF65-F5344CB8AC3E}">
        <p14:creationId xmlns:p14="http://schemas.microsoft.com/office/powerpoint/2010/main" val="2133462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a:extLst>
            <a:ext uri="{FF2B5EF4-FFF2-40B4-BE49-F238E27FC236}">
              <a16:creationId xmlns:a16="http://schemas.microsoft.com/office/drawing/2014/main" id="{8DB44C09-AD68-E984-3A73-2285E2254D58}"/>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5A182480-81A5-B6BA-590D-9734D6DB8777}"/>
              </a:ext>
            </a:extLst>
          </p:cNvPr>
          <p:cNvSpPr>
            <a:spLocks noGrp="1"/>
          </p:cNvSpPr>
          <p:nvPr/>
        </p:nvSpPr>
        <p:spPr>
          <a:prstGeom prst="rect">
            <a:avLst/>
          </a:prstGeom>
        </p:spPr>
        <p:txBody>
          <a:bodyPr/>
          <a:lstStyle/>
          <a:p>
            <a:endParaRPr lang="en-US"/>
          </a:p>
        </p:txBody>
      </p:sp>
      <p:sp>
        <p:nvSpPr>
          <p:cNvPr id="2" name="slide-title">
            <a:extLst>
              <a:ext uri="{FF2B5EF4-FFF2-40B4-BE49-F238E27FC236}">
                <a16:creationId xmlns:a16="http://schemas.microsoft.com/office/drawing/2014/main" id="{9F1549B3-F207-B119-94E3-AE9C11E4BAE8}"/>
              </a:ext>
            </a:extLst>
          </p:cNvPr>
          <p:cNvSpPr>
            <a:spLocks noGrp="1"/>
          </p:cNvSpPr>
          <p:nvPr/>
        </p:nvSpPr>
        <p:spPr>
          <a:xfrm>
            <a:off x="1143000" y="495300"/>
            <a:ext cx="13144500" cy="514350"/>
          </a:xfrm>
          <a:prstGeom prst="rect">
            <a:avLst/>
          </a:prstGeom>
        </p:spPr>
        <p:txBody>
          <a:bodyPr lIns="0" tIns="0" rIns="0" bIns="0"/>
          <a:lstStyle/>
          <a:p>
            <a:pPr algn="l">
              <a:defRPr sz="3300" b="1">
                <a:solidFill>
                  <a:srgbClr val="1B1A17"/>
                </a:solidFill>
                <a:latin typeface="Songti SC"/>
                <a:ea typeface="Songti SC"/>
                <a:cs typeface="Songti SC"/>
              </a:defRPr>
            </a:pPr>
            <a:r>
              <a:rPr sz="3300" b="1">
                <a:solidFill>
                  <a:srgbClr val="1B1A17"/>
                </a:solidFill>
                <a:latin typeface="Songti SC"/>
                <a:ea typeface="Songti SC"/>
                <a:cs typeface="Songti SC"/>
              </a:rPr>
              <a:t>速度与即兴恢复：另一半才是“精通”</a:t>
            </a:r>
          </a:p>
        </p:txBody>
      </p:sp>
      <p:sp>
        <p:nvSpPr>
          <p:cNvPr id="3" name="slide-subtitle">
            <a:extLst>
              <a:ext uri="{FF2B5EF4-FFF2-40B4-BE49-F238E27FC236}">
                <a16:creationId xmlns:a16="http://schemas.microsoft.com/office/drawing/2014/main" id="{2A5A08D3-3D75-046A-9553-366F5ABFBB9D}"/>
              </a:ext>
            </a:extLst>
          </p:cNvPr>
          <p:cNvSpPr>
            <a:spLocks noGrp="1"/>
          </p:cNvSpPr>
          <p:nvPr/>
        </p:nvSpPr>
        <p:spPr>
          <a:xfrm>
            <a:off x="1143000" y="1066800"/>
            <a:ext cx="13144500" cy="266700"/>
          </a:xfrm>
          <a:prstGeom prst="rect">
            <a:avLst/>
          </a:prstGeom>
        </p:spPr>
        <p:txBody>
          <a:bodyPr lIns="0" tIns="0" rIns="0" bIns="0"/>
          <a:lstStyle/>
          <a:p>
            <a:pPr algn="l">
              <a:defRPr sz="1650">
                <a:solidFill>
                  <a:srgbClr val="5D5A55"/>
                </a:solidFill>
                <a:latin typeface="PingFang SC"/>
                <a:ea typeface="PingFang SC"/>
                <a:cs typeface="PingFang SC"/>
              </a:defRPr>
            </a:pPr>
            <a:r>
              <a:rPr sz="1650">
                <a:solidFill>
                  <a:srgbClr val="5D5A55"/>
                </a:solidFill>
                <a:latin typeface="PingFang SC"/>
                <a:ea typeface="PingFang SC"/>
                <a:cs typeface="PingFang SC"/>
              </a:rPr>
              <a:t>文章强调：快，不只是快动作；即兴，不只是炫技。</a:t>
            </a:r>
          </a:p>
        </p:txBody>
      </p:sp>
      <p:sp>
        <p:nvSpPr>
          <p:cNvPr id="4" name="logo-wordmark">
            <a:extLst>
              <a:ext uri="{FF2B5EF4-FFF2-40B4-BE49-F238E27FC236}">
                <a16:creationId xmlns:a16="http://schemas.microsoft.com/office/drawing/2014/main" id="{7961ECDD-AE12-4161-2AB0-1597B9835A9E}"/>
              </a:ext>
            </a:extLst>
          </p:cNvPr>
          <p:cNvSpPr>
            <a:spLocks noGrp="1"/>
          </p:cNvSpPr>
          <p:nvPr/>
        </p:nvSpPr>
        <p:spPr>
          <a:xfrm>
            <a:off x="14478000" y="590550"/>
            <a:ext cx="2667000" cy="266700"/>
          </a:xfrm>
          <a:prstGeom prst="rect">
            <a:avLst/>
          </a:prstGeom>
        </p:spPr>
        <p:txBody>
          <a:bodyPr lIns="0" tIns="0" rIns="0" bIns="0"/>
          <a:lstStyle/>
          <a:p>
            <a:pPr algn="r">
              <a:defRPr sz="1650" b="1" i="0">
                <a:solidFill>
                  <a:srgbClr val="C00000"/>
                </a:solidFill>
                <a:latin typeface="Avenir Next"/>
                <a:ea typeface="Avenir Next"/>
                <a:cs typeface="Avenir Next"/>
              </a:defRPr>
            </a:pPr>
            <a:r>
              <a:rPr sz="1650" b="1" i="0">
                <a:solidFill>
                  <a:srgbClr val="C00000"/>
                </a:solidFill>
                <a:latin typeface="Avenir Next"/>
                <a:ea typeface="Avenir Next"/>
                <a:cs typeface="Avenir Next"/>
              </a:rPr>
              <a:t>Generalist AI</a:t>
            </a:r>
          </a:p>
        </p:txBody>
      </p:sp>
      <p:sp>
        <p:nvSpPr>
          <p:cNvPr id="5" name="source-line">
            <a:extLst>
              <a:ext uri="{FF2B5EF4-FFF2-40B4-BE49-F238E27FC236}">
                <a16:creationId xmlns:a16="http://schemas.microsoft.com/office/drawing/2014/main" id="{BF239BDD-B565-E4F5-807D-5BA2171A1CE2}"/>
              </a:ext>
            </a:extLst>
          </p:cNvPr>
          <p:cNvSpPr>
            <a:spLocks noGrp="1"/>
          </p:cNvSpPr>
          <p:nvPr/>
        </p:nvSpPr>
        <p:spPr>
          <a:xfrm>
            <a:off x="1143000" y="9734550"/>
            <a:ext cx="11430000" cy="152400"/>
          </a:xfrm>
          <a:prstGeom prst="rect">
            <a:avLst/>
          </a:prstGeom>
        </p:spPr>
        <p:txBody>
          <a:bodyPr lIns="0" tIns="0" rIns="0" bIns="0"/>
          <a:lstStyle/>
          <a:p>
            <a:pPr algn="l">
              <a:defRPr sz="900" b="0" i="0">
                <a:solidFill>
                  <a:srgbClr val="5D5A55"/>
                </a:solidFill>
                <a:latin typeface="PingFang SC"/>
                <a:ea typeface="PingFang SC"/>
                <a:cs typeface="PingFang SC"/>
              </a:defRPr>
            </a:pPr>
            <a:r>
              <a:rPr sz="900" b="0" i="0">
                <a:solidFill>
                  <a:srgbClr val="5D5A55"/>
                </a:solidFill>
                <a:latin typeface="PingFang SC"/>
                <a:ea typeface="PingFang SC"/>
                <a:cs typeface="PingFang SC"/>
              </a:rPr>
              <a:t>Source: Generalist AI Blog, 2026-04-02</a:t>
            </a:r>
          </a:p>
        </p:txBody>
      </p:sp>
      <p:sp>
        <p:nvSpPr>
          <p:cNvPr id="6" name="page-number">
            <a:extLst>
              <a:ext uri="{FF2B5EF4-FFF2-40B4-BE49-F238E27FC236}">
                <a16:creationId xmlns:a16="http://schemas.microsoft.com/office/drawing/2014/main" id="{660FB3F2-B083-4289-18C9-38CE0C038635}"/>
              </a:ext>
            </a:extLst>
          </p:cNvPr>
          <p:cNvSpPr>
            <a:spLocks noGrp="1"/>
          </p:cNvSpPr>
          <p:nvPr/>
        </p:nvSpPr>
        <p:spPr>
          <a:xfrm>
            <a:off x="15811500" y="9715500"/>
            <a:ext cx="1524000" cy="152400"/>
          </a:xfrm>
          <a:prstGeom prst="rect">
            <a:avLst/>
          </a:prstGeom>
        </p:spPr>
        <p:txBody>
          <a:bodyPr lIns="0" tIns="0" rIns="0" bIns="0"/>
          <a:lstStyle/>
          <a:p>
            <a:pPr algn="r">
              <a:defRPr sz="975" b="0" i="0">
                <a:solidFill>
                  <a:srgbClr val="5D5A55"/>
                </a:solidFill>
                <a:latin typeface="Avenir Next"/>
                <a:ea typeface="Avenir Next"/>
                <a:cs typeface="Avenir Next"/>
              </a:defRPr>
            </a:pPr>
            <a:r>
              <a:rPr sz="975" b="0" i="0">
                <a:solidFill>
                  <a:srgbClr val="5D5A55"/>
                </a:solidFill>
                <a:latin typeface="Avenir Next"/>
                <a:ea typeface="Avenir Next"/>
                <a:cs typeface="Avenir Next"/>
              </a:rPr>
              <a:t>07 / 10</a:t>
            </a:r>
          </a:p>
        </p:txBody>
      </p:sp>
      <p:pic>
        <p:nvPicPr>
          <p:cNvPr id="7" name="demo-ethernet-image">
            <a:extLst>
              <a:ext uri="{FF2B5EF4-FFF2-40B4-BE49-F238E27FC236}">
                <a16:creationId xmlns:a16="http://schemas.microsoft.com/office/drawing/2014/main" id="{2A362DCC-7A43-F2C1-D80F-9B7367E10923}"/>
              </a:ext>
            </a:extLst>
          </p:cNvPr>
          <p:cNvPicPr>
            <a:picLocks noChangeAspect="1"/>
          </p:cNvPicPr>
          <p:nvPr/>
        </p:nvPicPr>
        <p:blipFill>
          <a:blip r:embed="rId3"/>
          <a:srcRect t="20951" b="20951"/>
          <a:stretch>
            <a:fillRect/>
          </a:stretch>
        </p:blipFill>
        <p:spPr>
          <a:xfrm>
            <a:off x="1143000" y="2381250"/>
            <a:ext cx="4371975" cy="1905000"/>
          </a:xfrm>
          <a:prstGeom prst="rect">
            <a:avLst/>
          </a:prstGeom>
        </p:spPr>
      </p:pic>
      <p:sp>
        <p:nvSpPr>
          <p:cNvPr id="8" name="demo-ethernet-caption">
            <a:extLst>
              <a:ext uri="{FF2B5EF4-FFF2-40B4-BE49-F238E27FC236}">
                <a16:creationId xmlns:a16="http://schemas.microsoft.com/office/drawing/2014/main" id="{AFFEFE7F-EF3E-C9E9-23F8-D212F5A6ED7A}"/>
              </a:ext>
            </a:extLst>
          </p:cNvPr>
          <p:cNvSpPr>
            <a:spLocks noGrp="1"/>
          </p:cNvSpPr>
          <p:nvPr/>
        </p:nvSpPr>
        <p:spPr>
          <a:xfrm>
            <a:off x="1143000" y="4381500"/>
            <a:ext cx="4381500" cy="209550"/>
          </a:xfrm>
          <a:prstGeom prst="rect">
            <a:avLst/>
          </a:prstGeom>
        </p:spPr>
        <p:txBody>
          <a:bodyPr lIns="0" tIns="0" rIns="0" bIns="0"/>
          <a:lstStyle/>
          <a:p>
            <a:pPr algn="l">
              <a:defRPr sz="1275">
                <a:solidFill>
                  <a:srgbClr val="5D5A55"/>
                </a:solidFill>
                <a:latin typeface="PingFang SC"/>
                <a:ea typeface="PingFang SC"/>
                <a:cs typeface="PingFang SC"/>
              </a:defRPr>
            </a:pPr>
            <a:r>
              <a:rPr sz="1275">
                <a:solidFill>
                  <a:srgbClr val="5D5A55"/>
                </a:solidFill>
                <a:latin typeface="PingFang SC"/>
                <a:ea typeface="PingFang SC"/>
                <a:cs typeface="PingFang SC"/>
              </a:rPr>
              <a:t>插网线 · fine-grained manipulation</a:t>
            </a:r>
          </a:p>
        </p:txBody>
      </p:sp>
      <p:pic>
        <p:nvPicPr>
          <p:cNvPr id="9" name="demo-zipper-image">
            <a:extLst>
              <a:ext uri="{FF2B5EF4-FFF2-40B4-BE49-F238E27FC236}">
                <a16:creationId xmlns:a16="http://schemas.microsoft.com/office/drawing/2014/main" id="{A551C154-DAF7-B7F9-E5FD-114A082D64D8}"/>
              </a:ext>
            </a:extLst>
          </p:cNvPr>
          <p:cNvPicPr>
            <a:picLocks noChangeAspect="1"/>
          </p:cNvPicPr>
          <p:nvPr/>
        </p:nvPicPr>
        <p:blipFill>
          <a:blip r:embed="rId4"/>
          <a:srcRect t="20951" b="20951"/>
          <a:stretch>
            <a:fillRect/>
          </a:stretch>
        </p:blipFill>
        <p:spPr>
          <a:xfrm>
            <a:off x="5724525" y="2381250"/>
            <a:ext cx="4371975" cy="1905000"/>
          </a:xfrm>
          <a:prstGeom prst="rect">
            <a:avLst/>
          </a:prstGeom>
        </p:spPr>
      </p:pic>
      <p:sp>
        <p:nvSpPr>
          <p:cNvPr id="10" name="demo-zipper-caption">
            <a:extLst>
              <a:ext uri="{FF2B5EF4-FFF2-40B4-BE49-F238E27FC236}">
                <a16:creationId xmlns:a16="http://schemas.microsoft.com/office/drawing/2014/main" id="{242C18FA-EFC8-8C87-4CED-D1CA6F95BCEB}"/>
              </a:ext>
            </a:extLst>
          </p:cNvPr>
          <p:cNvSpPr>
            <a:spLocks noGrp="1"/>
          </p:cNvSpPr>
          <p:nvPr/>
        </p:nvSpPr>
        <p:spPr>
          <a:xfrm>
            <a:off x="5734050" y="4381500"/>
            <a:ext cx="4381500" cy="209550"/>
          </a:xfrm>
          <a:prstGeom prst="rect">
            <a:avLst/>
          </a:prstGeom>
        </p:spPr>
        <p:txBody>
          <a:bodyPr lIns="0" tIns="0" rIns="0" bIns="0"/>
          <a:lstStyle/>
          <a:p>
            <a:pPr algn="l">
              <a:defRPr sz="1275">
                <a:solidFill>
                  <a:srgbClr val="5D5A55"/>
                </a:solidFill>
                <a:latin typeface="PingFang SC"/>
                <a:ea typeface="PingFang SC"/>
                <a:cs typeface="PingFang SC"/>
              </a:defRPr>
            </a:pPr>
            <a:r>
              <a:rPr sz="1275">
                <a:solidFill>
                  <a:srgbClr val="5D5A55"/>
                </a:solidFill>
                <a:latin typeface="PingFang SC"/>
                <a:ea typeface="PingFang SC"/>
                <a:cs typeface="PingFang SC"/>
              </a:rPr>
              <a:t>装笔进拉链袋 · deformable object handling</a:t>
            </a:r>
          </a:p>
        </p:txBody>
      </p:sp>
      <p:pic>
        <p:nvPicPr>
          <p:cNvPr id="11" name="demo-shell-image">
            <a:extLst>
              <a:ext uri="{FF2B5EF4-FFF2-40B4-BE49-F238E27FC236}">
                <a16:creationId xmlns:a16="http://schemas.microsoft.com/office/drawing/2014/main" id="{D3714FF9-0DF1-8138-5997-B705E6DD1C9F}"/>
              </a:ext>
            </a:extLst>
          </p:cNvPr>
          <p:cNvPicPr>
            <a:picLocks noChangeAspect="1"/>
          </p:cNvPicPr>
          <p:nvPr/>
        </p:nvPicPr>
        <p:blipFill>
          <a:blip r:embed="rId5"/>
          <a:srcRect t="20951" b="20951"/>
          <a:stretch>
            <a:fillRect/>
          </a:stretch>
        </p:blipFill>
        <p:spPr>
          <a:xfrm>
            <a:off x="1143000" y="5648325"/>
            <a:ext cx="4371975" cy="1905000"/>
          </a:xfrm>
          <a:prstGeom prst="rect">
            <a:avLst/>
          </a:prstGeom>
        </p:spPr>
      </p:pic>
      <p:sp>
        <p:nvSpPr>
          <p:cNvPr id="12" name="demo-shell-caption">
            <a:extLst>
              <a:ext uri="{FF2B5EF4-FFF2-40B4-BE49-F238E27FC236}">
                <a16:creationId xmlns:a16="http://schemas.microsoft.com/office/drawing/2014/main" id="{CF0369E3-BCB4-2D1F-DB12-0631F944AFB6}"/>
              </a:ext>
            </a:extLst>
          </p:cNvPr>
          <p:cNvSpPr>
            <a:spLocks noGrp="1"/>
          </p:cNvSpPr>
          <p:nvPr/>
        </p:nvSpPr>
        <p:spPr>
          <a:xfrm>
            <a:off x="1143000" y="7658100"/>
            <a:ext cx="4381500" cy="209550"/>
          </a:xfrm>
          <a:prstGeom prst="rect">
            <a:avLst/>
          </a:prstGeom>
        </p:spPr>
        <p:txBody>
          <a:bodyPr lIns="0" tIns="0" rIns="0" bIns="0"/>
          <a:lstStyle/>
          <a:p>
            <a:pPr algn="l">
              <a:defRPr sz="1275">
                <a:solidFill>
                  <a:srgbClr val="5D5A55"/>
                </a:solidFill>
                <a:latin typeface="PingFang SC"/>
                <a:ea typeface="PingFang SC"/>
                <a:cs typeface="PingFang SC"/>
              </a:defRPr>
            </a:pPr>
            <a:r>
              <a:rPr sz="1275">
                <a:solidFill>
                  <a:srgbClr val="5D5A55"/>
                </a:solidFill>
                <a:latin typeface="PingFang SC"/>
                <a:ea typeface="PingFang SC"/>
                <a:cs typeface="PingFang SC"/>
              </a:rPr>
              <a:t>Shell Game · fast reactive dexterity</a:t>
            </a:r>
          </a:p>
        </p:txBody>
      </p:sp>
      <p:pic>
        <p:nvPicPr>
          <p:cNvPr id="13" name="demo-lights-image">
            <a:extLst>
              <a:ext uri="{FF2B5EF4-FFF2-40B4-BE49-F238E27FC236}">
                <a16:creationId xmlns:a16="http://schemas.microsoft.com/office/drawing/2014/main" id="{D825F32E-6675-3243-4B4A-B7699E57B723}"/>
              </a:ext>
            </a:extLst>
          </p:cNvPr>
          <p:cNvPicPr>
            <a:picLocks noChangeAspect="1"/>
          </p:cNvPicPr>
          <p:nvPr/>
        </p:nvPicPr>
        <p:blipFill>
          <a:blip r:embed="rId6"/>
          <a:srcRect t="20951" b="20951"/>
          <a:stretch>
            <a:fillRect/>
          </a:stretch>
        </p:blipFill>
        <p:spPr>
          <a:xfrm>
            <a:off x="5724525" y="5648325"/>
            <a:ext cx="4371975" cy="1905000"/>
          </a:xfrm>
          <a:prstGeom prst="rect">
            <a:avLst/>
          </a:prstGeom>
        </p:spPr>
      </p:pic>
      <p:sp>
        <p:nvSpPr>
          <p:cNvPr id="14" name="demo-lights-caption">
            <a:extLst>
              <a:ext uri="{FF2B5EF4-FFF2-40B4-BE49-F238E27FC236}">
                <a16:creationId xmlns:a16="http://schemas.microsoft.com/office/drawing/2014/main" id="{2C55082C-1DAF-B9E9-7A44-A9F8F33A9EDE}"/>
              </a:ext>
            </a:extLst>
          </p:cNvPr>
          <p:cNvSpPr>
            <a:spLocks noGrp="1"/>
          </p:cNvSpPr>
          <p:nvPr/>
        </p:nvSpPr>
        <p:spPr>
          <a:xfrm>
            <a:off x="5734050" y="7658100"/>
            <a:ext cx="4381500" cy="209550"/>
          </a:xfrm>
          <a:prstGeom prst="rect">
            <a:avLst/>
          </a:prstGeom>
        </p:spPr>
        <p:txBody>
          <a:bodyPr lIns="0" tIns="0" rIns="0" bIns="0"/>
          <a:lstStyle/>
          <a:p>
            <a:pPr algn="l">
              <a:defRPr sz="1275">
                <a:solidFill>
                  <a:srgbClr val="5D5A55"/>
                </a:solidFill>
                <a:latin typeface="PingFang SC"/>
                <a:ea typeface="PingFang SC"/>
                <a:cs typeface="PingFang SC"/>
              </a:defRPr>
            </a:pPr>
            <a:r>
              <a:rPr sz="1275">
                <a:solidFill>
                  <a:srgbClr val="5D5A55"/>
                </a:solidFill>
                <a:latin typeface="PingFang SC"/>
                <a:ea typeface="PingFang SC"/>
                <a:cs typeface="PingFang SC"/>
              </a:rPr>
              <a:t>熄灯继续工作 · robustness under disturbance</a:t>
            </a:r>
          </a:p>
        </p:txBody>
      </p:sp>
      <p:pic>
        <p:nvPicPr>
          <p:cNvPr id="23" name="Picture 22">
            <a:extLst>
              <a:ext uri="{FF2B5EF4-FFF2-40B4-BE49-F238E27FC236}">
                <a16:creationId xmlns:a16="http://schemas.microsoft.com/office/drawing/2014/main" id="{AB15A2A8-EEAF-086A-8427-8B0CC7498F2F}"/>
              </a:ext>
            </a:extLst>
          </p:cNvPr>
          <p:cNvPicPr>
            <a:picLocks noChangeAspect="1"/>
          </p:cNvPicPr>
          <p:nvPr/>
        </p:nvPicPr>
        <p:blipFill>
          <a:blip r:embed="rId7"/>
          <a:stretch>
            <a:fillRect/>
          </a:stretch>
        </p:blipFill>
        <p:spPr>
          <a:xfrm>
            <a:off x="10511064" y="2381250"/>
            <a:ext cx="5181181" cy="5172075"/>
          </a:xfrm>
          <a:prstGeom prst="rect">
            <a:avLst/>
          </a:prstGeom>
        </p:spPr>
      </p:pic>
    </p:spTree>
    <p:extLst>
      <p:ext uri="{BB962C8B-B14F-4D97-AF65-F5344CB8AC3E}">
        <p14:creationId xmlns:p14="http://schemas.microsoft.com/office/powerpoint/2010/main" val="17062439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a:extLst>
            <a:ext uri="{FF2B5EF4-FFF2-40B4-BE49-F238E27FC236}">
              <a16:creationId xmlns:a16="http://schemas.microsoft.com/office/drawing/2014/main" id="{CA71417C-7305-10C5-152B-028406370E71}"/>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B7C0EDA2-DB61-EF5B-69CD-28B4C75AA78E}"/>
              </a:ext>
            </a:extLst>
          </p:cNvPr>
          <p:cNvSpPr>
            <a:spLocks noGrp="1"/>
          </p:cNvSpPr>
          <p:nvPr/>
        </p:nvSpPr>
        <p:spPr>
          <a:prstGeom prst="rect">
            <a:avLst/>
          </a:prstGeom>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cs typeface="Calibri"/>
            </a:endParaRPr>
          </a:p>
        </p:txBody>
      </p:sp>
      <p:sp>
        <p:nvSpPr>
          <p:cNvPr id="2" name="slide-title">
            <a:extLst>
              <a:ext uri="{FF2B5EF4-FFF2-40B4-BE49-F238E27FC236}">
                <a16:creationId xmlns:a16="http://schemas.microsoft.com/office/drawing/2014/main" id="{40BA8BB3-6EE7-2FB5-8B8C-D0D7EE7949C8}"/>
              </a:ext>
            </a:extLst>
          </p:cNvPr>
          <p:cNvSpPr>
            <a:spLocks noGrp="1"/>
          </p:cNvSpPr>
          <p:nvPr/>
        </p:nvSpPr>
        <p:spPr>
          <a:xfrm>
            <a:off x="1143000" y="495300"/>
            <a:ext cx="13144500" cy="514350"/>
          </a:xfrm>
          <a:prstGeom prst="rect">
            <a:avLst/>
          </a:prstGeom>
        </p:spPr>
        <p:txBody>
          <a:bodyPr lIns="0" tIns="0" rIns="0" bIns="0"/>
          <a:lstStyle/>
          <a:p>
            <a:pPr marL="0" marR="0" lvl="0" indent="0" algn="l" defTabSz="914400" eaLnBrk="1" fontAlgn="auto" latinLnBrk="0" hangingPunct="1">
              <a:lnSpc>
                <a:spcPct val="100000"/>
              </a:lnSpc>
              <a:spcBef>
                <a:spcPts val="0"/>
              </a:spcBef>
              <a:spcAft>
                <a:spcPts val="0"/>
              </a:spcAft>
              <a:buClrTx/>
              <a:buSzTx/>
              <a:buFontTx/>
              <a:buNone/>
              <a:tabLst/>
              <a:defRPr sz="3300" b="1">
                <a:solidFill>
                  <a:srgbClr val="1B1A17"/>
                </a:solidFill>
                <a:latin typeface="Songti SC"/>
                <a:ea typeface="Songti SC"/>
                <a:cs typeface="Songti SC"/>
              </a:defRPr>
            </a:pPr>
            <a:r>
              <a:rPr lang="en-US" sz="3300" b="1" dirty="0" err="1">
                <a:solidFill>
                  <a:srgbClr val="1B1A17"/>
                </a:solidFill>
                <a:latin typeface="Songti SC"/>
                <a:ea typeface="Songti SC"/>
                <a:cs typeface="Songti SC"/>
              </a:rPr>
              <a:t>五点</a:t>
            </a:r>
            <a:r>
              <a:rPr kumimoji="0" lang="en-US" sz="3300" b="1" i="0" u="none" strike="noStrike" kern="1200" cap="none" spc="0" normalizeH="0" baseline="0" noProof="0" dirty="0" err="1">
                <a:ln>
                  <a:noFill/>
                </a:ln>
                <a:solidFill>
                  <a:srgbClr val="1B1A17"/>
                </a:solidFill>
                <a:effectLst/>
                <a:uLnTx/>
                <a:uFillTx/>
                <a:latin typeface="Songti SC"/>
                <a:ea typeface="Songti SC"/>
                <a:cs typeface="Songti SC"/>
              </a:rPr>
              <a:t>核心技术突破</a:t>
            </a:r>
            <a:endParaRPr kumimoji="0" sz="3300" b="1" i="0" u="none" strike="noStrike" kern="1200" cap="none" spc="0" normalizeH="0" baseline="0" noProof="0" dirty="0">
              <a:ln>
                <a:noFill/>
              </a:ln>
              <a:solidFill>
                <a:srgbClr val="1B1A17"/>
              </a:solidFill>
              <a:effectLst/>
              <a:uLnTx/>
              <a:uFillTx/>
              <a:latin typeface="Songti SC"/>
              <a:ea typeface="Songti SC"/>
              <a:cs typeface="Songti SC"/>
            </a:endParaRPr>
          </a:p>
        </p:txBody>
      </p:sp>
      <p:sp>
        <p:nvSpPr>
          <p:cNvPr id="3" name="slide-subtitle">
            <a:extLst>
              <a:ext uri="{FF2B5EF4-FFF2-40B4-BE49-F238E27FC236}">
                <a16:creationId xmlns:a16="http://schemas.microsoft.com/office/drawing/2014/main" id="{27F3601D-9A1E-7D2F-B3EB-A9BCFD8C2961}"/>
              </a:ext>
            </a:extLst>
          </p:cNvPr>
          <p:cNvSpPr>
            <a:spLocks noGrp="1"/>
          </p:cNvSpPr>
          <p:nvPr/>
        </p:nvSpPr>
        <p:spPr>
          <a:xfrm>
            <a:off x="1143000" y="1066800"/>
            <a:ext cx="13144500" cy="266700"/>
          </a:xfrm>
          <a:prstGeom prst="rect">
            <a:avLst/>
          </a:prstGeom>
        </p:spPr>
        <p:txBody>
          <a:bodyPr lIns="0" tIns="0" rIns="0" bIns="0"/>
          <a:lstStyle/>
          <a:p>
            <a:pPr marL="0" marR="0" lvl="0" indent="0" algn="l" defTabSz="914400" eaLnBrk="1" fontAlgn="auto" latinLnBrk="0" hangingPunct="1">
              <a:lnSpc>
                <a:spcPct val="100000"/>
              </a:lnSpc>
              <a:spcBef>
                <a:spcPts val="0"/>
              </a:spcBef>
              <a:spcAft>
                <a:spcPts val="0"/>
              </a:spcAft>
              <a:buClrTx/>
              <a:buSzTx/>
              <a:buFontTx/>
              <a:buNone/>
              <a:tabLst/>
              <a:defRPr sz="1650">
                <a:solidFill>
                  <a:srgbClr val="5D5A55"/>
                </a:solidFill>
                <a:latin typeface="PingFang SC"/>
                <a:ea typeface="PingFang SC"/>
                <a:cs typeface="PingFang SC"/>
              </a:defRPr>
            </a:pPr>
            <a:r>
              <a:rPr lang="en-US" sz="1650" dirty="0" err="1">
                <a:solidFill>
                  <a:srgbClr val="5D5A55"/>
                </a:solidFill>
                <a:latin typeface="PingFang SC"/>
                <a:ea typeface="PingFang SC"/>
                <a:cs typeface="PingFang SC"/>
              </a:rPr>
              <a:t>惊艳的表现技术上</a:t>
            </a:r>
            <a:r>
              <a:rPr kumimoji="0" lang="en-US" sz="1650" b="0" i="0" u="none" strike="noStrike" kern="1200" cap="none" spc="0" normalizeH="0" baseline="0" noProof="0" dirty="0" err="1">
                <a:ln>
                  <a:noFill/>
                </a:ln>
                <a:solidFill>
                  <a:srgbClr val="5D5A55"/>
                </a:solidFill>
                <a:effectLst/>
                <a:uLnTx/>
                <a:uFillTx/>
                <a:latin typeface="PingFang SC"/>
                <a:ea typeface="PingFang SC"/>
                <a:cs typeface="PingFang SC"/>
              </a:rPr>
              <a:t>是如何实现的</a:t>
            </a:r>
            <a:endParaRPr kumimoji="0" sz="1650" b="0" i="0" u="none" strike="noStrike" kern="1200" cap="none" spc="0" normalizeH="0" baseline="0" noProof="0" dirty="0">
              <a:ln>
                <a:noFill/>
              </a:ln>
              <a:solidFill>
                <a:srgbClr val="5D5A55"/>
              </a:solidFill>
              <a:effectLst/>
              <a:uLnTx/>
              <a:uFillTx/>
              <a:latin typeface="PingFang SC"/>
              <a:ea typeface="PingFang SC"/>
              <a:cs typeface="PingFang SC"/>
            </a:endParaRPr>
          </a:p>
        </p:txBody>
      </p:sp>
      <p:sp>
        <p:nvSpPr>
          <p:cNvPr id="4" name="logo-wordmark">
            <a:extLst>
              <a:ext uri="{FF2B5EF4-FFF2-40B4-BE49-F238E27FC236}">
                <a16:creationId xmlns:a16="http://schemas.microsoft.com/office/drawing/2014/main" id="{E3F98F7D-38D7-79D6-1505-8177D05AE481}"/>
              </a:ext>
            </a:extLst>
          </p:cNvPr>
          <p:cNvSpPr>
            <a:spLocks noGrp="1"/>
          </p:cNvSpPr>
          <p:nvPr/>
        </p:nvSpPr>
        <p:spPr>
          <a:xfrm>
            <a:off x="14478000" y="590550"/>
            <a:ext cx="2667000" cy="266700"/>
          </a:xfrm>
          <a:prstGeom prst="rect">
            <a:avLst/>
          </a:prstGeom>
        </p:spPr>
        <p:txBody>
          <a:bodyPr lIns="0" tIns="0" rIns="0" bIns="0"/>
          <a:lstStyle/>
          <a:p>
            <a:pPr marL="0" marR="0" lvl="0" indent="0" algn="r" defTabSz="914400" eaLnBrk="1" fontAlgn="auto" latinLnBrk="0" hangingPunct="1">
              <a:lnSpc>
                <a:spcPct val="100000"/>
              </a:lnSpc>
              <a:spcBef>
                <a:spcPts val="0"/>
              </a:spcBef>
              <a:spcAft>
                <a:spcPts val="0"/>
              </a:spcAft>
              <a:buClrTx/>
              <a:buSzTx/>
              <a:buFontTx/>
              <a:buNone/>
              <a:tabLst/>
              <a:defRPr sz="1650" b="1" i="0">
                <a:solidFill>
                  <a:srgbClr val="C00000"/>
                </a:solidFill>
                <a:latin typeface="Avenir Next"/>
                <a:ea typeface="Avenir Next"/>
                <a:cs typeface="Avenir Next"/>
              </a:defRPr>
            </a:pPr>
            <a:r>
              <a:rPr kumimoji="0" sz="1650" b="1" i="0" u="none" strike="noStrike" kern="1200" cap="none" spc="0" normalizeH="0" baseline="0" noProof="0">
                <a:ln>
                  <a:noFill/>
                </a:ln>
                <a:solidFill>
                  <a:srgbClr val="C00000"/>
                </a:solidFill>
                <a:effectLst/>
                <a:uLnTx/>
                <a:uFillTx/>
                <a:latin typeface="Avenir Next"/>
                <a:ea typeface="Avenir Next"/>
                <a:cs typeface="Avenir Next"/>
              </a:rPr>
              <a:t>Generalist AI</a:t>
            </a:r>
          </a:p>
        </p:txBody>
      </p:sp>
      <p:sp>
        <p:nvSpPr>
          <p:cNvPr id="5" name="source-line">
            <a:extLst>
              <a:ext uri="{FF2B5EF4-FFF2-40B4-BE49-F238E27FC236}">
                <a16:creationId xmlns:a16="http://schemas.microsoft.com/office/drawing/2014/main" id="{94859D05-CC6A-2910-CD66-C06CA5C952BF}"/>
              </a:ext>
            </a:extLst>
          </p:cNvPr>
          <p:cNvSpPr>
            <a:spLocks noGrp="1"/>
          </p:cNvSpPr>
          <p:nvPr/>
        </p:nvSpPr>
        <p:spPr>
          <a:xfrm>
            <a:off x="1143000" y="9734550"/>
            <a:ext cx="11430000" cy="152400"/>
          </a:xfrm>
          <a:prstGeom prst="rect">
            <a:avLst/>
          </a:prstGeom>
        </p:spPr>
        <p:txBody>
          <a:bodyPr lIns="0" tIns="0" rIns="0" bIns="0"/>
          <a:lstStyle/>
          <a:p>
            <a:pPr marL="0" marR="0" lvl="0" indent="0" algn="l" defTabSz="914400" eaLnBrk="1" fontAlgn="auto" latinLnBrk="0" hangingPunct="1">
              <a:lnSpc>
                <a:spcPct val="100000"/>
              </a:lnSpc>
              <a:spcBef>
                <a:spcPts val="0"/>
              </a:spcBef>
              <a:spcAft>
                <a:spcPts val="0"/>
              </a:spcAft>
              <a:buClrTx/>
              <a:buSzTx/>
              <a:buFontTx/>
              <a:buNone/>
              <a:tabLst/>
              <a:defRPr sz="900" b="0" i="0">
                <a:solidFill>
                  <a:srgbClr val="5D5A55"/>
                </a:solidFill>
                <a:latin typeface="PingFang SC"/>
                <a:ea typeface="PingFang SC"/>
                <a:cs typeface="PingFang SC"/>
              </a:defRPr>
            </a:pPr>
            <a:r>
              <a:rPr kumimoji="0" sz="900" b="0" i="0" u="none" strike="noStrike" kern="1200" cap="none" spc="0" normalizeH="0" baseline="0" noProof="0">
                <a:ln>
                  <a:noFill/>
                </a:ln>
                <a:solidFill>
                  <a:srgbClr val="5D5A55"/>
                </a:solidFill>
                <a:effectLst/>
                <a:uLnTx/>
                <a:uFillTx/>
                <a:latin typeface="PingFang SC"/>
                <a:ea typeface="PingFang SC"/>
                <a:cs typeface="PingFang SC"/>
              </a:rPr>
              <a:t>Source: Generalist AI Blog, 2026-04-02</a:t>
            </a:r>
          </a:p>
        </p:txBody>
      </p:sp>
      <p:sp>
        <p:nvSpPr>
          <p:cNvPr id="6" name="page-number">
            <a:extLst>
              <a:ext uri="{FF2B5EF4-FFF2-40B4-BE49-F238E27FC236}">
                <a16:creationId xmlns:a16="http://schemas.microsoft.com/office/drawing/2014/main" id="{66DCD8EC-65F1-7048-6B8A-4A7CE857F1E2}"/>
              </a:ext>
            </a:extLst>
          </p:cNvPr>
          <p:cNvSpPr>
            <a:spLocks noGrp="1"/>
          </p:cNvSpPr>
          <p:nvPr/>
        </p:nvSpPr>
        <p:spPr>
          <a:xfrm>
            <a:off x="15811500" y="9715500"/>
            <a:ext cx="1524000" cy="152400"/>
          </a:xfrm>
          <a:prstGeom prst="rect">
            <a:avLst/>
          </a:prstGeom>
        </p:spPr>
        <p:txBody>
          <a:bodyPr lIns="0" tIns="0" rIns="0" bIns="0"/>
          <a:lstStyle/>
          <a:p>
            <a:pPr marL="0" marR="0" lvl="0" indent="0" algn="r" defTabSz="914400" eaLnBrk="1" fontAlgn="auto" latinLnBrk="0" hangingPunct="1">
              <a:lnSpc>
                <a:spcPct val="100000"/>
              </a:lnSpc>
              <a:spcBef>
                <a:spcPts val="0"/>
              </a:spcBef>
              <a:spcAft>
                <a:spcPts val="0"/>
              </a:spcAft>
              <a:buClrTx/>
              <a:buSzTx/>
              <a:buFontTx/>
              <a:buNone/>
              <a:tabLst/>
              <a:defRPr sz="975" b="0" i="0">
                <a:solidFill>
                  <a:srgbClr val="5D5A55"/>
                </a:solidFill>
                <a:latin typeface="Avenir Next"/>
                <a:ea typeface="Avenir Next"/>
                <a:cs typeface="Avenir Next"/>
              </a:defRPr>
            </a:pPr>
            <a:r>
              <a:rPr kumimoji="0" sz="975" b="0" i="0" u="none" strike="noStrike" kern="1200" cap="none" spc="0" normalizeH="0" baseline="0" noProof="0">
                <a:ln>
                  <a:noFill/>
                </a:ln>
                <a:solidFill>
                  <a:srgbClr val="5D5A55"/>
                </a:solidFill>
                <a:effectLst/>
                <a:uLnTx/>
                <a:uFillTx/>
                <a:latin typeface="Avenir Next"/>
                <a:ea typeface="Avenir Next"/>
                <a:cs typeface="Avenir Next"/>
              </a:rPr>
              <a:t>02 / 10</a:t>
            </a:r>
          </a:p>
        </p:txBody>
      </p:sp>
      <p:sp>
        <p:nvSpPr>
          <p:cNvPr id="7" name="Rectangle 6">
            <a:extLst>
              <a:ext uri="{FF2B5EF4-FFF2-40B4-BE49-F238E27FC236}">
                <a16:creationId xmlns:a16="http://schemas.microsoft.com/office/drawing/2014/main" id="{9AD1F854-46B4-112D-DE25-364A9ED73649}"/>
              </a:ext>
            </a:extLst>
          </p:cNvPr>
          <p:cNvSpPr>
            <a:spLocks noGrp="1"/>
          </p:cNvSpPr>
          <p:nvPr/>
        </p:nvSpPr>
        <p:spPr>
          <a:prstGeom prst="rect">
            <a:avLst/>
          </a:prstGeom>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cs typeface="Calibri"/>
            </a:endParaRPr>
          </a:p>
        </p:txBody>
      </p:sp>
      <p:sp>
        <p:nvSpPr>
          <p:cNvPr id="9" name="agenda-text-1">
            <a:extLst>
              <a:ext uri="{FF2B5EF4-FFF2-40B4-BE49-F238E27FC236}">
                <a16:creationId xmlns:a16="http://schemas.microsoft.com/office/drawing/2014/main" id="{5D0D588E-6DCC-56AC-882C-A1523E2FC66C}"/>
              </a:ext>
            </a:extLst>
          </p:cNvPr>
          <p:cNvSpPr>
            <a:spLocks noGrp="1"/>
          </p:cNvSpPr>
          <p:nvPr/>
        </p:nvSpPr>
        <p:spPr>
          <a:xfrm>
            <a:off x="2819400" y="3009900"/>
            <a:ext cx="12992100" cy="7768028"/>
          </a:xfrm>
          <a:prstGeom prst="rect">
            <a:avLst/>
          </a:prstGeom>
        </p:spPr>
        <p:txBody>
          <a:bodyPr lIns="0" tIns="0" rIns="0" bIns="0"/>
          <a:lstStyle/>
          <a:p>
            <a:pPr marL="0" marR="0" lvl="0" indent="0" algn="l" defTabSz="914400" eaLnBrk="1" fontAlgn="auto" latinLnBrk="0" hangingPunct="1">
              <a:lnSpc>
                <a:spcPct val="100000"/>
              </a:lnSpc>
              <a:spcBef>
                <a:spcPts val="0"/>
              </a:spcBef>
              <a:spcAft>
                <a:spcPts val="0"/>
              </a:spcAft>
              <a:buClrTx/>
              <a:buSzTx/>
              <a:buFontTx/>
              <a:buNone/>
              <a:tabLst/>
              <a:defRPr sz="1950">
                <a:solidFill>
                  <a:srgbClr val="1B1A17"/>
                </a:solidFill>
                <a:latin typeface="PingFang SC"/>
                <a:ea typeface="PingFang SC"/>
                <a:cs typeface="PingFang SC"/>
              </a:defRPr>
            </a:pPr>
            <a:endParaRPr kumimoji="0" sz="1950" b="0" i="0" u="none" strike="noStrike" kern="1200" cap="none" spc="0" normalizeH="0" baseline="0" noProof="0" dirty="0">
              <a:ln>
                <a:noFill/>
              </a:ln>
              <a:solidFill>
                <a:srgbClr val="1B1A17"/>
              </a:solidFill>
              <a:effectLst/>
              <a:uLnTx/>
              <a:uFillTx/>
              <a:latin typeface="PingFang SC"/>
              <a:ea typeface="PingFang SC"/>
              <a:cs typeface="PingFang SC"/>
            </a:endParaRPr>
          </a:p>
        </p:txBody>
      </p:sp>
      <p:sp>
        <p:nvSpPr>
          <p:cNvPr id="24" name="TextBox 23">
            <a:extLst>
              <a:ext uri="{FF2B5EF4-FFF2-40B4-BE49-F238E27FC236}">
                <a16:creationId xmlns:a16="http://schemas.microsoft.com/office/drawing/2014/main" id="{915A48D5-8336-789F-A9D3-6FAFCA0E4110}"/>
              </a:ext>
            </a:extLst>
          </p:cNvPr>
          <p:cNvSpPr txBox="1"/>
          <p:nvPr/>
        </p:nvSpPr>
        <p:spPr>
          <a:xfrm>
            <a:off x="1622374" y="1390650"/>
            <a:ext cx="14225665" cy="8358057"/>
          </a:xfrm>
          <a:prstGeom prst="rect">
            <a:avLst/>
          </a:prstGeom>
          <a:noFill/>
        </p:spPr>
        <p:txBody>
          <a:bodyPr wrap="square">
            <a:spAutoFit/>
          </a:bodyPr>
          <a:lstStyle/>
          <a:p>
            <a:pPr>
              <a:lnSpc>
                <a:spcPct val="150000"/>
              </a:lnSpc>
            </a:pPr>
            <a:r>
              <a:rPr lang="en-US" altLang="zh-CN" b="1" dirty="0"/>
              <a:t>1.</a:t>
            </a:r>
            <a:r>
              <a:rPr lang="zh-CN" altLang="en-US" b="1" dirty="0"/>
              <a:t> </a:t>
            </a:r>
            <a:r>
              <a:rPr lang="en-US" b="1" dirty="0" err="1"/>
              <a:t>预训练进展</a:t>
            </a:r>
            <a:r>
              <a:rPr lang="en-US" b="1" dirty="0"/>
              <a:t> (Pre-training advances)</a:t>
            </a:r>
          </a:p>
          <a:p>
            <a:pPr>
              <a:lnSpc>
                <a:spcPct val="150000"/>
              </a:lnSpc>
            </a:pPr>
            <a:r>
              <a:rPr lang="en-US" dirty="0" err="1"/>
              <a:t>作用：预训练方面的进步主要推动了“预训练智能的计算效率曲线发生转移</a:t>
            </a:r>
            <a:r>
              <a:rPr lang="en-US" dirty="0"/>
              <a:t>”</a:t>
            </a:r>
          </a:p>
          <a:p>
            <a:pPr>
              <a:lnSpc>
                <a:spcPct val="150000"/>
              </a:lnSpc>
            </a:pPr>
            <a:r>
              <a:rPr lang="en-US" dirty="0"/>
              <a:t>具体说明：资料中透露的最主要细节是数据规模的扩展。GEN-1 </a:t>
            </a:r>
            <a:r>
              <a:rPr lang="en-US" dirty="0" err="1"/>
              <a:t>的预训练没有使用任何机器人数据，而是完全基于佩戴低成本穿戴设备的人类所产生的超过</a:t>
            </a:r>
            <a:r>
              <a:rPr lang="en-US" dirty="0"/>
              <a:t> 50 </a:t>
            </a:r>
            <a:r>
              <a:rPr lang="en-US" dirty="0" err="1"/>
              <a:t>万小时的高保真物理交互数据从零开始训练的</a:t>
            </a:r>
            <a:r>
              <a:rPr lang="zh-CN" altLang="en-US" dirty="0"/>
              <a:t>（人类数据量相比</a:t>
            </a:r>
            <a:r>
              <a:rPr lang="en-US" altLang="zh-CN" dirty="0"/>
              <a:t>GEN0</a:t>
            </a:r>
            <a:r>
              <a:rPr lang="zh-CN" altLang="en-US" dirty="0"/>
              <a:t>提升了约一倍）</a:t>
            </a:r>
            <a:endParaRPr lang="en-US" dirty="0"/>
          </a:p>
          <a:p>
            <a:pPr>
              <a:lnSpc>
                <a:spcPct val="150000"/>
              </a:lnSpc>
            </a:pPr>
            <a:endParaRPr lang="en-US" dirty="0"/>
          </a:p>
          <a:p>
            <a:pPr>
              <a:lnSpc>
                <a:spcPct val="150000"/>
              </a:lnSpc>
            </a:pPr>
            <a:r>
              <a:rPr lang="en-US" b="1" dirty="0">
                <a:solidFill>
                  <a:schemeClr val="tx1">
                    <a:lumMod val="50000"/>
                    <a:lumOff val="50000"/>
                  </a:schemeClr>
                </a:solidFill>
              </a:rPr>
              <a:t>2. </a:t>
            </a:r>
            <a:r>
              <a:rPr lang="en-US" b="1" dirty="0" err="1">
                <a:solidFill>
                  <a:schemeClr val="tx1">
                    <a:lumMod val="50000"/>
                    <a:lumOff val="50000"/>
                  </a:schemeClr>
                </a:solidFill>
              </a:rPr>
              <a:t>后训练技术</a:t>
            </a:r>
            <a:r>
              <a:rPr lang="en-US" b="1" dirty="0">
                <a:solidFill>
                  <a:schemeClr val="tx1">
                    <a:lumMod val="50000"/>
                    <a:lumOff val="50000"/>
                  </a:schemeClr>
                </a:solidFill>
              </a:rPr>
              <a:t> (Post-training) 、 3. </a:t>
            </a:r>
            <a:r>
              <a:rPr lang="en-US" b="1" dirty="0" err="1">
                <a:solidFill>
                  <a:schemeClr val="tx1">
                    <a:lumMod val="50000"/>
                    <a:lumOff val="50000"/>
                  </a:schemeClr>
                </a:solidFill>
              </a:rPr>
              <a:t>从经验中学习</a:t>
            </a:r>
            <a:r>
              <a:rPr lang="en-US" b="1" dirty="0">
                <a:solidFill>
                  <a:schemeClr val="tx1">
                    <a:lumMod val="50000"/>
                    <a:lumOff val="50000"/>
                  </a:schemeClr>
                </a:solidFill>
              </a:rPr>
              <a:t> (RL) 、 4. </a:t>
            </a:r>
            <a:r>
              <a:rPr lang="en-US" b="1" dirty="0" err="1">
                <a:solidFill>
                  <a:schemeClr val="tx1">
                    <a:lumMod val="50000"/>
                    <a:lumOff val="50000"/>
                  </a:schemeClr>
                </a:solidFill>
              </a:rPr>
              <a:t>多模态人类引导</a:t>
            </a:r>
            <a:r>
              <a:rPr lang="en-US" b="1" dirty="0">
                <a:solidFill>
                  <a:schemeClr val="tx1">
                    <a:lumMod val="50000"/>
                    <a:lumOff val="50000"/>
                  </a:schemeClr>
                </a:solidFill>
              </a:rPr>
              <a:t> (Multimodal human guidance)</a:t>
            </a:r>
          </a:p>
          <a:p>
            <a:pPr>
              <a:lnSpc>
                <a:spcPct val="150000"/>
              </a:lnSpc>
            </a:pPr>
            <a:r>
              <a:rPr lang="en-US" dirty="0" err="1">
                <a:solidFill>
                  <a:schemeClr val="tx1">
                    <a:lumMod val="50000"/>
                    <a:lumOff val="50000"/>
                  </a:schemeClr>
                </a:solidFill>
              </a:rPr>
              <a:t>作用：这三部分技术共同的作用是“促成了在任何给定任务上解锁更高的性能</a:t>
            </a:r>
            <a:r>
              <a:rPr lang="en-US" dirty="0">
                <a:solidFill>
                  <a:schemeClr val="tx1">
                    <a:lumMod val="50000"/>
                    <a:lumOff val="50000"/>
                  </a:schemeClr>
                </a:solidFill>
              </a:rPr>
              <a:t>”</a:t>
            </a:r>
          </a:p>
          <a:p>
            <a:pPr>
              <a:lnSpc>
                <a:spcPct val="150000"/>
              </a:lnSpc>
            </a:pPr>
            <a:r>
              <a:rPr lang="en-US" dirty="0" err="1">
                <a:solidFill>
                  <a:schemeClr val="tx1">
                    <a:lumMod val="50000"/>
                    <a:lumOff val="50000"/>
                  </a:schemeClr>
                </a:solidFill>
              </a:rPr>
              <a:t>具体说明：官方只是一笔带过，提到团队花了数月时间打磨后训练技术，并结合了“理论强化学习（RL）与多模态人类引导方面的基础工作</a:t>
            </a:r>
            <a:r>
              <a:rPr lang="en-US" dirty="0">
                <a:solidFill>
                  <a:schemeClr val="tx1">
                    <a:lumMod val="50000"/>
                    <a:lumOff val="50000"/>
                  </a:schemeClr>
                </a:solidFill>
              </a:rPr>
              <a:t>”</a:t>
            </a:r>
          </a:p>
          <a:p>
            <a:pPr>
              <a:lnSpc>
                <a:spcPct val="150000"/>
              </a:lnSpc>
            </a:pPr>
            <a:r>
              <a:rPr lang="en-US" dirty="0">
                <a:solidFill>
                  <a:schemeClr val="tx1">
                    <a:lumMod val="50000"/>
                    <a:lumOff val="50000"/>
                  </a:schemeClr>
                </a:solidFill>
              </a:rPr>
              <a:t>。</a:t>
            </a:r>
            <a:r>
              <a:rPr lang="en-US" dirty="0" err="1">
                <a:solidFill>
                  <a:schemeClr val="tx1">
                    <a:lumMod val="50000"/>
                    <a:lumOff val="50000"/>
                  </a:schemeClr>
                </a:solidFill>
              </a:rPr>
              <a:t>此外，在提到</a:t>
            </a:r>
            <a:r>
              <a:rPr lang="en-US" dirty="0">
                <a:solidFill>
                  <a:schemeClr val="tx1">
                    <a:lumMod val="50000"/>
                    <a:lumOff val="50000"/>
                  </a:schemeClr>
                </a:solidFill>
              </a:rPr>
              <a:t> GEN-1 </a:t>
            </a:r>
            <a:r>
              <a:rPr lang="en-US" dirty="0" err="1">
                <a:solidFill>
                  <a:schemeClr val="tx1">
                    <a:lumMod val="50000"/>
                    <a:lumOff val="50000"/>
                  </a:schemeClr>
                </a:solidFill>
              </a:rPr>
              <a:t>打破速度壁垒时，官方指出模型正是通过“经验学习”来达到约</a:t>
            </a:r>
            <a:r>
              <a:rPr lang="en-US" dirty="0">
                <a:solidFill>
                  <a:schemeClr val="tx1">
                    <a:lumMod val="50000"/>
                    <a:lumOff val="50000"/>
                  </a:schemeClr>
                </a:solidFill>
              </a:rPr>
              <a:t> 3 </a:t>
            </a:r>
            <a:r>
              <a:rPr lang="en-US" dirty="0" err="1">
                <a:solidFill>
                  <a:schemeClr val="tx1">
                    <a:lumMod val="50000"/>
                    <a:lumOff val="50000"/>
                  </a:schemeClr>
                </a:solidFill>
              </a:rPr>
              <a:t>倍于以往最先进水平的执行速度的</a:t>
            </a:r>
            <a:endParaRPr lang="en-US" dirty="0">
              <a:solidFill>
                <a:schemeClr val="tx1">
                  <a:lumMod val="50000"/>
                  <a:lumOff val="50000"/>
                </a:schemeClr>
              </a:solidFill>
            </a:endParaRPr>
          </a:p>
          <a:p>
            <a:pPr>
              <a:lnSpc>
                <a:spcPct val="150000"/>
              </a:lnSpc>
            </a:pPr>
            <a:r>
              <a:rPr lang="en-US" dirty="0">
                <a:solidFill>
                  <a:schemeClr val="tx1">
                    <a:lumMod val="50000"/>
                    <a:lumOff val="50000"/>
                  </a:schemeClr>
                </a:solidFill>
              </a:rPr>
              <a:t>。</a:t>
            </a:r>
            <a:r>
              <a:rPr lang="en-US" dirty="0" err="1">
                <a:solidFill>
                  <a:schemeClr val="tx1">
                    <a:lumMod val="50000"/>
                    <a:lumOff val="50000"/>
                  </a:schemeClr>
                </a:solidFill>
              </a:rPr>
              <a:t>但至于</a:t>
            </a:r>
            <a:r>
              <a:rPr lang="en-US" dirty="0">
                <a:solidFill>
                  <a:schemeClr val="tx1">
                    <a:lumMod val="50000"/>
                    <a:lumOff val="50000"/>
                  </a:schemeClr>
                </a:solidFill>
              </a:rPr>
              <a:t> RL </a:t>
            </a:r>
            <a:r>
              <a:rPr lang="en-US" dirty="0" err="1">
                <a:solidFill>
                  <a:schemeClr val="tx1">
                    <a:lumMod val="50000"/>
                    <a:lumOff val="50000"/>
                  </a:schemeClr>
                </a:solidFill>
              </a:rPr>
              <a:t>具体的奖励函数设计或多模态人类引导的交互形式，文中均未解释</a:t>
            </a:r>
            <a:r>
              <a:rPr lang="en-US" dirty="0">
                <a:solidFill>
                  <a:schemeClr val="tx1">
                    <a:lumMod val="50000"/>
                    <a:lumOff val="50000"/>
                  </a:schemeClr>
                </a:solidFill>
              </a:rPr>
              <a:t>。</a:t>
            </a:r>
          </a:p>
          <a:p>
            <a:pPr>
              <a:lnSpc>
                <a:spcPct val="150000"/>
              </a:lnSpc>
            </a:pPr>
            <a:endParaRPr lang="en-US" dirty="0"/>
          </a:p>
          <a:p>
            <a:pPr>
              <a:lnSpc>
                <a:spcPct val="150000"/>
              </a:lnSpc>
            </a:pPr>
            <a:r>
              <a:rPr lang="en-US" b="1" dirty="0"/>
              <a:t>5. </a:t>
            </a:r>
            <a:r>
              <a:rPr lang="en-US" b="1" dirty="0" err="1"/>
              <a:t>新的推理时技术</a:t>
            </a:r>
            <a:r>
              <a:rPr lang="en-US" b="1" dirty="0"/>
              <a:t> (New inference-time techniques) </a:t>
            </a:r>
          </a:p>
          <a:p>
            <a:pPr>
              <a:lnSpc>
                <a:spcPct val="150000"/>
              </a:lnSpc>
            </a:pPr>
            <a:r>
              <a:rPr lang="en-US" dirty="0" err="1"/>
              <a:t>这部分是全篇提及相对具体的技术环节，主要用于解决机器人在高速运动时的“实时响应”问题</a:t>
            </a:r>
            <a:r>
              <a:rPr lang="en-US" dirty="0"/>
              <a:t>：</a:t>
            </a:r>
          </a:p>
          <a:p>
            <a:pPr marL="285750" indent="-285750">
              <a:lnSpc>
                <a:spcPct val="150000"/>
              </a:lnSpc>
              <a:buFont typeface="Arial" panose="020B0604020202020204" pitchFamily="34" charset="0"/>
              <a:buChar char="•"/>
            </a:pPr>
            <a:r>
              <a:rPr lang="en-US" dirty="0" err="1"/>
              <a:t>谐波推理（Harmonic</a:t>
            </a:r>
            <a:r>
              <a:rPr lang="en-US" dirty="0"/>
              <a:t> Reasoning）：</a:t>
            </a:r>
            <a:r>
              <a:rPr lang="en-US" dirty="0" err="1"/>
              <a:t>这被描述为团队在推理方式上引入的一种“演进（evolution</a:t>
            </a:r>
            <a:r>
              <a:rPr lang="en-US" dirty="0"/>
              <a:t>）”，</a:t>
            </a:r>
            <a:r>
              <a:rPr lang="en-US" dirty="0" err="1"/>
              <a:t>是帮助机器人以极快速度完成任务的核心原因之一</a:t>
            </a:r>
            <a:endParaRPr lang="en-US" dirty="0"/>
          </a:p>
          <a:p>
            <a:pPr marL="285750" indent="-285750">
              <a:lnSpc>
                <a:spcPct val="150000"/>
              </a:lnSpc>
              <a:buFont typeface="Arial" panose="020B0604020202020204" pitchFamily="34" charset="0"/>
              <a:buChar char="•"/>
            </a:pPr>
            <a:r>
              <a:rPr lang="en-US" dirty="0" err="1"/>
              <a:t>分页注意力（Paged</a:t>
            </a:r>
            <a:r>
              <a:rPr lang="en-US" dirty="0"/>
              <a:t> </a:t>
            </a:r>
            <a:r>
              <a:rPr lang="en-US" dirty="0" err="1"/>
              <a:t>Attention）与定制内核：为了实现实时推理（real-time</a:t>
            </a:r>
            <a:r>
              <a:rPr lang="en-US" dirty="0"/>
              <a:t> inference），</a:t>
            </a:r>
            <a:r>
              <a:rPr lang="en-US" dirty="0" err="1"/>
              <a:t>团队不但构建了定制的内核（custom</a:t>
            </a:r>
            <a:r>
              <a:rPr lang="en-US" dirty="0"/>
              <a:t> kernels），</a:t>
            </a:r>
            <a:r>
              <a:rPr lang="en-US" dirty="0" err="1"/>
              <a:t>还专门发明了新形式的分页注意力机制，并进一步强化了控制系统，使机器人动作更加平滑精准</a:t>
            </a:r>
            <a:endParaRPr lang="en-US" dirty="0"/>
          </a:p>
          <a:p>
            <a:pPr>
              <a:lnSpc>
                <a:spcPct val="150000"/>
              </a:lnSpc>
            </a:pPr>
            <a:endParaRPr lang="en-US" dirty="0"/>
          </a:p>
          <a:p>
            <a:pPr>
              <a:lnSpc>
                <a:spcPct val="150000"/>
              </a:lnSpc>
            </a:pPr>
            <a:r>
              <a:rPr lang="en-US" dirty="0"/>
              <a:t>总结来说，官方明确说明了预训练负责提升整体的计算效率与基础智能，其余四项技术负责在具体任务中拔高执行性能和推理速度，但具体的学术级实现原理并未在本次资料中公开。</a:t>
            </a:r>
          </a:p>
        </p:txBody>
      </p:sp>
    </p:spTree>
    <p:extLst>
      <p:ext uri="{BB962C8B-B14F-4D97-AF65-F5344CB8AC3E}">
        <p14:creationId xmlns:p14="http://schemas.microsoft.com/office/powerpoint/2010/main" val="22139075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76010399-259C-4591-90ED-999590C561FC}"/>
              </a:ext>
            </a:extLst>
          </p:cNvPr>
          <p:cNvSpPr>
            <a:spLocks noGrp="1"/>
          </p:cNvSpPr>
          <p:nvPr/>
        </p:nvSpPr>
        <p:spPr>
          <a:prstGeom prst="rect">
            <a:avLst/>
          </a:prstGeom>
        </p:spPr>
        <p:txBody>
          <a:bodyPr/>
          <a:lstStyle/>
          <a:p>
            <a:endParaRPr lang="en-US"/>
          </a:p>
        </p:txBody>
      </p:sp>
      <p:sp>
        <p:nvSpPr>
          <p:cNvPr id="2" name="slide-title">
            <a:extLst>
              <a:ext uri="{FF2B5EF4-FFF2-40B4-BE49-F238E27FC236}">
                <a16:creationId xmlns:a16="http://schemas.microsoft.com/office/drawing/2014/main" id="{B7B2114D-82F4-45EE-8B48-6A7C40D3CDF3}"/>
              </a:ext>
            </a:extLst>
          </p:cNvPr>
          <p:cNvSpPr>
            <a:spLocks noGrp="1"/>
          </p:cNvSpPr>
          <p:nvPr/>
        </p:nvSpPr>
        <p:spPr>
          <a:xfrm>
            <a:off x="1143000" y="495300"/>
            <a:ext cx="13144500" cy="514350"/>
          </a:xfrm>
          <a:prstGeom prst="rect">
            <a:avLst/>
          </a:prstGeom>
        </p:spPr>
        <p:txBody>
          <a:bodyPr lIns="0" tIns="0" rIns="0" bIns="0"/>
          <a:lstStyle/>
          <a:p>
            <a:pPr algn="l">
              <a:defRPr sz="3300" b="1">
                <a:solidFill>
                  <a:srgbClr val="1B1A17"/>
                </a:solidFill>
                <a:latin typeface="Songti SC"/>
                <a:ea typeface="Songti SC"/>
                <a:cs typeface="Songti SC"/>
              </a:defRPr>
            </a:pPr>
            <a:r>
              <a:rPr sz="3300" b="1">
                <a:solidFill>
                  <a:srgbClr val="1B1A17"/>
                </a:solidFill>
                <a:latin typeface="Songti SC"/>
                <a:ea typeface="Songti SC"/>
                <a:cs typeface="Songti SC"/>
              </a:rPr>
              <a:t>为什么值得关注：商业阈值 + 数据效率</a:t>
            </a:r>
          </a:p>
        </p:txBody>
      </p:sp>
      <p:sp>
        <p:nvSpPr>
          <p:cNvPr id="3" name="slide-subtitle">
            <a:extLst>
              <a:ext uri="{FF2B5EF4-FFF2-40B4-BE49-F238E27FC236}">
                <a16:creationId xmlns:a16="http://schemas.microsoft.com/office/drawing/2014/main" id="{3836ED6A-1098-4D60-8DAD-A893BB2944F8}"/>
              </a:ext>
            </a:extLst>
          </p:cNvPr>
          <p:cNvSpPr>
            <a:spLocks noGrp="1"/>
          </p:cNvSpPr>
          <p:nvPr/>
        </p:nvSpPr>
        <p:spPr>
          <a:xfrm>
            <a:off x="1143000" y="1066800"/>
            <a:ext cx="13144500" cy="266700"/>
          </a:xfrm>
          <a:prstGeom prst="rect">
            <a:avLst/>
          </a:prstGeom>
        </p:spPr>
        <p:txBody>
          <a:bodyPr lIns="0" tIns="0" rIns="0" bIns="0"/>
          <a:lstStyle/>
          <a:p>
            <a:pPr algn="l">
              <a:defRPr sz="1650">
                <a:solidFill>
                  <a:srgbClr val="5D5A55"/>
                </a:solidFill>
                <a:latin typeface="PingFang SC"/>
                <a:ea typeface="PingFang SC"/>
                <a:cs typeface="PingFang SC"/>
              </a:defRPr>
            </a:pPr>
            <a:r>
              <a:rPr sz="1650">
                <a:solidFill>
                  <a:srgbClr val="5D5A55"/>
                </a:solidFill>
                <a:latin typeface="PingFang SC"/>
                <a:ea typeface="PingFang SC"/>
                <a:cs typeface="PingFang SC"/>
              </a:rPr>
              <a:t>这篇文章最现实的地方，在于它开始明确谈 economically useful settings。</a:t>
            </a:r>
          </a:p>
        </p:txBody>
      </p:sp>
      <p:sp>
        <p:nvSpPr>
          <p:cNvPr id="4" name="logo-wordmark">
            <a:extLst>
              <a:ext uri="{FF2B5EF4-FFF2-40B4-BE49-F238E27FC236}">
                <a16:creationId xmlns:a16="http://schemas.microsoft.com/office/drawing/2014/main" id="{26BBC99A-6611-4C6E-9B06-53B0D45B8D8D}"/>
              </a:ext>
            </a:extLst>
          </p:cNvPr>
          <p:cNvSpPr>
            <a:spLocks noGrp="1"/>
          </p:cNvSpPr>
          <p:nvPr/>
        </p:nvSpPr>
        <p:spPr>
          <a:xfrm>
            <a:off x="14478000" y="590550"/>
            <a:ext cx="2667000" cy="266700"/>
          </a:xfrm>
          <a:prstGeom prst="rect">
            <a:avLst/>
          </a:prstGeom>
        </p:spPr>
        <p:txBody>
          <a:bodyPr lIns="0" tIns="0" rIns="0" bIns="0"/>
          <a:lstStyle/>
          <a:p>
            <a:pPr algn="r">
              <a:defRPr sz="1650" b="1" i="0">
                <a:solidFill>
                  <a:srgbClr val="C00000"/>
                </a:solidFill>
                <a:latin typeface="Avenir Next"/>
                <a:ea typeface="Avenir Next"/>
                <a:cs typeface="Avenir Next"/>
              </a:defRPr>
            </a:pPr>
            <a:r>
              <a:rPr sz="1650" b="1" i="0">
                <a:solidFill>
                  <a:srgbClr val="C00000"/>
                </a:solidFill>
                <a:latin typeface="Avenir Next"/>
                <a:ea typeface="Avenir Next"/>
                <a:cs typeface="Avenir Next"/>
              </a:rPr>
              <a:t>Generalist AI</a:t>
            </a:r>
          </a:p>
        </p:txBody>
      </p:sp>
      <p:sp>
        <p:nvSpPr>
          <p:cNvPr id="5" name="source-line">
            <a:extLst>
              <a:ext uri="{FF2B5EF4-FFF2-40B4-BE49-F238E27FC236}">
                <a16:creationId xmlns:a16="http://schemas.microsoft.com/office/drawing/2014/main" id="{9BEFA05D-66B5-4295-8EDE-2B988A016A39}"/>
              </a:ext>
            </a:extLst>
          </p:cNvPr>
          <p:cNvSpPr>
            <a:spLocks noGrp="1"/>
          </p:cNvSpPr>
          <p:nvPr/>
        </p:nvSpPr>
        <p:spPr>
          <a:xfrm>
            <a:off x="1143000" y="9734550"/>
            <a:ext cx="11430000" cy="152400"/>
          </a:xfrm>
          <a:prstGeom prst="rect">
            <a:avLst/>
          </a:prstGeom>
        </p:spPr>
        <p:txBody>
          <a:bodyPr lIns="0" tIns="0" rIns="0" bIns="0"/>
          <a:lstStyle/>
          <a:p>
            <a:pPr algn="l">
              <a:defRPr sz="900" b="0" i="0">
                <a:solidFill>
                  <a:srgbClr val="5D5A55"/>
                </a:solidFill>
                <a:latin typeface="PingFang SC"/>
                <a:ea typeface="PingFang SC"/>
                <a:cs typeface="PingFang SC"/>
              </a:defRPr>
            </a:pPr>
            <a:r>
              <a:rPr sz="900" b="0" i="0">
                <a:solidFill>
                  <a:srgbClr val="5D5A55"/>
                </a:solidFill>
                <a:latin typeface="PingFang SC"/>
                <a:ea typeface="PingFang SC"/>
                <a:cs typeface="PingFang SC"/>
              </a:rPr>
              <a:t>Source: Generalist AI Blog, 2026-04-02</a:t>
            </a:r>
          </a:p>
        </p:txBody>
      </p:sp>
      <p:sp>
        <p:nvSpPr>
          <p:cNvPr id="6" name="page-number">
            <a:extLst>
              <a:ext uri="{FF2B5EF4-FFF2-40B4-BE49-F238E27FC236}">
                <a16:creationId xmlns:a16="http://schemas.microsoft.com/office/drawing/2014/main" id="{03FC7BE4-FBB6-4136-9B5A-E7A9177B8EDA}"/>
              </a:ext>
            </a:extLst>
          </p:cNvPr>
          <p:cNvSpPr>
            <a:spLocks noGrp="1"/>
          </p:cNvSpPr>
          <p:nvPr/>
        </p:nvSpPr>
        <p:spPr>
          <a:xfrm>
            <a:off x="15811500" y="9715500"/>
            <a:ext cx="1524000" cy="152400"/>
          </a:xfrm>
          <a:prstGeom prst="rect">
            <a:avLst/>
          </a:prstGeom>
        </p:spPr>
        <p:txBody>
          <a:bodyPr lIns="0" tIns="0" rIns="0" bIns="0"/>
          <a:lstStyle/>
          <a:p>
            <a:pPr algn="r">
              <a:defRPr sz="975" b="0" i="0">
                <a:solidFill>
                  <a:srgbClr val="5D5A55"/>
                </a:solidFill>
                <a:latin typeface="Avenir Next"/>
                <a:ea typeface="Avenir Next"/>
                <a:cs typeface="Avenir Next"/>
              </a:defRPr>
            </a:pPr>
            <a:r>
              <a:rPr sz="975" b="0" i="0">
                <a:solidFill>
                  <a:srgbClr val="5D5A55"/>
                </a:solidFill>
                <a:latin typeface="Avenir Next"/>
                <a:ea typeface="Avenir Next"/>
                <a:cs typeface="Avenir Next"/>
              </a:rPr>
              <a:t>08 / 10</a:t>
            </a:r>
          </a:p>
        </p:txBody>
      </p:sp>
      <p:pic>
        <p:nvPicPr>
          <p:cNvPr id="7" name="meaning-wallet-image"/>
          <p:cNvPicPr>
            <a:picLocks noChangeAspect="1"/>
          </p:cNvPicPr>
          <p:nvPr/>
        </p:nvPicPr>
        <p:blipFill>
          <a:blip r:embed="rId3"/>
          <a:srcRect t="24359" b="24359"/>
          <a:stretch>
            <a:fillRect/>
          </a:stretch>
        </p:blipFill>
        <p:spPr>
          <a:xfrm>
            <a:off x="1143000" y="2381250"/>
            <a:ext cx="4953000" cy="1905000"/>
          </a:xfrm>
          <a:prstGeom prst="rect">
            <a:avLst/>
          </a:prstGeom>
        </p:spPr>
      </p:pic>
      <p:sp>
        <p:nvSpPr>
          <p:cNvPr id="8" name="meaning-wallet-caption">
            <a:extLst>
              <a:ext uri="{FF2B5EF4-FFF2-40B4-BE49-F238E27FC236}">
                <a16:creationId xmlns:a16="http://schemas.microsoft.com/office/drawing/2014/main" id="{CDFF7194-067C-4266-843F-2174B7C6523F}"/>
              </a:ext>
            </a:extLst>
          </p:cNvPr>
          <p:cNvSpPr>
            <a:spLocks noGrp="1"/>
          </p:cNvSpPr>
          <p:nvPr/>
        </p:nvSpPr>
        <p:spPr>
          <a:xfrm>
            <a:off x="1143000" y="4381500"/>
            <a:ext cx="4953000" cy="209550"/>
          </a:xfrm>
          <a:prstGeom prst="rect">
            <a:avLst/>
          </a:prstGeom>
        </p:spPr>
        <p:txBody>
          <a:bodyPr lIns="0" tIns="0" rIns="0" bIns="0"/>
          <a:lstStyle/>
          <a:p>
            <a:pPr algn="l">
              <a:defRPr sz="1275">
                <a:solidFill>
                  <a:srgbClr val="5D5A55"/>
                </a:solidFill>
                <a:latin typeface="PingFang SC"/>
                <a:ea typeface="PingFang SC"/>
                <a:cs typeface="PingFang SC"/>
              </a:defRPr>
            </a:pPr>
            <a:r>
              <a:rPr sz="1275">
                <a:solidFill>
                  <a:srgbClr val="5D5A55"/>
                </a:solidFill>
                <a:latin typeface="PingFang SC"/>
                <a:ea typeface="PingFang SC"/>
                <a:cs typeface="PingFang SC"/>
              </a:rPr>
              <a:t>把钱塞进钱包：精细接触与对齐</a:t>
            </a:r>
          </a:p>
        </p:txBody>
      </p:sp>
      <p:pic>
        <p:nvPicPr>
          <p:cNvPr id="9" name="meaning-whiteboard-image"/>
          <p:cNvPicPr>
            <a:picLocks noChangeAspect="1"/>
          </p:cNvPicPr>
          <p:nvPr/>
        </p:nvPicPr>
        <p:blipFill>
          <a:blip r:embed="rId4"/>
          <a:srcRect t="24359" b="24359"/>
          <a:stretch>
            <a:fillRect/>
          </a:stretch>
        </p:blipFill>
        <p:spPr>
          <a:xfrm>
            <a:off x="1143000" y="5591175"/>
            <a:ext cx="4953000" cy="1905000"/>
          </a:xfrm>
          <a:prstGeom prst="rect">
            <a:avLst/>
          </a:prstGeom>
        </p:spPr>
      </p:pic>
      <p:sp>
        <p:nvSpPr>
          <p:cNvPr id="10" name="meaning-whiteboard-caption">
            <a:extLst>
              <a:ext uri="{FF2B5EF4-FFF2-40B4-BE49-F238E27FC236}">
                <a16:creationId xmlns:a16="http://schemas.microsoft.com/office/drawing/2014/main" id="{A6619F55-77B1-4D1F-9739-0D2A06A5138A}"/>
              </a:ext>
            </a:extLst>
          </p:cNvPr>
          <p:cNvSpPr>
            <a:spLocks noGrp="1"/>
          </p:cNvSpPr>
          <p:nvPr/>
        </p:nvSpPr>
        <p:spPr>
          <a:xfrm>
            <a:off x="1143000" y="7600950"/>
            <a:ext cx="4953000" cy="209550"/>
          </a:xfrm>
          <a:prstGeom prst="rect">
            <a:avLst/>
          </a:prstGeom>
        </p:spPr>
        <p:txBody>
          <a:bodyPr lIns="0" tIns="0" rIns="0" bIns="0"/>
          <a:lstStyle/>
          <a:p>
            <a:pPr algn="l">
              <a:defRPr sz="1275">
                <a:solidFill>
                  <a:srgbClr val="5D5A55"/>
                </a:solidFill>
                <a:latin typeface="PingFang SC"/>
                <a:ea typeface="PingFang SC"/>
                <a:cs typeface="PingFang SC"/>
              </a:defRPr>
            </a:pPr>
            <a:r>
              <a:rPr sz="1275">
                <a:solidFill>
                  <a:srgbClr val="5D5A55"/>
                </a:solidFill>
                <a:latin typeface="PingFang SC"/>
                <a:ea typeface="PingFang SC"/>
                <a:cs typeface="PingFang SC"/>
              </a:rPr>
              <a:t>擦白板：更贴近日常物理工作</a:t>
            </a:r>
          </a:p>
        </p:txBody>
      </p:sp>
      <p:sp>
        <p:nvSpPr>
          <p:cNvPr id="11" name="meaning-hero">
            <a:extLst>
              <a:ext uri="{FF2B5EF4-FFF2-40B4-BE49-F238E27FC236}">
                <a16:creationId xmlns:a16="http://schemas.microsoft.com/office/drawing/2014/main" id="{FB348CAA-1A54-42CB-86FA-7A87921E346F}"/>
              </a:ext>
            </a:extLst>
          </p:cNvPr>
          <p:cNvSpPr>
            <a:spLocks noGrp="1"/>
          </p:cNvSpPr>
          <p:nvPr/>
        </p:nvSpPr>
        <p:spPr>
          <a:xfrm>
            <a:off x="6858000" y="2533650"/>
            <a:ext cx="9334500" cy="838200"/>
          </a:xfrm>
          <a:prstGeom prst="rect">
            <a:avLst/>
          </a:prstGeom>
        </p:spPr>
        <p:txBody>
          <a:bodyPr lIns="0" tIns="0" rIns="0" bIns="0"/>
          <a:lstStyle/>
          <a:p>
            <a:pPr algn="l">
              <a:defRPr sz="5400" b="1">
                <a:solidFill>
                  <a:srgbClr val="C00000"/>
                </a:solidFill>
                <a:latin typeface="Avenir Next"/>
                <a:ea typeface="Avenir Next"/>
                <a:cs typeface="Avenir Next"/>
              </a:defRPr>
            </a:pPr>
            <a:r>
              <a:rPr sz="5400" b="1">
                <a:solidFill>
                  <a:srgbClr val="C00000"/>
                </a:solidFill>
                <a:latin typeface="Avenir Next"/>
                <a:ea typeface="Avenir Next"/>
                <a:cs typeface="Avenir Next"/>
              </a:rPr>
              <a:t>commercial viability</a:t>
            </a:r>
          </a:p>
        </p:txBody>
      </p:sp>
      <p:sp>
        <p:nvSpPr>
          <p:cNvPr id="12" name="meaning-note">
            <a:extLst>
              <a:ext uri="{FF2B5EF4-FFF2-40B4-BE49-F238E27FC236}">
                <a16:creationId xmlns:a16="http://schemas.microsoft.com/office/drawing/2014/main" id="{89E43538-DD78-4541-BAD9-CFB3C530A086}"/>
              </a:ext>
            </a:extLst>
          </p:cNvPr>
          <p:cNvSpPr>
            <a:spLocks noGrp="1"/>
          </p:cNvSpPr>
          <p:nvPr/>
        </p:nvSpPr>
        <p:spPr>
          <a:xfrm>
            <a:off x="6858000" y="3429000"/>
            <a:ext cx="7734300" cy="285750"/>
          </a:xfrm>
          <a:prstGeom prst="rect">
            <a:avLst/>
          </a:prstGeom>
        </p:spPr>
        <p:txBody>
          <a:bodyPr lIns="0" tIns="0" rIns="0" bIns="0"/>
          <a:lstStyle/>
          <a:p>
            <a:pPr algn="l">
              <a:defRPr sz="1800" b="0" i="0">
                <a:solidFill>
                  <a:srgbClr val="1B1A17"/>
                </a:solidFill>
                <a:latin typeface="Songti SC"/>
                <a:ea typeface="Songti SC"/>
                <a:cs typeface="Songti SC"/>
              </a:defRPr>
            </a:pPr>
            <a:r>
              <a:rPr sz="1800" b="0" i="0">
                <a:solidFill>
                  <a:srgbClr val="1B1A17"/>
                </a:solidFill>
                <a:latin typeface="Songti SC"/>
                <a:ea typeface="Songti SC"/>
                <a:cs typeface="Songti SC"/>
              </a:rPr>
              <a:t>文章试图证明：某些简单但有经济价值的任务，已经开始跨过“可部署”门槛。</a:t>
            </a:r>
          </a:p>
        </p:txBody>
      </p:sp>
      <p:sp>
        <p:nvSpPr>
          <p:cNvPr id="13" name="Rectangle 12">
            <a:extLst>
              <a:ext uri="{FF2B5EF4-FFF2-40B4-BE49-F238E27FC236}">
                <a16:creationId xmlns:a16="http://schemas.microsoft.com/office/drawing/2014/main" id="{973FC326-A0B5-404E-B389-69B7056C9AEF}"/>
              </a:ext>
            </a:extLst>
          </p:cNvPr>
          <p:cNvSpPr>
            <a:spLocks noGrp="1"/>
          </p:cNvSpPr>
          <p:nvPr/>
        </p:nvSpPr>
        <p:spPr>
          <a:prstGeom prst="rect">
            <a:avLst/>
          </a:prstGeom>
        </p:spPr>
        <p:txBody>
          <a:bodyPr/>
          <a:lstStyle/>
          <a:p>
            <a:endParaRPr lang="en-US"/>
          </a:p>
        </p:txBody>
      </p:sp>
      <p:sp>
        <p:nvSpPr>
          <p:cNvPr id="14" name="table-k1">
            <a:extLst>
              <a:ext uri="{FF2B5EF4-FFF2-40B4-BE49-F238E27FC236}">
                <a16:creationId xmlns:a16="http://schemas.microsoft.com/office/drawing/2014/main" id="{548F9939-DA2E-47EB-B1A7-A3909ED30B00}"/>
              </a:ext>
            </a:extLst>
          </p:cNvPr>
          <p:cNvSpPr>
            <a:spLocks noGrp="1"/>
          </p:cNvSpPr>
          <p:nvPr/>
        </p:nvSpPr>
        <p:spPr>
          <a:xfrm>
            <a:off x="7239000" y="4953000"/>
            <a:ext cx="2857500" cy="457200"/>
          </a:xfrm>
          <a:prstGeom prst="rect">
            <a:avLst/>
          </a:prstGeom>
        </p:spPr>
        <p:txBody>
          <a:bodyPr lIns="0" tIns="0" rIns="0" bIns="0"/>
          <a:lstStyle/>
          <a:p>
            <a:pPr algn="l">
              <a:defRPr sz="1650" b="1" i="0">
                <a:solidFill>
                  <a:srgbClr val="1B1A17"/>
                </a:solidFill>
                <a:latin typeface="PingFang SC"/>
                <a:ea typeface="PingFang SC"/>
                <a:cs typeface="PingFang SC"/>
              </a:defRPr>
            </a:pPr>
            <a:r>
              <a:rPr sz="1650" b="1" i="0">
                <a:solidFill>
                  <a:srgbClr val="1B1A17"/>
                </a:solidFill>
                <a:latin typeface="PingFang SC"/>
                <a:ea typeface="PingFang SC"/>
                <a:cs typeface="PingFang SC"/>
              </a:rPr>
              <a:t>Data engine scale</a:t>
            </a:r>
          </a:p>
        </p:txBody>
      </p:sp>
      <p:sp>
        <p:nvSpPr>
          <p:cNvPr id="15" name="table-v1">
            <a:extLst>
              <a:ext uri="{FF2B5EF4-FFF2-40B4-BE49-F238E27FC236}">
                <a16:creationId xmlns:a16="http://schemas.microsoft.com/office/drawing/2014/main" id="{5E30BF19-4260-4059-AB94-076C3ECEC3ED}"/>
              </a:ext>
            </a:extLst>
          </p:cNvPr>
          <p:cNvSpPr>
            <a:spLocks noGrp="1"/>
          </p:cNvSpPr>
          <p:nvPr/>
        </p:nvSpPr>
        <p:spPr>
          <a:xfrm>
            <a:off x="10382250" y="4953000"/>
            <a:ext cx="5429250" cy="457200"/>
          </a:xfrm>
          <a:prstGeom prst="rect">
            <a:avLst/>
          </a:prstGeom>
        </p:spPr>
        <p:txBody>
          <a:bodyPr lIns="0" tIns="0" rIns="0" bIns="0"/>
          <a:lstStyle/>
          <a:p>
            <a:pPr algn="l">
              <a:defRPr sz="1650" b="0" i="0">
                <a:solidFill>
                  <a:srgbClr val="5D5A55"/>
                </a:solidFill>
                <a:latin typeface="PingFang SC"/>
                <a:ea typeface="PingFang SC"/>
                <a:cs typeface="PingFang SC"/>
              </a:defRPr>
            </a:pPr>
            <a:r>
              <a:rPr sz="1650" b="0" i="0">
                <a:solidFill>
                  <a:srgbClr val="5D5A55"/>
                </a:solidFill>
                <a:latin typeface="PingFang SC"/>
                <a:ea typeface="PingFang SC"/>
                <a:cs typeface="PingFang SC"/>
              </a:rPr>
              <a:t>&gt;500k h physical interaction data</a:t>
            </a:r>
          </a:p>
        </p:txBody>
      </p:sp>
      <p:sp>
        <p:nvSpPr>
          <p:cNvPr id="16" name="table-k2">
            <a:extLst>
              <a:ext uri="{FF2B5EF4-FFF2-40B4-BE49-F238E27FC236}">
                <a16:creationId xmlns:a16="http://schemas.microsoft.com/office/drawing/2014/main" id="{17239D7E-8002-495A-9369-8F222EA48347}"/>
              </a:ext>
            </a:extLst>
          </p:cNvPr>
          <p:cNvSpPr>
            <a:spLocks noGrp="1"/>
          </p:cNvSpPr>
          <p:nvPr/>
        </p:nvSpPr>
        <p:spPr>
          <a:xfrm>
            <a:off x="7239000" y="5657850"/>
            <a:ext cx="2857500" cy="457200"/>
          </a:xfrm>
          <a:prstGeom prst="rect">
            <a:avLst/>
          </a:prstGeom>
        </p:spPr>
        <p:txBody>
          <a:bodyPr lIns="0" tIns="0" rIns="0" bIns="0"/>
          <a:lstStyle/>
          <a:p>
            <a:pPr algn="l">
              <a:defRPr sz="1650" b="1" i="0">
                <a:solidFill>
                  <a:srgbClr val="1B1A17"/>
                </a:solidFill>
                <a:latin typeface="PingFang SC"/>
                <a:ea typeface="PingFang SC"/>
                <a:cs typeface="PingFang SC"/>
              </a:defRPr>
            </a:pPr>
            <a:r>
              <a:rPr sz="1650" b="1" i="0">
                <a:solidFill>
                  <a:srgbClr val="1B1A17"/>
                </a:solidFill>
                <a:latin typeface="PingFang SC"/>
                <a:ea typeface="PingFang SC"/>
                <a:cs typeface="PingFang SC"/>
              </a:rPr>
              <a:t>Base pretraining</a:t>
            </a:r>
          </a:p>
        </p:txBody>
      </p:sp>
      <p:sp>
        <p:nvSpPr>
          <p:cNvPr id="17" name="table-v2">
            <a:extLst>
              <a:ext uri="{FF2B5EF4-FFF2-40B4-BE49-F238E27FC236}">
                <a16:creationId xmlns:a16="http://schemas.microsoft.com/office/drawing/2014/main" id="{B20CBFF6-BBE4-458E-910B-C33C17CF46E7}"/>
              </a:ext>
            </a:extLst>
          </p:cNvPr>
          <p:cNvSpPr>
            <a:spLocks noGrp="1"/>
          </p:cNvSpPr>
          <p:nvPr/>
        </p:nvSpPr>
        <p:spPr>
          <a:xfrm>
            <a:off x="10382250" y="5657850"/>
            <a:ext cx="5429250" cy="457200"/>
          </a:xfrm>
          <a:prstGeom prst="rect">
            <a:avLst/>
          </a:prstGeom>
        </p:spPr>
        <p:txBody>
          <a:bodyPr lIns="0" tIns="0" rIns="0" bIns="0"/>
          <a:lstStyle/>
          <a:p>
            <a:pPr algn="l">
              <a:defRPr sz="1650" b="0" i="0">
                <a:solidFill>
                  <a:srgbClr val="5D5A55"/>
                </a:solidFill>
                <a:latin typeface="PingFang SC"/>
                <a:ea typeface="PingFang SC"/>
                <a:cs typeface="PingFang SC"/>
              </a:defRPr>
            </a:pPr>
            <a:r>
              <a:rPr sz="1650" b="0" i="0">
                <a:solidFill>
                  <a:srgbClr val="5D5A55"/>
                </a:solidFill>
                <a:latin typeface="PingFang SC"/>
                <a:ea typeface="PingFang SC"/>
                <a:cs typeface="PingFang SC"/>
              </a:rPr>
              <a:t>no robot data</a:t>
            </a:r>
          </a:p>
        </p:txBody>
      </p:sp>
      <p:sp>
        <p:nvSpPr>
          <p:cNvPr id="18" name="table-k3">
            <a:extLst>
              <a:ext uri="{FF2B5EF4-FFF2-40B4-BE49-F238E27FC236}">
                <a16:creationId xmlns:a16="http://schemas.microsoft.com/office/drawing/2014/main" id="{8C5B1B70-2FE3-49BC-BAE5-91B9D1B1ABAA}"/>
              </a:ext>
            </a:extLst>
          </p:cNvPr>
          <p:cNvSpPr>
            <a:spLocks noGrp="1"/>
          </p:cNvSpPr>
          <p:nvPr/>
        </p:nvSpPr>
        <p:spPr>
          <a:xfrm>
            <a:off x="7239000" y="6362700"/>
            <a:ext cx="2857500" cy="457200"/>
          </a:xfrm>
          <a:prstGeom prst="rect">
            <a:avLst/>
          </a:prstGeom>
        </p:spPr>
        <p:txBody>
          <a:bodyPr lIns="0" tIns="0" rIns="0" bIns="0"/>
          <a:lstStyle/>
          <a:p>
            <a:pPr algn="l">
              <a:defRPr sz="1650" b="1" i="0">
                <a:solidFill>
                  <a:srgbClr val="1B1A17"/>
                </a:solidFill>
                <a:latin typeface="PingFang SC"/>
                <a:ea typeface="PingFang SC"/>
                <a:cs typeface="PingFang SC"/>
              </a:defRPr>
            </a:pPr>
            <a:r>
              <a:rPr sz="1650" b="1" i="0">
                <a:solidFill>
                  <a:srgbClr val="1B1A17"/>
                </a:solidFill>
                <a:latin typeface="PingFang SC"/>
                <a:ea typeface="PingFang SC"/>
                <a:cs typeface="PingFang SC"/>
              </a:rPr>
              <a:t>Task adaptation</a:t>
            </a:r>
          </a:p>
        </p:txBody>
      </p:sp>
      <p:sp>
        <p:nvSpPr>
          <p:cNvPr id="19" name="table-v3">
            <a:extLst>
              <a:ext uri="{FF2B5EF4-FFF2-40B4-BE49-F238E27FC236}">
                <a16:creationId xmlns:a16="http://schemas.microsoft.com/office/drawing/2014/main" id="{AEDB8674-7D4B-404A-A58B-8B2415CBE56F}"/>
              </a:ext>
            </a:extLst>
          </p:cNvPr>
          <p:cNvSpPr>
            <a:spLocks noGrp="1"/>
          </p:cNvSpPr>
          <p:nvPr/>
        </p:nvSpPr>
        <p:spPr>
          <a:xfrm>
            <a:off x="10382250" y="6362700"/>
            <a:ext cx="5429250" cy="457200"/>
          </a:xfrm>
          <a:prstGeom prst="rect">
            <a:avLst/>
          </a:prstGeom>
        </p:spPr>
        <p:txBody>
          <a:bodyPr lIns="0" tIns="0" rIns="0" bIns="0"/>
          <a:lstStyle/>
          <a:p>
            <a:pPr algn="l">
              <a:defRPr sz="1650" b="0" i="0">
                <a:solidFill>
                  <a:srgbClr val="5D5A55"/>
                </a:solidFill>
                <a:latin typeface="PingFang SC"/>
                <a:ea typeface="PingFang SC"/>
                <a:cs typeface="PingFang SC"/>
              </a:defRPr>
            </a:pPr>
            <a:r>
              <a:rPr sz="1650" b="0" i="0">
                <a:solidFill>
                  <a:srgbClr val="5D5A55"/>
                </a:solidFill>
                <a:latin typeface="PingFang SC"/>
                <a:ea typeface="PingFang SC"/>
                <a:cs typeface="PingFang SC"/>
              </a:rPr>
              <a:t>~1 h robot data per shown result</a:t>
            </a:r>
          </a:p>
        </p:txBody>
      </p:sp>
      <p:sp>
        <p:nvSpPr>
          <p:cNvPr id="20" name="table-k4">
            <a:extLst>
              <a:ext uri="{FF2B5EF4-FFF2-40B4-BE49-F238E27FC236}">
                <a16:creationId xmlns:a16="http://schemas.microsoft.com/office/drawing/2014/main" id="{DB79808B-F26F-4360-8565-CC2DBE2C893F}"/>
              </a:ext>
            </a:extLst>
          </p:cNvPr>
          <p:cNvSpPr>
            <a:spLocks noGrp="1"/>
          </p:cNvSpPr>
          <p:nvPr/>
        </p:nvSpPr>
        <p:spPr>
          <a:xfrm>
            <a:off x="7239000" y="7067550"/>
            <a:ext cx="2857500" cy="457200"/>
          </a:xfrm>
          <a:prstGeom prst="rect">
            <a:avLst/>
          </a:prstGeom>
        </p:spPr>
        <p:txBody>
          <a:bodyPr lIns="0" tIns="0" rIns="0" bIns="0"/>
          <a:lstStyle/>
          <a:p>
            <a:pPr algn="l">
              <a:defRPr sz="1650" b="1" i="0">
                <a:solidFill>
                  <a:srgbClr val="1B1A17"/>
                </a:solidFill>
                <a:latin typeface="PingFang SC"/>
                <a:ea typeface="PingFang SC"/>
                <a:cs typeface="PingFang SC"/>
              </a:defRPr>
            </a:pPr>
            <a:r>
              <a:rPr sz="1650" b="1" i="0">
                <a:solidFill>
                  <a:srgbClr val="1B1A17"/>
                </a:solidFill>
                <a:latin typeface="PingFang SC"/>
                <a:ea typeface="PingFang SC"/>
                <a:cs typeface="PingFang SC"/>
              </a:rPr>
              <a:t>Sample efficiency</a:t>
            </a:r>
          </a:p>
        </p:txBody>
      </p:sp>
      <p:sp>
        <p:nvSpPr>
          <p:cNvPr id="21" name="table-v4">
            <a:extLst>
              <a:ext uri="{FF2B5EF4-FFF2-40B4-BE49-F238E27FC236}">
                <a16:creationId xmlns:a16="http://schemas.microsoft.com/office/drawing/2014/main" id="{F0B2AD78-9A22-40C1-A187-5989E4C842CB}"/>
              </a:ext>
            </a:extLst>
          </p:cNvPr>
          <p:cNvSpPr>
            <a:spLocks noGrp="1"/>
          </p:cNvSpPr>
          <p:nvPr/>
        </p:nvSpPr>
        <p:spPr>
          <a:xfrm>
            <a:off x="10382250" y="7067550"/>
            <a:ext cx="5429250" cy="457200"/>
          </a:xfrm>
          <a:prstGeom prst="rect">
            <a:avLst/>
          </a:prstGeom>
        </p:spPr>
        <p:txBody>
          <a:bodyPr lIns="0" tIns="0" rIns="0" bIns="0"/>
          <a:lstStyle/>
          <a:p>
            <a:pPr algn="l">
              <a:defRPr sz="1650" b="0" i="0">
                <a:solidFill>
                  <a:srgbClr val="5D5A55"/>
                </a:solidFill>
                <a:latin typeface="PingFang SC"/>
                <a:ea typeface="PingFang SC"/>
                <a:cs typeface="PingFang SC"/>
              </a:defRPr>
            </a:pPr>
            <a:r>
              <a:rPr sz="1650" b="0" i="0">
                <a:solidFill>
                  <a:srgbClr val="5D5A55"/>
                </a:solidFill>
                <a:latin typeface="PingFang SC"/>
                <a:ea typeface="PingFang SC"/>
                <a:cs typeface="PingFang SC"/>
              </a:rPr>
              <a:t>10x less task-specific data in some tests</a:t>
            </a:r>
          </a:p>
        </p:txBody>
      </p:sp>
    </p:spTree>
    <p:extLst>
      <p:ext uri="{BB962C8B-B14F-4D97-AF65-F5344CB8AC3E}">
        <p14:creationId xmlns:p14="http://schemas.microsoft.com/office/powerpoint/2010/main" val="13783730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FCF39AF-A12F-4C85-B511-D408DBCC4F8D}"/>
              </a:ext>
            </a:extLst>
          </p:cNvPr>
          <p:cNvSpPr>
            <a:spLocks noGrp="1"/>
          </p:cNvSpPr>
          <p:nvPr/>
        </p:nvSpPr>
        <p:spPr>
          <a:prstGeom prst="rect">
            <a:avLst/>
          </a:prstGeom>
        </p:spPr>
        <p:txBody>
          <a:bodyPr/>
          <a:lstStyle/>
          <a:p>
            <a:endParaRPr lang="en-US"/>
          </a:p>
        </p:txBody>
      </p:sp>
      <p:sp>
        <p:nvSpPr>
          <p:cNvPr id="2" name="slide-title">
            <a:extLst>
              <a:ext uri="{FF2B5EF4-FFF2-40B4-BE49-F238E27FC236}">
                <a16:creationId xmlns:a16="http://schemas.microsoft.com/office/drawing/2014/main" id="{971702B7-98AC-4C89-BE41-BAB3ED5DAC63}"/>
              </a:ext>
            </a:extLst>
          </p:cNvPr>
          <p:cNvSpPr>
            <a:spLocks noGrp="1"/>
          </p:cNvSpPr>
          <p:nvPr/>
        </p:nvSpPr>
        <p:spPr>
          <a:xfrm>
            <a:off x="1143000" y="495300"/>
            <a:ext cx="13144500" cy="514350"/>
          </a:xfrm>
          <a:prstGeom prst="rect">
            <a:avLst/>
          </a:prstGeom>
        </p:spPr>
        <p:txBody>
          <a:bodyPr lIns="0" tIns="0" rIns="0" bIns="0"/>
          <a:lstStyle/>
          <a:p>
            <a:pPr algn="l">
              <a:defRPr sz="3300" b="1">
                <a:solidFill>
                  <a:srgbClr val="1B1A17"/>
                </a:solidFill>
                <a:latin typeface="Songti SC"/>
                <a:ea typeface="Songti SC"/>
                <a:cs typeface="Songti SC"/>
              </a:defRPr>
            </a:pPr>
            <a:r>
              <a:rPr sz="3300" b="1">
                <a:solidFill>
                  <a:srgbClr val="1B1A17"/>
                </a:solidFill>
                <a:latin typeface="Songti SC"/>
                <a:ea typeface="Songti SC"/>
                <a:cs typeface="Songti SC"/>
              </a:rPr>
              <a:t>局限与 alignment：文章自己承认了什么</a:t>
            </a:r>
          </a:p>
        </p:txBody>
      </p:sp>
      <p:sp>
        <p:nvSpPr>
          <p:cNvPr id="3" name="slide-subtitle">
            <a:extLst>
              <a:ext uri="{FF2B5EF4-FFF2-40B4-BE49-F238E27FC236}">
                <a16:creationId xmlns:a16="http://schemas.microsoft.com/office/drawing/2014/main" id="{2DB39B2C-F458-4704-95F1-526D6CCAD0CE}"/>
              </a:ext>
            </a:extLst>
          </p:cNvPr>
          <p:cNvSpPr>
            <a:spLocks noGrp="1"/>
          </p:cNvSpPr>
          <p:nvPr/>
        </p:nvSpPr>
        <p:spPr>
          <a:xfrm>
            <a:off x="1143000" y="1066800"/>
            <a:ext cx="13144500" cy="266700"/>
          </a:xfrm>
          <a:prstGeom prst="rect">
            <a:avLst/>
          </a:prstGeom>
        </p:spPr>
        <p:txBody>
          <a:bodyPr lIns="0" tIns="0" rIns="0" bIns="0"/>
          <a:lstStyle/>
          <a:p>
            <a:pPr algn="l">
              <a:defRPr sz="1650">
                <a:solidFill>
                  <a:srgbClr val="5D5A55"/>
                </a:solidFill>
                <a:latin typeface="PingFang SC"/>
                <a:ea typeface="PingFang SC"/>
                <a:cs typeface="PingFang SC"/>
              </a:defRPr>
            </a:pPr>
            <a:r>
              <a:rPr sz="1650">
                <a:solidFill>
                  <a:srgbClr val="5D5A55"/>
                </a:solidFill>
                <a:latin typeface="PingFang SC"/>
                <a:ea typeface="PingFang SC"/>
                <a:cs typeface="PingFang SC"/>
              </a:rPr>
              <a:t>能力上去了，代价是系统行为更自由，也更需要“该做 / 不该做”的边界。</a:t>
            </a:r>
          </a:p>
        </p:txBody>
      </p:sp>
      <p:sp>
        <p:nvSpPr>
          <p:cNvPr id="4" name="logo-wordmark">
            <a:extLst>
              <a:ext uri="{FF2B5EF4-FFF2-40B4-BE49-F238E27FC236}">
                <a16:creationId xmlns:a16="http://schemas.microsoft.com/office/drawing/2014/main" id="{89571011-B09F-443E-ABB2-7026AC6B6E8D}"/>
              </a:ext>
            </a:extLst>
          </p:cNvPr>
          <p:cNvSpPr>
            <a:spLocks noGrp="1"/>
          </p:cNvSpPr>
          <p:nvPr/>
        </p:nvSpPr>
        <p:spPr>
          <a:xfrm>
            <a:off x="14478000" y="590550"/>
            <a:ext cx="2667000" cy="266700"/>
          </a:xfrm>
          <a:prstGeom prst="rect">
            <a:avLst/>
          </a:prstGeom>
        </p:spPr>
        <p:txBody>
          <a:bodyPr lIns="0" tIns="0" rIns="0" bIns="0"/>
          <a:lstStyle/>
          <a:p>
            <a:pPr algn="r">
              <a:defRPr sz="1650" b="1" i="0">
                <a:solidFill>
                  <a:srgbClr val="C00000"/>
                </a:solidFill>
                <a:latin typeface="Avenir Next"/>
                <a:ea typeface="Avenir Next"/>
                <a:cs typeface="Avenir Next"/>
              </a:defRPr>
            </a:pPr>
            <a:r>
              <a:rPr sz="1650" b="1" i="0">
                <a:solidFill>
                  <a:srgbClr val="C00000"/>
                </a:solidFill>
                <a:latin typeface="Avenir Next"/>
                <a:ea typeface="Avenir Next"/>
                <a:cs typeface="Avenir Next"/>
              </a:rPr>
              <a:t>Generalist AI</a:t>
            </a:r>
          </a:p>
        </p:txBody>
      </p:sp>
      <p:sp>
        <p:nvSpPr>
          <p:cNvPr id="5" name="source-line">
            <a:extLst>
              <a:ext uri="{FF2B5EF4-FFF2-40B4-BE49-F238E27FC236}">
                <a16:creationId xmlns:a16="http://schemas.microsoft.com/office/drawing/2014/main" id="{B0096B15-5A63-4AED-92A3-39DE4B3D9BD4}"/>
              </a:ext>
            </a:extLst>
          </p:cNvPr>
          <p:cNvSpPr>
            <a:spLocks noGrp="1"/>
          </p:cNvSpPr>
          <p:nvPr/>
        </p:nvSpPr>
        <p:spPr>
          <a:xfrm>
            <a:off x="1143000" y="9734550"/>
            <a:ext cx="11430000" cy="152400"/>
          </a:xfrm>
          <a:prstGeom prst="rect">
            <a:avLst/>
          </a:prstGeom>
        </p:spPr>
        <p:txBody>
          <a:bodyPr lIns="0" tIns="0" rIns="0" bIns="0"/>
          <a:lstStyle/>
          <a:p>
            <a:pPr algn="l">
              <a:defRPr sz="900" b="0" i="0">
                <a:solidFill>
                  <a:srgbClr val="5D5A55"/>
                </a:solidFill>
                <a:latin typeface="PingFang SC"/>
                <a:ea typeface="PingFang SC"/>
                <a:cs typeface="PingFang SC"/>
              </a:defRPr>
            </a:pPr>
            <a:r>
              <a:rPr sz="900" b="0" i="0">
                <a:solidFill>
                  <a:srgbClr val="5D5A55"/>
                </a:solidFill>
                <a:latin typeface="PingFang SC"/>
                <a:ea typeface="PingFang SC"/>
                <a:cs typeface="PingFang SC"/>
              </a:rPr>
              <a:t>Source: Generalist AI Blog, 2026-04-02</a:t>
            </a:r>
          </a:p>
        </p:txBody>
      </p:sp>
      <p:sp>
        <p:nvSpPr>
          <p:cNvPr id="6" name="page-number">
            <a:extLst>
              <a:ext uri="{FF2B5EF4-FFF2-40B4-BE49-F238E27FC236}">
                <a16:creationId xmlns:a16="http://schemas.microsoft.com/office/drawing/2014/main" id="{36398F0E-4F05-4F85-979D-8D903C5ABD7A}"/>
              </a:ext>
            </a:extLst>
          </p:cNvPr>
          <p:cNvSpPr>
            <a:spLocks noGrp="1"/>
          </p:cNvSpPr>
          <p:nvPr/>
        </p:nvSpPr>
        <p:spPr>
          <a:xfrm>
            <a:off x="15811500" y="9715500"/>
            <a:ext cx="1524000" cy="152400"/>
          </a:xfrm>
          <a:prstGeom prst="rect">
            <a:avLst/>
          </a:prstGeom>
        </p:spPr>
        <p:txBody>
          <a:bodyPr lIns="0" tIns="0" rIns="0" bIns="0"/>
          <a:lstStyle/>
          <a:p>
            <a:pPr algn="r">
              <a:defRPr sz="975" b="0" i="0">
                <a:solidFill>
                  <a:srgbClr val="5D5A55"/>
                </a:solidFill>
                <a:latin typeface="Avenir Next"/>
                <a:ea typeface="Avenir Next"/>
                <a:cs typeface="Avenir Next"/>
              </a:defRPr>
            </a:pPr>
            <a:r>
              <a:rPr sz="975" b="0" i="0">
                <a:solidFill>
                  <a:srgbClr val="5D5A55"/>
                </a:solidFill>
                <a:latin typeface="Avenir Next"/>
                <a:ea typeface="Avenir Next"/>
                <a:cs typeface="Avenir Next"/>
              </a:rPr>
              <a:t>09 / 10</a:t>
            </a:r>
          </a:p>
        </p:txBody>
      </p:sp>
      <p:sp>
        <p:nvSpPr>
          <p:cNvPr id="7" name="Rectangle 6">
            <a:extLst>
              <a:ext uri="{FF2B5EF4-FFF2-40B4-BE49-F238E27FC236}">
                <a16:creationId xmlns:a16="http://schemas.microsoft.com/office/drawing/2014/main" id="{CC3343F3-C020-4174-B707-157227F3F30F}"/>
              </a:ext>
            </a:extLst>
          </p:cNvPr>
          <p:cNvSpPr>
            <a:spLocks noGrp="1"/>
          </p:cNvSpPr>
          <p:nvPr/>
        </p:nvSpPr>
        <p:spPr>
          <a:prstGeom prst="rect">
            <a:avLst/>
          </a:prstGeom>
        </p:spPr>
        <p:txBody>
          <a:bodyPr/>
          <a:lstStyle/>
          <a:p>
            <a:endParaRPr lang="en-US"/>
          </a:p>
        </p:txBody>
      </p:sp>
      <p:sp>
        <p:nvSpPr>
          <p:cNvPr id="8" name="Rectangle 7">
            <a:extLst>
              <a:ext uri="{FF2B5EF4-FFF2-40B4-BE49-F238E27FC236}">
                <a16:creationId xmlns:a16="http://schemas.microsoft.com/office/drawing/2014/main" id="{4152D54C-47AA-4460-AC43-7876E696AD66}"/>
              </a:ext>
            </a:extLst>
          </p:cNvPr>
          <p:cNvSpPr>
            <a:spLocks noGrp="1"/>
          </p:cNvSpPr>
          <p:nvPr/>
        </p:nvSpPr>
        <p:spPr>
          <a:prstGeom prst="rect">
            <a:avLst/>
          </a:prstGeom>
        </p:spPr>
        <p:txBody>
          <a:bodyPr/>
          <a:lstStyle/>
          <a:p>
            <a:endParaRPr lang="en-US"/>
          </a:p>
        </p:txBody>
      </p:sp>
      <p:sp>
        <p:nvSpPr>
          <p:cNvPr id="9" name="limits-left-title">
            <a:extLst>
              <a:ext uri="{FF2B5EF4-FFF2-40B4-BE49-F238E27FC236}">
                <a16:creationId xmlns:a16="http://schemas.microsoft.com/office/drawing/2014/main" id="{7297E36C-E2B8-4E72-83E2-BDF4242FF621}"/>
              </a:ext>
            </a:extLst>
          </p:cNvPr>
          <p:cNvSpPr>
            <a:spLocks noGrp="1"/>
          </p:cNvSpPr>
          <p:nvPr/>
        </p:nvSpPr>
        <p:spPr>
          <a:xfrm>
            <a:off x="1714500" y="3048000"/>
            <a:ext cx="6096000" cy="400050"/>
          </a:xfrm>
          <a:prstGeom prst="rect">
            <a:avLst/>
          </a:prstGeom>
        </p:spPr>
        <p:txBody>
          <a:bodyPr lIns="0" tIns="0" rIns="0" bIns="0"/>
          <a:lstStyle/>
          <a:p>
            <a:pPr algn="l">
              <a:defRPr sz="2550" b="1" i="0">
                <a:solidFill>
                  <a:srgbClr val="C00000"/>
                </a:solidFill>
                <a:latin typeface="Avenir Next"/>
                <a:ea typeface="Avenir Next"/>
                <a:cs typeface="Avenir Next"/>
              </a:defRPr>
            </a:pPr>
            <a:r>
              <a:rPr sz="2550" b="1" i="0">
                <a:solidFill>
                  <a:srgbClr val="C00000"/>
                </a:solidFill>
                <a:latin typeface="Avenir Next"/>
                <a:ea typeface="Avenir Next"/>
                <a:cs typeface="Avenir Next"/>
              </a:rPr>
              <a:t>Still limited</a:t>
            </a:r>
          </a:p>
        </p:txBody>
      </p:sp>
      <p:sp>
        <p:nvSpPr>
          <p:cNvPr id="10" name="limits-left-1">
            <a:extLst>
              <a:ext uri="{FF2B5EF4-FFF2-40B4-BE49-F238E27FC236}">
                <a16:creationId xmlns:a16="http://schemas.microsoft.com/office/drawing/2014/main" id="{124D667A-8C17-4FCB-AC4D-B0143AAB8752}"/>
              </a:ext>
            </a:extLst>
          </p:cNvPr>
          <p:cNvSpPr>
            <a:spLocks noGrp="1"/>
          </p:cNvSpPr>
          <p:nvPr/>
        </p:nvSpPr>
        <p:spPr>
          <a:xfrm>
            <a:off x="1714500" y="3600450"/>
            <a:ext cx="6096000" cy="285750"/>
          </a:xfrm>
          <a:prstGeom prst="rect">
            <a:avLst/>
          </a:prstGeom>
        </p:spPr>
        <p:txBody>
          <a:bodyPr lIns="0" tIns="0" rIns="0" bIns="0"/>
          <a:lstStyle/>
          <a:p>
            <a:pPr algn="l">
              <a:defRPr sz="1800" b="0" i="0">
                <a:solidFill>
                  <a:srgbClr val="1B1A17"/>
                </a:solidFill>
                <a:latin typeface="PingFang SC"/>
                <a:ea typeface="PingFang SC"/>
                <a:cs typeface="PingFang SC"/>
              </a:defRPr>
            </a:pPr>
            <a:r>
              <a:rPr sz="1800" b="0" i="0">
                <a:solidFill>
                  <a:srgbClr val="1B1A17"/>
                </a:solidFill>
                <a:latin typeface="PingFang SC"/>
                <a:ea typeface="PingFang SC"/>
                <a:cs typeface="PingFang SC"/>
              </a:rPr>
              <a:t>不是所有任务都能打到 99%+。</a:t>
            </a:r>
          </a:p>
        </p:txBody>
      </p:sp>
      <p:sp>
        <p:nvSpPr>
          <p:cNvPr id="11" name="limits-left-2">
            <a:extLst>
              <a:ext uri="{FF2B5EF4-FFF2-40B4-BE49-F238E27FC236}">
                <a16:creationId xmlns:a16="http://schemas.microsoft.com/office/drawing/2014/main" id="{A9F04151-BEFE-45EE-A066-71AFF415AB93}"/>
              </a:ext>
            </a:extLst>
          </p:cNvPr>
          <p:cNvSpPr>
            <a:spLocks noGrp="1"/>
          </p:cNvSpPr>
          <p:nvPr/>
        </p:nvSpPr>
        <p:spPr>
          <a:xfrm>
            <a:off x="1714500" y="4057650"/>
            <a:ext cx="5600700" cy="285750"/>
          </a:xfrm>
          <a:prstGeom prst="rect">
            <a:avLst/>
          </a:prstGeom>
        </p:spPr>
        <p:txBody>
          <a:bodyPr lIns="0" tIns="0" rIns="0" bIns="0"/>
          <a:lstStyle/>
          <a:p>
            <a:pPr algn="l">
              <a:defRPr sz="1800" b="0" i="0">
                <a:solidFill>
                  <a:srgbClr val="1B1A17"/>
                </a:solidFill>
                <a:latin typeface="PingFang SC"/>
                <a:ea typeface="PingFang SC"/>
                <a:cs typeface="PingFang SC"/>
              </a:defRPr>
            </a:pPr>
            <a:r>
              <a:rPr sz="1800" b="0" i="0">
                <a:solidFill>
                  <a:srgbClr val="1B1A17"/>
                </a:solidFill>
                <a:latin typeface="PingFang SC"/>
                <a:ea typeface="PingFang SC"/>
                <a:cs typeface="PingFang SC"/>
              </a:rPr>
              <a:t>某些场景需要更高 success rate / speed 才真正可用。</a:t>
            </a:r>
          </a:p>
        </p:txBody>
      </p:sp>
      <p:sp>
        <p:nvSpPr>
          <p:cNvPr id="12" name="limits-left-3">
            <a:extLst>
              <a:ext uri="{FF2B5EF4-FFF2-40B4-BE49-F238E27FC236}">
                <a16:creationId xmlns:a16="http://schemas.microsoft.com/office/drawing/2014/main" id="{1001C2D6-8BDB-4C31-95DB-3F5DEFA1756A}"/>
              </a:ext>
            </a:extLst>
          </p:cNvPr>
          <p:cNvSpPr>
            <a:spLocks noGrp="1"/>
          </p:cNvSpPr>
          <p:nvPr/>
        </p:nvSpPr>
        <p:spPr>
          <a:xfrm>
            <a:off x="1714500" y="4495800"/>
            <a:ext cx="5486400" cy="552450"/>
          </a:xfrm>
          <a:prstGeom prst="rect">
            <a:avLst/>
          </a:prstGeom>
        </p:spPr>
        <p:txBody>
          <a:bodyPr lIns="0" tIns="0" rIns="0" bIns="0"/>
          <a:lstStyle/>
          <a:p>
            <a:pPr algn="l">
              <a:defRPr sz="1800" b="0" i="0">
                <a:solidFill>
                  <a:srgbClr val="1B1A17"/>
                </a:solidFill>
                <a:latin typeface="PingFang SC"/>
                <a:ea typeface="PingFang SC"/>
                <a:cs typeface="PingFang SC"/>
              </a:defRPr>
            </a:pPr>
            <a:r>
              <a:rPr sz="1800" b="0" i="0">
                <a:solidFill>
                  <a:srgbClr val="1B1A17"/>
                </a:solidFill>
                <a:latin typeface="PingFang SC"/>
                <a:ea typeface="PingFang SC"/>
                <a:cs typeface="PingFang SC"/>
              </a:rPr>
              <a:t>文章预期下一代模型会覆盖更复杂任务，同时继续降低 per-task data。</a:t>
            </a:r>
          </a:p>
        </p:txBody>
      </p:sp>
      <p:sp>
        <p:nvSpPr>
          <p:cNvPr id="13" name="limits-right-title">
            <a:extLst>
              <a:ext uri="{FF2B5EF4-FFF2-40B4-BE49-F238E27FC236}">
                <a16:creationId xmlns:a16="http://schemas.microsoft.com/office/drawing/2014/main" id="{E9DB05A1-5EF5-43AD-B0EA-C7F8C1E88E2A}"/>
              </a:ext>
            </a:extLst>
          </p:cNvPr>
          <p:cNvSpPr>
            <a:spLocks noGrp="1"/>
          </p:cNvSpPr>
          <p:nvPr/>
        </p:nvSpPr>
        <p:spPr>
          <a:xfrm>
            <a:off x="9810750" y="3048000"/>
            <a:ext cx="6096000" cy="400050"/>
          </a:xfrm>
          <a:prstGeom prst="rect">
            <a:avLst/>
          </a:prstGeom>
        </p:spPr>
        <p:txBody>
          <a:bodyPr lIns="0" tIns="0" rIns="0" bIns="0"/>
          <a:lstStyle/>
          <a:p>
            <a:pPr algn="l">
              <a:defRPr sz="2550" b="1" i="0">
                <a:solidFill>
                  <a:srgbClr val="0C2441"/>
                </a:solidFill>
                <a:latin typeface="Avenir Next"/>
                <a:ea typeface="Avenir Next"/>
                <a:cs typeface="Avenir Next"/>
              </a:defRPr>
            </a:pPr>
            <a:r>
              <a:rPr sz="2550" b="1" i="0">
                <a:solidFill>
                  <a:srgbClr val="0C2441"/>
                </a:solidFill>
                <a:latin typeface="Avenir Next"/>
                <a:ea typeface="Avenir Next"/>
                <a:cs typeface="Avenir Next"/>
              </a:rPr>
              <a:t>Alignment challenge</a:t>
            </a:r>
          </a:p>
        </p:txBody>
      </p:sp>
      <p:sp>
        <p:nvSpPr>
          <p:cNvPr id="14" name="limits-right-1">
            <a:extLst>
              <a:ext uri="{FF2B5EF4-FFF2-40B4-BE49-F238E27FC236}">
                <a16:creationId xmlns:a16="http://schemas.microsoft.com/office/drawing/2014/main" id="{7D83AACD-CC89-474C-842D-5107D6055F28}"/>
              </a:ext>
            </a:extLst>
          </p:cNvPr>
          <p:cNvSpPr>
            <a:spLocks noGrp="1"/>
          </p:cNvSpPr>
          <p:nvPr/>
        </p:nvSpPr>
        <p:spPr>
          <a:xfrm>
            <a:off x="9810750" y="3600450"/>
            <a:ext cx="6096000" cy="285750"/>
          </a:xfrm>
          <a:prstGeom prst="rect">
            <a:avLst/>
          </a:prstGeom>
        </p:spPr>
        <p:txBody>
          <a:bodyPr lIns="0" tIns="0" rIns="0" bIns="0"/>
          <a:lstStyle/>
          <a:p>
            <a:pPr algn="l">
              <a:defRPr sz="1800" b="0" i="0">
                <a:solidFill>
                  <a:srgbClr val="1B1A17"/>
                </a:solidFill>
                <a:latin typeface="PingFang SC"/>
                <a:ea typeface="PingFang SC"/>
                <a:cs typeface="PingFang SC"/>
              </a:defRPr>
            </a:pPr>
            <a:r>
              <a:rPr sz="1800" b="0" i="0">
                <a:solidFill>
                  <a:srgbClr val="1B1A17"/>
                </a:solidFill>
                <a:latin typeface="PingFang SC"/>
                <a:ea typeface="PingFang SC"/>
                <a:cs typeface="PingFang SC"/>
              </a:rPr>
              <a:t>emergent improvisation 也意味着真实物理后果。</a:t>
            </a:r>
          </a:p>
        </p:txBody>
      </p:sp>
      <p:sp>
        <p:nvSpPr>
          <p:cNvPr id="15" name="limits-right-2">
            <a:extLst>
              <a:ext uri="{FF2B5EF4-FFF2-40B4-BE49-F238E27FC236}">
                <a16:creationId xmlns:a16="http://schemas.microsoft.com/office/drawing/2014/main" id="{E10A34E3-3520-4995-B637-B7957A200D32}"/>
              </a:ext>
            </a:extLst>
          </p:cNvPr>
          <p:cNvSpPr>
            <a:spLocks noGrp="1"/>
          </p:cNvSpPr>
          <p:nvPr/>
        </p:nvSpPr>
        <p:spPr>
          <a:xfrm>
            <a:off x="9810750" y="4057650"/>
            <a:ext cx="5391150" cy="552450"/>
          </a:xfrm>
          <a:prstGeom prst="rect">
            <a:avLst/>
          </a:prstGeom>
        </p:spPr>
        <p:txBody>
          <a:bodyPr lIns="0" tIns="0" rIns="0" bIns="0"/>
          <a:lstStyle/>
          <a:p>
            <a:pPr algn="l">
              <a:defRPr sz="1800" b="0" i="0">
                <a:solidFill>
                  <a:srgbClr val="1B1A17"/>
                </a:solidFill>
                <a:latin typeface="PingFang SC"/>
                <a:ea typeface="PingFang SC"/>
                <a:cs typeface="PingFang SC"/>
              </a:defRPr>
            </a:pPr>
            <a:r>
              <a:rPr sz="1800" b="0" i="0">
                <a:solidFill>
                  <a:srgbClr val="1B1A17"/>
                </a:solidFill>
                <a:latin typeface="PingFang SC"/>
                <a:ea typeface="PingFang SC"/>
                <a:cs typeface="PingFang SC"/>
              </a:rPr>
              <a:t>success 是 task-specific、workflow-specific、user-defined。</a:t>
            </a:r>
          </a:p>
        </p:txBody>
      </p:sp>
      <p:sp>
        <p:nvSpPr>
          <p:cNvPr id="16" name="limits-right-3">
            <a:extLst>
              <a:ext uri="{FF2B5EF4-FFF2-40B4-BE49-F238E27FC236}">
                <a16:creationId xmlns:a16="http://schemas.microsoft.com/office/drawing/2014/main" id="{B5F92D51-FE6E-406D-A8D3-2F48B8F1D6A9}"/>
              </a:ext>
            </a:extLst>
          </p:cNvPr>
          <p:cNvSpPr>
            <a:spLocks noGrp="1"/>
          </p:cNvSpPr>
          <p:nvPr/>
        </p:nvSpPr>
        <p:spPr>
          <a:xfrm>
            <a:off x="9810750" y="4781550"/>
            <a:ext cx="5524500" cy="552450"/>
          </a:xfrm>
          <a:prstGeom prst="rect">
            <a:avLst/>
          </a:prstGeom>
        </p:spPr>
        <p:txBody>
          <a:bodyPr lIns="0" tIns="0" rIns="0" bIns="0"/>
          <a:lstStyle/>
          <a:p>
            <a:pPr algn="l">
              <a:defRPr sz="1800" b="0" i="0">
                <a:solidFill>
                  <a:srgbClr val="1B1A17"/>
                </a:solidFill>
                <a:latin typeface="PingFang SC"/>
                <a:ea typeface="PingFang SC"/>
                <a:cs typeface="PingFang SC"/>
              </a:defRPr>
            </a:pPr>
            <a:r>
              <a:rPr sz="1800" b="0" i="0">
                <a:solidFill>
                  <a:srgbClr val="1B1A17"/>
                </a:solidFill>
                <a:latin typeface="PingFang SC"/>
                <a:ea typeface="PingFang SC"/>
                <a:cs typeface="PingFang SC"/>
              </a:rPr>
              <a:t>关键不只在于 robot 会做什么，也在于它不该做什么。</a:t>
            </a:r>
          </a:p>
        </p:txBody>
      </p:sp>
    </p:spTree>
    <p:extLst>
      <p:ext uri="{BB962C8B-B14F-4D97-AF65-F5344CB8AC3E}">
        <p14:creationId xmlns:p14="http://schemas.microsoft.com/office/powerpoint/2010/main" val="11601633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622BD18-C7A2-4681-B544-95F47CFDFB6B}"/>
              </a:ext>
            </a:extLst>
          </p:cNvPr>
          <p:cNvSpPr>
            <a:spLocks noGrp="1"/>
          </p:cNvSpPr>
          <p:nvPr/>
        </p:nvSpPr>
        <p:spPr>
          <a:prstGeom prst="rect">
            <a:avLst/>
          </a:prstGeom>
        </p:spPr>
        <p:txBody>
          <a:bodyPr/>
          <a:lstStyle/>
          <a:p>
            <a:endParaRPr lang="en-US"/>
          </a:p>
        </p:txBody>
      </p:sp>
      <p:sp>
        <p:nvSpPr>
          <p:cNvPr id="2" name="slide-title">
            <a:extLst>
              <a:ext uri="{FF2B5EF4-FFF2-40B4-BE49-F238E27FC236}">
                <a16:creationId xmlns:a16="http://schemas.microsoft.com/office/drawing/2014/main" id="{A292BE1F-D3AD-4532-AA3A-11F22DF76225}"/>
              </a:ext>
            </a:extLst>
          </p:cNvPr>
          <p:cNvSpPr>
            <a:spLocks noGrp="1"/>
          </p:cNvSpPr>
          <p:nvPr/>
        </p:nvSpPr>
        <p:spPr>
          <a:xfrm>
            <a:off x="1143000" y="495300"/>
            <a:ext cx="13144500" cy="514350"/>
          </a:xfrm>
          <a:prstGeom prst="rect">
            <a:avLst/>
          </a:prstGeom>
        </p:spPr>
        <p:txBody>
          <a:bodyPr lIns="0" tIns="0" rIns="0" bIns="0"/>
          <a:lstStyle/>
          <a:p>
            <a:pPr algn="l">
              <a:defRPr sz="3300" b="1">
                <a:solidFill>
                  <a:srgbClr val="1B1A17"/>
                </a:solidFill>
                <a:latin typeface="Songti SC"/>
                <a:ea typeface="Songti SC"/>
                <a:cs typeface="Songti SC"/>
              </a:defRPr>
            </a:pPr>
            <a:r>
              <a:rPr sz="3300" b="1" dirty="0" err="1">
                <a:solidFill>
                  <a:srgbClr val="1B1A17"/>
                </a:solidFill>
                <a:latin typeface="Songti SC"/>
                <a:ea typeface="Songti SC"/>
                <a:cs typeface="Songti SC"/>
              </a:rPr>
              <a:t>阅读结论</a:t>
            </a:r>
            <a:endParaRPr sz="3300" b="1" dirty="0">
              <a:solidFill>
                <a:srgbClr val="1B1A17"/>
              </a:solidFill>
              <a:latin typeface="Songti SC"/>
              <a:ea typeface="Songti SC"/>
              <a:cs typeface="Songti SC"/>
            </a:endParaRPr>
          </a:p>
        </p:txBody>
      </p:sp>
      <p:sp>
        <p:nvSpPr>
          <p:cNvPr id="3" name="slide-subtitle">
            <a:extLst>
              <a:ext uri="{FF2B5EF4-FFF2-40B4-BE49-F238E27FC236}">
                <a16:creationId xmlns:a16="http://schemas.microsoft.com/office/drawing/2014/main" id="{2CD3B3B7-3B01-4C7C-B00B-10A369D8B7F4}"/>
              </a:ext>
            </a:extLst>
          </p:cNvPr>
          <p:cNvSpPr>
            <a:spLocks noGrp="1"/>
          </p:cNvSpPr>
          <p:nvPr/>
        </p:nvSpPr>
        <p:spPr>
          <a:xfrm>
            <a:off x="1143000" y="1066800"/>
            <a:ext cx="13144500" cy="266700"/>
          </a:xfrm>
          <a:prstGeom prst="rect">
            <a:avLst/>
          </a:prstGeom>
        </p:spPr>
        <p:txBody>
          <a:bodyPr lIns="0" tIns="0" rIns="0" bIns="0"/>
          <a:lstStyle/>
          <a:p>
            <a:pPr algn="l">
              <a:defRPr sz="1650">
                <a:solidFill>
                  <a:srgbClr val="5D5A55"/>
                </a:solidFill>
                <a:latin typeface="PingFang SC"/>
                <a:ea typeface="PingFang SC"/>
                <a:cs typeface="PingFang SC"/>
              </a:defRPr>
            </a:pPr>
            <a:r>
              <a:rPr sz="1650">
                <a:solidFill>
                  <a:srgbClr val="5D5A55"/>
                </a:solidFill>
                <a:latin typeface="PingFang SC"/>
                <a:ea typeface="PingFang SC"/>
                <a:cs typeface="PingFang SC"/>
              </a:rPr>
              <a:t>它像是“具身基础模型进入 product threshold 的第一篇宣言”。</a:t>
            </a:r>
          </a:p>
        </p:txBody>
      </p:sp>
      <p:sp>
        <p:nvSpPr>
          <p:cNvPr id="4" name="logo-wordmark">
            <a:extLst>
              <a:ext uri="{FF2B5EF4-FFF2-40B4-BE49-F238E27FC236}">
                <a16:creationId xmlns:a16="http://schemas.microsoft.com/office/drawing/2014/main" id="{3BC754C3-4D61-43A5-AE78-74CB6E2448C6}"/>
              </a:ext>
            </a:extLst>
          </p:cNvPr>
          <p:cNvSpPr>
            <a:spLocks noGrp="1"/>
          </p:cNvSpPr>
          <p:nvPr/>
        </p:nvSpPr>
        <p:spPr>
          <a:xfrm>
            <a:off x="14478000" y="590550"/>
            <a:ext cx="2667000" cy="266700"/>
          </a:xfrm>
          <a:prstGeom prst="rect">
            <a:avLst/>
          </a:prstGeom>
        </p:spPr>
        <p:txBody>
          <a:bodyPr lIns="0" tIns="0" rIns="0" bIns="0"/>
          <a:lstStyle/>
          <a:p>
            <a:pPr algn="r">
              <a:defRPr sz="1650" b="1" i="0">
                <a:solidFill>
                  <a:srgbClr val="C00000"/>
                </a:solidFill>
                <a:latin typeface="Avenir Next"/>
                <a:ea typeface="Avenir Next"/>
                <a:cs typeface="Avenir Next"/>
              </a:defRPr>
            </a:pPr>
            <a:r>
              <a:rPr sz="1650" b="1" i="0">
                <a:solidFill>
                  <a:srgbClr val="C00000"/>
                </a:solidFill>
                <a:latin typeface="Avenir Next"/>
                <a:ea typeface="Avenir Next"/>
                <a:cs typeface="Avenir Next"/>
              </a:rPr>
              <a:t>Generalist AI</a:t>
            </a:r>
          </a:p>
        </p:txBody>
      </p:sp>
      <p:sp>
        <p:nvSpPr>
          <p:cNvPr id="5" name="source-line">
            <a:extLst>
              <a:ext uri="{FF2B5EF4-FFF2-40B4-BE49-F238E27FC236}">
                <a16:creationId xmlns:a16="http://schemas.microsoft.com/office/drawing/2014/main" id="{8780A4AF-370D-4EEC-98DA-9DE02EC0376A}"/>
              </a:ext>
            </a:extLst>
          </p:cNvPr>
          <p:cNvSpPr>
            <a:spLocks noGrp="1"/>
          </p:cNvSpPr>
          <p:nvPr/>
        </p:nvSpPr>
        <p:spPr>
          <a:xfrm>
            <a:off x="1143000" y="9734550"/>
            <a:ext cx="11430000" cy="152400"/>
          </a:xfrm>
          <a:prstGeom prst="rect">
            <a:avLst/>
          </a:prstGeom>
        </p:spPr>
        <p:txBody>
          <a:bodyPr lIns="0" tIns="0" rIns="0" bIns="0"/>
          <a:lstStyle/>
          <a:p>
            <a:pPr algn="l">
              <a:defRPr sz="900" b="0" i="0">
                <a:solidFill>
                  <a:srgbClr val="5D5A55"/>
                </a:solidFill>
                <a:latin typeface="PingFang SC"/>
                <a:ea typeface="PingFang SC"/>
                <a:cs typeface="PingFang SC"/>
              </a:defRPr>
            </a:pPr>
            <a:r>
              <a:rPr sz="900" b="0" i="0">
                <a:solidFill>
                  <a:srgbClr val="5D5A55"/>
                </a:solidFill>
                <a:latin typeface="PingFang SC"/>
                <a:ea typeface="PingFang SC"/>
                <a:cs typeface="PingFang SC"/>
              </a:rPr>
              <a:t>Source: Generalist AI Blog, 2026-04-02</a:t>
            </a:r>
          </a:p>
        </p:txBody>
      </p:sp>
      <p:sp>
        <p:nvSpPr>
          <p:cNvPr id="6" name="page-number">
            <a:extLst>
              <a:ext uri="{FF2B5EF4-FFF2-40B4-BE49-F238E27FC236}">
                <a16:creationId xmlns:a16="http://schemas.microsoft.com/office/drawing/2014/main" id="{6AD6E999-3AC1-4575-B547-5A1C50F91BD4}"/>
              </a:ext>
            </a:extLst>
          </p:cNvPr>
          <p:cNvSpPr>
            <a:spLocks noGrp="1"/>
          </p:cNvSpPr>
          <p:nvPr/>
        </p:nvSpPr>
        <p:spPr>
          <a:xfrm>
            <a:off x="15811500" y="9715500"/>
            <a:ext cx="1524000" cy="152400"/>
          </a:xfrm>
          <a:prstGeom prst="rect">
            <a:avLst/>
          </a:prstGeom>
        </p:spPr>
        <p:txBody>
          <a:bodyPr lIns="0" tIns="0" rIns="0" bIns="0"/>
          <a:lstStyle/>
          <a:p>
            <a:pPr algn="r">
              <a:defRPr sz="975" b="0" i="0">
                <a:solidFill>
                  <a:srgbClr val="5D5A55"/>
                </a:solidFill>
                <a:latin typeface="Avenir Next"/>
                <a:ea typeface="Avenir Next"/>
                <a:cs typeface="Avenir Next"/>
              </a:defRPr>
            </a:pPr>
            <a:r>
              <a:rPr sz="975" b="0" i="0">
                <a:solidFill>
                  <a:srgbClr val="5D5A55"/>
                </a:solidFill>
                <a:latin typeface="Avenir Next"/>
                <a:ea typeface="Avenir Next"/>
                <a:cs typeface="Avenir Next"/>
              </a:rPr>
              <a:t>10 / 10</a:t>
            </a:r>
          </a:p>
        </p:txBody>
      </p:sp>
      <p:sp>
        <p:nvSpPr>
          <p:cNvPr id="7" name="agenda-index-1">
            <a:extLst>
              <a:ext uri="{FF2B5EF4-FFF2-40B4-BE49-F238E27FC236}">
                <a16:creationId xmlns:a16="http://schemas.microsoft.com/office/drawing/2014/main" id="{C2F731A6-0ECB-4B3A-B808-616B0B41ABBE}"/>
              </a:ext>
            </a:extLst>
          </p:cNvPr>
          <p:cNvSpPr>
            <a:spLocks noGrp="1"/>
          </p:cNvSpPr>
          <p:nvPr/>
        </p:nvSpPr>
        <p:spPr>
          <a:xfrm>
            <a:off x="1143000" y="2571750"/>
            <a:ext cx="533400" cy="285750"/>
          </a:xfrm>
          <a:prstGeom prst="rect">
            <a:avLst/>
          </a:prstGeom>
        </p:spPr>
        <p:txBody>
          <a:bodyPr lIns="0" tIns="0" rIns="0" bIns="0"/>
          <a:lstStyle/>
          <a:p>
            <a:pPr algn="l">
              <a:defRPr sz="1800" b="1">
                <a:solidFill>
                  <a:srgbClr val="C00000"/>
                </a:solidFill>
                <a:latin typeface="Avenir Next"/>
                <a:ea typeface="Avenir Next"/>
                <a:cs typeface="Avenir Next"/>
              </a:defRPr>
            </a:pPr>
            <a:r>
              <a:rPr sz="1800" b="1">
                <a:solidFill>
                  <a:srgbClr val="C00000"/>
                </a:solidFill>
                <a:latin typeface="Avenir Next"/>
                <a:ea typeface="Avenir Next"/>
                <a:cs typeface="Avenir Next"/>
              </a:rPr>
              <a:t>01</a:t>
            </a:r>
          </a:p>
        </p:txBody>
      </p:sp>
      <p:sp>
        <p:nvSpPr>
          <p:cNvPr id="8" name="agenda-text-1">
            <a:extLst>
              <a:ext uri="{FF2B5EF4-FFF2-40B4-BE49-F238E27FC236}">
                <a16:creationId xmlns:a16="http://schemas.microsoft.com/office/drawing/2014/main" id="{579F7385-E9AF-49D5-BB39-24E3CFD10149}"/>
              </a:ext>
            </a:extLst>
          </p:cNvPr>
          <p:cNvSpPr>
            <a:spLocks noGrp="1"/>
          </p:cNvSpPr>
          <p:nvPr/>
        </p:nvSpPr>
        <p:spPr>
          <a:xfrm>
            <a:off x="1866900" y="2571750"/>
            <a:ext cx="7467600" cy="304800"/>
          </a:xfrm>
          <a:prstGeom prst="rect">
            <a:avLst/>
          </a:prstGeom>
        </p:spPr>
        <p:txBody>
          <a:bodyPr lIns="0" tIns="0" rIns="0" bIns="0"/>
          <a:lstStyle/>
          <a:p>
            <a:pPr algn="l">
              <a:defRPr sz="1950">
                <a:solidFill>
                  <a:srgbClr val="1B1A17"/>
                </a:solidFill>
                <a:latin typeface="PingFang SC"/>
                <a:ea typeface="PingFang SC"/>
                <a:cs typeface="PingFang SC"/>
              </a:defRPr>
            </a:pPr>
            <a:r>
              <a:rPr sz="1950">
                <a:solidFill>
                  <a:srgbClr val="1B1A17"/>
                </a:solidFill>
                <a:latin typeface="PingFang SC"/>
                <a:ea typeface="PingFang SC"/>
                <a:cs typeface="PingFang SC"/>
              </a:rPr>
              <a:t>最强信号是数据引擎与速度 / 可靠性，而不是单个酷炫 demo。</a:t>
            </a:r>
          </a:p>
        </p:txBody>
      </p:sp>
      <p:sp>
        <p:nvSpPr>
          <p:cNvPr id="9" name="agenda-index-2">
            <a:extLst>
              <a:ext uri="{FF2B5EF4-FFF2-40B4-BE49-F238E27FC236}">
                <a16:creationId xmlns:a16="http://schemas.microsoft.com/office/drawing/2014/main" id="{5A8F82C5-0EFD-4BE1-B1FE-630ECC3A8EE5}"/>
              </a:ext>
            </a:extLst>
          </p:cNvPr>
          <p:cNvSpPr>
            <a:spLocks noGrp="1"/>
          </p:cNvSpPr>
          <p:nvPr/>
        </p:nvSpPr>
        <p:spPr>
          <a:xfrm>
            <a:off x="1143000" y="3048000"/>
            <a:ext cx="533400" cy="285750"/>
          </a:xfrm>
          <a:prstGeom prst="rect">
            <a:avLst/>
          </a:prstGeom>
        </p:spPr>
        <p:txBody>
          <a:bodyPr lIns="0" tIns="0" rIns="0" bIns="0"/>
          <a:lstStyle/>
          <a:p>
            <a:pPr algn="l">
              <a:defRPr sz="1800" b="1">
                <a:solidFill>
                  <a:srgbClr val="C00000"/>
                </a:solidFill>
                <a:latin typeface="Avenir Next"/>
                <a:ea typeface="Avenir Next"/>
                <a:cs typeface="Avenir Next"/>
              </a:defRPr>
            </a:pPr>
            <a:r>
              <a:rPr sz="1800" b="1">
                <a:solidFill>
                  <a:srgbClr val="C00000"/>
                </a:solidFill>
                <a:latin typeface="Avenir Next"/>
                <a:ea typeface="Avenir Next"/>
                <a:cs typeface="Avenir Next"/>
              </a:rPr>
              <a:t>02</a:t>
            </a:r>
          </a:p>
        </p:txBody>
      </p:sp>
      <p:sp>
        <p:nvSpPr>
          <p:cNvPr id="10" name="agenda-text-2">
            <a:extLst>
              <a:ext uri="{FF2B5EF4-FFF2-40B4-BE49-F238E27FC236}">
                <a16:creationId xmlns:a16="http://schemas.microsoft.com/office/drawing/2014/main" id="{9A493CA2-370F-49F8-8226-B0CFE3132ECE}"/>
              </a:ext>
            </a:extLst>
          </p:cNvPr>
          <p:cNvSpPr>
            <a:spLocks noGrp="1"/>
          </p:cNvSpPr>
          <p:nvPr/>
        </p:nvSpPr>
        <p:spPr>
          <a:xfrm>
            <a:off x="1866900" y="3048000"/>
            <a:ext cx="7467600" cy="304800"/>
          </a:xfrm>
          <a:prstGeom prst="rect">
            <a:avLst/>
          </a:prstGeom>
        </p:spPr>
        <p:txBody>
          <a:bodyPr lIns="0" tIns="0" rIns="0" bIns="0"/>
          <a:lstStyle/>
          <a:p>
            <a:pPr algn="l">
              <a:defRPr sz="1950">
                <a:solidFill>
                  <a:srgbClr val="1B1A17"/>
                </a:solidFill>
                <a:latin typeface="PingFang SC"/>
                <a:ea typeface="PingFang SC"/>
                <a:cs typeface="PingFang SC"/>
              </a:defRPr>
            </a:pPr>
            <a:r>
              <a:rPr sz="1950">
                <a:solidFill>
                  <a:srgbClr val="1B1A17"/>
                </a:solidFill>
                <a:latin typeface="PingFang SC"/>
                <a:ea typeface="PingFang SC"/>
                <a:cs typeface="PingFang SC"/>
              </a:rPr>
              <a:t>如果这些数字可复现，GEN-1 比很多 VLA 叙事更接近真实部署。</a:t>
            </a:r>
          </a:p>
        </p:txBody>
      </p:sp>
      <p:sp>
        <p:nvSpPr>
          <p:cNvPr id="11" name="agenda-index-3">
            <a:extLst>
              <a:ext uri="{FF2B5EF4-FFF2-40B4-BE49-F238E27FC236}">
                <a16:creationId xmlns:a16="http://schemas.microsoft.com/office/drawing/2014/main" id="{E88FAD3F-1AFA-4642-A7B7-D221037A0EAC}"/>
              </a:ext>
            </a:extLst>
          </p:cNvPr>
          <p:cNvSpPr>
            <a:spLocks noGrp="1"/>
          </p:cNvSpPr>
          <p:nvPr/>
        </p:nvSpPr>
        <p:spPr>
          <a:xfrm>
            <a:off x="1143000" y="3505200"/>
            <a:ext cx="533400" cy="285750"/>
          </a:xfrm>
          <a:prstGeom prst="rect">
            <a:avLst/>
          </a:prstGeom>
        </p:spPr>
        <p:txBody>
          <a:bodyPr lIns="0" tIns="0" rIns="0" bIns="0"/>
          <a:lstStyle/>
          <a:p>
            <a:pPr algn="l">
              <a:defRPr sz="1800" b="1">
                <a:solidFill>
                  <a:srgbClr val="C00000"/>
                </a:solidFill>
                <a:latin typeface="Avenir Next"/>
                <a:ea typeface="Avenir Next"/>
                <a:cs typeface="Avenir Next"/>
              </a:defRPr>
            </a:pPr>
            <a:r>
              <a:rPr sz="1800" b="1">
                <a:solidFill>
                  <a:srgbClr val="C00000"/>
                </a:solidFill>
                <a:latin typeface="Avenir Next"/>
                <a:ea typeface="Avenir Next"/>
                <a:cs typeface="Avenir Next"/>
              </a:rPr>
              <a:t>03</a:t>
            </a:r>
          </a:p>
        </p:txBody>
      </p:sp>
      <p:sp>
        <p:nvSpPr>
          <p:cNvPr id="12" name="agenda-text-3">
            <a:extLst>
              <a:ext uri="{FF2B5EF4-FFF2-40B4-BE49-F238E27FC236}">
                <a16:creationId xmlns:a16="http://schemas.microsoft.com/office/drawing/2014/main" id="{2CA28591-6D01-476E-8C4E-551589F1943C}"/>
              </a:ext>
            </a:extLst>
          </p:cNvPr>
          <p:cNvSpPr>
            <a:spLocks noGrp="1"/>
          </p:cNvSpPr>
          <p:nvPr/>
        </p:nvSpPr>
        <p:spPr>
          <a:xfrm>
            <a:off x="1866900" y="3505200"/>
            <a:ext cx="7467600" cy="304800"/>
          </a:xfrm>
          <a:prstGeom prst="rect">
            <a:avLst/>
          </a:prstGeom>
        </p:spPr>
        <p:txBody>
          <a:bodyPr lIns="0" tIns="0" rIns="0" bIns="0"/>
          <a:lstStyle/>
          <a:p>
            <a:pPr algn="l">
              <a:defRPr sz="1950">
                <a:solidFill>
                  <a:srgbClr val="1B1A17"/>
                </a:solidFill>
                <a:latin typeface="PingFang SC"/>
                <a:ea typeface="PingFang SC"/>
                <a:cs typeface="PingFang SC"/>
              </a:defRPr>
            </a:pPr>
            <a:r>
              <a:rPr sz="1950">
                <a:solidFill>
                  <a:srgbClr val="1B1A17"/>
                </a:solidFill>
                <a:latin typeface="PingFang SC"/>
                <a:ea typeface="PingFang SC"/>
                <a:cs typeface="PingFang SC"/>
              </a:rPr>
              <a:t>但目前公开形态仍是 blog，外部复现与评估透明度仍待补足。</a:t>
            </a:r>
          </a:p>
        </p:txBody>
      </p:sp>
      <p:pic>
        <p:nvPicPr>
          <p:cNvPr id="13" name="closing-image"/>
          <p:cNvPicPr>
            <a:picLocks noChangeAspect="1"/>
          </p:cNvPicPr>
          <p:nvPr/>
        </p:nvPicPr>
        <p:blipFill>
          <a:blip r:embed="rId3"/>
          <a:srcRect t="8209" b="8209"/>
          <a:stretch>
            <a:fillRect/>
          </a:stretch>
        </p:blipFill>
        <p:spPr>
          <a:xfrm>
            <a:off x="10477500" y="2667000"/>
            <a:ext cx="6381750" cy="4000500"/>
          </a:xfrm>
          <a:prstGeom prst="rect">
            <a:avLst/>
          </a:prstGeom>
        </p:spPr>
      </p:pic>
      <p:sp>
        <p:nvSpPr>
          <p:cNvPr id="14" name="closing-note">
            <a:extLst>
              <a:ext uri="{FF2B5EF4-FFF2-40B4-BE49-F238E27FC236}">
                <a16:creationId xmlns:a16="http://schemas.microsoft.com/office/drawing/2014/main" id="{06519442-CAC4-46A3-8107-24F6FAE6F2B2}"/>
              </a:ext>
            </a:extLst>
          </p:cNvPr>
          <p:cNvSpPr>
            <a:spLocks noGrp="1"/>
          </p:cNvSpPr>
          <p:nvPr/>
        </p:nvSpPr>
        <p:spPr>
          <a:xfrm>
            <a:off x="10477500" y="7105650"/>
            <a:ext cx="6076950" cy="552450"/>
          </a:xfrm>
          <a:prstGeom prst="rect">
            <a:avLst/>
          </a:prstGeom>
        </p:spPr>
        <p:txBody>
          <a:bodyPr lIns="0" tIns="0" rIns="0" bIns="0"/>
          <a:lstStyle/>
          <a:p>
            <a:pPr algn="l">
              <a:defRPr sz="1800" b="0" i="0">
                <a:solidFill>
                  <a:srgbClr val="1B1A17"/>
                </a:solidFill>
                <a:latin typeface="Songti SC"/>
                <a:ea typeface="Songti SC"/>
                <a:cs typeface="Songti SC"/>
              </a:defRPr>
            </a:pPr>
            <a:r>
              <a:rPr sz="1800" b="0" i="0" dirty="0">
                <a:solidFill>
                  <a:srgbClr val="1B1A17"/>
                </a:solidFill>
                <a:latin typeface="Songti SC"/>
                <a:ea typeface="Songti SC"/>
                <a:cs typeface="Songti SC"/>
              </a:rPr>
              <a:t>“会做一件事”</a:t>
            </a:r>
            <a:r>
              <a:rPr sz="1800" b="0" i="0" dirty="0" err="1">
                <a:solidFill>
                  <a:srgbClr val="1B1A17"/>
                </a:solidFill>
                <a:latin typeface="Songti SC"/>
                <a:ea typeface="Songti SC"/>
                <a:cs typeface="Songti SC"/>
              </a:rPr>
              <a:t>并不稀奇</a:t>
            </a:r>
            <a:r>
              <a:rPr sz="1800" b="0" i="0" dirty="0">
                <a:solidFill>
                  <a:srgbClr val="1B1A17"/>
                </a:solidFill>
                <a:latin typeface="Songti SC"/>
                <a:ea typeface="Songti SC"/>
                <a:cs typeface="Songti SC"/>
              </a:rPr>
              <a:t>；“</a:t>
            </a:r>
            <a:r>
              <a:rPr sz="1800" b="0" i="0" dirty="0" err="1">
                <a:solidFill>
                  <a:srgbClr val="1B1A17"/>
                </a:solidFill>
                <a:latin typeface="Songti SC"/>
                <a:ea typeface="Songti SC"/>
                <a:cs typeface="Songti SC"/>
              </a:rPr>
              <a:t>稳定、快速、在意外中恢复”才更接近</a:t>
            </a:r>
            <a:r>
              <a:rPr sz="1800" b="0" i="0" dirty="0">
                <a:solidFill>
                  <a:srgbClr val="1B1A17"/>
                </a:solidFill>
                <a:latin typeface="Songti SC"/>
                <a:ea typeface="Songti SC"/>
                <a:cs typeface="Songti SC"/>
              </a:rPr>
              <a:t> physical AGI </a:t>
            </a:r>
            <a:r>
              <a:rPr sz="1800" b="0" i="0" dirty="0" err="1">
                <a:solidFill>
                  <a:srgbClr val="1B1A17"/>
                </a:solidFill>
                <a:latin typeface="Songti SC"/>
                <a:ea typeface="Songti SC"/>
                <a:cs typeface="Songti SC"/>
              </a:rPr>
              <a:t>的台阶</a:t>
            </a:r>
            <a:r>
              <a:rPr sz="1800" b="0" i="0" dirty="0">
                <a:solidFill>
                  <a:srgbClr val="1B1A17"/>
                </a:solidFill>
                <a:latin typeface="Songti SC"/>
                <a:ea typeface="Songti SC"/>
                <a:cs typeface="Songti SC"/>
              </a:rPr>
              <a:t>。</a:t>
            </a:r>
          </a:p>
        </p:txBody>
      </p:sp>
    </p:spTree>
    <p:extLst>
      <p:ext uri="{BB962C8B-B14F-4D97-AF65-F5344CB8AC3E}">
        <p14:creationId xmlns:p14="http://schemas.microsoft.com/office/powerpoint/2010/main" val="75282674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123</TotalTime>
  <Words>2227</Words>
  <Application>Microsoft Macintosh PowerPoint</Application>
  <DocSecurity>0</DocSecurity>
  <PresentationFormat>Custom</PresentationFormat>
  <Paragraphs>238</Paragraphs>
  <Slides>25</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PingFang SC</vt:lpstr>
      <vt:lpstr>Songti SC</vt:lpstr>
      <vt:lpstr>Arial</vt:lpstr>
      <vt:lpstr>Avenir Next</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You, Bingran</cp:lastModifiedBy>
  <cp:revision>22</cp:revision>
  <dcterms:created xsi:type="dcterms:W3CDTF">2026-04-28T21:20:13Z</dcterms:created>
  <dcterms:modified xsi:type="dcterms:W3CDTF">2026-04-30T00:54:00Z</dcterms:modified>
</cp:coreProperties>
</file>