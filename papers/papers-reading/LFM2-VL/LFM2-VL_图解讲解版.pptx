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notesMasterIdLst>
    <p:notesMasterId r:id="rId18"/>
  </p:notesMasterIdLst>
  <p:sldIdLst>
    <p:sldId id="13773" r:id="rId3"/>
    <p:sldId id="13770" r:id="rId4"/>
    <p:sldId id="13771" r:id="rId5"/>
    <p:sldId id="13774" r:id="rId6"/>
    <p:sldId id="13802" r:id="rId7"/>
    <p:sldId id="13776" r:id="rId8"/>
    <p:sldId id="13805" r:id="rId9"/>
    <p:sldId id="13806" r:id="rId10"/>
    <p:sldId id="13808" r:id="rId11"/>
    <p:sldId id="13809" r:id="rId12"/>
    <p:sldId id="13810" r:id="rId13"/>
    <p:sldId id="13811" r:id="rId14"/>
    <p:sldId id="13783" r:id="rId15"/>
    <p:sldId id="13822" r:id="rId16"/>
    <p:sldId id="1378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12" autoAdjust="0"/>
    <p:restoredTop sz="79719"/>
  </p:normalViewPr>
  <p:slideViewPr>
    <p:cSldViewPr snapToGrid="0">
      <p:cViewPr varScale="1">
        <p:scale>
          <a:sx n="108" d="100"/>
          <a:sy n="108" d="100"/>
        </p:scale>
        <p:origin x="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B10B1-3F6B-44C2-A3BA-6192D167FFA6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573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dirty="0"/>
          </a:p>
          <a:p>
            <a:endParaRPr 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658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 lang="en-US" dirty="0"/>
          </a:p>
          <a:p>
            <a:endParaRPr 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dirty="0"/>
          </a:p>
          <a:p>
            <a:endParaRPr 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dirty="0"/>
          </a:p>
          <a:p>
            <a:endParaRPr 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3798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812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772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039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0475" y="123292"/>
            <a:ext cx="10164682" cy="67280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Calibri" panose="020F0502020204030204" pitchFamily="34" charset="0"/>
                <a:ea typeface="华文楷体" panose="02010600040101010101" pitchFamily="2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820476" y="796099"/>
            <a:ext cx="1062673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76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760413" y="0"/>
            <a:ext cx="9702248" cy="7985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12222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370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194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0475" y="123292"/>
            <a:ext cx="10164682" cy="67280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Calibri" panose="020F0502020204030204" pitchFamily="34" charset="0"/>
                <a:ea typeface="华文楷体" panose="02010600040101010101" pitchFamily="2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820476" y="796099"/>
            <a:ext cx="1062673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46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750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820476" y="796099"/>
            <a:ext cx="1062673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http://www.meridiancapital.com.cn/images/logo.png"/>
          <p:cNvPicPr>
            <a:picLocks noChangeAspect="1" noChangeArrowheads="1"/>
          </p:cNvPicPr>
          <p:nvPr userDrawn="1"/>
        </p:nvPicPr>
        <p:blipFill>
          <a:blip r:embed="rId6" cstate="email"/>
          <a:srcRect/>
          <a:stretch>
            <a:fillRect/>
          </a:stretch>
        </p:blipFill>
        <p:spPr bwMode="auto">
          <a:xfrm>
            <a:off x="10702413" y="189026"/>
            <a:ext cx="1489587" cy="516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151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637656" y="575136"/>
            <a:ext cx="4331884" cy="5751235"/>
          </a:xfrm>
          <a:prstGeom prst="rect">
            <a:avLst/>
          </a:prstGeom>
          <a:noFill/>
          <a:ln w="1270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" r="430"/>
          <a:stretch>
            <a:fillRect/>
          </a:stretch>
        </p:blipFill>
        <p:spPr>
          <a:xfrm>
            <a:off x="591811" y="1778432"/>
            <a:ext cx="11008378" cy="360872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91811" y="1778432"/>
            <a:ext cx="11008378" cy="3608729"/>
          </a:xfrm>
          <a:prstGeom prst="rect">
            <a:avLst/>
          </a:prstGeom>
          <a:solidFill>
            <a:schemeClr val="bg1">
              <a:lumMod val="75000"/>
              <a:alpha val="48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 flipH="1">
            <a:off x="1573951" y="575136"/>
            <a:ext cx="45719" cy="5751235"/>
          </a:xfrm>
          <a:prstGeom prst="rect">
            <a:avLst/>
          </a:prstGeom>
          <a:noFill/>
          <a:ln w="1270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0846907" y="5160182"/>
            <a:ext cx="453958" cy="453958"/>
            <a:chOff x="5869021" y="5872413"/>
            <a:chExt cx="453958" cy="453958"/>
          </a:xfrm>
        </p:grpSpPr>
        <p:sp>
          <p:nvSpPr>
            <p:cNvPr id="17" name="矩形 16"/>
            <p:cNvSpPr/>
            <p:nvPr/>
          </p:nvSpPr>
          <p:spPr>
            <a:xfrm>
              <a:off x="5869021" y="5872413"/>
              <a:ext cx="453958" cy="45395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 rot="5400000">
              <a:off x="5997358" y="5972932"/>
              <a:ext cx="197284" cy="252920"/>
            </a:xfrm>
            <a:prstGeom prst="chevron">
              <a:avLst>
                <a:gd name="adj" fmla="val 7253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098256" y="4664202"/>
            <a:ext cx="199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n-lt"/>
              </a:rPr>
              <a:t>论文图解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062" y="864162"/>
            <a:ext cx="2207110" cy="68729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618672" y="2967335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LFM2-VL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目录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为什么值得关注：边缘级 VLM 的部署挑战与 LFM2-VL 的定位。</a:t>
            </a:r>
          </a:p>
          <a:p>
            <a:r>
              <a:rPr lang="en-US" dirty="0"/>
              <a:t>• 核心创新：原生分辨率、动态切片、轻量连接器与可调 token 预算。</a:t>
            </a:r>
          </a:p>
          <a:p>
            <a:r>
              <a:rPr dirty="0"/>
              <a:t>• 逐图解读：图1 Demo、图2 架构、图3 速度、图4 显存。</a:t>
            </a:r>
          </a:p>
          <a:p>
            <a:r>
              <a:rPr dirty="0"/>
              <a:t>• 评测与选型：benchmark 结果如何看，450M 与 1.6B 如何取舍。</a:t>
            </a:r>
          </a:p>
          <a:p>
            <a:r>
              <a:rPr dirty="0"/>
              <a:t>• 结论：这条路线对端侧多模态系统意味着什么。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250D6EF6-E290-DB59-6252-7A2C142C9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2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引言：为什么要关注边缘级视觉语言模型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真正难的不是做出 VLM，而是在端侧把它跑得又快又稳。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9C2101-A6BF-F306-52D1-079E6187C064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2"/>
          </a:xfrm>
        </p:grpSpPr>
        <p:sp>
          <p:nvSpPr>
            <p:cNvPr id="6" name="Rounded Rectangle 5"/>
            <p:cNvSpPr/>
            <p:nvPr/>
          </p:nvSpPr>
          <p:spPr>
            <a:xfrm>
              <a:off x="604672" y="1280756"/>
              <a:ext cx="4900000" cy="4773169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04672" y="1499616"/>
              <a:ext cx="4600000" cy="11334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b="1" dirty="0" err="1"/>
                <a:t>核心要点</a:t>
              </a:r>
              <a:endParaRPr b="1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04672" y="2469771"/>
              <a:ext cx="4500000" cy="37545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00"/>
                </a:spcAft>
              </a:pPr>
              <a:r>
                <a:rPr lang="en-US" sz="1400" dirty="0"/>
                <a:t>• 低延迟：拍照问答、现场巡检、AR 交互都要求即时响应。</a:t>
              </a:r>
              <a:endParaRPr lang="en-US" altLang="zh-CN" sz="1400" dirty="0"/>
            </a:p>
            <a:p>
              <a:pPr algn="l">
                <a:spcBef>
                  <a:spcPts val="0"/>
                </a:spcBef>
                <a:spcAft>
                  <a:spcPts val="700"/>
                </a:spcAft>
              </a:pPr>
              <a:r>
                <a:rPr lang="en-US" altLang="zh-CN" sz="1400" dirty="0"/>
                <a:t>• 低资源：手机、笔记本和边缘盒子对内存与功耗都很敏感。</a:t>
              </a:r>
            </a:p>
            <a:p>
              <a:pPr algn="l">
                <a:spcBef>
                  <a:spcPts val="0"/>
                </a:spcBef>
                <a:spcAft>
                  <a:spcPts val="700"/>
                </a:spcAft>
              </a:pPr>
              <a:r>
                <a:rPr sz="1400" dirty="0"/>
                <a:t>• 灵活推理：不同图像大小和任务复杂度，不该被固定输入流程绑死。</a:t>
              </a:r>
            </a:p>
            <a:p>
              <a:r>
                <a:rPr sz="1400" dirty="0"/>
                <a:t>• LFM2-VL 的价值就在于：把“能跑起来”也当成模型设计目标。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BFDDFE6E-EA1A-D7D6-B770-0D9C20C6E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3" name="Picture 12" descr="slide_03_fit.png"/>
          <p:cNvPicPr>
            <a:picLocks noChangeAspect="1"/>
          </p:cNvPicPr>
          <p:nvPr/>
        </p:nvPicPr>
        <p:blipFill>
          <a:blip r:embed="rId4"/>
          <a:srcRect t="405" b="405"/>
          <a:stretch>
            <a:fillRect/>
          </a:stretch>
        </p:blipFill>
        <p:spPr>
          <a:xfrm>
            <a:off x="1459243" y="1488932"/>
            <a:ext cx="8910053" cy="335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702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核心创新：把端侧 VLM 做成可调节的 token 经济学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原生分辨率、动态切片和轻量连接器共同服务部署效率。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C5915E9-91C5-9C15-39BE-414ED70C7357}"/>
              </a:ext>
            </a:extLst>
          </p:cNvPr>
          <p:cNvGrpSpPr/>
          <p:nvPr/>
        </p:nvGrpSpPr>
        <p:grpSpPr>
          <a:xfrm>
            <a:off x="658368" y="1389888"/>
            <a:ext cx="3615249" cy="4773168"/>
            <a:chOff x="658368" y="1389888"/>
            <a:chExt cx="4900000" cy="4773168"/>
          </a:xfrm>
        </p:grpSpPr>
        <p:sp>
          <p:nvSpPr>
            <p:cNvPr id="6" name="Rounded Rectangle 5"/>
            <p:cNvSpPr/>
            <p:nvPr/>
          </p:nvSpPr>
          <p:spPr>
            <a:xfrm>
              <a:off x="658368" y="1389888"/>
              <a:ext cx="4900000" cy="4773168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04672" y="1499616"/>
              <a:ext cx="460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b="1" dirty="0" err="1"/>
                <a:t>核心要点</a:t>
              </a:r>
              <a:endParaRPr b="1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1783080"/>
              <a:ext cx="4500000" cy="3337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16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400" dirty="0"/>
                <a:t>• 基于 LFM2 语言主干扩展到视觉语言，而不是重新堆一个更重的骨干。</a:t>
              </a:r>
              <a:endParaRPr lang="en-US" sz="1400" dirty="0"/>
            </a:p>
            <a:p>
              <a:pPr algn="l">
                <a:lnSpc>
                  <a:spcPct val="116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400" dirty="0"/>
                <a:t>• 图像原生处理到 512x512，避免为了统一输入而强行上采样。</a:t>
              </a:r>
              <a:endParaRPr lang="en-US" sz="1400" dirty="0"/>
            </a:p>
            <a:p>
              <a:pPr algn="l">
                <a:lnSpc>
                  <a:spcPct val="116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400" dirty="0"/>
                <a:t>• 大图按 512x512 patch 切片，并用缩略图保留整体场景语义。</a:t>
              </a:r>
              <a:endParaRPr lang="en-US" sz="1400" dirty="0"/>
            </a:p>
            <a:p>
              <a:pPr algn="l">
                <a:lnSpc>
                  <a:spcPct val="116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400" dirty="0"/>
                <a:t>• PixelUnshuffle + 2-layer MLP 先压缩视觉 token，再送入语言模型。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E8F9F1FC-F284-020F-1F78-D30A3159F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4" name="Picture 13" descr="slide_04_fit.png"/>
          <p:cNvPicPr>
            <a:picLocks noChangeAspect="1"/>
          </p:cNvPicPr>
          <p:nvPr/>
        </p:nvPicPr>
        <p:blipFill>
          <a:blip r:embed="rId4"/>
          <a:srcRect l="1136" r="1136"/>
          <a:stretch>
            <a:fillRect/>
          </a:stretch>
        </p:blipFill>
        <p:spPr>
          <a:xfrm>
            <a:off x="4360908" y="1401106"/>
            <a:ext cx="7172724" cy="52638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97022-F9BD-C816-5EFB-A70465042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82E560-F4FC-ABF7-685F-122968B602D8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063CA-15F7-F773-048F-94E5629D57FF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先补背景：LFM2 给 LFM2-VL 提供了什么底座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E33D4-2714-5197-7F12-7A6769D22D87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没看过 LFM2 也只要记住，它本身就是面向效率优化的语言模型。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90F5864-CBF1-FD25-4B65-DC8E6B854596}"/>
              </a:ext>
            </a:extLst>
          </p:cNvPr>
          <p:cNvSpPr/>
          <p:nvPr/>
        </p:nvSpPr>
        <p:spPr>
          <a:xfrm>
            <a:off x="658368" y="1389887"/>
            <a:ext cx="10543162" cy="5239513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8B4A5A-F250-D399-D052-756A5467D8BB}"/>
              </a:ext>
            </a:extLst>
          </p:cNvPr>
          <p:cNvSpPr txBox="1"/>
          <p:nvPr/>
        </p:nvSpPr>
        <p:spPr>
          <a:xfrm>
            <a:off x="804672" y="1499616"/>
            <a:ext cx="6254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/>
              <a:t>核心要点</a:t>
            </a:r>
            <a:endParaRPr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1B8104-1CEE-7BD6-5AE9-0E6A111D0BC2}"/>
              </a:ext>
            </a:extLst>
          </p:cNvPr>
          <p:cNvSpPr txBox="1"/>
          <p:nvPr/>
        </p:nvSpPr>
        <p:spPr>
          <a:xfrm>
            <a:off x="822959" y="1783080"/>
            <a:ext cx="10193383" cy="201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LFM2 主干强调短卷积与少量 GQA 的混合设计，目标是兼顾表达能力与推理速度。</a:t>
            </a:r>
            <a:endParaRPr lang="en-US" sz="1500" dirty="0">
              <a:solidFill>
                <a:srgbClr val="2D2D2D"/>
              </a:solidFill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这意味着 VLM 部分继承的是一个本来就面向端侧和低延迟优化过的语言 backbone。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LFM2-VL-450M 使用约 86M 的 SigLIP2 NaFlex base 编码器，优先考虑更紧的资源预算。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LFM2-VL-1.6B 使用约 400M 的 shape-optimized 编码器，换来更强的细粒度视觉能力。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两个版本共享同一套方法论：先把成本控住，再尽量把视觉信息保留下来。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A0879EF-A5B0-27B7-D5DC-7D6550013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44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逐图导览：这篇工作主要靠哪几张图说服我们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四张图分别回答：能做什么、怎么做、快多少、省多少。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/>
              <a:t>核心要点</a:t>
            </a:r>
            <a:endParaRPr b="1"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201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图1：用一个直观 demo 展示 450M 模型的图像理解与语言描述能力。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图2：解释视觉编码、token 压缩和 LFM2 主干如何拼成完整的 VLM。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表1：把精度放回参数量和部署成本语境里，观察它是否“对得起体量”。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图3：速度对比证明其 GPU 推理时间能明显压低到更适合交互应用的区间。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图4：显存对比说明它不是绝对最小，但在效率-能力间找到了更平衡的位置。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D6161145-8687-472E-1628-987A8FF3C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FA997-489F-9B2F-79F7-C80B273B3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A03209-782E-0052-5968-B67AA2938015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03A4D4-1CA4-38DB-57A4-BA0BF2D4EF73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图1解读：一个小 demo 实际上在展示什么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B1BCF-7E89-4C4C-CBB7-E6CB262DBD0C}"/>
              </a:ext>
            </a:extLst>
          </p:cNvPr>
          <p:cNvSpPr txBox="1"/>
          <p:nvPr/>
        </p:nvSpPr>
        <p:spPr>
          <a:xfrm>
            <a:off x="676656" y="877824"/>
            <a:ext cx="9692640" cy="27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它不是 benchmark，但很直观地展示了 450M 版本的基本能力边界。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0E39660-D457-A2C0-B2F2-7235B1708694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C2CFCB56-1B98-30B0-7981-5207569C971B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5685B7-E2AE-89F1-9238-EED70F0C32B9}"/>
                </a:ext>
              </a:extLst>
            </p:cNvPr>
            <p:cNvSpPr txBox="1"/>
            <p:nvPr/>
          </p:nvSpPr>
          <p:spPr>
            <a:xfrm>
              <a:off x="804672" y="1499616"/>
              <a:ext cx="4600000" cy="11334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b="1" dirty="0" err="1"/>
                <a:t>核心要点</a:t>
              </a:r>
              <a:endParaRPr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4EF040-EA97-AD13-F24C-A2864079B93F}"/>
                </a:ext>
              </a:extLst>
            </p:cNvPr>
            <p:cNvSpPr txBox="1"/>
            <p:nvPr/>
          </p:nvSpPr>
          <p:spPr>
            <a:xfrm>
              <a:off x="804672" y="2469770"/>
              <a:ext cx="4500000" cy="37545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lang="en-US" altLang="zh-CN" sz="1400" dirty="0"/>
                <a:t>• 模型先识别出海滩场景，再抓住“牛在海边”这种相对少见的关键细节。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输出不是单标签分类，而是完整自然语言描述，说明视觉 grounding 与生成是连通的。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论文故意选 450M 版本做展示，强调的正是“小模型也能完成有用视觉理解”。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当然，这类 demo 更像能力切片，真正可靠性还要回到后面的 benchmark 与效率图来看。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86CA906E-E902-BFA0-FD82-9724A14A9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3" name="Picture 12" descr="slide_03_fit.png">
            <a:extLst>
              <a:ext uri="{FF2B5EF4-FFF2-40B4-BE49-F238E27FC236}">
                <a16:creationId xmlns:a16="http://schemas.microsoft.com/office/drawing/2014/main" id="{4AA3A080-79B2-6290-2D9B-636160DCDC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5" b="405"/>
          <a:stretch>
            <a:fillRect/>
          </a:stretch>
        </p:blipFill>
        <p:spPr>
          <a:xfrm>
            <a:off x="1459243" y="1488932"/>
            <a:ext cx="8910053" cy="335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29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EFCBB-E62D-C4DF-0EBF-1426E1BF7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FAF407-6C34-CEAB-20A4-DB69D8889AA5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B0B496-0834-E43C-E3E8-36C18BFED06C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图2解读：LFM2-VL 的整体架构是怎样工作的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E4457B-2385-3316-5017-6A5ECEC9236E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核心不是把图像硬塞进 LLM，而是先把视觉信息结构化压缩。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054F56-B109-C816-900E-27E3D42CF076}"/>
              </a:ext>
            </a:extLst>
          </p:cNvPr>
          <p:cNvGrpSpPr/>
          <p:nvPr/>
        </p:nvGrpSpPr>
        <p:grpSpPr>
          <a:xfrm>
            <a:off x="658368" y="1389888"/>
            <a:ext cx="3615249" cy="4773168"/>
            <a:chOff x="658368" y="1389888"/>
            <a:chExt cx="4900000" cy="4773168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B221681-0918-FEBB-CD3E-2CAE594395C6}"/>
                </a:ext>
              </a:extLst>
            </p:cNvPr>
            <p:cNvSpPr/>
            <p:nvPr/>
          </p:nvSpPr>
          <p:spPr>
            <a:xfrm>
              <a:off x="658368" y="1389888"/>
              <a:ext cx="4900000" cy="4773168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EF2B4A9-1C0B-D041-B64A-A34B9CC52970}"/>
                </a:ext>
              </a:extLst>
            </p:cNvPr>
            <p:cNvSpPr txBox="1"/>
            <p:nvPr/>
          </p:nvSpPr>
          <p:spPr>
            <a:xfrm>
              <a:off x="804672" y="1499616"/>
              <a:ext cx="460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b="1" dirty="0" err="1"/>
                <a:t>核心要点</a:t>
              </a:r>
              <a:endParaRPr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AA3AEBC-78BF-ABDB-3B03-1D583D45364F}"/>
                </a:ext>
              </a:extLst>
            </p:cNvPr>
            <p:cNvSpPr txBox="1"/>
            <p:nvPr/>
          </p:nvSpPr>
          <p:spPr>
            <a:xfrm>
              <a:off x="822960" y="1783080"/>
              <a:ext cx="4500000" cy="29606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lang="en-US" sz="1400" dirty="0"/>
                <a:t>• 底层语言推理由 LFM2 backbone 承担，视觉部分只负责把图像变成可对齐的 token。</a:t>
              </a:r>
              <a:endParaRPr lang="en-US" altLang="zh-CN" sz="1400" dirty="0"/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endParaRPr lang="zh-CN" altLang="en-US" sz="1400" dirty="0"/>
            </a:p>
            <a:p>
              <a:r>
                <a:rPr lang="en-US" altLang="zh-CN" sz="1400" dirty="0"/>
                <a:t>• SigLIP2 NaFlex 编码器既支持原生分辨率输入，也支持非标准长宽比，不必先统一缩放。</a:t>
              </a:r>
            </a:p>
            <a:p>
              <a:endParaRPr lang="zh-CN" altLang="en-US" sz="1400" dirty="0"/>
            </a:p>
            <a:p>
              <a:r>
                <a:rPr lang="en-US" altLang="zh-CN" sz="1400" dirty="0"/>
                <a:t>• 中间的 connector 通过 PixelUnshuffle + MLP 降低 token 数量，再和文本 token 共同进入 LFM2。</a:t>
              </a:r>
            </a:p>
            <a:p>
              <a:endParaRPr lang="zh-CN" altLang="en-US" sz="1400" dirty="0"/>
            </a:p>
            <a:p>
              <a:r>
                <a:rPr lang="en-US" altLang="zh-CN" sz="1400" dirty="0"/>
                <a:t>• 这让模型的“重活”更多集中在有效信息而非冗余像素上，是效率优势的关键来源。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A9C9959B-2ACF-0A19-39A0-6B6CF6114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4" name="Picture 13" descr="slide_04_fit.png">
            <a:extLst>
              <a:ext uri="{FF2B5EF4-FFF2-40B4-BE49-F238E27FC236}">
                <a16:creationId xmlns:a16="http://schemas.microsoft.com/office/drawing/2014/main" id="{CB90F16D-E4C3-C1F8-D365-877B52EE50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36" r="1136"/>
          <a:stretch>
            <a:fillRect/>
          </a:stretch>
        </p:blipFill>
        <p:spPr>
          <a:xfrm>
            <a:off x="4360908" y="1401106"/>
            <a:ext cx="7172724" cy="526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22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9C696-44FB-FD8E-DF06-56351EAC2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32E6C3-E323-389B-83CB-40BD1B1F3E3F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8B13D-B130-6367-59F7-A914EA6D08C4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图2继续：高分辨率为什么还能跑得动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F15D9-4465-5845-E9DC-88447BB4162B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关键在动态切片、全局缩略图，以及可在线调节的视觉 token 预算。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229A1FC-50E9-FEC7-F3B3-646707511C95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3571BABE-A3E6-C870-5E43-FE2EAC76A6E6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B5E541D-A8BE-7F9B-234C-3723171C5B71}"/>
                </a:ext>
              </a:extLst>
            </p:cNvPr>
            <p:cNvSpPr txBox="1"/>
            <p:nvPr/>
          </p:nvSpPr>
          <p:spPr>
            <a:xfrm>
              <a:off x="804672" y="1499616"/>
              <a:ext cx="4600000" cy="11334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b="1" dirty="0" err="1"/>
                <a:t>核心要点</a:t>
              </a:r>
              <a:endParaRPr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0B23CC1-F5C8-CA2F-9EFB-014C94BB5DF7}"/>
                </a:ext>
              </a:extLst>
            </p:cNvPr>
            <p:cNvSpPr txBox="1"/>
            <p:nvPr/>
          </p:nvSpPr>
          <p:spPr>
            <a:xfrm>
              <a:off x="804672" y="2469770"/>
              <a:ext cx="4500000" cy="37545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lang="en-US" altLang="zh-CN" sz="1400" dirty="0"/>
                <a:t>• 小图直接按原生尺寸处理，避免先放大再编码带来的额外开销。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大图会被切成多个 512x512 patch；1.6B 版本还会额外看到一个全局 thumbnail。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论文给出的例子是：256x384 约 96 tokens，384x680 约 240 tokens，1000x3000 约 1020 tokens。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用户在推理时可以直接调最大图像 token 数和 patch 数量，不必重新训练模型。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D76D242B-5D74-553E-C043-EA8FCCE4C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9" name="Picture 8" descr="slide_09_fit.png">
            <a:extLst>
              <a:ext uri="{FF2B5EF4-FFF2-40B4-BE49-F238E27FC236}">
                <a16:creationId xmlns:a16="http://schemas.microsoft.com/office/drawing/2014/main" id="{8F18A857-6531-D516-1BA3-3AAAAE00A2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5" b="405"/>
          <a:stretch>
            <a:fillRect/>
          </a:stretch>
        </p:blipFill>
        <p:spPr>
          <a:xfrm>
            <a:off x="1354577" y="1343281"/>
            <a:ext cx="9482845" cy="357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652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74204-DFC4-5BD7-0122-F1EAB15AB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4301F7-E898-CE2A-908B-685169BAE26A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03168-7AEC-A3AD-4642-06DD3B1EE98B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评测结果：不是绝对 SOTA，但非常对得起体量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4D8024-EB96-7E90-AE65-C4E310BFCFFE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要把精度放回参数规模与部署成本语境里，才能看懂这篇论文的卖点。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F599E29-857A-D9C8-569F-BC72A99E0965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B49FCE35-FABF-9DD8-5627-1C1B6B130733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DE79C5C-7D56-C4C9-C6D7-73C765855CE8}"/>
                </a:ext>
              </a:extLst>
            </p:cNvPr>
            <p:cNvSpPr txBox="1"/>
            <p:nvPr/>
          </p:nvSpPr>
          <p:spPr>
            <a:xfrm>
              <a:off x="804672" y="1499616"/>
              <a:ext cx="4600000" cy="11334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b="1" dirty="0" err="1"/>
                <a:t>核心要点</a:t>
              </a:r>
              <a:endParaRPr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03535E-42B1-7612-6A09-68166BB95169}"/>
                </a:ext>
              </a:extLst>
            </p:cNvPr>
            <p:cNvSpPr txBox="1"/>
            <p:nvPr/>
          </p:nvSpPr>
          <p:spPr>
            <a:xfrm>
              <a:off x="804672" y="2469770"/>
              <a:ext cx="4500000" cy="37545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lang="en-US" altLang="zh-CN" sz="1400" dirty="0"/>
                <a:t>• 1.6B 版本在 RealWorldQA 上到 65.23，已经接近 2B 级 InternVL3-2B 的 65.10。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OCRBench、MathVista、SEEDBench_IMG 等结果说明它在 OCR、高分辨率和推理类任务上并不掉队。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450M 版本不是拿来冲榜的，而是给手机、穿戴和更苛刻设备预算准备的可用选项。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所以论文真正强调的是“足够好的精度 + 明显更好的效率”，而不是一味追求最高分。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2AECE820-5FF4-AB0E-642C-74C969BED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0" name="Picture 9" descr="slide_10_fit.png">
            <a:extLst>
              <a:ext uri="{FF2B5EF4-FFF2-40B4-BE49-F238E27FC236}">
                <a16:creationId xmlns:a16="http://schemas.microsoft.com/office/drawing/2014/main" id="{B9B576A5-4B3E-63B5-0046-90B31531F5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5" b="405"/>
          <a:stretch>
            <a:fillRect/>
          </a:stretch>
        </p:blipFill>
        <p:spPr>
          <a:xfrm>
            <a:off x="1763104" y="1343281"/>
            <a:ext cx="8665792" cy="326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05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68C91-BA8C-8C49-13BF-624951DE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C41B1A-62F0-08BE-D0E2-12F68439006D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92835A-97C8-2E8D-A9A8-A9F8224221BE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图3解读：速度优势到底有多实在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BBC88-1781-ADAB-862B-96990B4AD77A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在相同任务设定下，它把交互延迟直接压到了更适合产品落地的区间。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1462D6-0BEB-FFE0-6297-B83C77C48F66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33D17FD-1F7A-21FA-374E-DB971BD5CB55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501A0D0-656D-4F47-7DB7-855518E4C868}"/>
                </a:ext>
              </a:extLst>
            </p:cNvPr>
            <p:cNvSpPr txBox="1"/>
            <p:nvPr/>
          </p:nvSpPr>
          <p:spPr>
            <a:xfrm>
              <a:off x="804672" y="1499616"/>
              <a:ext cx="4600000" cy="11334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b="1" dirty="0" err="1"/>
                <a:t>核心要点</a:t>
              </a:r>
              <a:endParaRPr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F80A72-52DB-6023-F06B-C052CC7D1218}"/>
                </a:ext>
              </a:extLst>
            </p:cNvPr>
            <p:cNvSpPr txBox="1"/>
            <p:nvPr/>
          </p:nvSpPr>
          <p:spPr>
            <a:xfrm>
              <a:off x="804672" y="2469770"/>
              <a:ext cx="4500000" cy="37545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lang="en-US" altLang="zh-CN" sz="1400" dirty="0"/>
                <a:t>• 论文设定的 workload 是：1 张 1024x1024 图像 + 简短提示词 + 生成 100 个 token。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LFM2-VL-1.6B 的处理时间约 833ms，而几款对比模型分别在 1650ms、1837ms 和 1950ms 左右。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这意味着它相对最快竞品也接近 2 倍速度提升，优势不是小修小补，而是交互层面的体感差异。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这张图最能说明：token 压缩和高效 backbone 的设计，最终都会兑现成真实等待时间的减少。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22863754-D7D7-8569-901E-2853A086C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9" name="Picture 8" descr="slide_11_fit.png">
            <a:extLst>
              <a:ext uri="{FF2B5EF4-FFF2-40B4-BE49-F238E27FC236}">
                <a16:creationId xmlns:a16="http://schemas.microsoft.com/office/drawing/2014/main" id="{10463AB9-75DC-B245-8B83-8CF08199E6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682" b="16682"/>
          <a:stretch>
            <a:fillRect/>
          </a:stretch>
        </p:blipFill>
        <p:spPr>
          <a:xfrm>
            <a:off x="2002694" y="1495289"/>
            <a:ext cx="8186612" cy="308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319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38950-46EA-7229-03A9-B471BDD46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F0E0B6-86BA-5A30-0B82-F17C002B170F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8CB3A7-65BA-291F-C33E-1E298252FCD1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图4解读：显存并非最小，但性价比很高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0E512-BDB3-9EAA-76AE-20DC652260C7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要理解这张图，重点不是“谁最低”，而是“谁在更强能力下仍没把成本拉爆”。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12F6DD6-C885-3E99-2B7B-884C0F6D5DDF}"/>
              </a:ext>
            </a:extLst>
          </p:cNvPr>
          <p:cNvGrpSpPr/>
          <p:nvPr/>
        </p:nvGrpSpPr>
        <p:grpSpPr>
          <a:xfrm>
            <a:off x="658368" y="1389888"/>
            <a:ext cx="3615249" cy="4773168"/>
            <a:chOff x="658368" y="1389888"/>
            <a:chExt cx="4900000" cy="4773168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7CD3BB4-1118-CEEA-EAB4-14C7E6F3BA42}"/>
                </a:ext>
              </a:extLst>
            </p:cNvPr>
            <p:cNvSpPr/>
            <p:nvPr/>
          </p:nvSpPr>
          <p:spPr>
            <a:xfrm>
              <a:off x="658368" y="1389888"/>
              <a:ext cx="4900000" cy="4773168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4A474D-5016-9CA4-CDF3-DB42C5FF60CE}"/>
                </a:ext>
              </a:extLst>
            </p:cNvPr>
            <p:cNvSpPr txBox="1"/>
            <p:nvPr/>
          </p:nvSpPr>
          <p:spPr>
            <a:xfrm>
              <a:off x="804672" y="1499616"/>
              <a:ext cx="460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b="1" dirty="0" err="1"/>
                <a:t>核心要点</a:t>
              </a:r>
              <a:endParaRPr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3808FA-4EFD-5519-92A8-0D8415269747}"/>
                </a:ext>
              </a:extLst>
            </p:cNvPr>
            <p:cNvSpPr txBox="1"/>
            <p:nvPr/>
          </p:nvSpPr>
          <p:spPr>
            <a:xfrm>
              <a:off x="822960" y="1783080"/>
              <a:ext cx="4500000" cy="24273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lang="en-US" altLang="zh-CN" sz="1400" dirty="0"/>
                <a:t>• LFM2-VL-1.6B 约 3.14GB，低于 2B 级对手的 4.20GB 和 4.62GB，但高于更小的 1B 模型 2.06GB。</a:t>
              </a:r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t>• 也就是说，它不是绝对最省内存的模型，但在参数规模、速度和视觉能力之间更平衡。</a:t>
              </a:r>
              <a:endParaRPr lang="zh-CN" altLang="en-US" sz="1400" dirty="0"/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lang="en-US" altLang="zh-CN" sz="1400" dirty="0"/>
                <a:t>• 对笔记本、本地工作站和单 GPU 场景，这种“稍高一点显存换来更强能力”的交易通常是划算的。</a:t>
              </a:r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t>• 反过来，如果预算极紧，450M 版本才是更符合边缘设备约束的选择。</a:t>
              </a:r>
              <a:endParaRPr lang="zh-CN" altLang="en-US" sz="1400" dirty="0"/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endParaRPr lang="zh-CN" altLang="en-US" sz="1400" dirty="0"/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BB3B91B3-4BF8-450C-5DDE-83E996251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208454-5EB1-B24A-9E3D-46944DA71C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366" r="21366"/>
          <a:stretch>
            <a:fillRect/>
          </a:stretch>
        </p:blipFill>
        <p:spPr>
          <a:xfrm>
            <a:off x="5120296" y="1315667"/>
            <a:ext cx="5596472" cy="546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125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部署决策：450M 和 1.6B 应该怎么选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7"/>
            <a:ext cx="10058400" cy="4662570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ECC7479-5EE4-0781-9DDB-BF2FE4621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451325-14F1-6404-CD7F-85E5DB057CCD}"/>
              </a:ext>
            </a:extLst>
          </p:cNvPr>
          <p:cNvSpPr txBox="1"/>
          <p:nvPr/>
        </p:nvSpPr>
        <p:spPr>
          <a:xfrm>
            <a:off x="1104900" y="1708890"/>
            <a:ext cx="9046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先按设备预算分层，再看任务是否依赖细粒度视觉理解。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26CA63-A19A-E911-B667-68E2B859E0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9" b="279"/>
          <a:stretch>
            <a:fillRect/>
          </a:stretch>
        </p:blipFill>
        <p:spPr>
          <a:xfrm>
            <a:off x="3072818" y="2839664"/>
            <a:ext cx="5312229" cy="19076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E55A88-BFF4-0DCA-2DB8-75DD36891FEE}"/>
              </a:ext>
            </a:extLst>
          </p:cNvPr>
          <p:cNvSpPr txBox="1"/>
          <p:nvPr/>
        </p:nvSpPr>
        <p:spPr>
          <a:xfrm>
            <a:off x="1104899" y="2123384"/>
            <a:ext cx="91712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450M 搭载更轻的视觉编码器，更适合手机、穿戴、边缘盒子这类强调实时性与低资源占用的场景；1.6B 则更适合笔记本、单 GPU 和需要更强 OCR / 高分辨率理解的任务。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9451EF-12EF-0B5F-0652-5166B63BC7EB}"/>
              </a:ext>
            </a:extLst>
          </p:cNvPr>
          <p:cNvSpPr txBox="1"/>
          <p:nvPr/>
        </p:nvSpPr>
        <p:spPr>
          <a:xfrm>
            <a:off x="1028482" y="4817225"/>
            <a:ext cx="93181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两者共享同一套 token 预算调节机制，所以推荐的选型顺序是：先看内存与延迟，再判断任务是否依赖细节，最后再调图像 token 上限和 patch 数量。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F63B7-1052-F65C-A307-1A81BDBE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675B49-8415-BB65-E4BB-2E1C0D5D3798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543FE1-647D-47C4-B6A8-97E268ABF333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综合讨论：这篇工作真正贡献了什么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7049C-9533-A197-FDE2-981332B2E52D}"/>
              </a:ext>
            </a:extLst>
          </p:cNvPr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它把端侧 VLM 的优化目标说清楚了：不是更大，而是更可部署。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A4FD154-40D5-44B1-D1FC-DE8D1E1A1DCB}"/>
              </a:ext>
            </a:extLst>
          </p:cNvPr>
          <p:cNvSpPr/>
          <p:nvPr/>
        </p:nvSpPr>
        <p:spPr>
          <a:xfrm>
            <a:off x="658368" y="1389888"/>
            <a:ext cx="10058400" cy="3063240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8B14E-7D83-19E0-DC82-8EB76CE3CAFF}"/>
              </a:ext>
            </a:extLst>
          </p:cNvPr>
          <p:cNvSpPr txBox="1"/>
          <p:nvPr/>
        </p:nvSpPr>
        <p:spPr>
          <a:xfrm>
            <a:off x="804672" y="1499616"/>
            <a:ext cx="9765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/>
              <a:t>核心要点</a:t>
            </a:r>
            <a:endParaRPr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3D3965-F8C6-CE16-1A16-40BC9BD212C1}"/>
              </a:ext>
            </a:extLst>
          </p:cNvPr>
          <p:cNvSpPr txBox="1"/>
          <p:nvPr/>
        </p:nvSpPr>
        <p:spPr>
          <a:xfrm>
            <a:off x="822960" y="1783080"/>
            <a:ext cx="9738360" cy="14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600" dirty="0"/>
              <a:t>• 这篇论文最有价值的地方，不是某个单点分数，而是把“速度、显存、精度”一起纳入设计目标。</a:t>
            </a:r>
            <a:endParaRPr lang="en-US" sz="1600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600" dirty="0"/>
              <a:t>• LFM2-VL 说明高分辨率视觉理解不一定等于固定高成本，token 预算本身可以成为可调控制杆。</a:t>
            </a:r>
            <a:endParaRPr lang="en-US" sz="1600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600" dirty="0"/>
              <a:t>• 对工程侧来说，这比单纯追求 benchmark 榜首更有意义，因为它直接影响产品是否能落地。</a:t>
            </a:r>
            <a:endParaRPr lang="en-US" sz="1600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600" dirty="0"/>
              <a:t>• 真正的启发是：未来端侧多模态系统的竞争，很可能是体系化效率设计的竞争。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9C379D1-8735-670C-7110-370A8473F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79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总结与结语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LFM2-VL 代表了一条更务实的边缘多模态路线。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/>
              <a:t>核心要点</a:t>
            </a:r>
            <a:endParaRPr b="1"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1616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图1告诉我们：即便是 450M 级别，小模型也能完成有用的视觉 grounding 与描述。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图2给出的配方是全篇核心：NaFlex 编码器、动态切片、thumbnail 和 token 压缩共同协作。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图3和图4进一步证明：效率收益是真实存在的，而且能直接转化成更短等待时间与更低部署门槛。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如果目标是做边缘侧多模态系统，LFM2-VL 的最大启示是“可控成本”往往比 headline SOTA 更重要。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7DC1CCCC-B091-BF68-4FF1-E41993EFD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自定义设计方案">
  <a:themeElements>
    <a:clrScheme name="自定义 3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C00000"/>
      </a:accent1>
      <a:accent2>
        <a:srgbClr val="D8D8D8"/>
      </a:accent2>
      <a:accent3>
        <a:srgbClr val="BFBFBF"/>
      </a:accent3>
      <a:accent4>
        <a:srgbClr val="A5A5A5"/>
      </a:accent4>
      <a:accent5>
        <a:srgbClr val="7F7F7F"/>
      </a:accent5>
      <a:accent6>
        <a:srgbClr val="595959"/>
      </a:accent6>
      <a:hlink>
        <a:srgbClr val="C60C0C"/>
      </a:hlink>
      <a:folHlink>
        <a:srgbClr val="BFBFBF"/>
      </a:folHlink>
    </a:clrScheme>
    <a:fontScheme name="e05413m2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自定义设计方案">
  <a:themeElements>
    <a:clrScheme name="自定义 3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C00000"/>
      </a:accent1>
      <a:accent2>
        <a:srgbClr val="D8D8D8"/>
      </a:accent2>
      <a:accent3>
        <a:srgbClr val="BFBFBF"/>
      </a:accent3>
      <a:accent4>
        <a:srgbClr val="A5A5A5"/>
      </a:accent4>
      <a:accent5>
        <a:srgbClr val="7F7F7F"/>
      </a:accent5>
      <a:accent6>
        <a:srgbClr val="595959"/>
      </a:accent6>
      <a:hlink>
        <a:srgbClr val="C60C0C"/>
      </a:hlink>
      <a:folHlink>
        <a:srgbClr val="BFBFBF"/>
      </a:folHlink>
    </a:clrScheme>
    <a:fontScheme name="自定义 1">
      <a:majorFont>
        <a:latin typeface="Calibri"/>
        <a:ea typeface="华文楷体"/>
        <a:cs typeface=""/>
      </a:majorFont>
      <a:minorFont>
        <a:latin typeface="Calibri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</TotalTime>
  <Words>876</Words>
  <Application>Microsoft Macintosh PowerPoint</Application>
  <PresentationFormat>Widescreen</PresentationFormat>
  <Paragraphs>151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等线</vt:lpstr>
      <vt:lpstr>华文楷体</vt:lpstr>
      <vt:lpstr>Arial</vt:lpstr>
      <vt:lpstr>Calibri</vt:lpstr>
      <vt:lpstr>2_自定义设计方案</vt:lpstr>
      <vt:lpstr>3_自定义设计方案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 Yuting</dc:creator>
  <cp:lastModifiedBy>You, Bingran</cp:lastModifiedBy>
  <cp:revision>44</cp:revision>
  <dcterms:created xsi:type="dcterms:W3CDTF">2023-06-07T13:12:54Z</dcterms:created>
  <dcterms:modified xsi:type="dcterms:W3CDTF">2026-03-13T18:54:26Z</dcterms:modified>
</cp:coreProperties>
</file>