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 snapToGrid="0" snapToObjects="1">
      <p:cViewPr varScale="1">
        <p:scale>
          <a:sx n="151" d="100"/>
          <a:sy n="151" d="100"/>
        </p:scale>
        <p:origin x="216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55428" y="1344168"/>
            <a:ext cx="4596571" cy="7886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400">
                <a:solidFill>
                  <a:srgbClr val="0E151B"/>
                </a:solidFill>
                <a:latin typeface="STKaiti"/>
              </a:rPr>
              <a:t>多智能体系统的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32571" y="2880360"/>
            <a:ext cx="4624000" cy="8092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400">
                <a:solidFill>
                  <a:srgbClr val="0D141A"/>
                </a:solidFill>
                <a:latin typeface="STKaiti"/>
              </a:rPr>
              <a:t>从炼金术到科学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285" y="4002786"/>
            <a:ext cx="5433142" cy="4343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736">
                <a:solidFill>
                  <a:srgbClr val="030302"/>
                </a:solidFill>
                <a:latin typeface="STKaiti"/>
              </a:rPr>
              <a:t>决定大模型 Agent 系统成败的量化指导原则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8285" y="5911596"/>
            <a:ext cx="5106285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dirty="0" err="1">
                <a:solidFill>
                  <a:srgbClr val="0E1116"/>
                </a:solidFill>
                <a:latin typeface="STKaiti"/>
              </a:rPr>
              <a:t>基于</a:t>
            </a:r>
            <a:r>
              <a:rPr sz="1800" dirty="0">
                <a:solidFill>
                  <a:srgbClr val="0E1116"/>
                </a:solidFill>
                <a:latin typeface="STKaiti"/>
              </a:rPr>
              <a:t> Google </a:t>
            </a:r>
            <a:r>
              <a:rPr sz="1800" dirty="0" err="1">
                <a:solidFill>
                  <a:srgbClr val="0E1116"/>
                </a:solidFill>
                <a:latin typeface="STKaiti"/>
              </a:rPr>
              <a:t>与</a:t>
            </a:r>
            <a:r>
              <a:rPr sz="1800" dirty="0">
                <a:solidFill>
                  <a:srgbClr val="0E1116"/>
                </a:solidFill>
                <a:latin typeface="STKaiti"/>
              </a:rPr>
              <a:t> MIT 联合团队180 </a:t>
            </a:r>
            <a:r>
              <a:rPr sz="1800" dirty="0" err="1">
                <a:solidFill>
                  <a:srgbClr val="0E1116"/>
                </a:solidFill>
                <a:latin typeface="STKaiti"/>
              </a:rPr>
              <a:t>组硬核受控实验的深度解析</a:t>
            </a:r>
            <a:endParaRPr sz="1800" dirty="0">
              <a:solidFill>
                <a:srgbClr val="0E1116"/>
              </a:solidFill>
              <a:latin typeface="STKait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49142" y="571500"/>
            <a:ext cx="1094857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10100"/>
                </a:solidFill>
                <a:latin typeface="STKaiti"/>
              </a:rPr>
              <a:t>行业现状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6857" y="950976"/>
            <a:ext cx="2166857" cy="2514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84">
                <a:solidFill>
                  <a:srgbClr val="1D1D1A"/>
                </a:solidFill>
                <a:latin typeface="STKaiti"/>
              </a:rPr>
              <a:t>如今 Agent 已}为 Al @用的主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8285" y="1181862"/>
            <a:ext cx="221942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40" dirty="0" err="1">
                <a:solidFill>
                  <a:srgbClr val="1B1B19"/>
                </a:solidFill>
                <a:latin typeface="STKaiti"/>
              </a:rPr>
              <a:t>导范式,但架构设计依然高度依</a:t>
            </a:r>
            <a:endParaRPr sz="1440" dirty="0">
              <a:solidFill>
                <a:srgbClr val="1B1B19"/>
              </a:solidFill>
              <a:latin typeface="STKait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56000" y="1403604"/>
            <a:ext cx="1563428" cy="2400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12">
                <a:solidFill>
                  <a:srgbClr val="21211E"/>
                </a:solidFill>
                <a:latin typeface="STKaiti"/>
              </a:rPr>
              <a:t>鞠拍陶窭式的"炼金术`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428" y="2932938"/>
            <a:ext cx="2404571" cy="6057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815">
                <a:solidFill>
                  <a:srgbClr val="000000"/>
                </a:solidFill>
                <a:latin typeface="STKaiti"/>
              </a:rPr>
              <a:t>智能体越多,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3714" y="2953512"/>
            <a:ext cx="1771428" cy="560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528" dirty="0" err="1">
                <a:solidFill>
                  <a:srgbClr val="000000"/>
                </a:solidFill>
                <a:latin typeface="STKaiti"/>
              </a:rPr>
              <a:t>系统越强</a:t>
            </a:r>
            <a:endParaRPr sz="3528" dirty="0">
              <a:solidFill>
                <a:srgbClr val="000000"/>
              </a:solidFill>
              <a:latin typeface="STKait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30857" y="4878324"/>
            <a:ext cx="11040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>
                <a:solidFill>
                  <a:srgbClr val="020200"/>
                </a:solidFill>
                <a:latin typeface="STKaiti"/>
              </a:rPr>
              <a:t>残酷现实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6857" y="5255514"/>
            <a:ext cx="222400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55" dirty="0" err="1">
                <a:solidFill>
                  <a:srgbClr val="171815"/>
                </a:solidFill>
                <a:latin typeface="STKaiti"/>
              </a:rPr>
              <a:t>堆砌</a:t>
            </a:r>
            <a:r>
              <a:rPr sz="1655" dirty="0">
                <a:solidFill>
                  <a:srgbClr val="171815"/>
                </a:solidFill>
                <a:latin typeface="STKaiti"/>
              </a:rPr>
              <a:t> Agent </a:t>
            </a:r>
            <a:r>
              <a:rPr sz="1655" dirty="0" err="1">
                <a:solidFill>
                  <a:srgbClr val="171815"/>
                </a:solidFill>
                <a:latin typeface="STKaiti"/>
              </a:rPr>
              <a:t>数量井不总是带来</a:t>
            </a:r>
            <a:endParaRPr sz="1655" dirty="0">
              <a:solidFill>
                <a:srgbClr val="171815"/>
              </a:solidFill>
              <a:latin typeface="STKait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46857" y="5493258"/>
            <a:ext cx="2194285" cy="2537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98" dirty="0" err="1">
                <a:solidFill>
                  <a:srgbClr val="1B1B18"/>
                </a:solidFill>
                <a:latin typeface="STKaiti"/>
              </a:rPr>
              <a:t>性能提升,往往伴随-蕹性</a:t>
            </a:r>
            <a:endParaRPr sz="1598" dirty="0">
              <a:solidFill>
                <a:srgbClr val="1B1B18"/>
              </a:solidFill>
              <a:latin typeface="STKait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0571" y="5733288"/>
            <a:ext cx="1200000" cy="2308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54">
                <a:solidFill>
                  <a:srgbClr val="181815"/>
                </a:solidFill>
                <a:latin typeface="STKaiti"/>
              </a:rPr>
              <a:t>扩展智能体是一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0000" y="5961888"/>
            <a:ext cx="2105142" cy="2400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12" dirty="0" err="1">
                <a:solidFill>
                  <a:srgbClr val="191916"/>
                </a:solidFill>
                <a:latin typeface="STKaiti"/>
              </a:rPr>
              <a:t>门受制于多维娈量的鞲密"科</a:t>
            </a:r>
            <a:endParaRPr sz="1512" dirty="0">
              <a:solidFill>
                <a:srgbClr val="191916"/>
              </a:solidFill>
              <a:latin typeface="STKait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58285" y="6201918"/>
            <a:ext cx="28571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40">
                <a:solidFill>
                  <a:srgbClr val="21211E"/>
                </a:solidFill>
                <a:latin typeface="STKaiti"/>
              </a:rPr>
              <a:t>学"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49142" y="477774"/>
            <a:ext cx="7734857" cy="6606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161" dirty="0" err="1">
                <a:solidFill>
                  <a:srgbClr val="1B2022"/>
                </a:solidFill>
                <a:latin typeface="STKaiti"/>
              </a:rPr>
              <a:t>数据剧透</a:t>
            </a:r>
            <a:r>
              <a:rPr sz="4161" dirty="0">
                <a:solidFill>
                  <a:srgbClr val="1B2022"/>
                </a:solidFill>
                <a:latin typeface="STKaiti"/>
              </a:rPr>
              <a:t>:  </a:t>
            </a:r>
            <a:r>
              <a:rPr sz="4161" dirty="0" err="1">
                <a:solidFill>
                  <a:srgbClr val="1B2022"/>
                </a:solidFill>
                <a:latin typeface="STKaiti"/>
              </a:rPr>
              <a:t>多智能体的</a:t>
            </a:r>
            <a:r>
              <a:rPr sz="4161" dirty="0">
                <a:solidFill>
                  <a:srgbClr val="1B2022"/>
                </a:solidFill>
                <a:latin typeface="STKaiti"/>
              </a:rPr>
              <a:t> ^</a:t>
            </a:r>
            <a:r>
              <a:rPr sz="4161" dirty="0" err="1">
                <a:solidFill>
                  <a:srgbClr val="1B2022"/>
                </a:solidFill>
                <a:latin typeface="STKaiti"/>
              </a:rPr>
              <a:t>冰火两重天</a:t>
            </a:r>
            <a:endParaRPr sz="4161" dirty="0">
              <a:solidFill>
                <a:srgbClr val="1B2022"/>
              </a:solidFill>
              <a:latin typeface="STKait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98285" y="3966210"/>
            <a:ext cx="1346285" cy="4320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721">
                <a:solidFill>
                  <a:srgbClr val="13171A"/>
                </a:solidFill>
                <a:latin typeface="STKaiti"/>
              </a:rPr>
              <a:t>(神助攻)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6857" y="4126230"/>
            <a:ext cx="214857" cy="1028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900">
                <a:solidFill>
                  <a:srgbClr val="BBBBB6"/>
                </a:solidFill>
                <a:latin typeface="STKaiti"/>
              </a:rPr>
              <a:t>吕0.3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5142" y="3954780"/>
            <a:ext cx="1350857" cy="4549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865">
                <a:solidFill>
                  <a:srgbClr val="15191C"/>
                </a:solidFill>
                <a:latin typeface="STKaiti"/>
              </a:rPr>
              <a:t>(猪队友)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4983480"/>
            <a:ext cx="4557714" cy="3726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47">
                <a:solidFill>
                  <a:srgbClr val="060604"/>
                </a:solidFill>
                <a:latin typeface="STKaiti"/>
              </a:rPr>
              <a:t>在金融分析等特定任务中。引入多智能体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428" y="5001768"/>
            <a:ext cx="2304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60503"/>
                </a:solidFill>
                <a:latin typeface="STKaiti"/>
              </a:rPr>
              <a:t>在强顺序依赖的任务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6285" y="5001768"/>
            <a:ext cx="1010285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50502"/>
                </a:solidFill>
                <a:latin typeface="STKaiti"/>
              </a:rPr>
              <a:t>(如规划)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9428" y="5001768"/>
            <a:ext cx="1040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70705"/>
                </a:solidFill>
                <a:latin typeface="STKaiti"/>
              </a:rPr>
              <a:t>中。增加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142" y="5305806"/>
            <a:ext cx="2923428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 dirty="0" err="1">
                <a:solidFill>
                  <a:srgbClr val="060603"/>
                </a:solidFill>
                <a:latin typeface="STKaiti"/>
              </a:rPr>
              <a:t>协作带来惊人的性能跃升</a:t>
            </a:r>
            <a:r>
              <a:rPr sz="2217" dirty="0">
                <a:solidFill>
                  <a:srgbClr val="060603"/>
                </a:solidFill>
                <a:latin typeface="STKait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428" y="5305806"/>
            <a:ext cx="365714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>
                <a:solidFill>
                  <a:srgbClr val="060604"/>
                </a:solidFill>
                <a:latin typeface="STKaiti"/>
              </a:rPr>
              <a:t>智能体反而导致性能断崖式暴跌。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3142" y="6128766"/>
            <a:ext cx="4731428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520">
                <a:solidFill>
                  <a:srgbClr val="050503"/>
                </a:solidFill>
                <a:latin typeface="STKaiti"/>
              </a:rPr>
              <a:t>决定协同上限的,绝不仅是 Agent 的数量。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00" y="413766"/>
            <a:ext cx="7030857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400">
                <a:solidFill>
                  <a:srgbClr val="000000"/>
                </a:solidFill>
                <a:latin typeface="STKaiti"/>
              </a:rPr>
              <a:t>史上最严谨的 Agent 控制实验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00" y="1117854"/>
            <a:ext cx="10235428" cy="3703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32">
                <a:solidFill>
                  <a:srgbClr val="080807"/>
                </a:solidFill>
                <a:latin typeface="STKaiti"/>
              </a:rPr>
              <a:t>摒弃 MMLU 等静态刷榜。重新定义真正的 "Agentic" 评估 (持续环境交互 +迭代收集 +策略自适应)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2571" y="2009394"/>
            <a:ext cx="1494857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>
                <a:solidFill>
                  <a:srgbClr val="343434"/>
                </a:solidFill>
                <a:latin typeface="STKaiti"/>
              </a:rPr>
              <a:t>4大真实场景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4000" y="2009394"/>
            <a:ext cx="1494857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829482"/>
                </a:solidFill>
                <a:latin typeface="STKaiti"/>
              </a:rPr>
              <a:t>3大底座家族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72571" y="2009394"/>
            <a:ext cx="220114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>
                <a:solidFill>
                  <a:srgbClr val="5B6876"/>
                </a:solidFill>
                <a:latin typeface="STKaiti"/>
              </a:rPr>
              <a:t>180组严格受控配置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3142" y="3385566"/>
            <a:ext cx="2102857" cy="3177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1">
                <a:solidFill>
                  <a:srgbClr val="0A0A08"/>
                </a:solidFill>
                <a:latin typeface="STKaiti"/>
              </a:rPr>
              <a:t>统一定义 Prompt 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3142" y="3776472"/>
            <a:ext cx="457142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1110F"/>
                </a:solidFill>
                <a:latin typeface="STKaiti"/>
              </a:rPr>
              <a:t>金融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3714" y="3778758"/>
            <a:ext cx="464000" cy="2903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28">
                <a:solidFill>
                  <a:srgbClr val="0B0B0A"/>
                </a:solidFill>
                <a:latin typeface="STKaiti"/>
              </a:rPr>
              <a:t>网页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6857" y="3911346"/>
            <a:ext cx="1686857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>
                <a:solidFill>
                  <a:srgbClr val="0B0B09"/>
                </a:solidFill>
                <a:latin typeface="STKaiti"/>
              </a:rPr>
              <a:t>统一定义工具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7714" y="4414266"/>
            <a:ext cx="1954285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090907"/>
                </a:solidFill>
                <a:latin typeface="STKaiti"/>
              </a:rPr>
              <a:t>统一定义 Token 预算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4000" y="5701284"/>
            <a:ext cx="486857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0B0B09"/>
                </a:solidFill>
                <a:latin typeface="STKaiti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000" y="5703570"/>
            <a:ext cx="67200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55">
                <a:solidFill>
                  <a:srgbClr val="090907"/>
                </a:solidFill>
                <a:latin typeface="STKaiti"/>
              </a:rPr>
              <a:t>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6571" y="5612130"/>
            <a:ext cx="3684571" cy="3726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47">
                <a:solidFill>
                  <a:srgbClr val="010100"/>
                </a:solidFill>
                <a:latin typeface="STKaiti"/>
              </a:rPr>
              <a:t>严格剔除 "大力出奇迹"的算力干扰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8000" y="601218"/>
            <a:ext cx="5216000" cy="560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528">
                <a:solidFill>
                  <a:srgbClr val="081014"/>
                </a:solidFill>
                <a:latin typeface="STKaiti"/>
              </a:rPr>
              <a:t>智能体协同的五大基础拓扑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47428" y="1719072"/>
            <a:ext cx="1088000" cy="285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>
                <a:solidFill>
                  <a:srgbClr val="131414"/>
                </a:solidFill>
                <a:latin typeface="STKaiti"/>
              </a:rPr>
              <a:t>复杂度增加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000" y="2352294"/>
            <a:ext cx="1266285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F1213"/>
                </a:solidFill>
                <a:latin typeface="STKaiti"/>
              </a:rPr>
              <a:t>SAS (单体)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9428" y="2651760"/>
            <a:ext cx="697142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0D0F11"/>
                </a:solidFill>
                <a:latin typeface="STKaiti"/>
              </a:rPr>
              <a:t>(独立)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142" y="2649474"/>
            <a:ext cx="918857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0B0D0E"/>
                </a:solidFill>
                <a:latin typeface="STKaiti"/>
              </a:rPr>
              <a:t>(中心化)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69142" y="2633472"/>
            <a:ext cx="1158857" cy="3314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88">
                <a:solidFill>
                  <a:srgbClr val="0C0E0F"/>
                </a:solidFill>
                <a:latin typeface="STKaiti"/>
              </a:rPr>
              <a:t>(去中心化)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1428" y="2649474"/>
            <a:ext cx="690285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0E0F11"/>
                </a:solidFill>
                <a:latin typeface="STKaiti"/>
              </a:rPr>
              <a:t>(混合)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00" y="5157216"/>
            <a:ext cx="1666285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E1F1E"/>
                </a:solidFill>
                <a:latin typeface="STKaiti"/>
              </a:rPr>
              <a:t>极简架构,无沟通开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8000" y="5157216"/>
            <a:ext cx="1734857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C1C1B"/>
                </a:solidFill>
                <a:latin typeface="STKaiti"/>
              </a:rPr>
              <a:t>各自为战。盲目汇总。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6285" y="5157216"/>
            <a:ext cx="1819428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A1A1A"/>
                </a:solidFill>
                <a:latin typeface="STKaiti"/>
              </a:rPr>
              <a:t>骣依赖指挥官节点分发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000" y="5157216"/>
            <a:ext cx="1840000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C1C1B"/>
                </a:solidFill>
                <a:latin typeface="STKaiti"/>
              </a:rPr>
              <a:t>P2P 扁平化讨论。依靠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4000" y="5157216"/>
            <a:ext cx="1837714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D1D1C"/>
                </a:solidFill>
                <a:latin typeface="STKaiti"/>
              </a:rPr>
              <a:t>鼬合层级捏制与横向沟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428" y="5417820"/>
            <a:ext cx="310857" cy="2537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98">
                <a:solidFill>
                  <a:srgbClr val="252524"/>
                </a:solidFill>
                <a:latin typeface="STKaiti"/>
              </a:rPr>
              <a:t>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0285" y="5417820"/>
            <a:ext cx="1721142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55">
                <a:solidFill>
                  <a:srgbClr val="1C1C1B"/>
                </a:solidFill>
                <a:latin typeface="STKaiti"/>
              </a:rPr>
              <a:t>最大化并行,零交互。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6285" y="5410962"/>
            <a:ext cx="658285" cy="2606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41">
                <a:solidFill>
                  <a:srgbClr val="202020"/>
                </a:solidFill>
                <a:latin typeface="STKaiti"/>
              </a:rPr>
              <a:t>与验证。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6285" y="5417820"/>
            <a:ext cx="843428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55">
                <a:solidFill>
                  <a:srgbClr val="1C1C1B"/>
                </a:solidFill>
                <a:latin typeface="STKaiti"/>
              </a:rPr>
              <a:t>共识机制。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6285" y="5417820"/>
            <a:ext cx="1204571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55">
                <a:solidFill>
                  <a:srgbClr val="1F201F"/>
                </a:solidFill>
                <a:latin typeface="STKaiti"/>
              </a:rPr>
              <a:t>通;最为复杂。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0285" y="368046"/>
            <a:ext cx="7444571" cy="1271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400">
                <a:solidFill>
                  <a:srgbClr val="212426"/>
                </a:solidFill>
                <a:latin typeface="STKaiti"/>
              </a:rPr>
              <a:t>解密 Scaling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714" y="1554480"/>
            <a:ext cx="7140571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311">
                <a:solidFill>
                  <a:srgbClr val="010000"/>
                </a:solidFill>
                <a:latin typeface="STKaiti"/>
              </a:rPr>
              <a:t>决定多智能体系统成败的三大底层物理定律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2000" y="5534406"/>
            <a:ext cx="1718857" cy="386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33">
                <a:solidFill>
                  <a:srgbClr val="010100"/>
                </a:solidFill>
                <a:latin typeface="STKaiti"/>
              </a:rPr>
              <a:t>工具-协作权衡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5428" y="5541264"/>
            <a:ext cx="2109714" cy="3680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18">
                <a:solidFill>
                  <a:srgbClr val="010100"/>
                </a:solidFill>
                <a:latin typeface="STKaiti"/>
              </a:rPr>
              <a:t>02 |能力饱和效应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9714" y="5550408"/>
            <a:ext cx="2395428" cy="3589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60">
                <a:solidFill>
                  <a:srgbClr val="010000"/>
                </a:solidFill>
                <a:latin typeface="STKaiti"/>
              </a:rPr>
              <a:t>拓扑依赖的错误放大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1142" y="592074"/>
            <a:ext cx="1760000" cy="5692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585">
                <a:solidFill>
                  <a:srgbClr val="0D1316"/>
                </a:solidFill>
                <a:latin typeface="STKaiti"/>
              </a:rPr>
              <a:t>定律一: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9428" y="587502"/>
            <a:ext cx="3140571" cy="6080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830">
                <a:solidFill>
                  <a:srgbClr val="0D1416"/>
                </a:solidFill>
                <a:latin typeface="STKaiti"/>
              </a:rPr>
              <a:t>工具-协作权衡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714" y="2189988"/>
            <a:ext cx="3670857" cy="4892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81">
                <a:solidFill>
                  <a:srgbClr val="000000"/>
                </a:solidFill>
                <a:latin typeface="STKaiti"/>
              </a:rPr>
              <a:t>工具复杂度与协作开销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285" y="2624328"/>
            <a:ext cx="2237714" cy="4960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124">
                <a:solidFill>
                  <a:srgbClr val="000000"/>
                </a:solidFill>
                <a:latin typeface="STKaiti"/>
              </a:rPr>
              <a:t>呈致命的反比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2000" y="4027932"/>
            <a:ext cx="148114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7E2820"/>
                </a:solidFill>
                <a:latin typeface="STKaiti"/>
              </a:rPr>
              <a:t>&gt;16 个工具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714" y="4299966"/>
            <a:ext cx="4496000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060603"/>
                </a:solidFill>
                <a:latin typeface="STKaiti"/>
              </a:rPr>
              <a:t>数据证据:  当环境工具数量极多 (如 Workbench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857" y="4597146"/>
            <a:ext cx="553142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0E0E0B"/>
                </a:solidFill>
                <a:latin typeface="STKaiti"/>
              </a:rPr>
              <a:t>场景)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8571" y="4585716"/>
            <a:ext cx="3542857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0C0C09"/>
                </a:solidFill>
                <a:latin typeface="STKaiti"/>
              </a:rPr>
              <a:t>MAS (多智能体)  的通信与同步开销极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857" y="4871466"/>
            <a:ext cx="772571" cy="2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14">
                <a:solidFill>
                  <a:srgbClr val="0F100B"/>
                </a:solidFill>
                <a:latin typeface="STKaiti"/>
              </a:rPr>
              <a:t>速膨胀。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857" y="5134356"/>
            <a:ext cx="443200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31">
                <a:solidFill>
                  <a:srgbClr val="090906"/>
                </a:solidFill>
                <a:latin typeface="STKaiti"/>
              </a:rPr>
              <a:t>核心洞察:  单个 Agent 仅需极低开销。但在复杂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714" y="5431536"/>
            <a:ext cx="442514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0E0E0A"/>
                </a:solidFill>
                <a:latin typeface="STKaiti"/>
              </a:rPr>
              <a:t>工具环境下, MAS 效率面临断崖式下跌。工具越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857" y="5719572"/>
            <a:ext cx="2733714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0D0E0A"/>
                </a:solidFill>
                <a:latin typeface="STKaiti"/>
              </a:rPr>
              <a:t>复杂,越需要极简的单体架构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8857" y="589788"/>
            <a:ext cx="1773714" cy="5829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672">
                <a:solidFill>
                  <a:srgbClr val="070D0E"/>
                </a:solidFill>
                <a:latin typeface="STKaiti"/>
              </a:rPr>
              <a:t>定律二: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9428" y="578358"/>
            <a:ext cx="3046857" cy="6263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945">
                <a:solidFill>
                  <a:srgbClr val="101516"/>
                </a:solidFill>
                <a:latin typeface="STKaiti"/>
              </a:rPr>
              <a:t>能力饱和效应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7428" y="594360"/>
            <a:ext cx="2614857" cy="4137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06">
                <a:solidFill>
                  <a:srgbClr val="000000"/>
                </a:solidFill>
                <a:latin typeface="STKaiti"/>
              </a:rPr>
              <a:t>三个臭皮匠"只有在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4285" y="955548"/>
            <a:ext cx="3222857" cy="422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64">
                <a:solidFill>
                  <a:srgbClr val="000000"/>
                </a:solidFill>
                <a:latin typeface="STKaiti"/>
              </a:rPr>
              <a:t>'诸葛亮"不在场时才成立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571" y="3819906"/>
            <a:ext cx="1723428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75281D"/>
                </a:solidFill>
                <a:latin typeface="STKaiti"/>
              </a:rPr>
              <a:t>459能力饱和线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5428" y="4942332"/>
            <a:ext cx="2057142" cy="36347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89">
                <a:solidFill>
                  <a:srgbClr val="080805"/>
                </a:solidFill>
                <a:latin typeface="STKaiti"/>
              </a:rPr>
              <a:t>单智能体基线准确率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285" y="5552694"/>
            <a:ext cx="4667428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40402"/>
                </a:solidFill>
                <a:latin typeface="STKaiti"/>
              </a:rPr>
              <a:t>数据证据:  当单智能体 (SAS) 基线准确率突破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142" y="5552694"/>
            <a:ext cx="4905142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50602"/>
                </a:solidFill>
                <a:latin typeface="STKaiti"/>
              </a:rPr>
              <a:t>核心洞察:  基础模型能力越强,引入多智能体协同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285" y="5849874"/>
            <a:ext cx="4324571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80804"/>
                </a:solidFill>
                <a:latin typeface="STKaiti"/>
              </a:rPr>
              <a:t>~459时。增加智能体协作往往带来负收益。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428" y="5852160"/>
            <a:ext cx="1158857" cy="3177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1">
                <a:solidFill>
                  <a:srgbClr val="070703"/>
                </a:solidFill>
                <a:latin typeface="STKaiti"/>
              </a:rPr>
              <a:t>反而越容易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9428" y="5863590"/>
            <a:ext cx="914285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A0A06"/>
                </a:solidFill>
                <a:latin typeface="STKaiti"/>
              </a:rPr>
              <a:t>"帮倒忙"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4285" y="5849874"/>
            <a:ext cx="2496000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90905"/>
                </a:solidFill>
                <a:latin typeface="STKaiti"/>
              </a:rPr>
              <a:t>对于高能模型。  冗余的协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00" y="6135624"/>
            <a:ext cx="2601142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80804"/>
                </a:solidFill>
                <a:latin typeface="STKaiti"/>
              </a:rPr>
              <a:t>调成本远远大于能力增益。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1142" y="548640"/>
            <a:ext cx="6390857" cy="6720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233">
                <a:solidFill>
                  <a:srgbClr val="0F1514"/>
                </a:solidFill>
                <a:latin typeface="STKaiti"/>
              </a:rPr>
              <a:t>定律三:  拓扑依赖的错误放大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285" y="1545336"/>
            <a:ext cx="832000" cy="5280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326">
                <a:solidFill>
                  <a:srgbClr val="000000"/>
                </a:solidFill>
                <a:latin typeface="STKaiti"/>
              </a:rPr>
              <a:t>没有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0857" y="1517904"/>
            <a:ext cx="7314285" cy="5692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585">
                <a:solidFill>
                  <a:srgbClr val="000000"/>
                </a:solidFill>
                <a:latin typeface="STKaiti"/>
              </a:rPr>
              <a:t>《纠错节点"  的多智能体。就是灾难放大器。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85" y="2450592"/>
            <a:ext cx="4233142" cy="4137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06">
                <a:solidFill>
                  <a:srgbClr val="030401"/>
                </a:solidFill>
                <a:latin typeface="STKaiti"/>
              </a:rPr>
              <a:t>缺乏审查的独立架构 (Independent)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8857" y="2994660"/>
            <a:ext cx="2262857" cy="4137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06">
                <a:solidFill>
                  <a:srgbClr val="712E21"/>
                </a:solidFill>
                <a:latin typeface="STKaiti"/>
              </a:rPr>
              <a:t>错误放大17.2倍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142" y="4247388"/>
            <a:ext cx="4834285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61">
                <a:solidFill>
                  <a:srgbClr val="030400"/>
                </a:solidFill>
                <a:latin typeface="STKaiti"/>
              </a:rPr>
              <a:t>拥有验证瓶颈的中心化架构 (Centralized)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8000" y="4860036"/>
            <a:ext cx="2966857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78">
                <a:solidFill>
                  <a:srgbClr val="7E927C"/>
                </a:solidFill>
                <a:latin typeface="STKaiti"/>
              </a:rPr>
              <a:t>错误放大压制在4.4倍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0285" y="5980176"/>
            <a:ext cx="6891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76">
                <a:solidFill>
                  <a:srgbClr val="020200"/>
                </a:solidFill>
                <a:latin typeface="STKaiti"/>
              </a:rPr>
              <a:t>架构的核心价值在于建立 Validation Bottlenecks (验证瓶颈)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0000" y="5989320"/>
            <a:ext cx="2205714" cy="3680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18">
                <a:solidFill>
                  <a:srgbClr val="020200"/>
                </a:solidFill>
                <a:latin typeface="STKaiti"/>
              </a:rPr>
              <a:t>而非单纯增加脑力。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82857" y="562356"/>
            <a:ext cx="7817142" cy="571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600">
                <a:solidFill>
                  <a:srgbClr val="000000"/>
                </a:solidFill>
                <a:latin typeface="STKaiti"/>
              </a:rPr>
              <a:t>智能体组网的实战指南:  任务匹配红黑榜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571" y="1712214"/>
            <a:ext cx="202514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000100"/>
                </a:solidFill>
                <a:latin typeface="STKaiti"/>
              </a:rPr>
              <a:t>绿榜 (适合组团)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82857" y="1714500"/>
            <a:ext cx="2285714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17">
                <a:solidFill>
                  <a:srgbClr val="050000"/>
                </a:solidFill>
                <a:latin typeface="STKaiti"/>
              </a:rPr>
              <a:t>红黑榜 (切忌组团)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571" y="2055114"/>
            <a:ext cx="2166857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76">
                <a:solidFill>
                  <a:srgbClr val="000100"/>
                </a:solidFill>
                <a:latin typeface="STKaiti"/>
              </a:rPr>
              <a:t>高度可并行化任务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0571" y="2055114"/>
            <a:ext cx="190857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040000"/>
                </a:solidFill>
                <a:latin typeface="STKaiti"/>
              </a:rPr>
              <a:t>强顺序依赖任务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285" y="4021074"/>
            <a:ext cx="2580571" cy="3314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88">
                <a:solidFill>
                  <a:srgbClr val="070904"/>
                </a:solidFill>
                <a:latin typeface="STKaiti"/>
              </a:rPr>
              <a:t>场景: Finance Agent 金鼬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4857" y="4025646"/>
            <a:ext cx="2505142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F0401"/>
                </a:solidFill>
                <a:latin typeface="STKaiti"/>
              </a:rPr>
              <a:t>场景: PlanCraft 动态规划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857" y="4320540"/>
            <a:ext cx="2400000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B0D08"/>
                </a:solidFill>
                <a:latin typeface="STKaiti"/>
              </a:rPr>
              <a:t>推理 (+80.89性能跃升)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5714" y="4462272"/>
            <a:ext cx="267428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094">
                <a:solidFill>
                  <a:srgbClr val="565656"/>
                </a:solidFill>
                <a:latin typeface="STKaiti"/>
              </a:rPr>
              <a:t>罟0.5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714" y="4889754"/>
            <a:ext cx="2576000" cy="3223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30">
                <a:solidFill>
                  <a:srgbClr val="060904"/>
                </a:solidFill>
                <a:latin typeface="STKaiti"/>
              </a:rPr>
              <a:t>特征:  任务可解耦。各自独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4857" y="4901184"/>
            <a:ext cx="2505142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F0401"/>
                </a:solidFill>
                <a:latin typeface="STKaiti"/>
              </a:rPr>
              <a:t>特征:  必须"先做 A才能做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142" y="5196078"/>
            <a:ext cx="1819428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A0C07"/>
                </a:solidFill>
                <a:latin typeface="STKaiti"/>
              </a:rPr>
              <a:t>立收集数据后汇总。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1714" y="5193792"/>
            <a:ext cx="260571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150804"/>
                </a:solidFill>
                <a:latin typeface="STKaiti"/>
              </a:rPr>
              <a:t>B"。多加人只会增加无谓的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1714" y="5479542"/>
            <a:ext cx="2320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170905"/>
                </a:solidFill>
                <a:latin typeface="STKaiti"/>
              </a:rPr>
              <a:t>沟通噪音与 Token 消耗。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7142" y="347472"/>
            <a:ext cx="5350857" cy="4960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124">
                <a:solidFill>
                  <a:srgbClr val="020301"/>
                </a:solidFill>
                <a:latin typeface="STKaiti"/>
              </a:rPr>
              <a:t>模型协作性格测试: Google Gemini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3428" y="1657350"/>
            <a:ext cx="544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97">
                <a:solidFill>
                  <a:srgbClr val="1A1A18"/>
                </a:solidFill>
                <a:latin typeface="STKaiti"/>
              </a:rPr>
              <a:t>执行力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4285" y="2884932"/>
            <a:ext cx="706285" cy="2308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54">
                <a:solidFill>
                  <a:srgbClr val="181816"/>
                </a:solidFill>
                <a:latin typeface="STKaiti"/>
              </a:rPr>
              <a:t>创新能力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3428" y="2884932"/>
            <a:ext cx="2939428" cy="5783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643">
                <a:solidFill>
                  <a:srgbClr val="252C2D"/>
                </a:solidFill>
                <a:latin typeface="STKaiti"/>
              </a:rPr>
              <a:t>《层级管理大师"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7428" y="3710178"/>
            <a:ext cx="3970285" cy="5143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40">
                <a:solidFill>
                  <a:srgbClr val="010100"/>
                </a:solidFill>
                <a:latin typeface="STKaiti"/>
              </a:rPr>
              <a:t>在中心化架构下提升高达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7428" y="4201668"/>
            <a:ext cx="2333714" cy="4457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808">
                <a:solidFill>
                  <a:srgbClr val="010100"/>
                </a:solidFill>
                <a:latin typeface="STKaiti"/>
              </a:rPr>
              <a:t>(Finance 场景)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4285" y="5081778"/>
            <a:ext cx="4329142" cy="306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29">
                <a:solidFill>
                  <a:srgbClr val="151512"/>
                </a:solidFill>
                <a:latin typeface="STKaiti"/>
              </a:rPr>
              <a:t>极其服从指挥。在结构化的 Orchestrator-Subagent (主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5714" y="5340096"/>
            <a:ext cx="4363428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151513"/>
                </a:solidFill>
                <a:latin typeface="STKaiti"/>
              </a:rPr>
              <a:t>从架物)  中展现出惊人的适应性与性价比平简。最适合明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857" y="5598414"/>
            <a:ext cx="1691428" cy="2537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98">
                <a:solidFill>
                  <a:srgbClr val="131311"/>
                </a:solidFill>
                <a:latin typeface="STKaiti"/>
              </a:rPr>
              <a:t>确分工的中心化网络。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8285" y="333756"/>
            <a:ext cx="6838857" cy="6652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190">
                <a:solidFill>
                  <a:srgbClr val="040607"/>
                </a:solidFill>
                <a:latin typeface="STKaiti"/>
              </a:rPr>
              <a:t>模型协作性格测试: OpenAIGPT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90285" y="2585466"/>
            <a:ext cx="1878857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032">
                <a:solidFill>
                  <a:srgbClr val="1C2024"/>
                </a:solidFill>
                <a:latin typeface="STKaiti"/>
              </a:rPr>
              <a:t>交际花'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95428" y="3605022"/>
            <a:ext cx="244800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520">
                <a:solidFill>
                  <a:srgbClr val="000105"/>
                </a:solidFill>
                <a:latin typeface="STKaiti"/>
              </a:rPr>
              <a:t>唯一能在最复杂的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10285" y="3589020"/>
            <a:ext cx="2745142" cy="4549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865">
                <a:solidFill>
                  <a:srgbClr val="000105"/>
                </a:solidFill>
                <a:latin typeface="STKaiti"/>
              </a:rPr>
              <a:t>'混合架构 (Hybrid)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3142" y="4002786"/>
            <a:ext cx="2756571" cy="4251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78">
                <a:solidFill>
                  <a:srgbClr val="000105"/>
                </a:solidFill>
                <a:latin typeface="STKaiti"/>
              </a:rPr>
              <a:t>中游刃有余的模型族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571" y="5269230"/>
            <a:ext cx="5602285" cy="3223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30">
                <a:solidFill>
                  <a:srgbClr val="141413"/>
                </a:solidFill>
                <a:latin typeface="STKaiti"/>
              </a:rPr>
              <a:t>拥有卓越的复杂上下文理解力。既能听从指挥官调遣。又能顺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142" y="5568696"/>
            <a:ext cx="5467428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131212"/>
                </a:solidFill>
                <a:latin typeface="STKaiti"/>
              </a:rPr>
              <a:t>畅完成平级节点间的横向沟通。是复杂异构网络的最佳底座。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285" y="594360"/>
            <a:ext cx="8416000" cy="6903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348">
                <a:solidFill>
                  <a:srgbClr val="000000"/>
                </a:solidFill>
                <a:latin typeface="STKaiti"/>
              </a:rPr>
              <a:t>模型协作性格测试: Anthropic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7142" y="2871216"/>
            <a:ext cx="3746285" cy="717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4400">
                <a:solidFill>
                  <a:srgbClr val="000000"/>
                </a:solidFill>
                <a:latin typeface="STKaiti"/>
              </a:rPr>
              <a:t>稳健的保守派"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4571" y="3858768"/>
            <a:ext cx="4267428" cy="4457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808">
                <a:solidFill>
                  <a:srgbClr val="000300"/>
                </a:solidFill>
                <a:latin typeface="STKaiti"/>
              </a:rPr>
              <a:t>异构网络容错反超+319,表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7714" y="4270248"/>
            <a:ext cx="1709714" cy="4229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64">
                <a:solidFill>
                  <a:srgbClr val="000300"/>
                </a:solidFill>
                <a:latin typeface="STKaiti"/>
              </a:rPr>
              <a:t>现最为稳健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428" y="5696712"/>
            <a:ext cx="7181714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50503"/>
                </a:solidFill>
                <a:latin typeface="STKaiti"/>
              </a:rPr>
              <a:t>对协作开销极度敏感。不适合过度复杂的同构拓扑。但在"异构网络"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4285" y="5696712"/>
            <a:ext cx="3456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50504"/>
                </a:solidFill>
                <a:latin typeface="STKaiti"/>
              </a:rPr>
              <a:t>(弱智商模型做指挥官。高智商模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571" y="5982462"/>
            <a:ext cx="1332571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40403"/>
                </a:solidFill>
                <a:latin typeface="STKaiti"/>
              </a:rPr>
              <a:t>型做执行者)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142" y="5982462"/>
            <a:ext cx="3961142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40402"/>
                </a:solidFill>
                <a:latin typeface="STKaiti"/>
              </a:rPr>
              <a:t>中表现出独特的容错性与极小的方差。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0285" y="281178"/>
            <a:ext cx="6480000" cy="5006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153">
                <a:solidFill>
                  <a:srgbClr val="181C1D"/>
                </a:solidFill>
                <a:latin typeface="STKaiti"/>
              </a:rPr>
              <a:t>终极蓝图:  智能体架构的可计算预测方程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8285" y="1453896"/>
            <a:ext cx="818285" cy="2971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72">
                <a:solidFill>
                  <a:srgbClr val="151613"/>
                </a:solidFill>
                <a:latin typeface="STKaiti"/>
              </a:rPr>
              <a:t>效率 (E)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857" y="1460754"/>
            <a:ext cx="923428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84">
                <a:solidFill>
                  <a:srgbClr val="0D0D0A"/>
                </a:solidFill>
                <a:latin typeface="STKaiti"/>
              </a:rPr>
              <a:t>开销 (0%)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2000" y="4443984"/>
            <a:ext cx="1362285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57">
                <a:solidFill>
                  <a:srgbClr val="0E0F0D"/>
                </a:solidFill>
                <a:latin typeface="STKaiti"/>
              </a:rPr>
              <a:t>错误放大率 (Ae)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5428" y="4455414"/>
            <a:ext cx="912000" cy="2537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98">
                <a:solidFill>
                  <a:srgbClr val="0B0B09"/>
                </a:solidFill>
                <a:latin typeface="STKaiti"/>
              </a:rPr>
              <a:t>冗余度 (R)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714" y="6286500"/>
            <a:ext cx="7862857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61">
                <a:solidFill>
                  <a:srgbClr val="090805"/>
                </a:solidFill>
                <a:latin typeface="STKaiti"/>
              </a:rPr>
              <a:t>核心意义:  不再依赖特定数据集的盲测。而是基于 "任务属性"  构建泛化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6285" y="6307074"/>
            <a:ext cx="1846857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90905"/>
                </a:solidFill>
                <a:latin typeface="STKaiti"/>
              </a:rPr>
              <a:t>量化的预测模型。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285" y="516636"/>
            <a:ext cx="2976000" cy="5280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326">
                <a:solidFill>
                  <a:srgbClr val="000000"/>
                </a:solidFill>
                <a:latin typeface="STKaiti"/>
              </a:rPr>
              <a:t>架构选型决策树: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4285" y="530352"/>
            <a:ext cx="294171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25">
                <a:solidFill>
                  <a:srgbClr val="000000"/>
                </a:solidFill>
                <a:latin typeface="STKaiti"/>
              </a:rPr>
              <a:t>870的预测胜9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5428" y="1659636"/>
            <a:ext cx="1794285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16">
                <a:solidFill>
                  <a:srgbClr val="090907"/>
                </a:solidFill>
                <a:latin typeface="STKaiti"/>
              </a:rPr>
              <a:t>高工具依赖 (&gt;16)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6571" y="1659636"/>
            <a:ext cx="152914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58">
                <a:solidFill>
                  <a:srgbClr val="4F6177"/>
                </a:solidFill>
                <a:latin typeface="STKaiti"/>
              </a:rPr>
              <a:t>选 SAS (单体)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5428" y="1936242"/>
            <a:ext cx="2004571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16">
                <a:solidFill>
                  <a:srgbClr val="090907"/>
                </a:solidFill>
                <a:latin typeface="STKaiti"/>
              </a:rPr>
              <a:t>高甚线能力 (&gt;459)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0857" y="1936242"/>
            <a:ext cx="152914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16">
                <a:solidFill>
                  <a:srgbClr val="4F6175"/>
                </a:solidFill>
                <a:latin typeface="STKaiti"/>
              </a:rPr>
              <a:t>拒绝无效沟通。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5142" y="3115818"/>
            <a:ext cx="1437714" cy="3337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02">
                <a:solidFill>
                  <a:srgbClr val="090907"/>
                </a:solidFill>
                <a:latin typeface="STKaiti"/>
              </a:rPr>
              <a:t>任务属性输入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7714" y="3127248"/>
            <a:ext cx="1689142" cy="3086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44">
                <a:solidFill>
                  <a:srgbClr val="090807"/>
                </a:solidFill>
                <a:latin typeface="STKaiti"/>
              </a:rPr>
              <a:t>低 /中工具依赖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1428" y="3127248"/>
            <a:ext cx="2528000" cy="3086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44">
                <a:solidFill>
                  <a:srgbClr val="4E6175"/>
                </a:solidFill>
                <a:latin typeface="STKaiti"/>
              </a:rPr>
              <a:t>选 Centralized (中心化)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857" y="3390138"/>
            <a:ext cx="1213714" cy="3406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45">
                <a:solidFill>
                  <a:srgbClr val="080807"/>
                </a:solidFill>
                <a:latin typeface="STKaiti"/>
              </a:rPr>
              <a:t>任务可解耦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3714" y="3403854"/>
            <a:ext cx="2432000" cy="31775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1">
                <a:solidFill>
                  <a:srgbClr val="4E6175"/>
                </a:solidFill>
                <a:latin typeface="STKaiti"/>
              </a:rPr>
              <a:t>控制错误。最大化并行。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000" y="4535424"/>
            <a:ext cx="1428571" cy="3314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88">
                <a:solidFill>
                  <a:srgbClr val="0A0A09"/>
                </a:solidFill>
                <a:latin typeface="STKaiti"/>
              </a:rPr>
              <a:t>高熵搜索环境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142" y="4567428"/>
            <a:ext cx="1753142" cy="2766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42">
                <a:solidFill>
                  <a:srgbClr val="4E5F75"/>
                </a:solidFill>
                <a:latin typeface="STKaiti"/>
              </a:rPr>
              <a:t>选 Decentralized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8571" y="4546854"/>
            <a:ext cx="1165714" cy="3086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44">
                <a:solidFill>
                  <a:srgbClr val="4E6076"/>
                </a:solidFill>
                <a:latin typeface="STKaiti"/>
              </a:rPr>
              <a:t>(去中心化)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428" y="4821174"/>
            <a:ext cx="1364571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31">
                <a:solidFill>
                  <a:srgbClr val="090907"/>
                </a:solidFill>
                <a:latin typeface="STKaiti"/>
              </a:rPr>
              <a:t>(如动态网页)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0285" y="4832604"/>
            <a:ext cx="2443428" cy="3086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944">
                <a:solidFill>
                  <a:srgbClr val="4E6074"/>
                </a:solidFill>
                <a:latin typeface="STKaiti"/>
              </a:rPr>
              <a:t>利用冗余对抗不确定性。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000" y="5570982"/>
            <a:ext cx="4498285" cy="4892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081">
                <a:solidFill>
                  <a:srgbClr val="000100"/>
                </a:solidFill>
                <a:latin typeface="STKaiti"/>
              </a:rPr>
              <a:t>结果:  在测试集中精准预测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6857" y="5996178"/>
            <a:ext cx="4313142" cy="4960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124">
                <a:solidFill>
                  <a:srgbClr val="000100"/>
                </a:solidFill>
                <a:latin typeface="STKaiti"/>
              </a:rPr>
              <a:t>最佳架构成功率高达 879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285" y="516636"/>
            <a:ext cx="2928000" cy="5280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326">
                <a:solidFill>
                  <a:srgbClr val="000000"/>
                </a:solidFill>
                <a:latin typeface="STKaiti"/>
              </a:rPr>
              <a:t>跨越模型迭代的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3142" y="514350"/>
            <a:ext cx="2000000" cy="5394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398">
                <a:solidFill>
                  <a:srgbClr val="000000"/>
                </a:solidFill>
                <a:latin typeface="STKaiti"/>
              </a:rPr>
              <a:t>'物理定律"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571" y="1927098"/>
            <a:ext cx="1328000" cy="4137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606">
                <a:solidFill>
                  <a:srgbClr val="000300"/>
                </a:solidFill>
                <a:latin typeface="STKaiti"/>
              </a:rPr>
              <a:t>研究阶段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9714" y="1844802"/>
            <a:ext cx="1195428" cy="35890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60">
                <a:solidFill>
                  <a:srgbClr val="33404B"/>
                </a:solidFill>
                <a:latin typeface="STKaiti"/>
              </a:rPr>
              <a:t>盲测未来: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4857" y="2148840"/>
            <a:ext cx="2080000" cy="388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48">
                <a:solidFill>
                  <a:srgbClr val="222931"/>
                </a:solidFill>
                <a:latin typeface="STKaiti"/>
              </a:rPr>
              <a:t>GPT-5.2 前沿模型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9714" y="3769614"/>
            <a:ext cx="5920000" cy="3680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18">
                <a:solidFill>
                  <a:srgbClr val="020200"/>
                </a:solidFill>
                <a:latin typeface="STKaiti"/>
              </a:rPr>
              <a:t>The Ultimate Test: 在研究完成后发布的 GPT-5.2上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142" y="4091940"/>
            <a:ext cx="3028571" cy="386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433">
                <a:solidFill>
                  <a:srgbClr val="020301"/>
                </a:solidFill>
                <a:latin typeface="STKaiti"/>
              </a:rPr>
              <a:t>进行 Out-of-Sample 盲测。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9714" y="4599432"/>
            <a:ext cx="6178285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040402"/>
                </a:solidFill>
                <a:latin typeface="STKaiti"/>
              </a:rPr>
              <a:t>The Result: 5 项核心扩展定律中 4项在新一代前沿模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9714" y="4903470"/>
            <a:ext cx="1739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030301"/>
                </a:solidFill>
                <a:latin typeface="STKaiti"/>
              </a:rPr>
              <a:t>型上完美泛化。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142" y="5415534"/>
            <a:ext cx="6153142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520">
                <a:solidFill>
                  <a:srgbClr val="020200"/>
                </a:solidFill>
                <a:latin typeface="STKaiti"/>
              </a:rPr>
              <a:t>Insight: 架构选择的物理定律超越了单纯的参数扩张,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1428" y="5742432"/>
            <a:ext cx="362514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04">
                <a:solidFill>
                  <a:srgbClr val="020300"/>
                </a:solidFill>
                <a:latin typeface="STKaiti"/>
              </a:rPr>
              <a:t>揭示了智能体协同的数学本质。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4000" y="514350"/>
            <a:ext cx="6217142" cy="5509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470">
                <a:solidFill>
                  <a:srgbClr val="000000"/>
                </a:solidFill>
                <a:latin typeface="STKaiti"/>
              </a:rPr>
              <a:t>迎接智能体架构的 "可计算"时代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142" y="5257800"/>
            <a:ext cx="2962285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20300"/>
                </a:solidFill>
                <a:latin typeface="STKaiti"/>
              </a:rPr>
              <a:t>决定系统上限的。从来不是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9142" y="5255514"/>
            <a:ext cx="2747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76">
                <a:solidFill>
                  <a:srgbClr val="020300"/>
                </a:solidFill>
                <a:latin typeface="STKaiti"/>
              </a:rPr>
              <a:t>AlAgent 的设计已经跨过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857" y="5550408"/>
            <a:ext cx="3195428" cy="3771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76">
                <a:solidFill>
                  <a:srgbClr val="050502"/>
                </a:solidFill>
                <a:latin typeface="STKaiti"/>
              </a:rPr>
              <a:t>Agent 的数量。而是拓扑结构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34285" y="5397246"/>
            <a:ext cx="2475428" cy="3726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347">
                <a:solidFill>
                  <a:srgbClr val="050503"/>
                </a:solidFill>
                <a:latin typeface="STKaiti"/>
              </a:rPr>
              <a:t>停止盲目的算力堆砌与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2000" y="5545836"/>
            <a:ext cx="2978285" cy="36347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289">
                <a:solidFill>
                  <a:srgbClr val="030300"/>
                </a:solidFill>
                <a:latin typeface="STKaiti"/>
              </a:rPr>
              <a:t>'启发式试错"的炼金术时代;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8857" y="5705856"/>
            <a:ext cx="1867428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40502"/>
                </a:solidFill>
                <a:latin typeface="STKaiti"/>
              </a:rPr>
              <a:t>无效的协同消耗。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285" y="5859018"/>
            <a:ext cx="2580571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40502"/>
                </a:solidFill>
                <a:latin typeface="STKaiti"/>
              </a:rPr>
              <a:t>与任务属性的完美契合。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571" y="5859018"/>
            <a:ext cx="2818285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160">
                <a:solidFill>
                  <a:srgbClr val="040402"/>
                </a:solidFill>
                <a:latin typeface="STKaiti"/>
              </a:rPr>
              <a:t>真正的工程科学正在崛起。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</Words>
  <Application>Microsoft Macintosh PowerPoint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STKaiti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You, Bingran</cp:lastModifiedBy>
  <cp:revision>2</cp:revision>
  <dcterms:created xsi:type="dcterms:W3CDTF">2013-01-27T09:14:16Z</dcterms:created>
  <dcterms:modified xsi:type="dcterms:W3CDTF">2026-03-05T01:04:54Z</dcterms:modified>
  <cp:category/>
</cp:coreProperties>
</file>