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13"/>
    <p:restoredTop sz="94673"/>
  </p:normalViewPr>
  <p:slideViewPr>
    <p:cSldViewPr snapToGrid="0">
      <p:cViewPr varScale="1">
        <p:scale>
          <a:sx n="80" d="100"/>
          <a:sy n="80" d="100"/>
        </p:scale>
        <p:origin x="26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GEN-1</c:v>
          </c:tx>
          <c:invertIfNegative val="1"/>
          <c:cat>
            <c:strLit>
              <c:ptCount val="4"/>
              <c:pt idx="0">
                <c:v>Avg</c:v>
              </c:pt>
              <c:pt idx="1">
                <c:v>Vacuum</c:v>
              </c:pt>
              <c:pt idx="2">
                <c:v>Box fold</c:v>
              </c:pt>
              <c:pt idx="3">
                <c:v>Phone pack</c:v>
              </c:pt>
            </c:strLit>
          </c:cat>
          <c:val>
            <c:numLit>
              <c:formatCode>General</c:formatCode>
              <c:ptCount val="4"/>
              <c:pt idx="0">
                <c:v>99</c:v>
              </c:pt>
              <c:pt idx="1">
                <c:v>99</c:v>
              </c:pt>
              <c:pt idx="2">
                <c:v>99</c:v>
              </c:pt>
              <c:pt idx="3">
                <c:v>99</c:v>
              </c:pt>
            </c:numLit>
          </c:val>
          <c:extLst>
            <c:ext xmlns:c16="http://schemas.microsoft.com/office/drawing/2014/chart" uri="{C3380CC4-5D6E-409C-BE32-E72D297353CC}">
              <c16:uniqueId val="{00000000-30EE-DA47-8976-97B79B920917}"/>
            </c:ext>
          </c:extLst>
        </c:ser>
        <c:ser>
          <c:idx val="1"/>
          <c:order val="1"/>
          <c:tx>
            <c:v>GEN-0</c:v>
          </c:tx>
          <c:invertIfNegative val="1"/>
          <c:cat>
            <c:strLit>
              <c:ptCount val="4"/>
              <c:pt idx="0">
                <c:v>Avg</c:v>
              </c:pt>
              <c:pt idx="1">
                <c:v>Vacuum</c:v>
              </c:pt>
              <c:pt idx="2">
                <c:v>Box fold</c:v>
              </c:pt>
              <c:pt idx="3">
                <c:v>Phone pack</c:v>
              </c:pt>
            </c:strLit>
          </c:cat>
          <c:val>
            <c:numLit>
              <c:formatCode>General</c:formatCode>
              <c:ptCount val="4"/>
              <c:pt idx="0">
                <c:v>64</c:v>
              </c:pt>
              <c:pt idx="1">
                <c:v>50</c:v>
              </c:pt>
              <c:pt idx="2">
                <c:v>81</c:v>
              </c:pt>
              <c:pt idx="3">
                <c:v>62</c:v>
              </c:pt>
            </c:numLit>
          </c:val>
          <c:extLst>
            <c:ext xmlns:c16="http://schemas.microsoft.com/office/drawing/2014/chart" uri="{C3380CC4-5D6E-409C-BE32-E72D297353CC}">
              <c16:uniqueId val="{00000001-30EE-DA47-8976-97B79B920917}"/>
            </c:ext>
          </c:extLst>
        </c:ser>
        <c:ser>
          <c:idx val="2"/>
          <c:order val="2"/>
          <c:tx>
            <c:v>Scratch</c:v>
          </c:tx>
          <c:invertIfNegative val="1"/>
          <c:cat>
            <c:strLit>
              <c:ptCount val="4"/>
              <c:pt idx="0">
                <c:v>Avg</c:v>
              </c:pt>
              <c:pt idx="1">
                <c:v>Vacuum</c:v>
              </c:pt>
              <c:pt idx="2">
                <c:v>Box fold</c:v>
              </c:pt>
              <c:pt idx="3">
                <c:v>Phone pack</c:v>
              </c:pt>
            </c:strLit>
          </c:cat>
          <c:val>
            <c:numLit>
              <c:formatCode>General</c:formatCode>
              <c:ptCount val="4"/>
              <c:pt idx="0">
                <c:v>19</c:v>
              </c:pt>
              <c:pt idx="1">
                <c:v>2</c:v>
              </c:pt>
              <c:pt idx="2">
                <c:v>13</c:v>
              </c:pt>
              <c:pt idx="3">
                <c:v>42</c:v>
              </c:pt>
            </c:numLit>
          </c:val>
          <c:extLst>
            <c:ext xmlns:c16="http://schemas.microsoft.com/office/drawing/2014/chart" uri="{C3380CC4-5D6E-409C-BE32-E72D297353CC}">
              <c16:uniqueId val="{00000002-30EE-DA47-8976-97B79B9209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564BCF2-4BDE-4C1B-9666-5C11050B4BC1}"/>
              </a:ext>
            </a:extLst>
          </p:cNvPr>
          <p:cNvSpPr>
            <a:spLocks noGrp="1"/>
          </p:cNvSpPr>
          <p:nvPr/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cover-eyebrow">
            <a:extLst>
              <a:ext uri="{FF2B5EF4-FFF2-40B4-BE49-F238E27FC236}">
                <a16:creationId xmlns:a16="http://schemas.microsoft.com/office/drawing/2014/main" id="{85BDC5B3-B97E-4F89-A2DB-797DF2C8B089}"/>
              </a:ext>
            </a:extLst>
          </p:cNvPr>
          <p:cNvSpPr>
            <a:spLocks noGrp="1"/>
          </p:cNvSpPr>
          <p:nvPr/>
        </p:nvSpPr>
        <p:spPr>
          <a:xfrm>
            <a:off x="1143000" y="914400"/>
            <a:ext cx="118110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Paper Reading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EAF3E3E5-B43B-411C-9425-52A49EBD6A16}"/>
              </a:ext>
            </a:extLst>
          </p:cNvPr>
          <p:cNvSpPr>
            <a:spLocks noGrp="1"/>
          </p:cNvSpPr>
          <p:nvPr/>
        </p:nvSpPr>
        <p:spPr>
          <a:xfrm>
            <a:off x="1143000" y="1238250"/>
            <a:ext cx="11811000" cy="609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3900" b="1">
                <a:solidFill>
                  <a:srgbClr val="1B1A17"/>
                </a:solidFill>
                <a:latin typeface="Songti SC"/>
                <a:ea typeface="Songti SC"/>
                <a:cs typeface="Songti SC"/>
              </a:defRPr>
            </a:pPr>
            <a:r>
              <a:rPr sz="3900" b="1">
                <a:solidFill>
                  <a:srgbClr val="1B1A17"/>
                </a:solidFill>
                <a:latin typeface="Songti SC"/>
                <a:ea typeface="Songti SC"/>
                <a:cs typeface="Songti SC"/>
              </a:rPr>
              <a:t>GEN-1：把具身基础模型推向“精通”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0A0AA9F0-ABEC-4DB8-ABAA-F2A45D275875}"/>
              </a:ext>
            </a:extLst>
          </p:cNvPr>
          <p:cNvSpPr>
            <a:spLocks noGrp="1"/>
          </p:cNvSpPr>
          <p:nvPr/>
        </p:nvSpPr>
        <p:spPr>
          <a:xfrm>
            <a:off x="1143000" y="1943100"/>
            <a:ext cx="118110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Generalist AI · 2026-04-02 · Blog / Research</a:t>
            </a:r>
          </a:p>
        </p:txBody>
      </p:sp>
      <p:sp>
        <p:nvSpPr>
          <p:cNvPr id="5" name="cover-promise">
            <a:extLst>
              <a:ext uri="{FF2B5EF4-FFF2-40B4-BE49-F238E27FC236}">
                <a16:creationId xmlns:a16="http://schemas.microsoft.com/office/drawing/2014/main" id="{A3290BF1-CAB0-48FC-8909-502CEC9255DD}"/>
              </a:ext>
            </a:extLst>
          </p:cNvPr>
          <p:cNvSpPr>
            <a:spLocks noGrp="1"/>
          </p:cNvSpPr>
          <p:nvPr/>
        </p:nvSpPr>
        <p:spPr>
          <a:xfrm>
            <a:off x="1143000" y="2438400"/>
            <a:ext cx="91440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从“能做什么”到“做得多好”</a:t>
            </a:r>
          </a:p>
        </p:txBody>
      </p:sp>
      <p:pic>
        <p:nvPicPr>
          <p:cNvPr id="6" name="cover-hero"/>
          <p:cNvPicPr>
            <a:picLocks noChangeAspect="1"/>
          </p:cNvPicPr>
          <p:nvPr/>
        </p:nvPicPr>
        <p:blipFill>
          <a:blip r:embed="rId3"/>
          <a:srcRect t="22698" b="22698"/>
          <a:stretch>
            <a:fillRect/>
          </a:stretch>
        </p:blipFill>
        <p:spPr>
          <a:xfrm>
            <a:off x="1143000" y="3086100"/>
            <a:ext cx="14287500" cy="4095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17764BC-CB09-4CB0-9A11-6465405B2A3F}"/>
              </a:ext>
            </a:extLst>
          </p:cNvPr>
          <p:cNvSpPr>
            <a:spLocks noGrp="1"/>
          </p:cNvSpPr>
          <p:nvPr/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cover-summary">
            <a:extLst>
              <a:ext uri="{FF2B5EF4-FFF2-40B4-BE49-F238E27FC236}">
                <a16:creationId xmlns:a16="http://schemas.microsoft.com/office/drawing/2014/main" id="{4A1452BB-FF36-4AA9-B8F1-F70FC7FE8204}"/>
              </a:ext>
            </a:extLst>
          </p:cNvPr>
          <p:cNvSpPr>
            <a:spLocks noGrp="1"/>
          </p:cNvSpPr>
          <p:nvPr/>
        </p:nvSpPr>
        <p:spPr>
          <a:xfrm>
            <a:off x="1143000" y="7696200"/>
            <a:ext cx="13430250" cy="2667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重点不是“泛化 demo”，而是 reliability、speed 与 improvisation 是否跨过了商业阈值。</a:t>
            </a:r>
          </a:p>
        </p:txBody>
      </p:sp>
      <p:sp>
        <p:nvSpPr>
          <p:cNvPr id="9" name="cover-note">
            <a:extLst>
              <a:ext uri="{FF2B5EF4-FFF2-40B4-BE49-F238E27FC236}">
                <a16:creationId xmlns:a16="http://schemas.microsoft.com/office/drawing/2014/main" id="{95A6643D-77A0-4796-9A58-B61FC2EF17DC}"/>
              </a:ext>
            </a:extLst>
          </p:cNvPr>
          <p:cNvSpPr>
            <a:spLocks noGrp="1"/>
          </p:cNvSpPr>
          <p:nvPr/>
        </p:nvSpPr>
        <p:spPr>
          <a:xfrm>
            <a:off x="1143000" y="9734550"/>
            <a:ext cx="57150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05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基于原文与公开材料整理</a:t>
            </a:r>
          </a:p>
        </p:txBody>
      </p:sp>
      <p:sp>
        <p:nvSpPr>
          <p:cNvPr id="10" name="cover-page">
            <a:extLst>
              <a:ext uri="{FF2B5EF4-FFF2-40B4-BE49-F238E27FC236}">
                <a16:creationId xmlns:a16="http://schemas.microsoft.com/office/drawing/2014/main" id="{04D2AD32-82B2-4500-A85A-A15A3BB9EC74}"/>
              </a:ext>
            </a:extLst>
          </p:cNvPr>
          <p:cNvSpPr>
            <a:spLocks noGrp="1"/>
          </p:cNvSpPr>
          <p:nvPr/>
        </p:nvSpPr>
        <p:spPr>
          <a:xfrm>
            <a:off x="15811500" y="9715500"/>
            <a:ext cx="1524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975" b="0" i="0">
                <a:solidFill>
                  <a:srgbClr val="5D5A55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5D5A55"/>
                </a:solidFill>
                <a:latin typeface="Avenir Next"/>
                <a:ea typeface="Avenir Next"/>
                <a:cs typeface="Avenir Next"/>
              </a:rPr>
              <a:t>01 / 10</a:t>
            </a:r>
          </a:p>
        </p:txBody>
      </p:sp>
      <p:sp>
        <p:nvSpPr>
          <p:cNvPr id="11" name="cover-logo">
            <a:extLst>
              <a:ext uri="{FF2B5EF4-FFF2-40B4-BE49-F238E27FC236}">
                <a16:creationId xmlns:a16="http://schemas.microsoft.com/office/drawing/2014/main" id="{EEB8A0FB-4F36-412C-9723-1EF16C3FE968}"/>
              </a:ext>
            </a:extLst>
          </p:cNvPr>
          <p:cNvSpPr>
            <a:spLocks noGrp="1"/>
          </p:cNvSpPr>
          <p:nvPr/>
        </p:nvSpPr>
        <p:spPr>
          <a:xfrm>
            <a:off x="14478000" y="590550"/>
            <a:ext cx="26670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6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Generalist AI</a:t>
            </a:r>
          </a:p>
        </p:txBody>
      </p:sp>
    </p:spTree>
    <p:extLst>
      <p:ext uri="{BB962C8B-B14F-4D97-AF65-F5344CB8AC3E}">
        <p14:creationId xmlns:p14="http://schemas.microsoft.com/office/powerpoint/2010/main" val="1206158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01EB3D2-0903-44E9-801B-D33914068C1E}"/>
              </a:ext>
            </a:extLst>
          </p:cNvPr>
          <p:cNvSpPr>
            <a:spLocks noGrp="1"/>
          </p:cNvSpPr>
          <p:nvPr/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85C5275D-B139-4B77-A5A4-C63DA8E82018}"/>
              </a:ext>
            </a:extLst>
          </p:cNvPr>
          <p:cNvSpPr>
            <a:spLocks noGrp="1"/>
          </p:cNvSpPr>
          <p:nvPr/>
        </p:nvSpPr>
        <p:spPr>
          <a:xfrm>
            <a:off x="1143000" y="495300"/>
            <a:ext cx="13144500" cy="5143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3300" b="1">
                <a:solidFill>
                  <a:srgbClr val="1B1A17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B1A17"/>
                </a:solidFill>
                <a:latin typeface="Songti SC"/>
                <a:ea typeface="Songti SC"/>
                <a:cs typeface="Songti SC"/>
              </a:rPr>
              <a:t>这篇文章看什么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3563A42A-4E9B-4D52-94C8-11DAC8143EA4}"/>
              </a:ext>
            </a:extLst>
          </p:cNvPr>
          <p:cNvSpPr>
            <a:spLocks noGrp="1"/>
          </p:cNvSpPr>
          <p:nvPr/>
        </p:nvSpPr>
        <p:spPr>
          <a:xfrm>
            <a:off x="1143000" y="1066800"/>
            <a:ext cx="131445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十页内把 GEN-1 的主张、证据和边界讲清楚</a:t>
            </a:r>
          </a:p>
        </p:txBody>
      </p:sp>
      <p:sp>
        <p:nvSpPr>
          <p:cNvPr id="4" name="logo-wordmark">
            <a:extLst>
              <a:ext uri="{FF2B5EF4-FFF2-40B4-BE49-F238E27FC236}">
                <a16:creationId xmlns:a16="http://schemas.microsoft.com/office/drawing/2014/main" id="{DB74D25A-9A7A-45B2-9864-B996D30D708C}"/>
              </a:ext>
            </a:extLst>
          </p:cNvPr>
          <p:cNvSpPr>
            <a:spLocks noGrp="1"/>
          </p:cNvSpPr>
          <p:nvPr/>
        </p:nvSpPr>
        <p:spPr>
          <a:xfrm>
            <a:off x="14478000" y="590550"/>
            <a:ext cx="26670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6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Generalist AI</a:t>
            </a:r>
          </a:p>
        </p:txBody>
      </p:sp>
      <p:sp>
        <p:nvSpPr>
          <p:cNvPr id="5" name="source-line">
            <a:extLst>
              <a:ext uri="{FF2B5EF4-FFF2-40B4-BE49-F238E27FC236}">
                <a16:creationId xmlns:a16="http://schemas.microsoft.com/office/drawing/2014/main" id="{FA31A025-D6C2-4781-ABF0-9E94247C284E}"/>
              </a:ext>
            </a:extLst>
          </p:cNvPr>
          <p:cNvSpPr>
            <a:spLocks noGrp="1"/>
          </p:cNvSpPr>
          <p:nvPr/>
        </p:nvSpPr>
        <p:spPr>
          <a:xfrm>
            <a:off x="1143000" y="9734550"/>
            <a:ext cx="11430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90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Source: Generalist AI Blog, 2026-04-02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DEC12F3C-4FB5-4543-BEBB-0148596FD74B}"/>
              </a:ext>
            </a:extLst>
          </p:cNvPr>
          <p:cNvSpPr>
            <a:spLocks noGrp="1"/>
          </p:cNvSpPr>
          <p:nvPr/>
        </p:nvSpPr>
        <p:spPr>
          <a:xfrm>
            <a:off x="15811500" y="9715500"/>
            <a:ext cx="1524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975" b="0" i="0">
                <a:solidFill>
                  <a:srgbClr val="5D5A55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5D5A55"/>
                </a:solidFill>
                <a:latin typeface="Avenir Next"/>
                <a:ea typeface="Avenir Next"/>
                <a:cs typeface="Avenir Next"/>
              </a:rPr>
              <a:t>02 / 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E51986-B676-4229-80FE-744BD4E4F795}"/>
              </a:ext>
            </a:extLst>
          </p:cNvPr>
          <p:cNvSpPr>
            <a:spLocks noGrp="1"/>
          </p:cNvSpPr>
          <p:nvPr/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agenda-index-1">
            <a:extLst>
              <a:ext uri="{FF2B5EF4-FFF2-40B4-BE49-F238E27FC236}">
                <a16:creationId xmlns:a16="http://schemas.microsoft.com/office/drawing/2014/main" id="{13DA0A9E-E94A-4D95-8150-46EEEBAF2553}"/>
              </a:ext>
            </a:extLst>
          </p:cNvPr>
          <p:cNvSpPr>
            <a:spLocks noGrp="1"/>
          </p:cNvSpPr>
          <p:nvPr/>
        </p:nvSpPr>
        <p:spPr>
          <a:xfrm>
            <a:off x="2095500" y="3009900"/>
            <a:ext cx="5334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1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9" name="agenda-text-1">
            <a:extLst>
              <a:ext uri="{FF2B5EF4-FFF2-40B4-BE49-F238E27FC236}">
                <a16:creationId xmlns:a16="http://schemas.microsoft.com/office/drawing/2014/main" id="{B66E1422-D305-45BF-A92C-2394D5BD8FCB}"/>
              </a:ext>
            </a:extLst>
          </p:cNvPr>
          <p:cNvSpPr>
            <a:spLocks noGrp="1"/>
          </p:cNvSpPr>
          <p:nvPr/>
        </p:nvSpPr>
        <p:spPr>
          <a:xfrm>
            <a:off x="2819400" y="3009900"/>
            <a:ext cx="129921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95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95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核心 claim：机器人预训练第一次开始碰到 commercial viability 的阈值</a:t>
            </a:r>
          </a:p>
        </p:txBody>
      </p:sp>
      <p:sp>
        <p:nvSpPr>
          <p:cNvPr id="10" name="agenda-index-2">
            <a:extLst>
              <a:ext uri="{FF2B5EF4-FFF2-40B4-BE49-F238E27FC236}">
                <a16:creationId xmlns:a16="http://schemas.microsoft.com/office/drawing/2014/main" id="{0012D453-7CC5-4EF2-8608-B1C865A8EF51}"/>
              </a:ext>
            </a:extLst>
          </p:cNvPr>
          <p:cNvSpPr>
            <a:spLocks noGrp="1"/>
          </p:cNvSpPr>
          <p:nvPr/>
        </p:nvSpPr>
        <p:spPr>
          <a:xfrm>
            <a:off x="2095500" y="3543300"/>
            <a:ext cx="5334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1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1" name="agenda-text-2">
            <a:extLst>
              <a:ext uri="{FF2B5EF4-FFF2-40B4-BE49-F238E27FC236}">
                <a16:creationId xmlns:a16="http://schemas.microsoft.com/office/drawing/2014/main" id="{91A49A86-139C-489D-BC7E-A36604379B7A}"/>
              </a:ext>
            </a:extLst>
          </p:cNvPr>
          <p:cNvSpPr>
            <a:spLocks noGrp="1"/>
          </p:cNvSpPr>
          <p:nvPr/>
        </p:nvSpPr>
        <p:spPr>
          <a:xfrm>
            <a:off x="2819400" y="3543300"/>
            <a:ext cx="129921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95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95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评价框架：mastery = reliability + speed + improvisation</a:t>
            </a:r>
          </a:p>
        </p:txBody>
      </p:sp>
      <p:sp>
        <p:nvSpPr>
          <p:cNvPr id="12" name="agenda-index-3">
            <a:extLst>
              <a:ext uri="{FF2B5EF4-FFF2-40B4-BE49-F238E27FC236}">
                <a16:creationId xmlns:a16="http://schemas.microsoft.com/office/drawing/2014/main" id="{821F3A36-645E-4D3A-A9C6-9B484D317EC7}"/>
              </a:ext>
            </a:extLst>
          </p:cNvPr>
          <p:cNvSpPr>
            <a:spLocks noGrp="1"/>
          </p:cNvSpPr>
          <p:nvPr/>
        </p:nvSpPr>
        <p:spPr>
          <a:xfrm>
            <a:off x="2095500" y="4095750"/>
            <a:ext cx="5334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1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3" name="agenda-text-3">
            <a:extLst>
              <a:ext uri="{FF2B5EF4-FFF2-40B4-BE49-F238E27FC236}">
                <a16:creationId xmlns:a16="http://schemas.microsoft.com/office/drawing/2014/main" id="{4CBAA996-5530-4CDD-8ED5-E31751D77A71}"/>
              </a:ext>
            </a:extLst>
          </p:cNvPr>
          <p:cNvSpPr>
            <a:spLocks noGrp="1"/>
          </p:cNvSpPr>
          <p:nvPr/>
        </p:nvSpPr>
        <p:spPr>
          <a:xfrm>
            <a:off x="2819400" y="4095750"/>
            <a:ext cx="129921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95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95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证据重点：99% 成功率、~3x 速度、~1h robot data</a:t>
            </a:r>
          </a:p>
        </p:txBody>
      </p:sp>
      <p:sp>
        <p:nvSpPr>
          <p:cNvPr id="14" name="agenda-index-4">
            <a:extLst>
              <a:ext uri="{FF2B5EF4-FFF2-40B4-BE49-F238E27FC236}">
                <a16:creationId xmlns:a16="http://schemas.microsoft.com/office/drawing/2014/main" id="{4A54C174-ACA3-4D85-A40A-70B4AC6843B1}"/>
              </a:ext>
            </a:extLst>
          </p:cNvPr>
          <p:cNvSpPr>
            <a:spLocks noGrp="1"/>
          </p:cNvSpPr>
          <p:nvPr/>
        </p:nvSpPr>
        <p:spPr>
          <a:xfrm>
            <a:off x="2095500" y="4629150"/>
            <a:ext cx="5334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1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5" name="agenda-text-4">
            <a:extLst>
              <a:ext uri="{FF2B5EF4-FFF2-40B4-BE49-F238E27FC236}">
                <a16:creationId xmlns:a16="http://schemas.microsoft.com/office/drawing/2014/main" id="{6486027C-DDBD-49CC-B683-C74037C3FDA3}"/>
              </a:ext>
            </a:extLst>
          </p:cNvPr>
          <p:cNvSpPr>
            <a:spLocks noGrp="1"/>
          </p:cNvSpPr>
          <p:nvPr/>
        </p:nvSpPr>
        <p:spPr>
          <a:xfrm>
            <a:off x="2819400" y="4629150"/>
            <a:ext cx="129921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95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95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底层路线：500k h physical interaction data + no robot-data pretraining</a:t>
            </a:r>
          </a:p>
        </p:txBody>
      </p:sp>
      <p:sp>
        <p:nvSpPr>
          <p:cNvPr id="16" name="agenda-index-5">
            <a:extLst>
              <a:ext uri="{FF2B5EF4-FFF2-40B4-BE49-F238E27FC236}">
                <a16:creationId xmlns:a16="http://schemas.microsoft.com/office/drawing/2014/main" id="{1B181223-E50E-42A6-858F-58E14E7879C1}"/>
              </a:ext>
            </a:extLst>
          </p:cNvPr>
          <p:cNvSpPr>
            <a:spLocks noGrp="1"/>
          </p:cNvSpPr>
          <p:nvPr/>
        </p:nvSpPr>
        <p:spPr>
          <a:xfrm>
            <a:off x="2095500" y="5181600"/>
            <a:ext cx="5334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1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17" name="agenda-text-5">
            <a:extLst>
              <a:ext uri="{FF2B5EF4-FFF2-40B4-BE49-F238E27FC236}">
                <a16:creationId xmlns:a16="http://schemas.microsoft.com/office/drawing/2014/main" id="{C8FF52BA-6DB9-497B-842B-998E1E86E804}"/>
              </a:ext>
            </a:extLst>
          </p:cNvPr>
          <p:cNvSpPr>
            <a:spLocks noGrp="1"/>
          </p:cNvSpPr>
          <p:nvPr/>
        </p:nvSpPr>
        <p:spPr>
          <a:xfrm>
            <a:off x="2819400" y="5181600"/>
            <a:ext cx="129921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95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95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保留问题：泛化边界、alignment、公开评估透明度</a:t>
            </a:r>
          </a:p>
        </p:txBody>
      </p:sp>
    </p:spTree>
    <p:extLst>
      <p:ext uri="{BB962C8B-B14F-4D97-AF65-F5344CB8AC3E}">
        <p14:creationId xmlns:p14="http://schemas.microsoft.com/office/powerpoint/2010/main" val="245417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47A9F79-11EB-4896-90A9-70BDF44D199C}"/>
              </a:ext>
            </a:extLst>
          </p:cNvPr>
          <p:cNvSpPr>
            <a:spLocks noGrp="1"/>
          </p:cNvSpPr>
          <p:nvPr/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ED8323E-4A9A-48C4-8CD3-394C1E410E9C}"/>
              </a:ext>
            </a:extLst>
          </p:cNvPr>
          <p:cNvSpPr>
            <a:spLocks noGrp="1"/>
          </p:cNvSpPr>
          <p:nvPr/>
        </p:nvSpPr>
        <p:spPr>
          <a:xfrm>
            <a:off x="1143000" y="495300"/>
            <a:ext cx="13144500" cy="5143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3300" b="1">
                <a:solidFill>
                  <a:srgbClr val="1B1A17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B1A17"/>
                </a:solidFill>
                <a:latin typeface="Songti SC"/>
                <a:ea typeface="Songti SC"/>
                <a:cs typeface="Songti SC"/>
              </a:rPr>
              <a:t>一句话结论：GEN-1 的重心是“精通”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44D57BD0-CCD4-4241-A3B2-FFC4F15B31F3}"/>
              </a:ext>
            </a:extLst>
          </p:cNvPr>
          <p:cNvSpPr>
            <a:spLocks noGrp="1"/>
          </p:cNvSpPr>
          <p:nvPr/>
        </p:nvSpPr>
        <p:spPr>
          <a:xfrm>
            <a:off x="1143000" y="1066800"/>
            <a:ext cx="131445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文章最想证明的不是“会做”，而是“高可靠、快执行、能恢复”。</a:t>
            </a:r>
          </a:p>
        </p:txBody>
      </p:sp>
      <p:sp>
        <p:nvSpPr>
          <p:cNvPr id="4" name="logo-wordmark">
            <a:extLst>
              <a:ext uri="{FF2B5EF4-FFF2-40B4-BE49-F238E27FC236}">
                <a16:creationId xmlns:a16="http://schemas.microsoft.com/office/drawing/2014/main" id="{424FA16B-3BCD-4DF9-BE35-9B65EB83E946}"/>
              </a:ext>
            </a:extLst>
          </p:cNvPr>
          <p:cNvSpPr>
            <a:spLocks noGrp="1"/>
          </p:cNvSpPr>
          <p:nvPr/>
        </p:nvSpPr>
        <p:spPr>
          <a:xfrm>
            <a:off x="14478000" y="590550"/>
            <a:ext cx="26670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6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Generalist AI</a:t>
            </a:r>
          </a:p>
        </p:txBody>
      </p:sp>
      <p:sp>
        <p:nvSpPr>
          <p:cNvPr id="5" name="source-line">
            <a:extLst>
              <a:ext uri="{FF2B5EF4-FFF2-40B4-BE49-F238E27FC236}">
                <a16:creationId xmlns:a16="http://schemas.microsoft.com/office/drawing/2014/main" id="{9B0A05DC-0947-4913-8D38-C14E29378FB6}"/>
              </a:ext>
            </a:extLst>
          </p:cNvPr>
          <p:cNvSpPr>
            <a:spLocks noGrp="1"/>
          </p:cNvSpPr>
          <p:nvPr/>
        </p:nvSpPr>
        <p:spPr>
          <a:xfrm>
            <a:off x="1143000" y="9734550"/>
            <a:ext cx="11430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90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Source: Generalist AI Blog, 2026-04-02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15689C44-6CFE-401A-928C-E61777726DFD}"/>
              </a:ext>
            </a:extLst>
          </p:cNvPr>
          <p:cNvSpPr>
            <a:spLocks noGrp="1"/>
          </p:cNvSpPr>
          <p:nvPr/>
        </p:nvSpPr>
        <p:spPr>
          <a:xfrm>
            <a:off x="15811500" y="9715500"/>
            <a:ext cx="1524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975" b="0" i="0">
                <a:solidFill>
                  <a:srgbClr val="5D5A55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5D5A55"/>
                </a:solidFill>
                <a:latin typeface="Avenir Next"/>
                <a:ea typeface="Avenir Next"/>
                <a:cs typeface="Avenir Next"/>
              </a:rPr>
              <a:t>03 / 10</a:t>
            </a:r>
          </a:p>
        </p:txBody>
      </p:sp>
      <p:sp>
        <p:nvSpPr>
          <p:cNvPr id="7" name="summary-rule">
            <a:extLst>
              <a:ext uri="{FF2B5EF4-FFF2-40B4-BE49-F238E27FC236}">
                <a16:creationId xmlns:a16="http://schemas.microsoft.com/office/drawing/2014/main" id="{AEB7DBC5-81D5-4B10-B764-5F3A8685267F}"/>
              </a:ext>
            </a:extLst>
          </p:cNvPr>
          <p:cNvSpPr>
            <a:spLocks noGrp="1"/>
          </p:cNvSpPr>
          <p:nvPr/>
        </p:nvSpPr>
        <p:spPr>
          <a:xfrm>
            <a:off x="1143000" y="2209800"/>
            <a:ext cx="1905000" cy="3810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B647B5-D381-4B43-9B61-D75BDA1AF05C}"/>
              </a:ext>
            </a:extLst>
          </p:cNvPr>
          <p:cNvSpPr>
            <a:spLocks noGrp="1"/>
          </p:cNvSpPr>
          <p:nvPr/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0C11EB-487E-434E-B5C0-3560974D72A0}"/>
              </a:ext>
            </a:extLst>
          </p:cNvPr>
          <p:cNvSpPr>
            <a:spLocks noGrp="1"/>
          </p:cNvSpPr>
          <p:nvPr/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metric-value-1">
            <a:extLst>
              <a:ext uri="{FF2B5EF4-FFF2-40B4-BE49-F238E27FC236}">
                <a16:creationId xmlns:a16="http://schemas.microsoft.com/office/drawing/2014/main" id="{D2EC6D02-56BA-49A4-B3FA-26D91F3AEE04}"/>
              </a:ext>
            </a:extLst>
          </p:cNvPr>
          <p:cNvSpPr>
            <a:spLocks noGrp="1"/>
          </p:cNvSpPr>
          <p:nvPr/>
        </p:nvSpPr>
        <p:spPr>
          <a:xfrm>
            <a:off x="1333500" y="2857500"/>
            <a:ext cx="4800600" cy="12192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950" b="1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7950" b="1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99%</a:t>
            </a:r>
          </a:p>
        </p:txBody>
      </p:sp>
      <p:sp>
        <p:nvSpPr>
          <p:cNvPr id="11" name="metric-label-1">
            <a:extLst>
              <a:ext uri="{FF2B5EF4-FFF2-40B4-BE49-F238E27FC236}">
                <a16:creationId xmlns:a16="http://schemas.microsoft.com/office/drawing/2014/main" id="{E8EEF294-08FE-437B-930A-CA7EC1FCDB85}"/>
              </a:ext>
            </a:extLst>
          </p:cNvPr>
          <p:cNvSpPr>
            <a:spLocks noGrp="1"/>
          </p:cNvSpPr>
          <p:nvPr/>
        </p:nvSpPr>
        <p:spPr>
          <a:xfrm>
            <a:off x="1333500" y="4152900"/>
            <a:ext cx="48006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平均成功率</a:t>
            </a:r>
          </a:p>
        </p:txBody>
      </p:sp>
      <p:sp>
        <p:nvSpPr>
          <p:cNvPr id="12" name="metric-note-1">
            <a:extLst>
              <a:ext uri="{FF2B5EF4-FFF2-40B4-BE49-F238E27FC236}">
                <a16:creationId xmlns:a16="http://schemas.microsoft.com/office/drawing/2014/main" id="{023DFB90-5DC8-448C-8B76-AC2280772F86}"/>
              </a:ext>
            </a:extLst>
          </p:cNvPr>
          <p:cNvSpPr>
            <a:spLocks noGrp="1"/>
          </p:cNvSpPr>
          <p:nvPr/>
        </p:nvSpPr>
        <p:spPr>
          <a:xfrm>
            <a:off x="1333500" y="4495800"/>
            <a:ext cx="48006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35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vs GEN-0 的 64%</a:t>
            </a:r>
          </a:p>
        </p:txBody>
      </p:sp>
      <p:sp>
        <p:nvSpPr>
          <p:cNvPr id="13" name="metric-value-2">
            <a:extLst>
              <a:ext uri="{FF2B5EF4-FFF2-40B4-BE49-F238E27FC236}">
                <a16:creationId xmlns:a16="http://schemas.microsoft.com/office/drawing/2014/main" id="{AB6412DD-3CCE-4238-A9F6-F9D75C8FEA69}"/>
              </a:ext>
            </a:extLst>
          </p:cNvPr>
          <p:cNvSpPr>
            <a:spLocks noGrp="1"/>
          </p:cNvSpPr>
          <p:nvPr/>
        </p:nvSpPr>
        <p:spPr>
          <a:xfrm>
            <a:off x="6648450" y="2857500"/>
            <a:ext cx="4800600" cy="12192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950" b="1">
                <a:solidFill>
                  <a:srgbClr val="0C2441"/>
                </a:solidFill>
                <a:latin typeface="Avenir Next"/>
                <a:ea typeface="Avenir Next"/>
                <a:cs typeface="Avenir Next"/>
              </a:defRPr>
            </a:pPr>
            <a:r>
              <a:rPr sz="7950" b="1">
                <a:solidFill>
                  <a:srgbClr val="0C2441"/>
                </a:solidFill>
                <a:latin typeface="Avenir Next"/>
                <a:ea typeface="Avenir Next"/>
                <a:cs typeface="Avenir Next"/>
              </a:rPr>
              <a:t>~3x</a:t>
            </a:r>
          </a:p>
        </p:txBody>
      </p:sp>
      <p:sp>
        <p:nvSpPr>
          <p:cNvPr id="14" name="metric-label-2">
            <a:extLst>
              <a:ext uri="{FF2B5EF4-FFF2-40B4-BE49-F238E27FC236}">
                <a16:creationId xmlns:a16="http://schemas.microsoft.com/office/drawing/2014/main" id="{EEFCFDD1-E583-4F3C-9FC1-51A600E84727}"/>
              </a:ext>
            </a:extLst>
          </p:cNvPr>
          <p:cNvSpPr>
            <a:spLocks noGrp="1"/>
          </p:cNvSpPr>
          <p:nvPr/>
        </p:nvSpPr>
        <p:spPr>
          <a:xfrm>
            <a:off x="6648450" y="4152900"/>
            <a:ext cx="48006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任务完成更快</a:t>
            </a:r>
          </a:p>
        </p:txBody>
      </p:sp>
      <p:sp>
        <p:nvSpPr>
          <p:cNvPr id="15" name="metric-note-2">
            <a:extLst>
              <a:ext uri="{FF2B5EF4-FFF2-40B4-BE49-F238E27FC236}">
                <a16:creationId xmlns:a16="http://schemas.microsoft.com/office/drawing/2014/main" id="{F6AC9A01-084C-4EDA-B936-497D74AE5C2C}"/>
              </a:ext>
            </a:extLst>
          </p:cNvPr>
          <p:cNvSpPr>
            <a:spLocks noGrp="1"/>
          </p:cNvSpPr>
          <p:nvPr/>
        </p:nvSpPr>
        <p:spPr>
          <a:xfrm>
            <a:off x="6648450" y="4495800"/>
            <a:ext cx="48006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35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box folding / phone packing</a:t>
            </a:r>
          </a:p>
        </p:txBody>
      </p:sp>
      <p:sp>
        <p:nvSpPr>
          <p:cNvPr id="16" name="metric-value-3">
            <a:extLst>
              <a:ext uri="{FF2B5EF4-FFF2-40B4-BE49-F238E27FC236}">
                <a16:creationId xmlns:a16="http://schemas.microsoft.com/office/drawing/2014/main" id="{F0EECB77-4BFA-472C-8F86-DEC040463064}"/>
              </a:ext>
            </a:extLst>
          </p:cNvPr>
          <p:cNvSpPr>
            <a:spLocks noGrp="1"/>
          </p:cNvSpPr>
          <p:nvPr/>
        </p:nvSpPr>
        <p:spPr>
          <a:xfrm>
            <a:off x="11963400" y="2857500"/>
            <a:ext cx="4800600" cy="12192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950" b="1">
                <a:solidFill>
                  <a:srgbClr val="E6C84F"/>
                </a:solidFill>
                <a:latin typeface="Avenir Next"/>
                <a:ea typeface="Avenir Next"/>
                <a:cs typeface="Avenir Next"/>
              </a:defRPr>
            </a:pPr>
            <a:r>
              <a:rPr sz="7950" b="1">
                <a:solidFill>
                  <a:srgbClr val="E6C84F"/>
                </a:solidFill>
                <a:latin typeface="Avenir Next"/>
                <a:ea typeface="Avenir Next"/>
                <a:cs typeface="Avenir Next"/>
              </a:rPr>
              <a:t>~1 h</a:t>
            </a:r>
          </a:p>
        </p:txBody>
      </p:sp>
      <p:sp>
        <p:nvSpPr>
          <p:cNvPr id="17" name="metric-label-3">
            <a:extLst>
              <a:ext uri="{FF2B5EF4-FFF2-40B4-BE49-F238E27FC236}">
                <a16:creationId xmlns:a16="http://schemas.microsoft.com/office/drawing/2014/main" id="{0F7DA70A-F7D9-4830-89DF-87DECF31B556}"/>
              </a:ext>
            </a:extLst>
          </p:cNvPr>
          <p:cNvSpPr>
            <a:spLocks noGrp="1"/>
          </p:cNvSpPr>
          <p:nvPr/>
        </p:nvSpPr>
        <p:spPr>
          <a:xfrm>
            <a:off x="11963400" y="4152900"/>
            <a:ext cx="48006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每项结果所需 robot data</a:t>
            </a:r>
          </a:p>
        </p:txBody>
      </p:sp>
      <p:sp>
        <p:nvSpPr>
          <p:cNvPr id="18" name="metric-note-3">
            <a:extLst>
              <a:ext uri="{FF2B5EF4-FFF2-40B4-BE49-F238E27FC236}">
                <a16:creationId xmlns:a16="http://schemas.microsoft.com/office/drawing/2014/main" id="{B372F6A7-7785-4DCE-9B0A-5313FACADF20}"/>
              </a:ext>
            </a:extLst>
          </p:cNvPr>
          <p:cNvSpPr>
            <a:spLocks noGrp="1"/>
          </p:cNvSpPr>
          <p:nvPr/>
        </p:nvSpPr>
        <p:spPr>
          <a:xfrm>
            <a:off x="11963400" y="4495800"/>
            <a:ext cx="48006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35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文章所有展示均约 1 小时</a:t>
            </a:r>
          </a:p>
        </p:txBody>
      </p:sp>
      <p:sp>
        <p:nvSpPr>
          <p:cNvPr id="19" name="summary-bottom">
            <a:extLst>
              <a:ext uri="{FF2B5EF4-FFF2-40B4-BE49-F238E27FC236}">
                <a16:creationId xmlns:a16="http://schemas.microsoft.com/office/drawing/2014/main" id="{9A2B9946-55B6-4393-8366-77439F9E2523}"/>
              </a:ext>
            </a:extLst>
          </p:cNvPr>
          <p:cNvSpPr>
            <a:spLocks noGrp="1"/>
          </p:cNvSpPr>
          <p:nvPr/>
        </p:nvSpPr>
        <p:spPr>
          <a:xfrm>
            <a:off x="2095500" y="7048500"/>
            <a:ext cx="125730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2100" b="1" i="0">
                <a:solidFill>
                  <a:srgbClr val="1B1A17"/>
                </a:solidFill>
                <a:latin typeface="Songti SC"/>
                <a:ea typeface="Songti SC"/>
                <a:cs typeface="Songti SC"/>
              </a:defRPr>
            </a:pPr>
            <a:r>
              <a:rPr sz="2100" b="1" i="0">
                <a:solidFill>
                  <a:srgbClr val="1B1A17"/>
                </a:solidFill>
                <a:latin typeface="Songti SC"/>
                <a:ea typeface="Songti SC"/>
                <a:cs typeface="Songti SC"/>
              </a:rPr>
              <a:t>这使“commercial viability”第一次成为整篇文章的主叙事，而不只是附带结论。</a:t>
            </a:r>
          </a:p>
        </p:txBody>
      </p:sp>
    </p:spTree>
    <p:extLst>
      <p:ext uri="{BB962C8B-B14F-4D97-AF65-F5344CB8AC3E}">
        <p14:creationId xmlns:p14="http://schemas.microsoft.com/office/powerpoint/2010/main" val="1960198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B3ABB3D-A243-406F-8A78-84CBA2608E09}"/>
              </a:ext>
            </a:extLst>
          </p:cNvPr>
          <p:cNvSpPr>
            <a:spLocks noGrp="1"/>
          </p:cNvSpPr>
          <p:nvPr/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34894E0-CCEF-4C8D-BBB1-FCF88A0A8732}"/>
              </a:ext>
            </a:extLst>
          </p:cNvPr>
          <p:cNvSpPr>
            <a:spLocks noGrp="1"/>
          </p:cNvSpPr>
          <p:nvPr/>
        </p:nvSpPr>
        <p:spPr>
          <a:xfrm>
            <a:off x="1143000" y="495300"/>
            <a:ext cx="13144500" cy="5143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3300" b="1">
                <a:solidFill>
                  <a:srgbClr val="1B1A17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B1A17"/>
                </a:solidFill>
                <a:latin typeface="Songti SC"/>
                <a:ea typeface="Songti SC"/>
                <a:cs typeface="Songti SC"/>
              </a:rPr>
              <a:t>从 GEN-0 到 GEN-1：预训练时代继续放大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F6F4C061-848F-415F-B98B-14A389462A72}"/>
              </a:ext>
            </a:extLst>
          </p:cNvPr>
          <p:cNvSpPr>
            <a:spLocks noGrp="1"/>
          </p:cNvSpPr>
          <p:nvPr/>
        </p:nvSpPr>
        <p:spPr>
          <a:xfrm>
            <a:off x="1143000" y="1066800"/>
            <a:ext cx="131445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真正的变量不是单个 demo，而是数据引擎 + compute + system redesign。</a:t>
            </a:r>
          </a:p>
        </p:txBody>
      </p:sp>
      <p:sp>
        <p:nvSpPr>
          <p:cNvPr id="4" name="logo-wordmark">
            <a:extLst>
              <a:ext uri="{FF2B5EF4-FFF2-40B4-BE49-F238E27FC236}">
                <a16:creationId xmlns:a16="http://schemas.microsoft.com/office/drawing/2014/main" id="{C7EAC669-B8EF-4816-BA14-E876F7A0E507}"/>
              </a:ext>
            </a:extLst>
          </p:cNvPr>
          <p:cNvSpPr>
            <a:spLocks noGrp="1"/>
          </p:cNvSpPr>
          <p:nvPr/>
        </p:nvSpPr>
        <p:spPr>
          <a:xfrm>
            <a:off x="14478000" y="590550"/>
            <a:ext cx="26670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6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Generalist AI</a:t>
            </a:r>
          </a:p>
        </p:txBody>
      </p:sp>
      <p:sp>
        <p:nvSpPr>
          <p:cNvPr id="5" name="source-line">
            <a:extLst>
              <a:ext uri="{FF2B5EF4-FFF2-40B4-BE49-F238E27FC236}">
                <a16:creationId xmlns:a16="http://schemas.microsoft.com/office/drawing/2014/main" id="{52A1E730-3E8A-48ED-8270-44D5F05E562E}"/>
              </a:ext>
            </a:extLst>
          </p:cNvPr>
          <p:cNvSpPr>
            <a:spLocks noGrp="1"/>
          </p:cNvSpPr>
          <p:nvPr/>
        </p:nvSpPr>
        <p:spPr>
          <a:xfrm>
            <a:off x="1143000" y="9734550"/>
            <a:ext cx="11430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90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Source: Generalist AI Blog, 2026-04-02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8FE09067-A532-4755-B63B-79719CF0B708}"/>
              </a:ext>
            </a:extLst>
          </p:cNvPr>
          <p:cNvSpPr>
            <a:spLocks noGrp="1"/>
          </p:cNvSpPr>
          <p:nvPr/>
        </p:nvSpPr>
        <p:spPr>
          <a:xfrm>
            <a:off x="15811500" y="9715500"/>
            <a:ext cx="1524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975" b="0" i="0">
                <a:solidFill>
                  <a:srgbClr val="5D5A55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5D5A55"/>
                </a:solidFill>
                <a:latin typeface="Avenir Next"/>
                <a:ea typeface="Avenir Next"/>
                <a:cs typeface="Avenir Next"/>
              </a:rPr>
              <a:t>04 / 10</a:t>
            </a:r>
          </a:p>
        </p:txBody>
      </p:sp>
      <p:sp>
        <p:nvSpPr>
          <p:cNvPr id="7" name="scale-big-number">
            <a:extLst>
              <a:ext uri="{FF2B5EF4-FFF2-40B4-BE49-F238E27FC236}">
                <a16:creationId xmlns:a16="http://schemas.microsoft.com/office/drawing/2014/main" id="{C9583A7E-FC51-4D1E-BAFC-F00A66A7854F}"/>
              </a:ext>
            </a:extLst>
          </p:cNvPr>
          <p:cNvSpPr>
            <a:spLocks noGrp="1"/>
          </p:cNvSpPr>
          <p:nvPr/>
        </p:nvSpPr>
        <p:spPr>
          <a:xfrm>
            <a:off x="1143000" y="2667000"/>
            <a:ext cx="4762500" cy="14097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9150" b="1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9150" b="1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500k h</a:t>
            </a:r>
          </a:p>
        </p:txBody>
      </p:sp>
      <p:sp>
        <p:nvSpPr>
          <p:cNvPr id="8" name="scale-big-label">
            <a:extLst>
              <a:ext uri="{FF2B5EF4-FFF2-40B4-BE49-F238E27FC236}">
                <a16:creationId xmlns:a16="http://schemas.microsoft.com/office/drawing/2014/main" id="{A0FEC7D8-6F7C-4249-9E95-54A5D6202AAE}"/>
              </a:ext>
            </a:extLst>
          </p:cNvPr>
          <p:cNvSpPr>
            <a:spLocks noGrp="1"/>
          </p:cNvSpPr>
          <p:nvPr/>
        </p:nvSpPr>
        <p:spPr>
          <a:xfrm>
            <a:off x="1143000" y="4133850"/>
            <a:ext cx="47625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950" b="1" i="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i="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high-fidelity physical interaction data</a:t>
            </a:r>
          </a:p>
        </p:txBody>
      </p:sp>
      <p:sp>
        <p:nvSpPr>
          <p:cNvPr id="9" name="scale-left-note">
            <a:extLst>
              <a:ext uri="{FF2B5EF4-FFF2-40B4-BE49-F238E27FC236}">
                <a16:creationId xmlns:a16="http://schemas.microsoft.com/office/drawing/2014/main" id="{53426891-F794-4B7F-869C-7467DF0FF3C1}"/>
              </a:ext>
            </a:extLst>
          </p:cNvPr>
          <p:cNvSpPr>
            <a:spLocks noGrp="1"/>
          </p:cNvSpPr>
          <p:nvPr/>
        </p:nvSpPr>
        <p:spPr>
          <a:xfrm>
            <a:off x="1143000" y="4514850"/>
            <a:ext cx="4762500" cy="6858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50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文章把这视作 robotics 版本的数据引擎：更大的数据、更长的物理交互、更强的 system-level 训练与推理栈。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7A8CED-283F-442D-B439-E90BF277C3E6}"/>
              </a:ext>
            </a:extLst>
          </p:cNvPr>
          <p:cNvSpPr>
            <a:spLocks noGrp="1"/>
          </p:cNvSpPr>
          <p:nvPr/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Wearable human data-title">
            <a:extLst>
              <a:ext uri="{FF2B5EF4-FFF2-40B4-BE49-F238E27FC236}">
                <a16:creationId xmlns:a16="http://schemas.microsoft.com/office/drawing/2014/main" id="{0E8B855A-FF82-42A6-97B5-2B48C79121FD}"/>
              </a:ext>
            </a:extLst>
          </p:cNvPr>
          <p:cNvSpPr>
            <a:spLocks noGrp="1"/>
          </p:cNvSpPr>
          <p:nvPr/>
        </p:nvSpPr>
        <p:spPr>
          <a:xfrm>
            <a:off x="7448550" y="2933700"/>
            <a:ext cx="1676400" cy="5143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 b="1" i="0">
                <a:solidFill>
                  <a:srgbClr val="1B1A17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1A17"/>
                </a:solidFill>
                <a:latin typeface="Avenir Next"/>
                <a:ea typeface="Avenir Next"/>
                <a:cs typeface="Avenir Next"/>
              </a:rPr>
              <a:t>Wearable human data</a:t>
            </a:r>
          </a:p>
        </p:txBody>
      </p:sp>
      <p:sp>
        <p:nvSpPr>
          <p:cNvPr id="12" name="Wearable human data-body">
            <a:extLst>
              <a:ext uri="{FF2B5EF4-FFF2-40B4-BE49-F238E27FC236}">
                <a16:creationId xmlns:a16="http://schemas.microsoft.com/office/drawing/2014/main" id="{ADE3F4C2-F2FF-4C71-B28C-C4F96892DFCA}"/>
              </a:ext>
            </a:extLst>
          </p:cNvPr>
          <p:cNvSpPr>
            <a:spLocks noGrp="1"/>
          </p:cNvSpPr>
          <p:nvPr/>
        </p:nvSpPr>
        <p:spPr>
          <a:xfrm>
            <a:off x="7448550" y="3562350"/>
            <a:ext cx="1295400" cy="4191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base pretraining 不用 robot data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A43EF1-B7E9-47B9-BB5A-B796C448D530}"/>
              </a:ext>
            </a:extLst>
          </p:cNvPr>
          <p:cNvSpPr>
            <a:spLocks noGrp="1"/>
          </p:cNvSpPr>
          <p:nvPr/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Foundation pretraining-title">
            <a:extLst>
              <a:ext uri="{FF2B5EF4-FFF2-40B4-BE49-F238E27FC236}">
                <a16:creationId xmlns:a16="http://schemas.microsoft.com/office/drawing/2014/main" id="{C9340ACA-B479-4A72-B982-669A536840DC}"/>
              </a:ext>
            </a:extLst>
          </p:cNvPr>
          <p:cNvSpPr>
            <a:spLocks noGrp="1"/>
          </p:cNvSpPr>
          <p:nvPr/>
        </p:nvSpPr>
        <p:spPr>
          <a:xfrm>
            <a:off x="10020300" y="2933700"/>
            <a:ext cx="1676400" cy="5143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 b="1" i="0">
                <a:solidFill>
                  <a:srgbClr val="1B1A17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1A17"/>
                </a:solidFill>
                <a:latin typeface="Avenir Next"/>
                <a:ea typeface="Avenir Next"/>
                <a:cs typeface="Avenir Next"/>
              </a:rPr>
              <a:t>Foundation pretraining</a:t>
            </a:r>
          </a:p>
        </p:txBody>
      </p:sp>
      <p:sp>
        <p:nvSpPr>
          <p:cNvPr id="15" name="Foundation pretraining-body">
            <a:extLst>
              <a:ext uri="{FF2B5EF4-FFF2-40B4-BE49-F238E27FC236}">
                <a16:creationId xmlns:a16="http://schemas.microsoft.com/office/drawing/2014/main" id="{BC932097-5AF1-4A76-B322-AEB3F96B0F8E}"/>
              </a:ext>
            </a:extLst>
          </p:cNvPr>
          <p:cNvSpPr>
            <a:spLocks noGrp="1"/>
          </p:cNvSpPr>
          <p:nvPr/>
        </p:nvSpPr>
        <p:spPr>
          <a:xfrm>
            <a:off x="10020300" y="3562350"/>
            <a:ext cx="1543050" cy="8382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把感知与动作直接放到 physical interaction stream 里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F091FF-1A20-4469-BF1A-5EDFECE4A0EF}"/>
              </a:ext>
            </a:extLst>
          </p:cNvPr>
          <p:cNvSpPr>
            <a:spLocks noGrp="1"/>
          </p:cNvSpPr>
          <p:nvPr/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ask adaptation-title">
            <a:extLst>
              <a:ext uri="{FF2B5EF4-FFF2-40B4-BE49-F238E27FC236}">
                <a16:creationId xmlns:a16="http://schemas.microsoft.com/office/drawing/2014/main" id="{C400022C-A688-43D3-89B0-B71595DA20E7}"/>
              </a:ext>
            </a:extLst>
          </p:cNvPr>
          <p:cNvSpPr>
            <a:spLocks noGrp="1"/>
          </p:cNvSpPr>
          <p:nvPr/>
        </p:nvSpPr>
        <p:spPr>
          <a:xfrm>
            <a:off x="12592050" y="2933700"/>
            <a:ext cx="16764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 b="1" i="0">
                <a:solidFill>
                  <a:srgbClr val="1B1A17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1A17"/>
                </a:solidFill>
                <a:latin typeface="Avenir Next"/>
                <a:ea typeface="Avenir Next"/>
                <a:cs typeface="Avenir Next"/>
              </a:rPr>
              <a:t>Task adaptation</a:t>
            </a:r>
          </a:p>
        </p:txBody>
      </p:sp>
      <p:sp>
        <p:nvSpPr>
          <p:cNvPr id="18" name="Task adaptation-body">
            <a:extLst>
              <a:ext uri="{FF2B5EF4-FFF2-40B4-BE49-F238E27FC236}">
                <a16:creationId xmlns:a16="http://schemas.microsoft.com/office/drawing/2014/main" id="{B12A43DB-0E37-4EF9-90F8-1551DF8A4EB7}"/>
              </a:ext>
            </a:extLst>
          </p:cNvPr>
          <p:cNvSpPr>
            <a:spLocks noGrp="1"/>
          </p:cNvSpPr>
          <p:nvPr/>
        </p:nvSpPr>
        <p:spPr>
          <a:xfrm>
            <a:off x="12592050" y="3314700"/>
            <a:ext cx="1581150" cy="4191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约 1 小时 robot data 即构建结果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82FCA6-1596-4874-9727-C2F5ACDADBFB}"/>
              </a:ext>
            </a:extLst>
          </p:cNvPr>
          <p:cNvSpPr>
            <a:spLocks noGrp="1"/>
          </p:cNvSpPr>
          <p:nvPr/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Commercial threshold-title">
            <a:extLst>
              <a:ext uri="{FF2B5EF4-FFF2-40B4-BE49-F238E27FC236}">
                <a16:creationId xmlns:a16="http://schemas.microsoft.com/office/drawing/2014/main" id="{072CBDDD-EFD7-436F-94A9-ACA497CD05BA}"/>
              </a:ext>
            </a:extLst>
          </p:cNvPr>
          <p:cNvSpPr>
            <a:spLocks noGrp="1"/>
          </p:cNvSpPr>
          <p:nvPr/>
        </p:nvSpPr>
        <p:spPr>
          <a:xfrm>
            <a:off x="15163800" y="2933700"/>
            <a:ext cx="1676400" cy="5143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 b="1" i="0">
                <a:solidFill>
                  <a:srgbClr val="1B1A17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1A17"/>
                </a:solidFill>
                <a:latin typeface="Avenir Next"/>
                <a:ea typeface="Avenir Next"/>
                <a:cs typeface="Avenir Next"/>
              </a:rPr>
              <a:t>Commercial threshold</a:t>
            </a:r>
          </a:p>
        </p:txBody>
      </p:sp>
      <p:sp>
        <p:nvSpPr>
          <p:cNvPr id="21" name="Commercial threshold-body">
            <a:extLst>
              <a:ext uri="{FF2B5EF4-FFF2-40B4-BE49-F238E27FC236}">
                <a16:creationId xmlns:a16="http://schemas.microsoft.com/office/drawing/2014/main" id="{30C79F98-4577-4F15-B2B9-CEA5DC197893}"/>
              </a:ext>
            </a:extLst>
          </p:cNvPr>
          <p:cNvSpPr>
            <a:spLocks noGrp="1"/>
          </p:cNvSpPr>
          <p:nvPr/>
        </p:nvSpPr>
        <p:spPr>
          <a:xfrm>
            <a:off x="15163800" y="3562350"/>
            <a:ext cx="1543050" cy="628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某些简单任务开始达到 economically useful settings</a:t>
            </a:r>
          </a:p>
        </p:txBody>
      </p:sp>
      <p:sp>
        <p:nvSpPr>
          <p:cNvPr id="22" name="scale-side-note-metric">
            <a:extLst>
              <a:ext uri="{FF2B5EF4-FFF2-40B4-BE49-F238E27FC236}">
                <a16:creationId xmlns:a16="http://schemas.microsoft.com/office/drawing/2014/main" id="{ED7BF588-E2C0-424D-8467-B45CB0A3F527}"/>
              </a:ext>
            </a:extLst>
          </p:cNvPr>
          <p:cNvSpPr>
            <a:spLocks noGrp="1"/>
          </p:cNvSpPr>
          <p:nvPr/>
        </p:nvSpPr>
        <p:spPr>
          <a:xfrm>
            <a:off x="1143000" y="6667500"/>
            <a:ext cx="4000500" cy="8953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5850" b="1">
                <a:solidFill>
                  <a:srgbClr val="0C2441"/>
                </a:solidFill>
                <a:latin typeface="Avenir Next"/>
                <a:ea typeface="Avenir Next"/>
                <a:cs typeface="Avenir Next"/>
              </a:defRPr>
            </a:pPr>
            <a:r>
              <a:rPr sz="5850" b="1">
                <a:solidFill>
                  <a:srgbClr val="0C2441"/>
                </a:solidFill>
                <a:latin typeface="Avenir Next"/>
                <a:ea typeface="Avenir Next"/>
                <a:cs typeface="Avenir Next"/>
              </a:rPr>
              <a:t>10x less</a:t>
            </a:r>
          </a:p>
        </p:txBody>
      </p:sp>
      <p:sp>
        <p:nvSpPr>
          <p:cNvPr id="23" name="scale-bottom-note">
            <a:extLst>
              <a:ext uri="{FF2B5EF4-FFF2-40B4-BE49-F238E27FC236}">
                <a16:creationId xmlns:a16="http://schemas.microsoft.com/office/drawing/2014/main" id="{8801939F-8268-46D0-BBF2-59217156BD59}"/>
              </a:ext>
            </a:extLst>
          </p:cNvPr>
          <p:cNvSpPr>
            <a:spLocks noGrp="1"/>
          </p:cNvSpPr>
          <p:nvPr/>
        </p:nvSpPr>
        <p:spPr>
          <a:xfrm>
            <a:off x="1143000" y="7715250"/>
            <a:ext cx="4953000" cy="5143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某些测试里，GEN-1 用更少的 task-specific data 与 fine-tuning steps 达到 comparable performance。</a:t>
            </a:r>
          </a:p>
        </p:txBody>
      </p:sp>
    </p:spTree>
    <p:extLst>
      <p:ext uri="{BB962C8B-B14F-4D97-AF65-F5344CB8AC3E}">
        <p14:creationId xmlns:p14="http://schemas.microsoft.com/office/powerpoint/2010/main" val="2135736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6235017-9787-4420-BCEE-0F5773DA0369}"/>
              </a:ext>
            </a:extLst>
          </p:cNvPr>
          <p:cNvSpPr>
            <a:spLocks noGrp="1"/>
          </p:cNvSpPr>
          <p:nvPr/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F88C8E1-4CCA-425B-A453-D6A7BB1DA154}"/>
              </a:ext>
            </a:extLst>
          </p:cNvPr>
          <p:cNvSpPr>
            <a:spLocks noGrp="1"/>
          </p:cNvSpPr>
          <p:nvPr/>
        </p:nvSpPr>
        <p:spPr>
          <a:xfrm>
            <a:off x="1143000" y="495300"/>
            <a:ext cx="13144500" cy="5143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3300" b="1">
                <a:solidFill>
                  <a:srgbClr val="1B1A17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B1A17"/>
                </a:solidFill>
                <a:latin typeface="Songti SC"/>
                <a:ea typeface="Songti SC"/>
                <a:cs typeface="Songti SC"/>
              </a:rPr>
              <a:t>文章如何定义 mastery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24E87EB5-83AC-4707-A9C7-00D3F00B8D9C}"/>
              </a:ext>
            </a:extLst>
          </p:cNvPr>
          <p:cNvSpPr>
            <a:spLocks noGrp="1"/>
          </p:cNvSpPr>
          <p:nvPr/>
        </p:nvSpPr>
        <p:spPr>
          <a:xfrm>
            <a:off x="1143000" y="1066800"/>
            <a:ext cx="131445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不是单一成功率，而是 reliability、speed 与 improvisation 的组合。</a:t>
            </a:r>
          </a:p>
        </p:txBody>
      </p:sp>
      <p:sp>
        <p:nvSpPr>
          <p:cNvPr id="4" name="logo-wordmark">
            <a:extLst>
              <a:ext uri="{FF2B5EF4-FFF2-40B4-BE49-F238E27FC236}">
                <a16:creationId xmlns:a16="http://schemas.microsoft.com/office/drawing/2014/main" id="{5A162306-8C9B-4EF4-92A3-7E8335F868AB}"/>
              </a:ext>
            </a:extLst>
          </p:cNvPr>
          <p:cNvSpPr>
            <a:spLocks noGrp="1"/>
          </p:cNvSpPr>
          <p:nvPr/>
        </p:nvSpPr>
        <p:spPr>
          <a:xfrm>
            <a:off x="14478000" y="590550"/>
            <a:ext cx="26670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6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Generalist AI</a:t>
            </a:r>
          </a:p>
        </p:txBody>
      </p:sp>
      <p:sp>
        <p:nvSpPr>
          <p:cNvPr id="5" name="source-line">
            <a:extLst>
              <a:ext uri="{FF2B5EF4-FFF2-40B4-BE49-F238E27FC236}">
                <a16:creationId xmlns:a16="http://schemas.microsoft.com/office/drawing/2014/main" id="{CD8CD75B-5D8C-45F3-910E-BB2CC909F1C0}"/>
              </a:ext>
            </a:extLst>
          </p:cNvPr>
          <p:cNvSpPr>
            <a:spLocks noGrp="1"/>
          </p:cNvSpPr>
          <p:nvPr/>
        </p:nvSpPr>
        <p:spPr>
          <a:xfrm>
            <a:off x="1143000" y="9734550"/>
            <a:ext cx="11430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90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Source: Generalist AI Blog, 2026-04-02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9080D694-1471-4172-AFA0-04E0EE789208}"/>
              </a:ext>
            </a:extLst>
          </p:cNvPr>
          <p:cNvSpPr>
            <a:spLocks noGrp="1"/>
          </p:cNvSpPr>
          <p:nvPr/>
        </p:nvSpPr>
        <p:spPr>
          <a:xfrm>
            <a:off x="15811500" y="9715500"/>
            <a:ext cx="1524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975" b="0" i="0">
                <a:solidFill>
                  <a:srgbClr val="5D5A55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5D5A55"/>
                </a:solidFill>
                <a:latin typeface="Avenir Next"/>
                <a:ea typeface="Avenir Next"/>
                <a:cs typeface="Avenir Next"/>
              </a:rPr>
              <a:t>05 / 10</a:t>
            </a:r>
          </a:p>
        </p:txBody>
      </p:sp>
      <p:sp>
        <p:nvSpPr>
          <p:cNvPr id="7" name="mastery-watermark">
            <a:extLst>
              <a:ext uri="{FF2B5EF4-FFF2-40B4-BE49-F238E27FC236}">
                <a16:creationId xmlns:a16="http://schemas.microsoft.com/office/drawing/2014/main" id="{80063797-1DC5-40C4-87C5-C02304D9BB72}"/>
              </a:ext>
            </a:extLst>
          </p:cNvPr>
          <p:cNvSpPr>
            <a:spLocks noGrp="1"/>
          </p:cNvSpPr>
          <p:nvPr/>
        </p:nvSpPr>
        <p:spPr>
          <a:xfrm>
            <a:off x="2095500" y="2381250"/>
            <a:ext cx="14287500" cy="2057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3500" b="1">
                <a:solidFill>
                  <a:srgbClr val="E6E0D8"/>
                </a:solidFill>
                <a:latin typeface="Avenir Next"/>
                <a:ea typeface="Avenir Next"/>
                <a:cs typeface="Avenir Next"/>
              </a:defRPr>
            </a:pPr>
            <a:r>
              <a:rPr sz="13500" b="1" dirty="0">
                <a:solidFill>
                  <a:srgbClr val="E6E0D8"/>
                </a:solidFill>
                <a:latin typeface="Avenir Next"/>
                <a:ea typeface="Avenir Next"/>
                <a:cs typeface="Avenir Next"/>
              </a:rPr>
              <a:t>MASTERY</a:t>
            </a:r>
          </a:p>
        </p:txBody>
      </p:sp>
      <p:sp>
        <p:nvSpPr>
          <p:cNvPr id="8" name="pillar-1-title">
            <a:extLst>
              <a:ext uri="{FF2B5EF4-FFF2-40B4-BE49-F238E27FC236}">
                <a16:creationId xmlns:a16="http://schemas.microsoft.com/office/drawing/2014/main" id="{79B17AEE-D48B-42C6-BB8A-D1EFA0B2EF2C}"/>
              </a:ext>
            </a:extLst>
          </p:cNvPr>
          <p:cNvSpPr>
            <a:spLocks noGrp="1"/>
          </p:cNvSpPr>
          <p:nvPr/>
        </p:nvSpPr>
        <p:spPr>
          <a:xfrm>
            <a:off x="1333500" y="4762500"/>
            <a:ext cx="4819650" cy="3810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240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Reliability</a:t>
            </a:r>
          </a:p>
        </p:txBody>
      </p:sp>
      <p:sp>
        <p:nvSpPr>
          <p:cNvPr id="9" name="pillar-1-body">
            <a:extLst>
              <a:ext uri="{FF2B5EF4-FFF2-40B4-BE49-F238E27FC236}">
                <a16:creationId xmlns:a16="http://schemas.microsoft.com/office/drawing/2014/main" id="{A60698AB-DF77-41D3-B154-26757C8AA4C7}"/>
              </a:ext>
            </a:extLst>
          </p:cNvPr>
          <p:cNvSpPr>
            <a:spLocks noGrp="1"/>
          </p:cNvSpPr>
          <p:nvPr/>
        </p:nvSpPr>
        <p:spPr>
          <a:xfrm>
            <a:off x="1333500" y="5238750"/>
            <a:ext cx="3352800" cy="5143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跨任务、跨系统、跨环境都能重复地把事做成。</a:t>
            </a:r>
          </a:p>
        </p:txBody>
      </p:sp>
      <p:sp>
        <p:nvSpPr>
          <p:cNvPr id="10" name="pillar-2-title">
            <a:extLst>
              <a:ext uri="{FF2B5EF4-FFF2-40B4-BE49-F238E27FC236}">
                <a16:creationId xmlns:a16="http://schemas.microsoft.com/office/drawing/2014/main" id="{13BE6954-08DD-47CA-A8FC-0E9E4EFBB422}"/>
              </a:ext>
            </a:extLst>
          </p:cNvPr>
          <p:cNvSpPr>
            <a:spLocks noGrp="1"/>
          </p:cNvSpPr>
          <p:nvPr/>
        </p:nvSpPr>
        <p:spPr>
          <a:xfrm>
            <a:off x="6724650" y="4762500"/>
            <a:ext cx="4819650" cy="3810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240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Speed</a:t>
            </a:r>
          </a:p>
        </p:txBody>
      </p:sp>
      <p:sp>
        <p:nvSpPr>
          <p:cNvPr id="11" name="pillar-2-body">
            <a:extLst>
              <a:ext uri="{FF2B5EF4-FFF2-40B4-BE49-F238E27FC236}">
                <a16:creationId xmlns:a16="http://schemas.microsoft.com/office/drawing/2014/main" id="{675C7969-CE74-427B-9B36-6338AD263B9C}"/>
              </a:ext>
            </a:extLst>
          </p:cNvPr>
          <p:cNvSpPr>
            <a:spLocks noGrp="1"/>
          </p:cNvSpPr>
          <p:nvPr/>
        </p:nvSpPr>
        <p:spPr>
          <a:xfrm>
            <a:off x="6724650" y="5238750"/>
            <a:ext cx="3352800" cy="5143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不是电机动作快，而是任务更快完成，并且还要稳。</a:t>
            </a:r>
          </a:p>
        </p:txBody>
      </p:sp>
      <p:sp>
        <p:nvSpPr>
          <p:cNvPr id="12" name="pillar-3-title">
            <a:extLst>
              <a:ext uri="{FF2B5EF4-FFF2-40B4-BE49-F238E27FC236}">
                <a16:creationId xmlns:a16="http://schemas.microsoft.com/office/drawing/2014/main" id="{0F0AA6F0-2F19-46E3-9590-F452C8E719A1}"/>
              </a:ext>
            </a:extLst>
          </p:cNvPr>
          <p:cNvSpPr>
            <a:spLocks noGrp="1"/>
          </p:cNvSpPr>
          <p:nvPr/>
        </p:nvSpPr>
        <p:spPr>
          <a:xfrm>
            <a:off x="12134850" y="4762500"/>
            <a:ext cx="4819650" cy="3810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240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Improvisation</a:t>
            </a:r>
          </a:p>
        </p:txBody>
      </p:sp>
      <p:sp>
        <p:nvSpPr>
          <p:cNvPr id="13" name="pillar-3-body">
            <a:extLst>
              <a:ext uri="{FF2B5EF4-FFF2-40B4-BE49-F238E27FC236}">
                <a16:creationId xmlns:a16="http://schemas.microsoft.com/office/drawing/2014/main" id="{448F9301-09AF-4E87-89F3-401A6C33E75C}"/>
              </a:ext>
            </a:extLst>
          </p:cNvPr>
          <p:cNvSpPr>
            <a:spLocks noGrp="1"/>
          </p:cNvSpPr>
          <p:nvPr/>
        </p:nvSpPr>
        <p:spPr>
          <a:xfrm>
            <a:off x="12134850" y="5238750"/>
            <a:ext cx="3352800" cy="5143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意外场景下能恢复、重抓、变通，而不是一偏离脚本就卡住。</a:t>
            </a:r>
          </a:p>
        </p:txBody>
      </p:sp>
      <p:sp>
        <p:nvSpPr>
          <p:cNvPr id="14" name="mastery-bottom">
            <a:extLst>
              <a:ext uri="{FF2B5EF4-FFF2-40B4-BE49-F238E27FC236}">
                <a16:creationId xmlns:a16="http://schemas.microsoft.com/office/drawing/2014/main" id="{6B9F76D6-8DAA-4A40-AC92-889A315E7F09}"/>
              </a:ext>
            </a:extLst>
          </p:cNvPr>
          <p:cNvSpPr>
            <a:spLocks noGrp="1"/>
          </p:cNvSpPr>
          <p:nvPr/>
        </p:nvSpPr>
        <p:spPr>
          <a:xfrm>
            <a:off x="2286000" y="7810500"/>
            <a:ext cx="131445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950" b="0" i="0">
                <a:solidFill>
                  <a:srgbClr val="5D5A55"/>
                </a:solidFill>
                <a:latin typeface="Songti SC"/>
                <a:ea typeface="Songti SC"/>
                <a:cs typeface="Songti SC"/>
              </a:defRPr>
            </a:pPr>
            <a:r>
              <a:rPr sz="1950" b="0" i="0">
                <a:solidFill>
                  <a:srgbClr val="5D5A55"/>
                </a:solidFill>
                <a:latin typeface="Songti SC"/>
                <a:ea typeface="Songti SC"/>
                <a:cs typeface="Songti SC"/>
              </a:rPr>
              <a:t>文章明确认为：此前 robotics 最缺的不是“完成一次任务”，而是 improvisational intelligence。</a:t>
            </a:r>
          </a:p>
        </p:txBody>
      </p:sp>
    </p:spTree>
    <p:extLst>
      <p:ext uri="{BB962C8B-B14F-4D97-AF65-F5344CB8AC3E}">
        <p14:creationId xmlns:p14="http://schemas.microsoft.com/office/powerpoint/2010/main" val="1548822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5E44768-4285-4CCA-BE13-A980E14935F3}"/>
              </a:ext>
            </a:extLst>
          </p:cNvPr>
          <p:cNvSpPr>
            <a:spLocks noGrp="1"/>
          </p:cNvSpPr>
          <p:nvPr/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F266AF1-5096-4BA3-9BEA-3A3BC96CD5EB}"/>
              </a:ext>
            </a:extLst>
          </p:cNvPr>
          <p:cNvSpPr>
            <a:spLocks noGrp="1"/>
          </p:cNvSpPr>
          <p:nvPr/>
        </p:nvSpPr>
        <p:spPr>
          <a:xfrm>
            <a:off x="1143000" y="495300"/>
            <a:ext cx="13144500" cy="5143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3300" b="1">
                <a:solidFill>
                  <a:srgbClr val="1B1A17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B1A17"/>
                </a:solidFill>
                <a:latin typeface="Songti SC"/>
                <a:ea typeface="Songti SC"/>
                <a:cs typeface="Songti SC"/>
              </a:rPr>
              <a:t>可靠性：从演示视频走向长时间无干预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9BFCFAB6-31B2-48D1-98DE-78543C9D2AFA}"/>
              </a:ext>
            </a:extLst>
          </p:cNvPr>
          <p:cNvSpPr>
            <a:spLocks noGrp="1"/>
          </p:cNvSpPr>
          <p:nvPr/>
        </p:nvSpPr>
        <p:spPr>
          <a:xfrm>
            <a:off x="1143000" y="1066800"/>
            <a:ext cx="131445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最强证据不是单次成功，而是 hundreds / thousands 次连续执行。</a:t>
            </a:r>
          </a:p>
        </p:txBody>
      </p:sp>
      <p:sp>
        <p:nvSpPr>
          <p:cNvPr id="4" name="logo-wordmark">
            <a:extLst>
              <a:ext uri="{FF2B5EF4-FFF2-40B4-BE49-F238E27FC236}">
                <a16:creationId xmlns:a16="http://schemas.microsoft.com/office/drawing/2014/main" id="{D3A9901D-1777-4E24-924B-152D212AD211}"/>
              </a:ext>
            </a:extLst>
          </p:cNvPr>
          <p:cNvSpPr>
            <a:spLocks noGrp="1"/>
          </p:cNvSpPr>
          <p:nvPr/>
        </p:nvSpPr>
        <p:spPr>
          <a:xfrm>
            <a:off x="14478000" y="590550"/>
            <a:ext cx="26670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6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Generalist AI</a:t>
            </a:r>
          </a:p>
        </p:txBody>
      </p:sp>
      <p:sp>
        <p:nvSpPr>
          <p:cNvPr id="5" name="source-line">
            <a:extLst>
              <a:ext uri="{FF2B5EF4-FFF2-40B4-BE49-F238E27FC236}">
                <a16:creationId xmlns:a16="http://schemas.microsoft.com/office/drawing/2014/main" id="{BD51134B-97A9-4BF0-8E64-209913B3C149}"/>
              </a:ext>
            </a:extLst>
          </p:cNvPr>
          <p:cNvSpPr>
            <a:spLocks noGrp="1"/>
          </p:cNvSpPr>
          <p:nvPr/>
        </p:nvSpPr>
        <p:spPr>
          <a:xfrm>
            <a:off x="1143000" y="9734550"/>
            <a:ext cx="11430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90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Source: Generalist AI Blog, 2026-04-02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00AF737C-068B-4836-A2B0-CAAA4579260B}"/>
              </a:ext>
            </a:extLst>
          </p:cNvPr>
          <p:cNvSpPr>
            <a:spLocks noGrp="1"/>
          </p:cNvSpPr>
          <p:nvPr/>
        </p:nvSpPr>
        <p:spPr>
          <a:xfrm>
            <a:off x="15811500" y="9715500"/>
            <a:ext cx="1524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975" b="0" i="0">
                <a:solidFill>
                  <a:srgbClr val="5D5A55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5D5A55"/>
                </a:solidFill>
                <a:latin typeface="Avenir Next"/>
                <a:ea typeface="Avenir Next"/>
                <a:cs typeface="Avenir Next"/>
              </a:rPr>
              <a:t>06 / 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EB115-8F44-4E5A-B783-4DDF92AF10C1}"/>
              </a:ext>
            </a:extLst>
          </p:cNvPr>
          <p:cNvSpPr>
            <a:spLocks noGrp="1"/>
          </p:cNvSpPr>
          <p:nvPr/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graphicFrame>
        <p:nvGraphicFramePr>
          <p:cNvPr id="8" name="reliability-chart"/>
          <p:cNvGraphicFramePr/>
          <p:nvPr/>
        </p:nvGraphicFramePr>
        <p:xfrm>
          <a:off x="1428750" y="2571750"/>
          <a:ext cx="12763500" cy="476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liability-count-1">
            <a:extLst>
              <a:ext uri="{FF2B5EF4-FFF2-40B4-BE49-F238E27FC236}">
                <a16:creationId xmlns:a16="http://schemas.microsoft.com/office/drawing/2014/main" id="{85E40444-6076-4AE8-A108-FDFC462224E4}"/>
              </a:ext>
            </a:extLst>
          </p:cNvPr>
          <p:cNvSpPr>
            <a:spLocks noGrp="1"/>
          </p:cNvSpPr>
          <p:nvPr/>
        </p:nvSpPr>
        <p:spPr>
          <a:xfrm>
            <a:off x="14954250" y="3048000"/>
            <a:ext cx="2190750" cy="4953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31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&gt;1,800 次</a:t>
            </a:r>
          </a:p>
        </p:txBody>
      </p:sp>
      <p:sp>
        <p:nvSpPr>
          <p:cNvPr id="10" name="reliability-note-1">
            <a:extLst>
              <a:ext uri="{FF2B5EF4-FFF2-40B4-BE49-F238E27FC236}">
                <a16:creationId xmlns:a16="http://schemas.microsoft.com/office/drawing/2014/main" id="{B3588874-3382-425D-B5AB-1986A8C4934B}"/>
              </a:ext>
            </a:extLst>
          </p:cNvPr>
          <p:cNvSpPr>
            <a:spLocks noGrp="1"/>
          </p:cNvSpPr>
          <p:nvPr/>
        </p:nvSpPr>
        <p:spPr>
          <a:xfrm>
            <a:off x="14954250" y="3657600"/>
            <a:ext cx="2190750" cy="4191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block packing without intervention</a:t>
            </a:r>
          </a:p>
        </p:txBody>
      </p:sp>
      <p:sp>
        <p:nvSpPr>
          <p:cNvPr id="11" name="reliability-count-2">
            <a:extLst>
              <a:ext uri="{FF2B5EF4-FFF2-40B4-BE49-F238E27FC236}">
                <a16:creationId xmlns:a16="http://schemas.microsoft.com/office/drawing/2014/main" id="{88F287E6-40B7-47FA-84E2-125F169FF5F4}"/>
              </a:ext>
            </a:extLst>
          </p:cNvPr>
          <p:cNvSpPr>
            <a:spLocks noGrp="1"/>
          </p:cNvSpPr>
          <p:nvPr/>
        </p:nvSpPr>
        <p:spPr>
          <a:xfrm>
            <a:off x="14954250" y="4210050"/>
            <a:ext cx="2190750" cy="4953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3150" b="1" i="0">
                <a:solidFill>
                  <a:srgbClr val="0C2441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0C2441"/>
                </a:solidFill>
                <a:latin typeface="Avenir Next"/>
                <a:ea typeface="Avenir Next"/>
                <a:cs typeface="Avenir Next"/>
              </a:rPr>
              <a:t>&gt;200 次</a:t>
            </a:r>
          </a:p>
        </p:txBody>
      </p:sp>
      <p:sp>
        <p:nvSpPr>
          <p:cNvPr id="12" name="reliability-note-2">
            <a:extLst>
              <a:ext uri="{FF2B5EF4-FFF2-40B4-BE49-F238E27FC236}">
                <a16:creationId xmlns:a16="http://schemas.microsoft.com/office/drawing/2014/main" id="{E24DE66B-3D1A-4A94-8CD4-612210096F0C}"/>
              </a:ext>
            </a:extLst>
          </p:cNvPr>
          <p:cNvSpPr>
            <a:spLocks noGrp="1"/>
          </p:cNvSpPr>
          <p:nvPr/>
        </p:nvSpPr>
        <p:spPr>
          <a:xfrm>
            <a:off x="14954250" y="4819650"/>
            <a:ext cx="2190750" cy="4191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vacuum service / box folding</a:t>
            </a:r>
          </a:p>
        </p:txBody>
      </p:sp>
      <p:sp>
        <p:nvSpPr>
          <p:cNvPr id="13" name="reliability-count-3">
            <a:extLst>
              <a:ext uri="{FF2B5EF4-FFF2-40B4-BE49-F238E27FC236}">
                <a16:creationId xmlns:a16="http://schemas.microsoft.com/office/drawing/2014/main" id="{114BBFC9-A2C2-40CE-A7BD-A55E8F291FF4}"/>
              </a:ext>
            </a:extLst>
          </p:cNvPr>
          <p:cNvSpPr>
            <a:spLocks noGrp="1"/>
          </p:cNvSpPr>
          <p:nvPr/>
        </p:nvSpPr>
        <p:spPr>
          <a:xfrm>
            <a:off x="14954250" y="5372100"/>
            <a:ext cx="2190750" cy="4953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3150" b="1" i="0">
                <a:solidFill>
                  <a:srgbClr val="E6C84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E6C84F"/>
                </a:solidFill>
                <a:latin typeface="Avenir Next"/>
                <a:ea typeface="Avenir Next"/>
                <a:cs typeface="Avenir Next"/>
              </a:rPr>
              <a:t>&gt;100 次</a:t>
            </a:r>
          </a:p>
        </p:txBody>
      </p:sp>
      <p:sp>
        <p:nvSpPr>
          <p:cNvPr id="14" name="reliability-note-3">
            <a:extLst>
              <a:ext uri="{FF2B5EF4-FFF2-40B4-BE49-F238E27FC236}">
                <a16:creationId xmlns:a16="http://schemas.microsoft.com/office/drawing/2014/main" id="{3F6ED1AF-FE67-4D91-9451-5C38924AFE77}"/>
              </a:ext>
            </a:extLst>
          </p:cNvPr>
          <p:cNvSpPr>
            <a:spLocks noGrp="1"/>
          </p:cNvSpPr>
          <p:nvPr/>
        </p:nvSpPr>
        <p:spPr>
          <a:xfrm>
            <a:off x="14954250" y="5981700"/>
            <a:ext cx="2190750" cy="4191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phone packing without intervention</a:t>
            </a:r>
          </a:p>
        </p:txBody>
      </p:sp>
    </p:spTree>
    <p:extLst>
      <p:ext uri="{BB962C8B-B14F-4D97-AF65-F5344CB8AC3E}">
        <p14:creationId xmlns:p14="http://schemas.microsoft.com/office/powerpoint/2010/main" val="763995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3BED3CB-DF16-4514-8335-4094DF782BE5}"/>
              </a:ext>
            </a:extLst>
          </p:cNvPr>
          <p:cNvSpPr>
            <a:spLocks noGrp="1"/>
          </p:cNvSpPr>
          <p:nvPr/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6A48FEAC-33E8-400D-9823-4C19977ED1CA}"/>
              </a:ext>
            </a:extLst>
          </p:cNvPr>
          <p:cNvSpPr>
            <a:spLocks noGrp="1"/>
          </p:cNvSpPr>
          <p:nvPr/>
        </p:nvSpPr>
        <p:spPr>
          <a:xfrm>
            <a:off x="1143000" y="495300"/>
            <a:ext cx="13144500" cy="5143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3300" b="1">
                <a:solidFill>
                  <a:srgbClr val="1B1A17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B1A17"/>
                </a:solidFill>
                <a:latin typeface="Songti SC"/>
                <a:ea typeface="Songti SC"/>
                <a:cs typeface="Songti SC"/>
              </a:rPr>
              <a:t>速度与即兴恢复：另一半才是“精通”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B49C4262-55D2-435E-BA44-19262868CBA7}"/>
              </a:ext>
            </a:extLst>
          </p:cNvPr>
          <p:cNvSpPr>
            <a:spLocks noGrp="1"/>
          </p:cNvSpPr>
          <p:nvPr/>
        </p:nvSpPr>
        <p:spPr>
          <a:xfrm>
            <a:off x="1143000" y="1066800"/>
            <a:ext cx="131445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文章强调：快，不只是快动作；即兴，不只是炫技。</a:t>
            </a:r>
          </a:p>
        </p:txBody>
      </p:sp>
      <p:sp>
        <p:nvSpPr>
          <p:cNvPr id="4" name="logo-wordmark">
            <a:extLst>
              <a:ext uri="{FF2B5EF4-FFF2-40B4-BE49-F238E27FC236}">
                <a16:creationId xmlns:a16="http://schemas.microsoft.com/office/drawing/2014/main" id="{1832178A-42F9-4636-9243-338AB4B311CD}"/>
              </a:ext>
            </a:extLst>
          </p:cNvPr>
          <p:cNvSpPr>
            <a:spLocks noGrp="1"/>
          </p:cNvSpPr>
          <p:nvPr/>
        </p:nvSpPr>
        <p:spPr>
          <a:xfrm>
            <a:off x="14478000" y="590550"/>
            <a:ext cx="26670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6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Generalist AI</a:t>
            </a:r>
          </a:p>
        </p:txBody>
      </p:sp>
      <p:sp>
        <p:nvSpPr>
          <p:cNvPr id="5" name="source-line">
            <a:extLst>
              <a:ext uri="{FF2B5EF4-FFF2-40B4-BE49-F238E27FC236}">
                <a16:creationId xmlns:a16="http://schemas.microsoft.com/office/drawing/2014/main" id="{190DBD8A-3845-4003-A14C-72C94E2AFFC8}"/>
              </a:ext>
            </a:extLst>
          </p:cNvPr>
          <p:cNvSpPr>
            <a:spLocks noGrp="1"/>
          </p:cNvSpPr>
          <p:nvPr/>
        </p:nvSpPr>
        <p:spPr>
          <a:xfrm>
            <a:off x="1143000" y="9734550"/>
            <a:ext cx="11430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90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Source: Generalist AI Blog, 2026-04-02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FEF4F094-7703-4A4A-A833-C4111FB80895}"/>
              </a:ext>
            </a:extLst>
          </p:cNvPr>
          <p:cNvSpPr>
            <a:spLocks noGrp="1"/>
          </p:cNvSpPr>
          <p:nvPr/>
        </p:nvSpPr>
        <p:spPr>
          <a:xfrm>
            <a:off x="15811500" y="9715500"/>
            <a:ext cx="1524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975" b="0" i="0">
                <a:solidFill>
                  <a:srgbClr val="5D5A55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5D5A55"/>
                </a:solidFill>
                <a:latin typeface="Avenir Next"/>
                <a:ea typeface="Avenir Next"/>
                <a:cs typeface="Avenir Next"/>
              </a:rPr>
              <a:t>07 / 10</a:t>
            </a:r>
          </a:p>
        </p:txBody>
      </p:sp>
      <p:pic>
        <p:nvPicPr>
          <p:cNvPr id="7" name="demo-ethernet-image"/>
          <p:cNvPicPr>
            <a:picLocks noChangeAspect="1"/>
          </p:cNvPicPr>
          <p:nvPr/>
        </p:nvPicPr>
        <p:blipFill>
          <a:blip r:embed="rId3"/>
          <a:srcRect t="20951" b="20951"/>
          <a:stretch>
            <a:fillRect/>
          </a:stretch>
        </p:blipFill>
        <p:spPr>
          <a:xfrm>
            <a:off x="1143000" y="2381250"/>
            <a:ext cx="4371975" cy="1905000"/>
          </a:xfrm>
          <a:prstGeom prst="rect">
            <a:avLst/>
          </a:prstGeom>
        </p:spPr>
      </p:pic>
      <p:sp>
        <p:nvSpPr>
          <p:cNvPr id="8" name="demo-ethernet-caption">
            <a:extLst>
              <a:ext uri="{FF2B5EF4-FFF2-40B4-BE49-F238E27FC236}">
                <a16:creationId xmlns:a16="http://schemas.microsoft.com/office/drawing/2014/main" id="{118458BF-BFA7-4ADB-8310-98A18E429514}"/>
              </a:ext>
            </a:extLst>
          </p:cNvPr>
          <p:cNvSpPr>
            <a:spLocks noGrp="1"/>
          </p:cNvSpPr>
          <p:nvPr/>
        </p:nvSpPr>
        <p:spPr>
          <a:xfrm>
            <a:off x="1143000" y="438150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275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插网线 · fine-grained manipulation</a:t>
            </a:r>
          </a:p>
        </p:txBody>
      </p:sp>
      <p:pic>
        <p:nvPicPr>
          <p:cNvPr id="9" name="demo-zipper-image"/>
          <p:cNvPicPr>
            <a:picLocks noChangeAspect="1"/>
          </p:cNvPicPr>
          <p:nvPr/>
        </p:nvPicPr>
        <p:blipFill>
          <a:blip r:embed="rId4"/>
          <a:srcRect t="20951" b="20951"/>
          <a:stretch>
            <a:fillRect/>
          </a:stretch>
        </p:blipFill>
        <p:spPr>
          <a:xfrm>
            <a:off x="5724525" y="2381250"/>
            <a:ext cx="4371975" cy="1905000"/>
          </a:xfrm>
          <a:prstGeom prst="rect">
            <a:avLst/>
          </a:prstGeom>
        </p:spPr>
      </p:pic>
      <p:sp>
        <p:nvSpPr>
          <p:cNvPr id="10" name="demo-zipper-caption">
            <a:extLst>
              <a:ext uri="{FF2B5EF4-FFF2-40B4-BE49-F238E27FC236}">
                <a16:creationId xmlns:a16="http://schemas.microsoft.com/office/drawing/2014/main" id="{B5C448A9-57DA-42F2-8271-6E416CE57F9D}"/>
              </a:ext>
            </a:extLst>
          </p:cNvPr>
          <p:cNvSpPr>
            <a:spLocks noGrp="1"/>
          </p:cNvSpPr>
          <p:nvPr/>
        </p:nvSpPr>
        <p:spPr>
          <a:xfrm>
            <a:off x="5734050" y="438150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275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装笔进拉链袋 · deformable object handling</a:t>
            </a:r>
          </a:p>
        </p:txBody>
      </p:sp>
      <p:pic>
        <p:nvPicPr>
          <p:cNvPr id="11" name="demo-shell-image"/>
          <p:cNvPicPr>
            <a:picLocks noChangeAspect="1"/>
          </p:cNvPicPr>
          <p:nvPr/>
        </p:nvPicPr>
        <p:blipFill>
          <a:blip r:embed="rId5"/>
          <a:srcRect t="20951" b="20951"/>
          <a:stretch>
            <a:fillRect/>
          </a:stretch>
        </p:blipFill>
        <p:spPr>
          <a:xfrm>
            <a:off x="1143000" y="5648325"/>
            <a:ext cx="4371975" cy="1905000"/>
          </a:xfrm>
          <a:prstGeom prst="rect">
            <a:avLst/>
          </a:prstGeom>
        </p:spPr>
      </p:pic>
      <p:sp>
        <p:nvSpPr>
          <p:cNvPr id="12" name="demo-shell-caption">
            <a:extLst>
              <a:ext uri="{FF2B5EF4-FFF2-40B4-BE49-F238E27FC236}">
                <a16:creationId xmlns:a16="http://schemas.microsoft.com/office/drawing/2014/main" id="{F4188CFC-C9AC-4992-ACDA-D16C8028D63C}"/>
              </a:ext>
            </a:extLst>
          </p:cNvPr>
          <p:cNvSpPr>
            <a:spLocks noGrp="1"/>
          </p:cNvSpPr>
          <p:nvPr/>
        </p:nvSpPr>
        <p:spPr>
          <a:xfrm>
            <a:off x="1143000" y="765810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275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Shell Game · fast reactive dexterity</a:t>
            </a:r>
          </a:p>
        </p:txBody>
      </p:sp>
      <p:pic>
        <p:nvPicPr>
          <p:cNvPr id="13" name="demo-lights-image"/>
          <p:cNvPicPr>
            <a:picLocks noChangeAspect="1"/>
          </p:cNvPicPr>
          <p:nvPr/>
        </p:nvPicPr>
        <p:blipFill>
          <a:blip r:embed="rId6"/>
          <a:srcRect t="20951" b="20951"/>
          <a:stretch>
            <a:fillRect/>
          </a:stretch>
        </p:blipFill>
        <p:spPr>
          <a:xfrm>
            <a:off x="5724525" y="5648325"/>
            <a:ext cx="4371975" cy="1905000"/>
          </a:xfrm>
          <a:prstGeom prst="rect">
            <a:avLst/>
          </a:prstGeom>
        </p:spPr>
      </p:pic>
      <p:sp>
        <p:nvSpPr>
          <p:cNvPr id="14" name="demo-lights-caption">
            <a:extLst>
              <a:ext uri="{FF2B5EF4-FFF2-40B4-BE49-F238E27FC236}">
                <a16:creationId xmlns:a16="http://schemas.microsoft.com/office/drawing/2014/main" id="{D3158F1E-6FB4-4E5E-9C4A-5F37FD4C472A}"/>
              </a:ext>
            </a:extLst>
          </p:cNvPr>
          <p:cNvSpPr>
            <a:spLocks noGrp="1"/>
          </p:cNvSpPr>
          <p:nvPr/>
        </p:nvSpPr>
        <p:spPr>
          <a:xfrm>
            <a:off x="5734050" y="765810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275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熄灯继续工作 · robustness under disturbance</a:t>
            </a:r>
          </a:p>
        </p:txBody>
      </p:sp>
      <p:sp>
        <p:nvSpPr>
          <p:cNvPr id="15" name="speed-big-1">
            <a:extLst>
              <a:ext uri="{FF2B5EF4-FFF2-40B4-BE49-F238E27FC236}">
                <a16:creationId xmlns:a16="http://schemas.microsoft.com/office/drawing/2014/main" id="{F90C947D-295F-4BDE-ADD4-D507AE5E2277}"/>
              </a:ext>
            </a:extLst>
          </p:cNvPr>
          <p:cNvSpPr>
            <a:spLocks noGrp="1"/>
          </p:cNvSpPr>
          <p:nvPr/>
        </p:nvSpPr>
        <p:spPr>
          <a:xfrm>
            <a:off x="10668000" y="2571750"/>
            <a:ext cx="6096000" cy="990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64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64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12.1 s</a:t>
            </a:r>
          </a:p>
        </p:txBody>
      </p:sp>
      <p:sp>
        <p:nvSpPr>
          <p:cNvPr id="16" name="speed-label-1">
            <a:extLst>
              <a:ext uri="{FF2B5EF4-FFF2-40B4-BE49-F238E27FC236}">
                <a16:creationId xmlns:a16="http://schemas.microsoft.com/office/drawing/2014/main" id="{7E699FB9-811D-4322-8428-097107F3E330}"/>
              </a:ext>
            </a:extLst>
          </p:cNvPr>
          <p:cNvSpPr>
            <a:spLocks noGrp="1"/>
          </p:cNvSpPr>
          <p:nvPr/>
        </p:nvSpPr>
        <p:spPr>
          <a:xfrm>
            <a:off x="10668000" y="3771900"/>
            <a:ext cx="60960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1" i="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fold a box</a:t>
            </a:r>
          </a:p>
        </p:txBody>
      </p:sp>
      <p:sp>
        <p:nvSpPr>
          <p:cNvPr id="17" name="speed-note-1">
            <a:extLst>
              <a:ext uri="{FF2B5EF4-FFF2-40B4-BE49-F238E27FC236}">
                <a16:creationId xmlns:a16="http://schemas.microsoft.com/office/drawing/2014/main" id="{7CA79CA2-25E8-4E54-A494-658B4F7C91AD}"/>
              </a:ext>
            </a:extLst>
          </p:cNvPr>
          <p:cNvSpPr>
            <a:spLocks noGrp="1"/>
          </p:cNvSpPr>
          <p:nvPr/>
        </p:nvSpPr>
        <p:spPr>
          <a:xfrm>
            <a:off x="10668000" y="4248150"/>
            <a:ext cx="60960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~2.8x faster than prior SOTA (~34 s)</a:t>
            </a:r>
          </a:p>
        </p:txBody>
      </p:sp>
      <p:sp>
        <p:nvSpPr>
          <p:cNvPr id="18" name="speed-big-2">
            <a:extLst>
              <a:ext uri="{FF2B5EF4-FFF2-40B4-BE49-F238E27FC236}">
                <a16:creationId xmlns:a16="http://schemas.microsoft.com/office/drawing/2014/main" id="{E2B2F0D8-AB48-4498-928C-3727B8B9626A}"/>
              </a:ext>
            </a:extLst>
          </p:cNvPr>
          <p:cNvSpPr>
            <a:spLocks noGrp="1"/>
          </p:cNvSpPr>
          <p:nvPr/>
        </p:nvSpPr>
        <p:spPr>
          <a:xfrm>
            <a:off x="10668000" y="4667250"/>
            <a:ext cx="6096000" cy="990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6450" b="1" i="0">
                <a:solidFill>
                  <a:srgbClr val="0C2441"/>
                </a:solidFill>
                <a:latin typeface="Avenir Next"/>
                <a:ea typeface="Avenir Next"/>
                <a:cs typeface="Avenir Next"/>
              </a:defRPr>
            </a:pPr>
            <a:r>
              <a:rPr sz="6450" b="1" i="0">
                <a:solidFill>
                  <a:srgbClr val="0C2441"/>
                </a:solidFill>
                <a:latin typeface="Avenir Next"/>
                <a:ea typeface="Avenir Next"/>
                <a:cs typeface="Avenir Next"/>
              </a:rPr>
              <a:t>15.5 s</a:t>
            </a:r>
          </a:p>
        </p:txBody>
      </p:sp>
      <p:sp>
        <p:nvSpPr>
          <p:cNvPr id="19" name="speed-label-2">
            <a:extLst>
              <a:ext uri="{FF2B5EF4-FFF2-40B4-BE49-F238E27FC236}">
                <a16:creationId xmlns:a16="http://schemas.microsoft.com/office/drawing/2014/main" id="{C2FFB560-2E52-43DE-A2A1-0F61EF8C1071}"/>
              </a:ext>
            </a:extLst>
          </p:cNvPr>
          <p:cNvSpPr>
            <a:spLocks noGrp="1"/>
          </p:cNvSpPr>
          <p:nvPr/>
        </p:nvSpPr>
        <p:spPr>
          <a:xfrm>
            <a:off x="10668000" y="5848350"/>
            <a:ext cx="60960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1" i="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pack a phone</a:t>
            </a:r>
          </a:p>
        </p:txBody>
      </p:sp>
      <p:sp>
        <p:nvSpPr>
          <p:cNvPr id="20" name="speed-note-2">
            <a:extLst>
              <a:ext uri="{FF2B5EF4-FFF2-40B4-BE49-F238E27FC236}">
                <a16:creationId xmlns:a16="http://schemas.microsoft.com/office/drawing/2014/main" id="{A1024114-09BE-4AED-B2C1-6F7AF4DCDFFD}"/>
              </a:ext>
            </a:extLst>
          </p:cNvPr>
          <p:cNvSpPr>
            <a:spLocks noGrp="1"/>
          </p:cNvSpPr>
          <p:nvPr/>
        </p:nvSpPr>
        <p:spPr>
          <a:xfrm>
            <a:off x="10668000" y="6343650"/>
            <a:ext cx="60960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~2.8x the speed of GEN-0</a:t>
            </a:r>
          </a:p>
        </p:txBody>
      </p:sp>
      <p:sp>
        <p:nvSpPr>
          <p:cNvPr id="21" name="speed-improv-note">
            <a:extLst>
              <a:ext uri="{FF2B5EF4-FFF2-40B4-BE49-F238E27FC236}">
                <a16:creationId xmlns:a16="http://schemas.microsoft.com/office/drawing/2014/main" id="{3E5AC00A-C442-4ACF-85D9-7B7D49EA1E5E}"/>
              </a:ext>
            </a:extLst>
          </p:cNvPr>
          <p:cNvSpPr>
            <a:spLocks noGrp="1"/>
          </p:cNvSpPr>
          <p:nvPr/>
        </p:nvSpPr>
        <p:spPr>
          <a:xfrm>
            <a:off x="10668000" y="6762750"/>
            <a:ext cx="5067300" cy="6858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50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Improvisation = regrasp, recovery, bimanual adjustment, and long-tail correction when the world departs from the script.</a:t>
            </a:r>
          </a:p>
        </p:txBody>
      </p:sp>
    </p:spTree>
    <p:extLst>
      <p:ext uri="{BB962C8B-B14F-4D97-AF65-F5344CB8AC3E}">
        <p14:creationId xmlns:p14="http://schemas.microsoft.com/office/powerpoint/2010/main" val="213346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6010399-259C-4591-90ED-999590C561FC}"/>
              </a:ext>
            </a:extLst>
          </p:cNvPr>
          <p:cNvSpPr>
            <a:spLocks noGrp="1"/>
          </p:cNvSpPr>
          <p:nvPr/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7B2114D-82F4-45EE-8B48-6A7C40D3CDF3}"/>
              </a:ext>
            </a:extLst>
          </p:cNvPr>
          <p:cNvSpPr>
            <a:spLocks noGrp="1"/>
          </p:cNvSpPr>
          <p:nvPr/>
        </p:nvSpPr>
        <p:spPr>
          <a:xfrm>
            <a:off x="1143000" y="495300"/>
            <a:ext cx="13144500" cy="5143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3300" b="1">
                <a:solidFill>
                  <a:srgbClr val="1B1A17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B1A17"/>
                </a:solidFill>
                <a:latin typeface="Songti SC"/>
                <a:ea typeface="Songti SC"/>
                <a:cs typeface="Songti SC"/>
              </a:rPr>
              <a:t>为什么值得关注：商业阈值 + 数据效率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3836ED6A-1098-4D60-8DAD-A893BB2944F8}"/>
              </a:ext>
            </a:extLst>
          </p:cNvPr>
          <p:cNvSpPr>
            <a:spLocks noGrp="1"/>
          </p:cNvSpPr>
          <p:nvPr/>
        </p:nvSpPr>
        <p:spPr>
          <a:xfrm>
            <a:off x="1143000" y="1066800"/>
            <a:ext cx="131445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这篇文章最现实的地方，在于它开始明确谈 economically useful settings。</a:t>
            </a:r>
          </a:p>
        </p:txBody>
      </p:sp>
      <p:sp>
        <p:nvSpPr>
          <p:cNvPr id="4" name="logo-wordmark">
            <a:extLst>
              <a:ext uri="{FF2B5EF4-FFF2-40B4-BE49-F238E27FC236}">
                <a16:creationId xmlns:a16="http://schemas.microsoft.com/office/drawing/2014/main" id="{26BBC99A-6611-4C6E-9B06-53B0D45B8D8D}"/>
              </a:ext>
            </a:extLst>
          </p:cNvPr>
          <p:cNvSpPr>
            <a:spLocks noGrp="1"/>
          </p:cNvSpPr>
          <p:nvPr/>
        </p:nvSpPr>
        <p:spPr>
          <a:xfrm>
            <a:off x="14478000" y="590550"/>
            <a:ext cx="26670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6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Generalist AI</a:t>
            </a:r>
          </a:p>
        </p:txBody>
      </p:sp>
      <p:sp>
        <p:nvSpPr>
          <p:cNvPr id="5" name="source-line">
            <a:extLst>
              <a:ext uri="{FF2B5EF4-FFF2-40B4-BE49-F238E27FC236}">
                <a16:creationId xmlns:a16="http://schemas.microsoft.com/office/drawing/2014/main" id="{9BEFA05D-66B5-4295-8EDE-2B988A016A39}"/>
              </a:ext>
            </a:extLst>
          </p:cNvPr>
          <p:cNvSpPr>
            <a:spLocks noGrp="1"/>
          </p:cNvSpPr>
          <p:nvPr/>
        </p:nvSpPr>
        <p:spPr>
          <a:xfrm>
            <a:off x="1143000" y="9734550"/>
            <a:ext cx="11430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90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Source: Generalist AI Blog, 2026-04-02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03FC7BE4-FBB6-4136-9B5A-E7A9177B8EDA}"/>
              </a:ext>
            </a:extLst>
          </p:cNvPr>
          <p:cNvSpPr>
            <a:spLocks noGrp="1"/>
          </p:cNvSpPr>
          <p:nvPr/>
        </p:nvSpPr>
        <p:spPr>
          <a:xfrm>
            <a:off x="15811500" y="9715500"/>
            <a:ext cx="1524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975" b="0" i="0">
                <a:solidFill>
                  <a:srgbClr val="5D5A55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5D5A55"/>
                </a:solidFill>
                <a:latin typeface="Avenir Next"/>
                <a:ea typeface="Avenir Next"/>
                <a:cs typeface="Avenir Next"/>
              </a:rPr>
              <a:t>08 / 10</a:t>
            </a:r>
          </a:p>
        </p:txBody>
      </p:sp>
      <p:pic>
        <p:nvPicPr>
          <p:cNvPr id="7" name="meaning-wallet-image"/>
          <p:cNvPicPr>
            <a:picLocks noChangeAspect="1"/>
          </p:cNvPicPr>
          <p:nvPr/>
        </p:nvPicPr>
        <p:blipFill>
          <a:blip r:embed="rId3"/>
          <a:srcRect t="24359" b="24359"/>
          <a:stretch>
            <a:fillRect/>
          </a:stretch>
        </p:blipFill>
        <p:spPr>
          <a:xfrm>
            <a:off x="1143000" y="2381250"/>
            <a:ext cx="4953000" cy="1905000"/>
          </a:xfrm>
          <a:prstGeom prst="rect">
            <a:avLst/>
          </a:prstGeom>
        </p:spPr>
      </p:pic>
      <p:sp>
        <p:nvSpPr>
          <p:cNvPr id="8" name="meaning-wallet-caption">
            <a:extLst>
              <a:ext uri="{FF2B5EF4-FFF2-40B4-BE49-F238E27FC236}">
                <a16:creationId xmlns:a16="http://schemas.microsoft.com/office/drawing/2014/main" id="{CDFF7194-067C-4266-843F-2174B7C6523F}"/>
              </a:ext>
            </a:extLst>
          </p:cNvPr>
          <p:cNvSpPr>
            <a:spLocks noGrp="1"/>
          </p:cNvSpPr>
          <p:nvPr/>
        </p:nvSpPr>
        <p:spPr>
          <a:xfrm>
            <a:off x="1143000" y="4381500"/>
            <a:ext cx="49530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275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把钱塞进钱包：精细接触与对齐</a:t>
            </a:r>
          </a:p>
        </p:txBody>
      </p:sp>
      <p:pic>
        <p:nvPicPr>
          <p:cNvPr id="9" name="meaning-whiteboard-image"/>
          <p:cNvPicPr>
            <a:picLocks noChangeAspect="1"/>
          </p:cNvPicPr>
          <p:nvPr/>
        </p:nvPicPr>
        <p:blipFill>
          <a:blip r:embed="rId4"/>
          <a:srcRect t="24359" b="24359"/>
          <a:stretch>
            <a:fillRect/>
          </a:stretch>
        </p:blipFill>
        <p:spPr>
          <a:xfrm>
            <a:off x="1143000" y="5591175"/>
            <a:ext cx="4953000" cy="1905000"/>
          </a:xfrm>
          <a:prstGeom prst="rect">
            <a:avLst/>
          </a:prstGeom>
        </p:spPr>
      </p:pic>
      <p:sp>
        <p:nvSpPr>
          <p:cNvPr id="10" name="meaning-whiteboard-caption">
            <a:extLst>
              <a:ext uri="{FF2B5EF4-FFF2-40B4-BE49-F238E27FC236}">
                <a16:creationId xmlns:a16="http://schemas.microsoft.com/office/drawing/2014/main" id="{A6619F55-77B1-4D1F-9739-0D2A06A5138A}"/>
              </a:ext>
            </a:extLst>
          </p:cNvPr>
          <p:cNvSpPr>
            <a:spLocks noGrp="1"/>
          </p:cNvSpPr>
          <p:nvPr/>
        </p:nvSpPr>
        <p:spPr>
          <a:xfrm>
            <a:off x="1143000" y="7600950"/>
            <a:ext cx="49530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275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擦白板：更贴近日常物理工作</a:t>
            </a:r>
          </a:p>
        </p:txBody>
      </p:sp>
      <p:sp>
        <p:nvSpPr>
          <p:cNvPr id="11" name="meaning-hero">
            <a:extLst>
              <a:ext uri="{FF2B5EF4-FFF2-40B4-BE49-F238E27FC236}">
                <a16:creationId xmlns:a16="http://schemas.microsoft.com/office/drawing/2014/main" id="{FB348CAA-1A54-42CB-86FA-7A87921E346F}"/>
              </a:ext>
            </a:extLst>
          </p:cNvPr>
          <p:cNvSpPr>
            <a:spLocks noGrp="1"/>
          </p:cNvSpPr>
          <p:nvPr/>
        </p:nvSpPr>
        <p:spPr>
          <a:xfrm>
            <a:off x="6858000" y="2533650"/>
            <a:ext cx="9334500" cy="8382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5400" b="1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5400" b="1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commercial viability</a:t>
            </a:r>
          </a:p>
        </p:txBody>
      </p:sp>
      <p:sp>
        <p:nvSpPr>
          <p:cNvPr id="12" name="meaning-note">
            <a:extLst>
              <a:ext uri="{FF2B5EF4-FFF2-40B4-BE49-F238E27FC236}">
                <a16:creationId xmlns:a16="http://schemas.microsoft.com/office/drawing/2014/main" id="{89E43538-DD78-4541-BAD9-CFB3C530A086}"/>
              </a:ext>
            </a:extLst>
          </p:cNvPr>
          <p:cNvSpPr>
            <a:spLocks noGrp="1"/>
          </p:cNvSpPr>
          <p:nvPr/>
        </p:nvSpPr>
        <p:spPr>
          <a:xfrm>
            <a:off x="6858000" y="342900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0" i="0">
                <a:solidFill>
                  <a:srgbClr val="1B1A17"/>
                </a:solidFill>
                <a:latin typeface="Songti SC"/>
                <a:ea typeface="Songti SC"/>
                <a:cs typeface="Songti SC"/>
              </a:defRPr>
            </a:pPr>
            <a:r>
              <a:rPr sz="1800" b="0" i="0">
                <a:solidFill>
                  <a:srgbClr val="1B1A17"/>
                </a:solidFill>
                <a:latin typeface="Songti SC"/>
                <a:ea typeface="Songti SC"/>
                <a:cs typeface="Songti SC"/>
              </a:rPr>
              <a:t>文章试图证明：某些简单但有经济价值的任务，已经开始跨过“可部署”门槛。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3FC326-A0B5-404E-B389-69B7056C9AEF}"/>
              </a:ext>
            </a:extLst>
          </p:cNvPr>
          <p:cNvSpPr>
            <a:spLocks noGrp="1"/>
          </p:cNvSpPr>
          <p:nvPr/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table-k1">
            <a:extLst>
              <a:ext uri="{FF2B5EF4-FFF2-40B4-BE49-F238E27FC236}">
                <a16:creationId xmlns:a16="http://schemas.microsoft.com/office/drawing/2014/main" id="{548F9939-DA2E-47EB-B1A7-A3909ED30B00}"/>
              </a:ext>
            </a:extLst>
          </p:cNvPr>
          <p:cNvSpPr>
            <a:spLocks noGrp="1"/>
          </p:cNvSpPr>
          <p:nvPr/>
        </p:nvSpPr>
        <p:spPr>
          <a:xfrm>
            <a:off x="7239000" y="4953000"/>
            <a:ext cx="2857500" cy="4572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 b="1" i="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Data engine scale</a:t>
            </a:r>
          </a:p>
        </p:txBody>
      </p:sp>
      <p:sp>
        <p:nvSpPr>
          <p:cNvPr id="15" name="table-v1">
            <a:extLst>
              <a:ext uri="{FF2B5EF4-FFF2-40B4-BE49-F238E27FC236}">
                <a16:creationId xmlns:a16="http://schemas.microsoft.com/office/drawing/2014/main" id="{5E30BF19-4260-4059-AB94-076C3ECEC3ED}"/>
              </a:ext>
            </a:extLst>
          </p:cNvPr>
          <p:cNvSpPr>
            <a:spLocks noGrp="1"/>
          </p:cNvSpPr>
          <p:nvPr/>
        </p:nvSpPr>
        <p:spPr>
          <a:xfrm>
            <a:off x="10382250" y="4953000"/>
            <a:ext cx="5429250" cy="4572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&gt;500k h physical interaction data</a:t>
            </a:r>
          </a:p>
        </p:txBody>
      </p:sp>
      <p:sp>
        <p:nvSpPr>
          <p:cNvPr id="16" name="table-k2">
            <a:extLst>
              <a:ext uri="{FF2B5EF4-FFF2-40B4-BE49-F238E27FC236}">
                <a16:creationId xmlns:a16="http://schemas.microsoft.com/office/drawing/2014/main" id="{17239D7E-8002-495A-9369-8F222EA48347}"/>
              </a:ext>
            </a:extLst>
          </p:cNvPr>
          <p:cNvSpPr>
            <a:spLocks noGrp="1"/>
          </p:cNvSpPr>
          <p:nvPr/>
        </p:nvSpPr>
        <p:spPr>
          <a:xfrm>
            <a:off x="7239000" y="5657850"/>
            <a:ext cx="2857500" cy="4572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 b="1" i="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Base pretraining</a:t>
            </a:r>
          </a:p>
        </p:txBody>
      </p:sp>
      <p:sp>
        <p:nvSpPr>
          <p:cNvPr id="17" name="table-v2">
            <a:extLst>
              <a:ext uri="{FF2B5EF4-FFF2-40B4-BE49-F238E27FC236}">
                <a16:creationId xmlns:a16="http://schemas.microsoft.com/office/drawing/2014/main" id="{B20CBFF6-BBE4-458E-910B-C33C17CF46E7}"/>
              </a:ext>
            </a:extLst>
          </p:cNvPr>
          <p:cNvSpPr>
            <a:spLocks noGrp="1"/>
          </p:cNvSpPr>
          <p:nvPr/>
        </p:nvSpPr>
        <p:spPr>
          <a:xfrm>
            <a:off x="10382250" y="5657850"/>
            <a:ext cx="5429250" cy="4572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no robot data</a:t>
            </a:r>
          </a:p>
        </p:txBody>
      </p:sp>
      <p:sp>
        <p:nvSpPr>
          <p:cNvPr id="18" name="table-k3">
            <a:extLst>
              <a:ext uri="{FF2B5EF4-FFF2-40B4-BE49-F238E27FC236}">
                <a16:creationId xmlns:a16="http://schemas.microsoft.com/office/drawing/2014/main" id="{8C5B1B70-2FE3-49BC-BAE5-91B9D1B1ABAA}"/>
              </a:ext>
            </a:extLst>
          </p:cNvPr>
          <p:cNvSpPr>
            <a:spLocks noGrp="1"/>
          </p:cNvSpPr>
          <p:nvPr/>
        </p:nvSpPr>
        <p:spPr>
          <a:xfrm>
            <a:off x="7239000" y="6362700"/>
            <a:ext cx="2857500" cy="4572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 b="1" i="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Task adaptation</a:t>
            </a:r>
          </a:p>
        </p:txBody>
      </p:sp>
      <p:sp>
        <p:nvSpPr>
          <p:cNvPr id="19" name="table-v3">
            <a:extLst>
              <a:ext uri="{FF2B5EF4-FFF2-40B4-BE49-F238E27FC236}">
                <a16:creationId xmlns:a16="http://schemas.microsoft.com/office/drawing/2014/main" id="{AEDB8674-7D4B-404A-A58B-8B2415CBE56F}"/>
              </a:ext>
            </a:extLst>
          </p:cNvPr>
          <p:cNvSpPr>
            <a:spLocks noGrp="1"/>
          </p:cNvSpPr>
          <p:nvPr/>
        </p:nvSpPr>
        <p:spPr>
          <a:xfrm>
            <a:off x="10382250" y="6362700"/>
            <a:ext cx="5429250" cy="4572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~1 h robot data per shown result</a:t>
            </a:r>
          </a:p>
        </p:txBody>
      </p:sp>
      <p:sp>
        <p:nvSpPr>
          <p:cNvPr id="20" name="table-k4">
            <a:extLst>
              <a:ext uri="{FF2B5EF4-FFF2-40B4-BE49-F238E27FC236}">
                <a16:creationId xmlns:a16="http://schemas.microsoft.com/office/drawing/2014/main" id="{DB79808B-F26F-4360-8565-CC2DBE2C893F}"/>
              </a:ext>
            </a:extLst>
          </p:cNvPr>
          <p:cNvSpPr>
            <a:spLocks noGrp="1"/>
          </p:cNvSpPr>
          <p:nvPr/>
        </p:nvSpPr>
        <p:spPr>
          <a:xfrm>
            <a:off x="7239000" y="7067550"/>
            <a:ext cx="2857500" cy="4572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 b="1" i="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Sample efficiency</a:t>
            </a:r>
          </a:p>
        </p:txBody>
      </p:sp>
      <p:sp>
        <p:nvSpPr>
          <p:cNvPr id="21" name="table-v4">
            <a:extLst>
              <a:ext uri="{FF2B5EF4-FFF2-40B4-BE49-F238E27FC236}">
                <a16:creationId xmlns:a16="http://schemas.microsoft.com/office/drawing/2014/main" id="{F0B2AD78-9A22-40C1-A187-5989E4C842CB}"/>
              </a:ext>
            </a:extLst>
          </p:cNvPr>
          <p:cNvSpPr>
            <a:spLocks noGrp="1"/>
          </p:cNvSpPr>
          <p:nvPr/>
        </p:nvSpPr>
        <p:spPr>
          <a:xfrm>
            <a:off x="10382250" y="7067550"/>
            <a:ext cx="5429250" cy="4572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10x less task-specific data in some tests</a:t>
            </a:r>
          </a:p>
        </p:txBody>
      </p:sp>
    </p:spTree>
    <p:extLst>
      <p:ext uri="{BB962C8B-B14F-4D97-AF65-F5344CB8AC3E}">
        <p14:creationId xmlns:p14="http://schemas.microsoft.com/office/powerpoint/2010/main" val="1378373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FCF39AF-A12F-4C85-B511-D408DBCC4F8D}"/>
              </a:ext>
            </a:extLst>
          </p:cNvPr>
          <p:cNvSpPr>
            <a:spLocks noGrp="1"/>
          </p:cNvSpPr>
          <p:nvPr/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71702B7-98AC-4C89-BE41-BAB3ED5DAC63}"/>
              </a:ext>
            </a:extLst>
          </p:cNvPr>
          <p:cNvSpPr>
            <a:spLocks noGrp="1"/>
          </p:cNvSpPr>
          <p:nvPr/>
        </p:nvSpPr>
        <p:spPr>
          <a:xfrm>
            <a:off x="1143000" y="495300"/>
            <a:ext cx="13144500" cy="5143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3300" b="1">
                <a:solidFill>
                  <a:srgbClr val="1B1A17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B1A17"/>
                </a:solidFill>
                <a:latin typeface="Songti SC"/>
                <a:ea typeface="Songti SC"/>
                <a:cs typeface="Songti SC"/>
              </a:rPr>
              <a:t>局限与 alignment：文章自己承认了什么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2DB39B2C-F458-4704-95F1-526D6CCAD0CE}"/>
              </a:ext>
            </a:extLst>
          </p:cNvPr>
          <p:cNvSpPr>
            <a:spLocks noGrp="1"/>
          </p:cNvSpPr>
          <p:nvPr/>
        </p:nvSpPr>
        <p:spPr>
          <a:xfrm>
            <a:off x="1143000" y="1066800"/>
            <a:ext cx="131445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能力上去了，代价是系统行为更自由，也更需要“该做 / 不该做”的边界。</a:t>
            </a:r>
          </a:p>
        </p:txBody>
      </p:sp>
      <p:sp>
        <p:nvSpPr>
          <p:cNvPr id="4" name="logo-wordmark">
            <a:extLst>
              <a:ext uri="{FF2B5EF4-FFF2-40B4-BE49-F238E27FC236}">
                <a16:creationId xmlns:a16="http://schemas.microsoft.com/office/drawing/2014/main" id="{89571011-B09F-443E-ABB2-7026AC6B6E8D}"/>
              </a:ext>
            </a:extLst>
          </p:cNvPr>
          <p:cNvSpPr>
            <a:spLocks noGrp="1"/>
          </p:cNvSpPr>
          <p:nvPr/>
        </p:nvSpPr>
        <p:spPr>
          <a:xfrm>
            <a:off x="14478000" y="590550"/>
            <a:ext cx="26670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6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Generalist AI</a:t>
            </a:r>
          </a:p>
        </p:txBody>
      </p:sp>
      <p:sp>
        <p:nvSpPr>
          <p:cNvPr id="5" name="source-line">
            <a:extLst>
              <a:ext uri="{FF2B5EF4-FFF2-40B4-BE49-F238E27FC236}">
                <a16:creationId xmlns:a16="http://schemas.microsoft.com/office/drawing/2014/main" id="{B0096B15-5A63-4AED-92A3-39DE4B3D9BD4}"/>
              </a:ext>
            </a:extLst>
          </p:cNvPr>
          <p:cNvSpPr>
            <a:spLocks noGrp="1"/>
          </p:cNvSpPr>
          <p:nvPr/>
        </p:nvSpPr>
        <p:spPr>
          <a:xfrm>
            <a:off x="1143000" y="9734550"/>
            <a:ext cx="11430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90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Source: Generalist AI Blog, 2026-04-02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36398F0E-4F05-4F85-979D-8D903C5ABD7A}"/>
              </a:ext>
            </a:extLst>
          </p:cNvPr>
          <p:cNvSpPr>
            <a:spLocks noGrp="1"/>
          </p:cNvSpPr>
          <p:nvPr/>
        </p:nvSpPr>
        <p:spPr>
          <a:xfrm>
            <a:off x="15811500" y="9715500"/>
            <a:ext cx="1524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975" b="0" i="0">
                <a:solidFill>
                  <a:srgbClr val="5D5A55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5D5A55"/>
                </a:solidFill>
                <a:latin typeface="Avenir Next"/>
                <a:ea typeface="Avenir Next"/>
                <a:cs typeface="Avenir Next"/>
              </a:rPr>
              <a:t>09 / 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3343F3-C020-4174-B707-157227F3F30F}"/>
              </a:ext>
            </a:extLst>
          </p:cNvPr>
          <p:cNvSpPr>
            <a:spLocks noGrp="1"/>
          </p:cNvSpPr>
          <p:nvPr/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52D54C-47AA-4460-AC43-7876E696AD66}"/>
              </a:ext>
            </a:extLst>
          </p:cNvPr>
          <p:cNvSpPr>
            <a:spLocks noGrp="1"/>
          </p:cNvSpPr>
          <p:nvPr/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limits-left-title">
            <a:extLst>
              <a:ext uri="{FF2B5EF4-FFF2-40B4-BE49-F238E27FC236}">
                <a16:creationId xmlns:a16="http://schemas.microsoft.com/office/drawing/2014/main" id="{7297E36C-E2B8-4E72-83E2-BDF4242FF621}"/>
              </a:ext>
            </a:extLst>
          </p:cNvPr>
          <p:cNvSpPr>
            <a:spLocks noGrp="1"/>
          </p:cNvSpPr>
          <p:nvPr/>
        </p:nvSpPr>
        <p:spPr>
          <a:xfrm>
            <a:off x="1714500" y="3048000"/>
            <a:ext cx="6096000" cy="4000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25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Still limited</a:t>
            </a:r>
          </a:p>
        </p:txBody>
      </p:sp>
      <p:sp>
        <p:nvSpPr>
          <p:cNvPr id="10" name="limits-left-1">
            <a:extLst>
              <a:ext uri="{FF2B5EF4-FFF2-40B4-BE49-F238E27FC236}">
                <a16:creationId xmlns:a16="http://schemas.microsoft.com/office/drawing/2014/main" id="{124D667A-8C17-4FCB-AC4D-B0143AAB8752}"/>
              </a:ext>
            </a:extLst>
          </p:cNvPr>
          <p:cNvSpPr>
            <a:spLocks noGrp="1"/>
          </p:cNvSpPr>
          <p:nvPr/>
        </p:nvSpPr>
        <p:spPr>
          <a:xfrm>
            <a:off x="1714500" y="3600450"/>
            <a:ext cx="60960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不是所有任务都能打到 99%+。</a:t>
            </a:r>
          </a:p>
        </p:txBody>
      </p:sp>
      <p:sp>
        <p:nvSpPr>
          <p:cNvPr id="11" name="limits-left-2">
            <a:extLst>
              <a:ext uri="{FF2B5EF4-FFF2-40B4-BE49-F238E27FC236}">
                <a16:creationId xmlns:a16="http://schemas.microsoft.com/office/drawing/2014/main" id="{A9F04151-BEFE-45EE-A066-71AFF415AB93}"/>
              </a:ext>
            </a:extLst>
          </p:cNvPr>
          <p:cNvSpPr>
            <a:spLocks noGrp="1"/>
          </p:cNvSpPr>
          <p:nvPr/>
        </p:nvSpPr>
        <p:spPr>
          <a:xfrm>
            <a:off x="1714500" y="4057650"/>
            <a:ext cx="56007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某些场景需要更高 success rate / speed 才真正可用。</a:t>
            </a:r>
          </a:p>
        </p:txBody>
      </p:sp>
      <p:sp>
        <p:nvSpPr>
          <p:cNvPr id="12" name="limits-left-3">
            <a:extLst>
              <a:ext uri="{FF2B5EF4-FFF2-40B4-BE49-F238E27FC236}">
                <a16:creationId xmlns:a16="http://schemas.microsoft.com/office/drawing/2014/main" id="{1001C2D6-8BDB-4C31-95DB-3F5DEFA1756A}"/>
              </a:ext>
            </a:extLst>
          </p:cNvPr>
          <p:cNvSpPr>
            <a:spLocks noGrp="1"/>
          </p:cNvSpPr>
          <p:nvPr/>
        </p:nvSpPr>
        <p:spPr>
          <a:xfrm>
            <a:off x="1714500" y="4495800"/>
            <a:ext cx="5486400" cy="5524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文章预期下一代模型会覆盖更复杂任务，同时继续降低 per-task data。</a:t>
            </a:r>
          </a:p>
        </p:txBody>
      </p:sp>
      <p:sp>
        <p:nvSpPr>
          <p:cNvPr id="13" name="limits-right-title">
            <a:extLst>
              <a:ext uri="{FF2B5EF4-FFF2-40B4-BE49-F238E27FC236}">
                <a16:creationId xmlns:a16="http://schemas.microsoft.com/office/drawing/2014/main" id="{E9DB05A1-5EF5-43AD-B0EA-C7F8C1E88E2A}"/>
              </a:ext>
            </a:extLst>
          </p:cNvPr>
          <p:cNvSpPr>
            <a:spLocks noGrp="1"/>
          </p:cNvSpPr>
          <p:nvPr/>
        </p:nvSpPr>
        <p:spPr>
          <a:xfrm>
            <a:off x="9810750" y="3048000"/>
            <a:ext cx="6096000" cy="4000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2550" b="1" i="0">
                <a:solidFill>
                  <a:srgbClr val="0C2441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0C2441"/>
                </a:solidFill>
                <a:latin typeface="Avenir Next"/>
                <a:ea typeface="Avenir Next"/>
                <a:cs typeface="Avenir Next"/>
              </a:rPr>
              <a:t>Alignment challenge</a:t>
            </a:r>
          </a:p>
        </p:txBody>
      </p:sp>
      <p:sp>
        <p:nvSpPr>
          <p:cNvPr id="14" name="limits-right-1">
            <a:extLst>
              <a:ext uri="{FF2B5EF4-FFF2-40B4-BE49-F238E27FC236}">
                <a16:creationId xmlns:a16="http://schemas.microsoft.com/office/drawing/2014/main" id="{7D83AACD-CC89-474C-842D-5107D6055F28}"/>
              </a:ext>
            </a:extLst>
          </p:cNvPr>
          <p:cNvSpPr>
            <a:spLocks noGrp="1"/>
          </p:cNvSpPr>
          <p:nvPr/>
        </p:nvSpPr>
        <p:spPr>
          <a:xfrm>
            <a:off x="9810750" y="3600450"/>
            <a:ext cx="60960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emergent improvisation 也意味着真实物理后果。</a:t>
            </a:r>
          </a:p>
        </p:txBody>
      </p:sp>
      <p:sp>
        <p:nvSpPr>
          <p:cNvPr id="15" name="limits-right-2">
            <a:extLst>
              <a:ext uri="{FF2B5EF4-FFF2-40B4-BE49-F238E27FC236}">
                <a16:creationId xmlns:a16="http://schemas.microsoft.com/office/drawing/2014/main" id="{E10A34E3-3520-4995-B637-B7957A200D32}"/>
              </a:ext>
            </a:extLst>
          </p:cNvPr>
          <p:cNvSpPr>
            <a:spLocks noGrp="1"/>
          </p:cNvSpPr>
          <p:nvPr/>
        </p:nvSpPr>
        <p:spPr>
          <a:xfrm>
            <a:off x="9810750" y="4057650"/>
            <a:ext cx="5391150" cy="5524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success 是 task-specific、workflow-specific、user-defined。</a:t>
            </a:r>
          </a:p>
        </p:txBody>
      </p:sp>
      <p:sp>
        <p:nvSpPr>
          <p:cNvPr id="16" name="limits-right-3">
            <a:extLst>
              <a:ext uri="{FF2B5EF4-FFF2-40B4-BE49-F238E27FC236}">
                <a16:creationId xmlns:a16="http://schemas.microsoft.com/office/drawing/2014/main" id="{B5F92D51-FE6E-406D-A8D3-2F48B8F1D6A9}"/>
              </a:ext>
            </a:extLst>
          </p:cNvPr>
          <p:cNvSpPr>
            <a:spLocks noGrp="1"/>
          </p:cNvSpPr>
          <p:nvPr/>
        </p:nvSpPr>
        <p:spPr>
          <a:xfrm>
            <a:off x="9810750" y="4781550"/>
            <a:ext cx="5524500" cy="5524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 i="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关键不只在于 robot 会做什么，也在于它不该做什么。</a:t>
            </a:r>
          </a:p>
        </p:txBody>
      </p:sp>
    </p:spTree>
    <p:extLst>
      <p:ext uri="{BB962C8B-B14F-4D97-AF65-F5344CB8AC3E}">
        <p14:creationId xmlns:p14="http://schemas.microsoft.com/office/powerpoint/2010/main" val="1160163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622BD18-C7A2-4681-B544-95F47CFDFB6B}"/>
              </a:ext>
            </a:extLst>
          </p:cNvPr>
          <p:cNvSpPr>
            <a:spLocks noGrp="1"/>
          </p:cNvSpPr>
          <p:nvPr/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292BE1F-D3AD-4532-AA3A-11F22DF76225}"/>
              </a:ext>
            </a:extLst>
          </p:cNvPr>
          <p:cNvSpPr>
            <a:spLocks noGrp="1"/>
          </p:cNvSpPr>
          <p:nvPr/>
        </p:nvSpPr>
        <p:spPr>
          <a:xfrm>
            <a:off x="1143000" y="495300"/>
            <a:ext cx="13144500" cy="5143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3300" b="1">
                <a:solidFill>
                  <a:srgbClr val="1B1A17"/>
                </a:solidFill>
                <a:latin typeface="Songti SC"/>
                <a:ea typeface="Songti SC"/>
                <a:cs typeface="Songti SC"/>
              </a:defRPr>
            </a:pPr>
            <a:r>
              <a:rPr sz="3300" b="1" dirty="0" err="1">
                <a:solidFill>
                  <a:srgbClr val="1B1A17"/>
                </a:solidFill>
                <a:latin typeface="Songti SC"/>
                <a:ea typeface="Songti SC"/>
                <a:cs typeface="Songti SC"/>
              </a:rPr>
              <a:t>阅读结论</a:t>
            </a:r>
            <a:endParaRPr sz="3300" b="1" dirty="0">
              <a:solidFill>
                <a:srgbClr val="1B1A17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2CD3B3B7-3B01-4C7C-B00B-10A369D8B7F4}"/>
              </a:ext>
            </a:extLst>
          </p:cNvPr>
          <p:cNvSpPr>
            <a:spLocks noGrp="1"/>
          </p:cNvSpPr>
          <p:nvPr/>
        </p:nvSpPr>
        <p:spPr>
          <a:xfrm>
            <a:off x="1143000" y="1066800"/>
            <a:ext cx="131445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65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它像是“具身基础模型进入 product threshold 的第一篇宣言”。</a:t>
            </a:r>
          </a:p>
        </p:txBody>
      </p:sp>
      <p:sp>
        <p:nvSpPr>
          <p:cNvPr id="4" name="logo-wordmark">
            <a:extLst>
              <a:ext uri="{FF2B5EF4-FFF2-40B4-BE49-F238E27FC236}">
                <a16:creationId xmlns:a16="http://schemas.microsoft.com/office/drawing/2014/main" id="{3BC754C3-4D61-43A5-AE78-74CB6E2448C6}"/>
              </a:ext>
            </a:extLst>
          </p:cNvPr>
          <p:cNvSpPr>
            <a:spLocks noGrp="1"/>
          </p:cNvSpPr>
          <p:nvPr/>
        </p:nvSpPr>
        <p:spPr>
          <a:xfrm>
            <a:off x="14478000" y="590550"/>
            <a:ext cx="26670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6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Generalist AI</a:t>
            </a:r>
          </a:p>
        </p:txBody>
      </p:sp>
      <p:sp>
        <p:nvSpPr>
          <p:cNvPr id="5" name="source-line">
            <a:extLst>
              <a:ext uri="{FF2B5EF4-FFF2-40B4-BE49-F238E27FC236}">
                <a16:creationId xmlns:a16="http://schemas.microsoft.com/office/drawing/2014/main" id="{8780A4AF-370D-4EEC-98DA-9DE02EC0376A}"/>
              </a:ext>
            </a:extLst>
          </p:cNvPr>
          <p:cNvSpPr>
            <a:spLocks noGrp="1"/>
          </p:cNvSpPr>
          <p:nvPr/>
        </p:nvSpPr>
        <p:spPr>
          <a:xfrm>
            <a:off x="1143000" y="9734550"/>
            <a:ext cx="11430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90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5D5A55"/>
                </a:solidFill>
                <a:latin typeface="PingFang SC"/>
                <a:ea typeface="PingFang SC"/>
                <a:cs typeface="PingFang SC"/>
              </a:rPr>
              <a:t>Source: Generalist AI Blog, 2026-04-02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6AD6E999-3AC1-4575-B547-5A1C50F91BD4}"/>
              </a:ext>
            </a:extLst>
          </p:cNvPr>
          <p:cNvSpPr>
            <a:spLocks noGrp="1"/>
          </p:cNvSpPr>
          <p:nvPr/>
        </p:nvSpPr>
        <p:spPr>
          <a:xfrm>
            <a:off x="15811500" y="9715500"/>
            <a:ext cx="1524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975" b="0" i="0">
                <a:solidFill>
                  <a:srgbClr val="5D5A55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5D5A55"/>
                </a:solidFill>
                <a:latin typeface="Avenir Next"/>
                <a:ea typeface="Avenir Next"/>
                <a:cs typeface="Avenir Next"/>
              </a:rPr>
              <a:t>10 / 10</a:t>
            </a:r>
          </a:p>
        </p:txBody>
      </p:sp>
      <p:sp>
        <p:nvSpPr>
          <p:cNvPr id="7" name="agenda-index-1">
            <a:extLst>
              <a:ext uri="{FF2B5EF4-FFF2-40B4-BE49-F238E27FC236}">
                <a16:creationId xmlns:a16="http://schemas.microsoft.com/office/drawing/2014/main" id="{C2F731A6-0ECB-4B3A-B808-616B0B41ABBE}"/>
              </a:ext>
            </a:extLst>
          </p:cNvPr>
          <p:cNvSpPr>
            <a:spLocks noGrp="1"/>
          </p:cNvSpPr>
          <p:nvPr/>
        </p:nvSpPr>
        <p:spPr>
          <a:xfrm>
            <a:off x="1143000" y="2571750"/>
            <a:ext cx="5334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1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agenda-text-1">
            <a:extLst>
              <a:ext uri="{FF2B5EF4-FFF2-40B4-BE49-F238E27FC236}">
                <a16:creationId xmlns:a16="http://schemas.microsoft.com/office/drawing/2014/main" id="{579F7385-E9AF-49D5-BB39-24E3CFD10149}"/>
              </a:ext>
            </a:extLst>
          </p:cNvPr>
          <p:cNvSpPr>
            <a:spLocks noGrp="1"/>
          </p:cNvSpPr>
          <p:nvPr/>
        </p:nvSpPr>
        <p:spPr>
          <a:xfrm>
            <a:off x="1866900" y="2571750"/>
            <a:ext cx="74676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95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95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最强信号是数据引擎与速度 / 可靠性，而不是单个酷炫 demo。</a:t>
            </a:r>
          </a:p>
        </p:txBody>
      </p:sp>
      <p:sp>
        <p:nvSpPr>
          <p:cNvPr id="9" name="agenda-index-2">
            <a:extLst>
              <a:ext uri="{FF2B5EF4-FFF2-40B4-BE49-F238E27FC236}">
                <a16:creationId xmlns:a16="http://schemas.microsoft.com/office/drawing/2014/main" id="{5A8F82C5-0EFD-4BE1-B1FE-630ECC3A8EE5}"/>
              </a:ext>
            </a:extLst>
          </p:cNvPr>
          <p:cNvSpPr>
            <a:spLocks noGrp="1"/>
          </p:cNvSpPr>
          <p:nvPr/>
        </p:nvSpPr>
        <p:spPr>
          <a:xfrm>
            <a:off x="1143000" y="3048000"/>
            <a:ext cx="5334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1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agenda-text-2">
            <a:extLst>
              <a:ext uri="{FF2B5EF4-FFF2-40B4-BE49-F238E27FC236}">
                <a16:creationId xmlns:a16="http://schemas.microsoft.com/office/drawing/2014/main" id="{9A493CA2-370F-49F8-8226-B0CFE3132ECE}"/>
              </a:ext>
            </a:extLst>
          </p:cNvPr>
          <p:cNvSpPr>
            <a:spLocks noGrp="1"/>
          </p:cNvSpPr>
          <p:nvPr/>
        </p:nvSpPr>
        <p:spPr>
          <a:xfrm>
            <a:off x="1866900" y="3048000"/>
            <a:ext cx="74676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95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95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如果这些数字可复现，GEN-1 比很多 VLA 叙事更接近真实部署。</a:t>
            </a:r>
          </a:p>
        </p:txBody>
      </p:sp>
      <p:sp>
        <p:nvSpPr>
          <p:cNvPr id="11" name="agenda-index-3">
            <a:extLst>
              <a:ext uri="{FF2B5EF4-FFF2-40B4-BE49-F238E27FC236}">
                <a16:creationId xmlns:a16="http://schemas.microsoft.com/office/drawing/2014/main" id="{E88FAD3F-1AFA-4642-A7B7-D221037A0EAC}"/>
              </a:ext>
            </a:extLst>
          </p:cNvPr>
          <p:cNvSpPr>
            <a:spLocks noGrp="1"/>
          </p:cNvSpPr>
          <p:nvPr/>
        </p:nvSpPr>
        <p:spPr>
          <a:xfrm>
            <a:off x="1143000" y="3505200"/>
            <a:ext cx="5334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1">
                <a:solidFill>
                  <a:srgbClr val="C0000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2" name="agenda-text-3">
            <a:extLst>
              <a:ext uri="{FF2B5EF4-FFF2-40B4-BE49-F238E27FC236}">
                <a16:creationId xmlns:a16="http://schemas.microsoft.com/office/drawing/2014/main" id="{2CA28591-6D01-476E-8C4E-551589F1943C}"/>
              </a:ext>
            </a:extLst>
          </p:cNvPr>
          <p:cNvSpPr>
            <a:spLocks noGrp="1"/>
          </p:cNvSpPr>
          <p:nvPr/>
        </p:nvSpPr>
        <p:spPr>
          <a:xfrm>
            <a:off x="1866900" y="3505200"/>
            <a:ext cx="74676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950">
                <a:solidFill>
                  <a:srgbClr val="1B1A17"/>
                </a:solidFill>
                <a:latin typeface="PingFang SC"/>
                <a:ea typeface="PingFang SC"/>
                <a:cs typeface="PingFang SC"/>
              </a:defRPr>
            </a:pPr>
            <a:r>
              <a:rPr sz="1950">
                <a:solidFill>
                  <a:srgbClr val="1B1A17"/>
                </a:solidFill>
                <a:latin typeface="PingFang SC"/>
                <a:ea typeface="PingFang SC"/>
                <a:cs typeface="PingFang SC"/>
              </a:rPr>
              <a:t>但目前公开形态仍是 blog，外部复现与评估透明度仍待补足。</a:t>
            </a:r>
          </a:p>
        </p:txBody>
      </p:sp>
      <p:pic>
        <p:nvPicPr>
          <p:cNvPr id="13" name="closing-image"/>
          <p:cNvPicPr>
            <a:picLocks noChangeAspect="1"/>
          </p:cNvPicPr>
          <p:nvPr/>
        </p:nvPicPr>
        <p:blipFill>
          <a:blip r:embed="rId3"/>
          <a:srcRect t="8209" b="8209"/>
          <a:stretch>
            <a:fillRect/>
          </a:stretch>
        </p:blipFill>
        <p:spPr>
          <a:xfrm>
            <a:off x="10477500" y="2667000"/>
            <a:ext cx="6381750" cy="4000500"/>
          </a:xfrm>
          <a:prstGeom prst="rect">
            <a:avLst/>
          </a:prstGeom>
        </p:spPr>
      </p:pic>
      <p:sp>
        <p:nvSpPr>
          <p:cNvPr id="14" name="closing-note">
            <a:extLst>
              <a:ext uri="{FF2B5EF4-FFF2-40B4-BE49-F238E27FC236}">
                <a16:creationId xmlns:a16="http://schemas.microsoft.com/office/drawing/2014/main" id="{06519442-CAC4-46A3-8107-24F6FAE6F2B2}"/>
              </a:ext>
            </a:extLst>
          </p:cNvPr>
          <p:cNvSpPr>
            <a:spLocks noGrp="1"/>
          </p:cNvSpPr>
          <p:nvPr/>
        </p:nvSpPr>
        <p:spPr>
          <a:xfrm>
            <a:off x="10477500" y="7105650"/>
            <a:ext cx="6076950" cy="5524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0" i="0">
                <a:solidFill>
                  <a:srgbClr val="1B1A17"/>
                </a:solidFill>
                <a:latin typeface="Songti SC"/>
                <a:ea typeface="Songti SC"/>
                <a:cs typeface="Songti SC"/>
              </a:defRPr>
            </a:pPr>
            <a:r>
              <a:rPr sz="1800" b="0" i="0" dirty="0">
                <a:solidFill>
                  <a:srgbClr val="1B1A17"/>
                </a:solidFill>
                <a:latin typeface="Songti SC"/>
                <a:ea typeface="Songti SC"/>
                <a:cs typeface="Songti SC"/>
              </a:rPr>
              <a:t>“会做一件事”</a:t>
            </a:r>
            <a:r>
              <a:rPr sz="1800" b="0" i="0" dirty="0" err="1">
                <a:solidFill>
                  <a:srgbClr val="1B1A17"/>
                </a:solidFill>
                <a:latin typeface="Songti SC"/>
                <a:ea typeface="Songti SC"/>
                <a:cs typeface="Songti SC"/>
              </a:rPr>
              <a:t>并不稀奇</a:t>
            </a:r>
            <a:r>
              <a:rPr sz="1800" b="0" i="0" dirty="0">
                <a:solidFill>
                  <a:srgbClr val="1B1A17"/>
                </a:solidFill>
                <a:latin typeface="Songti SC"/>
                <a:ea typeface="Songti SC"/>
                <a:cs typeface="Songti SC"/>
              </a:rPr>
              <a:t>；“</a:t>
            </a:r>
            <a:r>
              <a:rPr sz="1800" b="0" i="0" dirty="0" err="1">
                <a:solidFill>
                  <a:srgbClr val="1B1A17"/>
                </a:solidFill>
                <a:latin typeface="Songti SC"/>
                <a:ea typeface="Songti SC"/>
                <a:cs typeface="Songti SC"/>
              </a:rPr>
              <a:t>稳定、快速、在意外中恢复”才更接近</a:t>
            </a:r>
            <a:r>
              <a:rPr sz="1800" b="0" i="0" dirty="0">
                <a:solidFill>
                  <a:srgbClr val="1B1A17"/>
                </a:solidFill>
                <a:latin typeface="Songti SC"/>
                <a:ea typeface="Songti SC"/>
                <a:cs typeface="Songti SC"/>
              </a:rPr>
              <a:t> physical AGI </a:t>
            </a:r>
            <a:r>
              <a:rPr sz="1800" b="0" i="0" dirty="0" err="1">
                <a:solidFill>
                  <a:srgbClr val="1B1A17"/>
                </a:solidFill>
                <a:latin typeface="Songti SC"/>
                <a:ea typeface="Songti SC"/>
                <a:cs typeface="Songti SC"/>
              </a:rPr>
              <a:t>的台阶</a:t>
            </a:r>
            <a:r>
              <a:rPr sz="1800" b="0" i="0" dirty="0">
                <a:solidFill>
                  <a:srgbClr val="1B1A17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5282674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665</Words>
  <Application>Microsoft Macintosh PowerPoint</Application>
  <DocSecurity>0</DocSecurity>
  <PresentationFormat>Custom</PresentationFormat>
  <Paragraphs>138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PingFang SC</vt:lpstr>
      <vt:lpstr>Songti SC</vt:lpstr>
      <vt:lpstr>Avenir Next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You, Bingran</cp:lastModifiedBy>
  <cp:revision>2</cp:revision>
  <dcterms:created xsi:type="dcterms:W3CDTF">2026-04-28T21:20:13Z</dcterms:created>
  <dcterms:modified xsi:type="dcterms:W3CDTF">2026-04-28T21:47:42Z</dcterms:modified>
</cp:coreProperties>
</file>