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62" r:id="rId2"/>
  </p:sldMasterIdLst>
  <p:notesMasterIdLst>
    <p:notesMasterId r:id="rId18"/>
  </p:notesMasterIdLst>
  <p:sldIdLst>
    <p:sldId id="13773" r:id="rId3"/>
    <p:sldId id="13770" r:id="rId4"/>
    <p:sldId id="13771" r:id="rId5"/>
    <p:sldId id="13774" r:id="rId6"/>
    <p:sldId id="13802" r:id="rId7"/>
    <p:sldId id="13776" r:id="rId8"/>
    <p:sldId id="13805" r:id="rId9"/>
    <p:sldId id="13806" r:id="rId10"/>
    <p:sldId id="13808" r:id="rId11"/>
    <p:sldId id="13809" r:id="rId12"/>
    <p:sldId id="13810" r:id="rId13"/>
    <p:sldId id="13811" r:id="rId14"/>
    <p:sldId id="13783" r:id="rId15"/>
    <p:sldId id="13822" r:id="rId16"/>
    <p:sldId id="13784" r:id="rId1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801" autoAdjust="0"/>
    <p:restoredTop sz="79719"/>
  </p:normalViewPr>
  <p:slideViewPr>
    <p:cSldViewPr snapToGrid="0">
      <p:cViewPr varScale="1">
        <p:scale>
          <a:sx n="123" d="100"/>
          <a:sy n="123" d="100"/>
        </p:scale>
        <p:origin x="1552"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2B10B1-3F6B-44C2-A3BA-6192D167FFA6}" type="datetimeFigureOut">
              <a:rPr lang="zh-CN" altLang="en-US" smtClean="0"/>
              <a:t>2026/3/26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Tree>
    <p:extLst>
      <p:ext uri="{BB962C8B-B14F-4D97-AF65-F5344CB8AC3E}">
        <p14:creationId xmlns:p14="http://schemas.microsoft.com/office/powerpoint/2010/main" val="8875730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a:t>
            </a:r>
            <a:r>
              <a:rPr lang="en-US" dirty="0" err="1"/>
              <a:t>BrowseComp</a:t>
            </a:r>
            <a:r>
              <a:rPr lang="en-US" dirty="0"/>
              <a:t>-Plus</a:t>
            </a:r>
          </a:p>
          <a:p>
            <a:r>
              <a:rPr lang="zh-CN" altLang="en-US" dirty="0"/>
              <a:t>这是一个 </a:t>
            </a:r>
            <a:r>
              <a:rPr lang="en-US" dirty="0"/>
              <a:t>Deep Research / </a:t>
            </a:r>
            <a:r>
              <a:rPr lang="zh-CN" altLang="en-US" dirty="0"/>
              <a:t>网页检索与浏览 </a:t>
            </a:r>
            <a:r>
              <a:rPr lang="en-US" dirty="0"/>
              <a:t>benchmark，</a:t>
            </a:r>
            <a:r>
              <a:rPr lang="zh-CN" altLang="en-US" dirty="0"/>
              <a:t>主要测 </a:t>
            </a:r>
            <a:r>
              <a:rPr lang="en-US" dirty="0"/>
              <a:t>agent </a:t>
            </a:r>
            <a:r>
              <a:rPr lang="zh-CN" altLang="en-US" dirty="0"/>
              <a:t>能不能围绕复杂问题做多步搜索、筛选证据、综合多个网页信息再给出答案。它是从 </a:t>
            </a:r>
            <a:r>
              <a:rPr lang="en-US" dirty="0" err="1"/>
              <a:t>BrowseComp</a:t>
            </a:r>
            <a:r>
              <a:rPr lang="en-US" dirty="0"/>
              <a:t> </a:t>
            </a:r>
            <a:r>
              <a:rPr lang="zh-CN" altLang="en-US" dirty="0"/>
              <a:t>扩展来的，但用了固定、人工校验过的文档语料，因此比直接连真实互联网更公平、更可复现。 ￼</a:t>
            </a:r>
          </a:p>
          <a:p>
            <a:endParaRPr lang="zh-CN" altLang="en-US" dirty="0"/>
          </a:p>
          <a:p>
            <a:r>
              <a:rPr lang="en-US" altLang="zh-CN" dirty="0"/>
              <a:t>2. </a:t>
            </a:r>
            <a:r>
              <a:rPr lang="en-US" dirty="0"/>
              <a:t>Finance Agent</a:t>
            </a:r>
          </a:p>
          <a:p>
            <a:r>
              <a:rPr lang="zh-CN" altLang="en-US" dirty="0"/>
              <a:t>这是一个 金融研究任务 </a:t>
            </a:r>
            <a:r>
              <a:rPr lang="en-US" dirty="0"/>
              <a:t>benchmark，</a:t>
            </a:r>
            <a:r>
              <a:rPr lang="zh-CN" altLang="en-US" dirty="0"/>
              <a:t>测 </a:t>
            </a:r>
            <a:r>
              <a:rPr lang="en-US" dirty="0"/>
              <a:t>agent </a:t>
            </a:r>
            <a:r>
              <a:rPr lang="zh-CN" altLang="en-US" dirty="0"/>
              <a:t>能不能完成接近真实分析师工作的任务，比如读近期 </a:t>
            </a:r>
            <a:r>
              <a:rPr lang="en-US" dirty="0"/>
              <a:t>SEC filing、</a:t>
            </a:r>
            <a:r>
              <a:rPr lang="zh-CN" altLang="en-US" dirty="0"/>
              <a:t>做信息检索、比较公司、回答金融研究问题，甚至涉及一定的财务分析</a:t>
            </a:r>
            <a:r>
              <a:rPr lang="en-US" altLang="zh-CN" dirty="0"/>
              <a:t>/</a:t>
            </a:r>
            <a:r>
              <a:rPr lang="zh-CN" altLang="en-US" dirty="0"/>
              <a:t>建模。论文里说它覆盖 </a:t>
            </a:r>
            <a:r>
              <a:rPr lang="en-US" altLang="zh-CN" dirty="0"/>
              <a:t>9 </a:t>
            </a:r>
            <a:r>
              <a:rPr lang="zh-CN" altLang="en-US" dirty="0"/>
              <a:t>类金融任务、</a:t>
            </a:r>
            <a:r>
              <a:rPr lang="en-US" altLang="zh-CN" dirty="0"/>
              <a:t>537 </a:t>
            </a:r>
            <a:r>
              <a:rPr lang="zh-CN" altLang="en-US" dirty="0"/>
              <a:t>个专家编写问题，并配了 </a:t>
            </a:r>
            <a:r>
              <a:rPr lang="en-US" dirty="0"/>
              <a:t>Google Search </a:t>
            </a:r>
            <a:r>
              <a:rPr lang="zh-CN" altLang="en-US" dirty="0"/>
              <a:t>和 </a:t>
            </a:r>
            <a:r>
              <a:rPr lang="en-US" dirty="0"/>
              <a:t>EDGAR </a:t>
            </a:r>
            <a:r>
              <a:rPr lang="zh-CN" altLang="en-US" dirty="0"/>
              <a:t>等工具。 ￼</a:t>
            </a:r>
          </a:p>
          <a:p>
            <a:endParaRPr lang="zh-CN" altLang="en-US" dirty="0"/>
          </a:p>
          <a:p>
            <a:r>
              <a:rPr lang="en-US" altLang="zh-CN" dirty="0"/>
              <a:t>3. </a:t>
            </a:r>
            <a:r>
              <a:rPr lang="en-US" dirty="0" err="1"/>
              <a:t>PlanCraft</a:t>
            </a:r>
            <a:endParaRPr lang="en-US" dirty="0"/>
          </a:p>
          <a:p>
            <a:r>
              <a:rPr lang="zh-CN" altLang="en-US" dirty="0"/>
              <a:t>这是一个 规划 </a:t>
            </a:r>
            <a:r>
              <a:rPr lang="en-US" altLang="zh-CN" dirty="0"/>
              <a:t>/ </a:t>
            </a:r>
            <a:r>
              <a:rPr lang="en-US" dirty="0"/>
              <a:t>sequential planning benchmark，</a:t>
            </a:r>
            <a:r>
              <a:rPr lang="zh-CN" altLang="en-US" dirty="0"/>
              <a:t>基于 </a:t>
            </a:r>
            <a:r>
              <a:rPr lang="en-US" dirty="0"/>
              <a:t>Minecraft crafting </a:t>
            </a:r>
            <a:r>
              <a:rPr lang="zh-CN" altLang="en-US" dirty="0"/>
              <a:t>环境。它主要测 </a:t>
            </a:r>
            <a:r>
              <a:rPr lang="en-US" dirty="0"/>
              <a:t>agent </a:t>
            </a:r>
            <a:r>
              <a:rPr lang="zh-CN" altLang="en-US" dirty="0"/>
              <a:t>是否能把目标拆成一系列正确动作，按顺序规划合成步骤；其中还专门包含一部分无解任务，所以不只是“会不会做”，还测“能不能判断做不到”。 ￼</a:t>
            </a:r>
          </a:p>
          <a:p>
            <a:endParaRPr lang="zh-CN" altLang="en-US" dirty="0"/>
          </a:p>
          <a:p>
            <a:r>
              <a:rPr lang="en-US" altLang="zh-CN" dirty="0"/>
              <a:t>4. </a:t>
            </a:r>
            <a:r>
              <a:rPr lang="en-US" dirty="0"/>
              <a:t>Workbench</a:t>
            </a:r>
          </a:p>
          <a:p>
            <a:r>
              <a:rPr lang="zh-CN" altLang="en-US" dirty="0"/>
              <a:t>这是一个 办公流程 </a:t>
            </a:r>
            <a:r>
              <a:rPr lang="en-US" altLang="zh-CN" dirty="0"/>
              <a:t>/ </a:t>
            </a:r>
            <a:r>
              <a:rPr lang="zh-CN" altLang="en-US" dirty="0"/>
              <a:t>工具使用 </a:t>
            </a:r>
            <a:r>
              <a:rPr lang="en-US" dirty="0"/>
              <a:t>benchmark，</a:t>
            </a:r>
            <a:r>
              <a:rPr lang="zh-CN" altLang="en-US" dirty="0"/>
              <a:t>模拟真实 </a:t>
            </a:r>
            <a:r>
              <a:rPr lang="en-US" dirty="0"/>
              <a:t>workplace setting。</a:t>
            </a:r>
            <a:r>
              <a:rPr lang="zh-CN" altLang="en-US" dirty="0"/>
              <a:t>里面有一个沙盒办公环境、多个数据库和很多工具，任务像发邮件、安排会议、更新记录等，要求 </a:t>
            </a:r>
            <a:r>
              <a:rPr lang="en-US" dirty="0"/>
              <a:t>agent </a:t>
            </a:r>
            <a:r>
              <a:rPr lang="zh-CN" altLang="en-US" dirty="0"/>
              <a:t>做规划、选工具、执行多步操作。它更像在测“数字员工”的实际 </a:t>
            </a:r>
            <a:r>
              <a:rPr lang="en-US" dirty="0"/>
              <a:t>workflow </a:t>
            </a:r>
            <a:r>
              <a:rPr lang="zh-CN" altLang="en-US" dirty="0"/>
              <a:t>执行能力。 ￼</a:t>
            </a:r>
          </a:p>
          <a:p>
            <a:endParaRPr lang="zh-CN" altLang="en-US" dirty="0"/>
          </a:p>
          <a:p>
            <a:r>
              <a:rPr lang="zh-CN" altLang="en-US" dirty="0"/>
              <a:t>	</a:t>
            </a:r>
            <a:r>
              <a:rPr lang="en-US" altLang="zh-CN" dirty="0"/>
              <a:t>•	</a:t>
            </a:r>
            <a:r>
              <a:rPr lang="en-US" dirty="0" err="1"/>
              <a:t>BrowseComp</a:t>
            </a:r>
            <a:r>
              <a:rPr lang="en-US" dirty="0"/>
              <a:t>-Plus：</a:t>
            </a:r>
            <a:r>
              <a:rPr lang="zh-CN" altLang="en-US" dirty="0"/>
              <a:t>网页研究 </a:t>
            </a:r>
            <a:r>
              <a:rPr lang="en-US" altLang="zh-CN" dirty="0"/>
              <a:t>/ </a:t>
            </a:r>
            <a:r>
              <a:rPr lang="zh-CN" altLang="en-US" dirty="0"/>
              <a:t>信息综合</a:t>
            </a:r>
          </a:p>
          <a:p>
            <a:r>
              <a:rPr lang="zh-CN" altLang="en-US" dirty="0"/>
              <a:t>	</a:t>
            </a:r>
            <a:r>
              <a:rPr lang="en-US" altLang="zh-CN" dirty="0"/>
              <a:t>•	</a:t>
            </a:r>
            <a:r>
              <a:rPr lang="en-US" dirty="0"/>
              <a:t>Finance Agent：</a:t>
            </a:r>
            <a:r>
              <a:rPr lang="zh-CN" altLang="en-US" dirty="0"/>
              <a:t>金融分析 </a:t>
            </a:r>
            <a:r>
              <a:rPr lang="en-US" altLang="zh-CN" dirty="0"/>
              <a:t>/ </a:t>
            </a:r>
            <a:r>
              <a:rPr lang="zh-CN" altLang="en-US" dirty="0"/>
              <a:t>财报研究</a:t>
            </a:r>
          </a:p>
          <a:p>
            <a:r>
              <a:rPr lang="zh-CN" altLang="en-US" dirty="0"/>
              <a:t>	</a:t>
            </a:r>
            <a:r>
              <a:rPr lang="en-US" altLang="zh-CN" dirty="0"/>
              <a:t>•	</a:t>
            </a:r>
            <a:r>
              <a:rPr lang="en-US" dirty="0" err="1"/>
              <a:t>PlanCraft</a:t>
            </a:r>
            <a:r>
              <a:rPr lang="en-US" dirty="0"/>
              <a:t>：</a:t>
            </a:r>
            <a:r>
              <a:rPr lang="zh-CN" altLang="en-US" dirty="0"/>
              <a:t>序列规划 </a:t>
            </a:r>
            <a:r>
              <a:rPr lang="en-US" altLang="zh-CN" dirty="0"/>
              <a:t>/ </a:t>
            </a:r>
            <a:r>
              <a:rPr lang="zh-CN" altLang="en-US" dirty="0"/>
              <a:t>任务分解</a:t>
            </a:r>
          </a:p>
          <a:p>
            <a:r>
              <a:rPr lang="zh-CN" altLang="en-US" dirty="0"/>
              <a:t>	</a:t>
            </a:r>
            <a:r>
              <a:rPr lang="en-US" altLang="zh-CN" dirty="0"/>
              <a:t>•	</a:t>
            </a:r>
            <a:r>
              <a:rPr lang="en-US" dirty="0"/>
              <a:t>Workbench：</a:t>
            </a:r>
            <a:r>
              <a:rPr lang="zh-CN" altLang="en-US" dirty="0"/>
              <a:t>办公自动化 </a:t>
            </a:r>
            <a:r>
              <a:rPr lang="en-US" altLang="zh-CN" dirty="0"/>
              <a:t>/ </a:t>
            </a:r>
            <a:r>
              <a:rPr lang="zh-CN" altLang="en-US" dirty="0"/>
              <a:t>工具调用执行  ￼</a:t>
            </a:r>
            <a:endParaRPr lang="en-US" dirty="0"/>
          </a:p>
        </p:txBody>
      </p:sp>
    </p:spTree>
    <p:extLst>
      <p:ext uri="{BB962C8B-B14F-4D97-AF65-F5344CB8AC3E}">
        <p14:creationId xmlns:p14="http://schemas.microsoft.com/office/powerpoint/2010/main" val="30786584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a:t>
            </a:r>
            <a:r>
              <a:rPr lang="en-US" dirty="0" err="1"/>
              <a:t>BrowseComp</a:t>
            </a:r>
            <a:r>
              <a:rPr lang="en-US" dirty="0"/>
              <a:t>-Plus</a:t>
            </a:r>
          </a:p>
          <a:p>
            <a:endParaRPr lang="en-US" dirty="0"/>
          </a:p>
          <a:p>
            <a:r>
              <a:rPr lang="zh-CN" altLang="en-US" dirty="0"/>
              <a:t>这是一个 </a:t>
            </a:r>
            <a:r>
              <a:rPr lang="en-US" dirty="0"/>
              <a:t>Deep Research / </a:t>
            </a:r>
            <a:r>
              <a:rPr lang="zh-CN" altLang="en-US" dirty="0"/>
              <a:t>网页检索与浏览 </a:t>
            </a:r>
            <a:r>
              <a:rPr lang="en-US" dirty="0"/>
              <a:t>benchmark，</a:t>
            </a:r>
            <a:r>
              <a:rPr lang="zh-CN" altLang="en-US" dirty="0"/>
              <a:t>主要测 </a:t>
            </a:r>
            <a:r>
              <a:rPr lang="en-US" dirty="0"/>
              <a:t>agent </a:t>
            </a:r>
            <a:r>
              <a:rPr lang="zh-CN" altLang="en-US" dirty="0"/>
              <a:t>能不能围绕复杂问题做多步搜索、筛选证据、综合多个网页信息再给出答案。它是从 </a:t>
            </a:r>
            <a:r>
              <a:rPr lang="en-US" dirty="0" err="1"/>
              <a:t>BrowseComp</a:t>
            </a:r>
            <a:r>
              <a:rPr lang="en-US" dirty="0"/>
              <a:t> </a:t>
            </a:r>
            <a:r>
              <a:rPr lang="zh-CN" altLang="en-US" dirty="0"/>
              <a:t>扩展来的，但用了固定、人工校验过的文档语料，因此比直接连真实互联网更公平、更可复现。 ￼</a:t>
            </a:r>
          </a:p>
          <a:p>
            <a:endParaRPr lang="zh-CN" altLang="en-US" dirty="0"/>
          </a:p>
          <a:p>
            <a:endParaRPr lang="zh-CN" altLang="en-US" dirty="0"/>
          </a:p>
          <a:p>
            <a:endParaRPr lang="zh-CN" altLang="en-US" dirty="0"/>
          </a:p>
          <a:p>
            <a:r>
              <a:rPr lang="en-US" altLang="zh-CN" dirty="0"/>
              <a:t>2. </a:t>
            </a:r>
            <a:r>
              <a:rPr lang="en-US" dirty="0"/>
              <a:t>Finance Agent</a:t>
            </a:r>
          </a:p>
          <a:p>
            <a:endParaRPr lang="en-US" dirty="0"/>
          </a:p>
          <a:p>
            <a:r>
              <a:rPr lang="zh-CN" altLang="en-US" dirty="0"/>
              <a:t>这是一个 金融研究任务 </a:t>
            </a:r>
            <a:r>
              <a:rPr lang="en-US" dirty="0"/>
              <a:t>benchmark，</a:t>
            </a:r>
            <a:r>
              <a:rPr lang="zh-CN" altLang="en-US" dirty="0"/>
              <a:t>测 </a:t>
            </a:r>
            <a:r>
              <a:rPr lang="en-US" dirty="0"/>
              <a:t>agent </a:t>
            </a:r>
            <a:r>
              <a:rPr lang="zh-CN" altLang="en-US" dirty="0"/>
              <a:t>能不能完成接近真实分析师工作的任务，比如读近期 </a:t>
            </a:r>
            <a:r>
              <a:rPr lang="en-US" dirty="0"/>
              <a:t>SEC filing、</a:t>
            </a:r>
            <a:r>
              <a:rPr lang="zh-CN" altLang="en-US" dirty="0"/>
              <a:t>做信息检索、比较公司、回答金融研究问题，甚至涉及一定的财务分析</a:t>
            </a:r>
            <a:r>
              <a:rPr lang="en-US" altLang="zh-CN" dirty="0"/>
              <a:t>/</a:t>
            </a:r>
            <a:r>
              <a:rPr lang="zh-CN" altLang="en-US" dirty="0"/>
              <a:t>建模。论文里说它覆盖 </a:t>
            </a:r>
            <a:r>
              <a:rPr lang="en-US" altLang="zh-CN" dirty="0"/>
              <a:t>9 </a:t>
            </a:r>
            <a:r>
              <a:rPr lang="zh-CN" altLang="en-US" dirty="0"/>
              <a:t>类金融任务、</a:t>
            </a:r>
            <a:r>
              <a:rPr lang="en-US" altLang="zh-CN" dirty="0"/>
              <a:t>537 </a:t>
            </a:r>
            <a:r>
              <a:rPr lang="zh-CN" altLang="en-US" dirty="0"/>
              <a:t>个专家编写问题，并配了 </a:t>
            </a:r>
            <a:r>
              <a:rPr lang="en-US" dirty="0"/>
              <a:t>Google Search </a:t>
            </a:r>
            <a:r>
              <a:rPr lang="zh-CN" altLang="en-US" dirty="0"/>
              <a:t>和 </a:t>
            </a:r>
            <a:r>
              <a:rPr lang="en-US" dirty="0"/>
              <a:t>EDGAR </a:t>
            </a:r>
            <a:r>
              <a:rPr lang="zh-CN" altLang="en-US" dirty="0"/>
              <a:t>等工具。 ￼</a:t>
            </a:r>
          </a:p>
          <a:p>
            <a:endParaRPr lang="zh-CN" altLang="en-US" dirty="0"/>
          </a:p>
          <a:p>
            <a:endParaRPr lang="zh-CN" altLang="en-US" dirty="0"/>
          </a:p>
          <a:p>
            <a:endParaRPr lang="zh-CN" altLang="en-US" dirty="0"/>
          </a:p>
          <a:p>
            <a:r>
              <a:rPr lang="en-US" altLang="zh-CN" dirty="0"/>
              <a:t>3. </a:t>
            </a:r>
            <a:r>
              <a:rPr lang="en-US" dirty="0" err="1"/>
              <a:t>PlanCraft</a:t>
            </a:r>
            <a:endParaRPr lang="en-US" dirty="0"/>
          </a:p>
          <a:p>
            <a:endParaRPr lang="en-US" dirty="0"/>
          </a:p>
          <a:p>
            <a:r>
              <a:rPr lang="zh-CN" altLang="en-US" dirty="0"/>
              <a:t>这是一个 规划 </a:t>
            </a:r>
            <a:r>
              <a:rPr lang="en-US" altLang="zh-CN" dirty="0"/>
              <a:t>/ </a:t>
            </a:r>
            <a:r>
              <a:rPr lang="en-US" dirty="0"/>
              <a:t>sequential planning benchmark，</a:t>
            </a:r>
            <a:r>
              <a:rPr lang="zh-CN" altLang="en-US" dirty="0"/>
              <a:t>基于 </a:t>
            </a:r>
            <a:r>
              <a:rPr lang="en-US" dirty="0"/>
              <a:t>Minecraft crafting </a:t>
            </a:r>
            <a:r>
              <a:rPr lang="zh-CN" altLang="en-US" dirty="0"/>
              <a:t>环境。它主要测 </a:t>
            </a:r>
            <a:r>
              <a:rPr lang="en-US" dirty="0"/>
              <a:t>agent </a:t>
            </a:r>
            <a:r>
              <a:rPr lang="zh-CN" altLang="en-US" dirty="0"/>
              <a:t>是否能把目标拆成一系列正确动作，按顺序规划合成步骤；其中还专门包含一部分无解任务，所以不只是“会不会做”，还测“能不能判断做不到”。 ￼</a:t>
            </a:r>
          </a:p>
          <a:p>
            <a:endParaRPr lang="zh-CN" altLang="en-US" dirty="0"/>
          </a:p>
          <a:p>
            <a:endParaRPr lang="zh-CN" altLang="en-US" dirty="0"/>
          </a:p>
          <a:p>
            <a:endParaRPr lang="zh-CN" altLang="en-US" dirty="0"/>
          </a:p>
          <a:p>
            <a:r>
              <a:rPr lang="en-US" altLang="zh-CN" dirty="0"/>
              <a:t>4. </a:t>
            </a:r>
            <a:r>
              <a:rPr lang="en-US" dirty="0"/>
              <a:t>Workbench</a:t>
            </a:r>
          </a:p>
          <a:p>
            <a:endParaRPr lang="en-US" dirty="0"/>
          </a:p>
          <a:p>
            <a:r>
              <a:rPr lang="zh-CN" altLang="en-US" dirty="0"/>
              <a:t>这是一个 办公流程 </a:t>
            </a:r>
            <a:r>
              <a:rPr lang="en-US" altLang="zh-CN" dirty="0"/>
              <a:t>/ </a:t>
            </a:r>
            <a:r>
              <a:rPr lang="zh-CN" altLang="en-US" dirty="0"/>
              <a:t>工具使用 </a:t>
            </a:r>
            <a:r>
              <a:rPr lang="en-US" dirty="0"/>
              <a:t>benchmark，</a:t>
            </a:r>
            <a:r>
              <a:rPr lang="zh-CN" altLang="en-US" dirty="0"/>
              <a:t>模拟真实 </a:t>
            </a:r>
            <a:r>
              <a:rPr lang="en-US" dirty="0"/>
              <a:t>workplace setting。</a:t>
            </a:r>
            <a:r>
              <a:rPr lang="zh-CN" altLang="en-US" dirty="0"/>
              <a:t>里面有一个沙盒办公环境、多个数据库和很多工具，任务像发邮件、安排会议、更新记录等，要求 </a:t>
            </a:r>
            <a:r>
              <a:rPr lang="en-US" dirty="0"/>
              <a:t>agent </a:t>
            </a:r>
            <a:r>
              <a:rPr lang="zh-CN" altLang="en-US" dirty="0"/>
              <a:t>做规划、选工具、执行多步操作。它更像在测“数字员工”的实际 </a:t>
            </a:r>
            <a:r>
              <a:rPr lang="en-US" dirty="0"/>
              <a:t>workflow </a:t>
            </a:r>
            <a:r>
              <a:rPr lang="zh-CN" altLang="en-US" dirty="0"/>
              <a:t>执行能力。 ￼</a:t>
            </a:r>
          </a:p>
          <a:p>
            <a:endParaRPr lang="zh-CN" altLang="en-US" dirty="0"/>
          </a:p>
          <a:p>
            <a:endParaRPr lang="zh-CN" altLang="en-US" dirty="0"/>
          </a:p>
          <a:p>
            <a:endParaRPr lang="zh-CN" altLang="en-US" dirty="0"/>
          </a:p>
          <a:p>
            <a:r>
              <a:rPr lang="zh-CN" altLang="en-US" dirty="0"/>
              <a:t>	</a:t>
            </a:r>
            <a:r>
              <a:rPr lang="en-US" altLang="zh-CN" dirty="0"/>
              <a:t>•	</a:t>
            </a:r>
            <a:r>
              <a:rPr lang="en-US" dirty="0" err="1"/>
              <a:t>BrowseComp</a:t>
            </a:r>
            <a:r>
              <a:rPr lang="en-US" dirty="0"/>
              <a:t>-Plus：</a:t>
            </a:r>
            <a:r>
              <a:rPr lang="zh-CN" altLang="en-US" dirty="0"/>
              <a:t>网页研究 </a:t>
            </a:r>
            <a:r>
              <a:rPr lang="en-US" altLang="zh-CN" dirty="0"/>
              <a:t>/ </a:t>
            </a:r>
            <a:r>
              <a:rPr lang="zh-CN" altLang="en-US" dirty="0"/>
              <a:t>信息综合</a:t>
            </a:r>
          </a:p>
          <a:p>
            <a:endParaRPr lang="zh-CN" altLang="en-US" dirty="0"/>
          </a:p>
          <a:p>
            <a:r>
              <a:rPr lang="zh-CN" altLang="en-US" dirty="0"/>
              <a:t>	</a:t>
            </a:r>
            <a:r>
              <a:rPr lang="en-US" altLang="zh-CN" dirty="0"/>
              <a:t>•	</a:t>
            </a:r>
            <a:r>
              <a:rPr lang="en-US" dirty="0"/>
              <a:t>Finance Agent：</a:t>
            </a:r>
            <a:r>
              <a:rPr lang="zh-CN" altLang="en-US" dirty="0"/>
              <a:t>金融分析 </a:t>
            </a:r>
            <a:r>
              <a:rPr lang="en-US" altLang="zh-CN" dirty="0"/>
              <a:t>/ </a:t>
            </a:r>
            <a:r>
              <a:rPr lang="zh-CN" altLang="en-US" dirty="0"/>
              <a:t>财报研究</a:t>
            </a:r>
          </a:p>
          <a:p>
            <a:endParaRPr lang="zh-CN" altLang="en-US" dirty="0"/>
          </a:p>
          <a:p>
            <a:r>
              <a:rPr lang="zh-CN" altLang="en-US" dirty="0"/>
              <a:t>	</a:t>
            </a:r>
            <a:r>
              <a:rPr lang="en-US" altLang="zh-CN" dirty="0"/>
              <a:t>•	</a:t>
            </a:r>
            <a:r>
              <a:rPr lang="en-US" dirty="0" err="1"/>
              <a:t>PlanCraft</a:t>
            </a:r>
            <a:r>
              <a:rPr lang="en-US" dirty="0"/>
              <a:t>：</a:t>
            </a:r>
            <a:r>
              <a:rPr lang="zh-CN" altLang="en-US" dirty="0"/>
              <a:t>序列规划 </a:t>
            </a:r>
            <a:r>
              <a:rPr lang="en-US" altLang="zh-CN" dirty="0"/>
              <a:t>/ </a:t>
            </a:r>
            <a:r>
              <a:rPr lang="zh-CN" altLang="en-US" dirty="0"/>
              <a:t>任务分解</a:t>
            </a:r>
          </a:p>
          <a:p>
            <a:endParaRPr lang="zh-CN" altLang="en-US" dirty="0"/>
          </a:p>
          <a:p>
            <a:r>
              <a:rPr lang="zh-CN" altLang="en-US" dirty="0"/>
              <a:t>	</a:t>
            </a:r>
            <a:r>
              <a:rPr lang="en-US" altLang="zh-CN" dirty="0"/>
              <a:t>•	</a:t>
            </a:r>
            <a:r>
              <a:rPr lang="en-US" dirty="0"/>
              <a:t>Workbench：</a:t>
            </a:r>
            <a:r>
              <a:rPr lang="zh-CN" altLang="en-US" dirty="0"/>
              <a:t>办公自动化 </a:t>
            </a:r>
            <a:r>
              <a:rPr lang="en-US" altLang="zh-CN" dirty="0"/>
              <a:t>/ </a:t>
            </a:r>
            <a:r>
              <a:rPr lang="zh-CN" altLang="en-US" dirty="0"/>
              <a:t>工具调用执行  ￼</a:t>
            </a:r>
          </a:p>
          <a:p>
            <a:endParaRPr lang="zh-CN" altLang="en-US" dirty="0"/>
          </a:p>
          <a:p>
            <a:endParaRPr lang="en-US" dirty="0"/>
          </a:p>
        </p:txBody>
      </p:sp>
    </p:spTree>
    <p:extLst>
      <p:ext uri="{BB962C8B-B14F-4D97-AF65-F5344CB8AC3E}">
        <p14:creationId xmlns:p14="http://schemas.microsoft.com/office/powerpoint/2010/main" val="8543798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论文里确实在“总推理 </a:t>
            </a:r>
            <a:r>
              <a:rPr lang="en-US" dirty="0"/>
              <a:t>token </a:t>
            </a:r>
            <a:r>
              <a:rPr lang="zh-CN" altLang="en-US" dirty="0"/>
              <a:t>预算大致相同”的前提下比较不同架构，但图 </a:t>
            </a:r>
            <a:r>
              <a:rPr lang="en-US" altLang="zh-CN" dirty="0"/>
              <a:t>3 </a:t>
            </a:r>
            <a:r>
              <a:rPr lang="zh-CN" altLang="en-US" dirty="0"/>
              <a:t>的横轴用的是按各家 </a:t>
            </a:r>
            <a:r>
              <a:rPr lang="en-US" dirty="0"/>
              <a:t>API </a:t>
            </a:r>
            <a:r>
              <a:rPr lang="zh-CN" altLang="en-US" dirty="0"/>
              <a:t>单价折算后的“每次实验真实美元成本”，不同模型和架构的单价与实际用掉的 </a:t>
            </a:r>
            <a:r>
              <a:rPr lang="en-US" dirty="0"/>
              <a:t>token </a:t>
            </a:r>
            <a:r>
              <a:rPr lang="zh-CN" altLang="en-US" dirty="0"/>
              <a:t>数都不一样，所以仍然会出现明显的 </a:t>
            </a:r>
            <a:r>
              <a:rPr lang="en-US" dirty="0"/>
              <a:t>performance–cost </a:t>
            </a:r>
            <a:r>
              <a:rPr lang="zh-CN" altLang="en-US" dirty="0"/>
              <a:t>关系。 </a:t>
            </a:r>
          </a:p>
          <a:p>
            <a:endParaRPr lang="zh-CN" altLang="en-US" dirty="0"/>
          </a:p>
          <a:p>
            <a:r>
              <a:rPr lang="zh-CN" altLang="en-US" dirty="0"/>
              <a:t>换句话说，固定 </a:t>
            </a:r>
            <a:r>
              <a:rPr lang="en-US" dirty="0"/>
              <a:t>token </a:t>
            </a:r>
            <a:r>
              <a:rPr lang="zh-CN" altLang="en-US" dirty="0"/>
              <a:t>预算解决的是“计算量公平性”的科学问题，而性能</a:t>
            </a:r>
            <a:r>
              <a:rPr lang="en-US" altLang="zh-CN" dirty="0"/>
              <a:t>–</a:t>
            </a:r>
            <a:r>
              <a:rPr lang="zh-CN" altLang="en-US" dirty="0"/>
              <a:t>成本图回答的是“在真实按 </a:t>
            </a:r>
            <a:r>
              <a:rPr lang="en-US" dirty="0"/>
              <a:t>token </a:t>
            </a:r>
            <a:r>
              <a:rPr lang="zh-CN" altLang="en-US" dirty="0"/>
              <a:t>收费的环境里，哪种模型家族与架构更划算”的工程问题，这两个视角并不矛盾。 </a:t>
            </a:r>
            <a:endParaRPr lang="en-US" dirty="0"/>
          </a:p>
        </p:txBody>
      </p:sp>
    </p:spTree>
    <p:extLst>
      <p:ext uri="{BB962C8B-B14F-4D97-AF65-F5344CB8AC3E}">
        <p14:creationId xmlns:p14="http://schemas.microsoft.com/office/powerpoint/2010/main" val="4848129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在某些模型家族里，用“强模型做子代理 </a:t>
            </a:r>
            <a:r>
              <a:rPr lang="en-US" altLang="zh-CN" dirty="0"/>
              <a:t>+ </a:t>
            </a:r>
            <a:r>
              <a:rPr lang="zh-CN" altLang="en-US" dirty="0"/>
              <a:t>比较弱的模型做编排</a:t>
            </a:r>
            <a:r>
              <a:rPr lang="en-US" altLang="zh-CN" dirty="0"/>
              <a:t>/</a:t>
            </a:r>
            <a:r>
              <a:rPr lang="zh-CN" altLang="en-US" dirty="0"/>
              <a:t>协调者”的异构团队，反而比“所有角色都用最强模型”的同构高配团队表现更好、也更省成本。</a:t>
            </a:r>
            <a:endParaRPr lang="en-US" altLang="zh-CN" dirty="0"/>
          </a:p>
          <a:p>
            <a:endParaRPr lang="en-US" dirty="0"/>
          </a:p>
          <a:p>
            <a:r>
              <a:rPr lang="zh-CN" altLang="en-US" dirty="0"/>
              <a:t>图左边的是中心化（</a:t>
            </a:r>
            <a:r>
              <a:rPr lang="en-US" dirty="0"/>
              <a:t>Centralized）</a:t>
            </a:r>
            <a:r>
              <a:rPr lang="zh-CN" altLang="en-US" dirty="0"/>
              <a:t>多智能体架构，图右边的是去中心化（</a:t>
            </a:r>
            <a:r>
              <a:rPr lang="en-US" dirty="0"/>
              <a:t>Decentralized）</a:t>
            </a:r>
            <a:r>
              <a:rPr lang="zh-CN" altLang="en-US" dirty="0"/>
              <a:t>多智能体架构。 </a:t>
            </a:r>
          </a:p>
          <a:p>
            <a:r>
              <a:rPr lang="zh-CN" altLang="en-US" dirty="0"/>
              <a:t>左图“</a:t>
            </a:r>
            <a:r>
              <a:rPr lang="en-US" dirty="0"/>
              <a:t>Centralized”</a:t>
            </a:r>
            <a:r>
              <a:rPr lang="zh-CN" altLang="en-US" dirty="0"/>
              <a:t>对应的架构是：有一个**协调者（</a:t>
            </a:r>
            <a:r>
              <a:rPr lang="en-US" dirty="0"/>
              <a:t>orchestrator）</a:t>
            </a:r>
            <a:r>
              <a:rPr lang="zh-CN" altLang="en-US" dirty="0"/>
              <a:t>加多个子代理（</a:t>
            </a:r>
            <a:r>
              <a:rPr lang="en-US" dirty="0"/>
              <a:t>sub-agents）**</a:t>
            </a:r>
            <a:r>
              <a:rPr lang="zh-CN" altLang="en-US" dirty="0"/>
              <a:t>的中心化多智能体系统。 </a:t>
            </a:r>
          </a:p>
          <a:p>
            <a:r>
              <a:rPr lang="zh-CN" altLang="en-US" dirty="0"/>
              <a:t>右图“</a:t>
            </a:r>
            <a:r>
              <a:rPr lang="en-US" dirty="0"/>
              <a:t>Decentralized”</a:t>
            </a:r>
            <a:r>
              <a:rPr lang="zh-CN" altLang="en-US" dirty="0"/>
              <a:t>对应的架构是：代理之间进行同伴辩论并通过投票达成一致的去中心化多智能体系统。 </a:t>
            </a:r>
            <a:endParaRPr lang="en-US" dirty="0"/>
          </a:p>
        </p:txBody>
      </p:sp>
    </p:spTree>
    <p:extLst>
      <p:ext uri="{BB962C8B-B14F-4D97-AF65-F5344CB8AC3E}">
        <p14:creationId xmlns:p14="http://schemas.microsoft.com/office/powerpoint/2010/main" val="15127720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1050394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仅标题页">
    <p:spTree>
      <p:nvGrpSpPr>
        <p:cNvPr id="1" name=""/>
        <p:cNvGrpSpPr/>
        <p:nvPr/>
      </p:nvGrpSpPr>
      <p:grpSpPr>
        <a:xfrm>
          <a:off x="0" y="0"/>
          <a:ext cx="0" cy="0"/>
          <a:chOff x="0" y="0"/>
          <a:chExt cx="0" cy="0"/>
        </a:xfrm>
      </p:grpSpPr>
      <p:sp>
        <p:nvSpPr>
          <p:cNvPr id="2" name="标题 1"/>
          <p:cNvSpPr>
            <a:spLocks noGrp="1"/>
          </p:cNvSpPr>
          <p:nvPr>
            <p:ph type="title"/>
          </p:nvPr>
        </p:nvSpPr>
        <p:spPr>
          <a:xfrm>
            <a:off x="820475" y="123292"/>
            <a:ext cx="10164682" cy="672807"/>
          </a:xfrm>
        </p:spPr>
        <p:txBody>
          <a:bodyPr anchor="ctr">
            <a:noAutofit/>
          </a:bodyPr>
          <a:lstStyle>
            <a:lvl1pPr>
              <a:lnSpc>
                <a:spcPct val="100000"/>
              </a:lnSpc>
              <a:defRPr sz="2800" b="1">
                <a:solidFill>
                  <a:schemeClr val="accent1"/>
                </a:solidFill>
                <a:latin typeface="Calibri" panose="020F0502020204030204" pitchFamily="34" charset="0"/>
                <a:ea typeface="华文楷体" panose="02010600040101010101" pitchFamily="2" charset="-122"/>
                <a:cs typeface="Calibri" panose="020F0502020204030204" pitchFamily="34" charset="0"/>
              </a:defRPr>
            </a:lvl1pPr>
          </a:lstStyle>
          <a:p>
            <a:r>
              <a:rPr lang="en-US" altLang="zh-CN" dirty="0"/>
              <a:t>Click to edit Master title style</a:t>
            </a:r>
            <a:endParaRPr lang="en-US" dirty="0"/>
          </a:p>
        </p:txBody>
      </p:sp>
      <p:cxnSp>
        <p:nvCxnSpPr>
          <p:cNvPr id="6" name="直接连接符 5"/>
          <p:cNvCxnSpPr/>
          <p:nvPr userDrawn="1"/>
        </p:nvCxnSpPr>
        <p:spPr>
          <a:xfrm>
            <a:off x="820476" y="796099"/>
            <a:ext cx="10626731" cy="0"/>
          </a:xfrm>
          <a:prstGeom prst="line">
            <a:avLst/>
          </a:prstGeom>
          <a:ln>
            <a:solidFill>
              <a:schemeClr val="bg1">
                <a:lumMod val="6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7697676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
    <p:spTree>
      <p:nvGrpSpPr>
        <p:cNvPr id="1" name=""/>
        <p:cNvGrpSpPr/>
        <p:nvPr/>
      </p:nvGrpSpPr>
      <p:grpSpPr>
        <a:xfrm>
          <a:off x="0" y="0"/>
          <a:ext cx="0" cy="0"/>
          <a:chOff x="0" y="0"/>
          <a:chExt cx="0" cy="0"/>
        </a:xfrm>
      </p:grpSpPr>
      <p:sp>
        <p:nvSpPr>
          <p:cNvPr id="8" name="文本占位符 7"/>
          <p:cNvSpPr>
            <a:spLocks noGrp="1"/>
          </p:cNvSpPr>
          <p:nvPr>
            <p:ph type="body" sz="quarter" idx="12" hasCustomPrompt="1"/>
          </p:nvPr>
        </p:nvSpPr>
        <p:spPr>
          <a:xfrm>
            <a:off x="760413" y="0"/>
            <a:ext cx="9702248" cy="798513"/>
          </a:xfrm>
          <a:prstGeom prst="rect">
            <a:avLst/>
          </a:prstGeom>
        </p:spPr>
        <p:txBody>
          <a:bodyPr anchor="ctr"/>
          <a:lstStyle>
            <a:lvl1pPr marL="0" indent="0">
              <a:buNone/>
              <a:defRPr sz="2800" b="1">
                <a:solidFill>
                  <a:schemeClr val="accent1"/>
                </a:solidFill>
              </a:defRPr>
            </a:lvl1pPr>
          </a:lstStyle>
          <a:p>
            <a:pPr lvl="0"/>
            <a:r>
              <a:rPr lang="zh-CN" altLang="en-US" dirty="0"/>
              <a:t>编辑母版文本样式</a:t>
            </a:r>
          </a:p>
        </p:txBody>
      </p:sp>
    </p:spTree>
    <p:extLst>
      <p:ext uri="{BB962C8B-B14F-4D97-AF65-F5344CB8AC3E}">
        <p14:creationId xmlns:p14="http://schemas.microsoft.com/office/powerpoint/2010/main" val="21122229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2783707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标题幻灯片">
    <p:spTree>
      <p:nvGrpSpPr>
        <p:cNvPr id="1" name=""/>
        <p:cNvGrpSpPr/>
        <p:nvPr/>
      </p:nvGrpSpPr>
      <p:grpSpPr>
        <a:xfrm>
          <a:off x="0" y="0"/>
          <a:ext cx="0" cy="0"/>
          <a:chOff x="0" y="0"/>
          <a:chExt cx="0" cy="0"/>
        </a:xfrm>
      </p:grpSpPr>
      <p:sp>
        <p:nvSpPr>
          <p:cNvPr id="4" name="日期占位符 3"/>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Tree>
    <p:extLst>
      <p:ext uri="{BB962C8B-B14F-4D97-AF65-F5344CB8AC3E}">
        <p14:creationId xmlns:p14="http://schemas.microsoft.com/office/powerpoint/2010/main" val="4911949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_仅标题页">
    <p:spTree>
      <p:nvGrpSpPr>
        <p:cNvPr id="1" name=""/>
        <p:cNvGrpSpPr/>
        <p:nvPr/>
      </p:nvGrpSpPr>
      <p:grpSpPr>
        <a:xfrm>
          <a:off x="0" y="0"/>
          <a:ext cx="0" cy="0"/>
          <a:chOff x="0" y="0"/>
          <a:chExt cx="0" cy="0"/>
        </a:xfrm>
      </p:grpSpPr>
      <p:sp>
        <p:nvSpPr>
          <p:cNvPr id="2" name="标题 1"/>
          <p:cNvSpPr>
            <a:spLocks noGrp="1"/>
          </p:cNvSpPr>
          <p:nvPr>
            <p:ph type="title"/>
          </p:nvPr>
        </p:nvSpPr>
        <p:spPr>
          <a:xfrm>
            <a:off x="820475" y="123292"/>
            <a:ext cx="10164682" cy="672807"/>
          </a:xfrm>
        </p:spPr>
        <p:txBody>
          <a:bodyPr anchor="ctr">
            <a:noAutofit/>
          </a:bodyPr>
          <a:lstStyle>
            <a:lvl1pPr>
              <a:lnSpc>
                <a:spcPct val="100000"/>
              </a:lnSpc>
              <a:defRPr sz="2800" b="1">
                <a:solidFill>
                  <a:schemeClr val="accent1"/>
                </a:solidFill>
                <a:latin typeface="Calibri" panose="020F0502020204030204" pitchFamily="34" charset="0"/>
                <a:ea typeface="华文楷体" panose="02010600040101010101" pitchFamily="2" charset="-122"/>
                <a:cs typeface="Calibri" panose="020F0502020204030204" pitchFamily="34" charset="0"/>
              </a:defRPr>
            </a:lvl1pPr>
          </a:lstStyle>
          <a:p>
            <a:r>
              <a:rPr lang="en-US" altLang="zh-CN" dirty="0"/>
              <a:t>Click to edit Master title style</a:t>
            </a:r>
            <a:endParaRPr lang="en-US" dirty="0"/>
          </a:p>
        </p:txBody>
      </p:sp>
      <p:cxnSp>
        <p:nvCxnSpPr>
          <p:cNvPr id="6" name="直接连接符 5"/>
          <p:cNvCxnSpPr/>
          <p:nvPr userDrawn="1"/>
        </p:nvCxnSpPr>
        <p:spPr>
          <a:xfrm>
            <a:off x="820476" y="796099"/>
            <a:ext cx="10626731" cy="0"/>
          </a:xfrm>
          <a:prstGeom prst="line">
            <a:avLst/>
          </a:prstGeom>
          <a:ln>
            <a:solidFill>
              <a:schemeClr val="bg1">
                <a:lumMod val="6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52946281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slideLayout" Target="../slideLayouts/slideLayout4.xml"/><Relationship Id="rId3" Type="http://schemas.openxmlformats.org/officeDocument/2006/relationships/slideLayout" Target="../slideLayouts/slideLayout5.xml"/><Relationship Id="rId4" Type="http://schemas.openxmlformats.org/officeDocument/2006/relationships/slideLayout" Target="../slideLayouts/slideLayout6.xml"/><Relationship Id="rId5" Type="http://schemas.openxmlformats.org/officeDocument/2006/relationships/theme" Target="../theme/theme2.xml"/><Relationship Id="rId6"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27501411"/>
      </p:ext>
    </p:extLst>
  </p:cSld>
  <p:clrMap bg1="lt1" tx1="dk1" bg2="lt2" tx2="dk2" accent1="accent1" accent2="accent2" accent3="accent3" accent4="accent4" accent5="accent5" accent6="accent6" hlink="hlink" folHlink="folHlink"/>
  <p:sldLayoutIdLst>
    <p:sldLayoutId id="2147483661" r:id="rId1"/>
    <p:sldLayoutId id="2147483667" r:id="rId2"/>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cxnSp>
        <p:nvCxnSpPr>
          <p:cNvPr id="8" name="直接连接符 7"/>
          <p:cNvCxnSpPr/>
          <p:nvPr userDrawn="1"/>
        </p:nvCxnSpPr>
        <p:spPr>
          <a:xfrm>
            <a:off x="820476" y="796099"/>
            <a:ext cx="10626731" cy="0"/>
          </a:xfrm>
          <a:prstGeom prst="line">
            <a:avLst/>
          </a:prstGeom>
          <a:ln>
            <a:solidFill>
              <a:schemeClr val="bg1">
                <a:lumMod val="65000"/>
              </a:schemeClr>
            </a:solidFill>
          </a:ln>
        </p:spPr>
        <p:style>
          <a:lnRef idx="1">
            <a:schemeClr val="dk1"/>
          </a:lnRef>
          <a:fillRef idx="0">
            <a:schemeClr val="dk1"/>
          </a:fillRef>
          <a:effectRef idx="0">
            <a:schemeClr val="dk1"/>
          </a:effectRef>
          <a:fontRef idx="minor">
            <a:schemeClr val="tx1"/>
          </a:fontRef>
        </p:style>
      </p:cxnSp>
      <p:pic>
        <p:nvPicPr>
          <p:cNvPr id="1026" name="Picture 2" descr="http://www.meridiancapital.com.cn/images/logo.png"/>
          <p:cNvPicPr>
            <a:picLocks noChangeAspect="1" noChangeArrowheads="1"/>
          </p:cNvPicPr>
          <p:nvPr userDrawn="1"/>
        </p:nvPicPr>
        <p:blipFill>
          <a:blip r:embed="rId6" cstate="email"/>
          <a:srcRect/>
          <a:stretch>
            <a:fillRect/>
          </a:stretch>
        </p:blipFill>
        <p:spPr bwMode="auto">
          <a:xfrm>
            <a:off x="10702413" y="189026"/>
            <a:ext cx="1489587" cy="5164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71517140"/>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Lst>
  <p:hf sldNum="0" hdr="0" ftr="0" dt="0"/>
  <p:txStyles>
    <p:titleStyle>
      <a:lvl1pPr algn="l" defTabSz="914400" rtl="0" eaLnBrk="1" latinLnBrk="0" hangingPunct="1">
        <a:lnSpc>
          <a:spcPct val="90000"/>
        </a:lnSpc>
        <a:spcBef>
          <a:spcPct val="0"/>
        </a:spcBef>
        <a:buNone/>
        <a:defRPr sz="3200" kern="1200">
          <a:solidFill>
            <a:schemeClr val="accent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3.tiff"/><Relationship Id="rId5" Type="http://schemas.openxmlformats.org/officeDocument/2006/relationships/image" Target="../media/image1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tif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tiff"/><Relationship Id="rId3" Type="http://schemas.openxmlformats.org/officeDocument/2006/relationships/image" Target="../media/image4.png"/><Relationship Id="rId4" Type="http://schemas.openxmlformats.org/officeDocument/2006/relationships/image" Target="../media/image1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tiff"/><Relationship Id="rId4" Type="http://schemas.openxmlformats.org/officeDocument/2006/relationships/image" Target="../media/image5.png"/><Relationship Id="rId5" Type="http://schemas.openxmlformats.org/officeDocument/2006/relationships/image" Target="../media/image1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tif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tif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tiff"/><Relationship Id="rId3" Type="http://schemas.openxmlformats.org/officeDocument/2006/relationships/image" Target="../media/image4.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tiff"/><Relationship Id="rId4" Type="http://schemas.openxmlformats.org/officeDocument/2006/relationships/image" Target="../media/image5.png"/><Relationship Id="rId5"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3.tiff"/><Relationship Id="rId4" Type="http://schemas.openxmlformats.org/officeDocument/2006/relationships/image" Target="../media/image6.png"/><Relationship Id="rId5" Type="http://schemas.openxmlformats.org/officeDocument/2006/relationships/image" Target="../media/image1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tiff"/><Relationship Id="rId4" Type="http://schemas.openxmlformats.org/officeDocument/2006/relationships/image" Target="../media/image7.png"/><Relationship Id="rId5" Type="http://schemas.openxmlformats.org/officeDocument/2006/relationships/image" Target="../media/image1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tiff"/><Relationship Id="rId3" Type="http://schemas.openxmlformats.org/officeDocument/2006/relationships/image" Target="../media/image8.pn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tiff"/><Relationship Id="rId3" Type="http://schemas.openxmlformats.org/officeDocument/2006/relationships/image" Target="../media/image9.pn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tiff"/><Relationship Id="rId3" Type="http://schemas.openxmlformats.org/officeDocument/2006/relationships/image" Target="../media/image10.png"/><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tif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tif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637656" y="575136"/>
            <a:ext cx="4331884" cy="5751235"/>
          </a:xfrm>
          <a:prstGeom prst="rect">
            <a:avLst/>
          </a:prstGeom>
          <a:noFill/>
          <a:ln w="1270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楷体" panose="02010609060101010101" pitchFamily="49" charset="-122"/>
              <a:cs typeface="+mn-ea"/>
              <a:sym typeface="+mn-lt"/>
            </a:endParaRPr>
          </a:p>
        </p:txBody>
      </p:sp>
      <p:pic>
        <p:nvPicPr>
          <p:cNvPr id="19" name="Picture 18" descr="cover.png"/>
          <p:cNvPicPr>
            <a:picLocks noChangeAspect="1"/>
          </p:cNvPicPr>
          <p:nvPr/>
        </p:nvPicPr>
        <p:blipFill>
          <a:blip r:embed="rId5"/>
          <a:stretch>
            <a:fillRect/>
          </a:stretch>
        </p:blipFill>
        <p:spPr>
          <a:xfrm>
            <a:off x="591811" y="1778432"/>
            <a:ext cx="11008378" cy="3608729"/>
          </a:xfrm>
          <a:prstGeom prst="rect">
            <a:avLst/>
          </a:prstGeom>
        </p:spPr>
      </p:pic>
      <p:sp>
        <p:nvSpPr>
          <p:cNvPr id="2" name="矩形 1"/>
          <p:cNvSpPr/>
          <p:nvPr/>
        </p:nvSpPr>
        <p:spPr>
          <a:xfrm>
            <a:off x="591811" y="1778432"/>
            <a:ext cx="11008378" cy="3608729"/>
          </a:xfrm>
          <a:prstGeom prst="rect">
            <a:avLst/>
          </a:prstGeom>
          <a:solidFill>
            <a:schemeClr val="bg1">
              <a:lumMod val="75000"/>
              <a:alpha val="48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latin typeface="Arial" panose="020B0604020202020204"/>
              <a:ea typeface="楷体" panose="02010609060101010101" pitchFamily="49" charset="-122"/>
              <a:cs typeface="+mn-ea"/>
              <a:sym typeface="+mn-lt"/>
            </a:endParaRPr>
          </a:p>
        </p:txBody>
      </p:sp>
      <p:sp>
        <p:nvSpPr>
          <p:cNvPr id="9" name="矩形 8"/>
          <p:cNvSpPr/>
          <p:nvPr/>
        </p:nvSpPr>
        <p:spPr>
          <a:xfrm flipH="1">
            <a:off x="1573951" y="575136"/>
            <a:ext cx="45719" cy="5751235"/>
          </a:xfrm>
          <a:prstGeom prst="rect">
            <a:avLst/>
          </a:prstGeom>
          <a:noFill/>
          <a:ln w="1270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楷体" panose="02010609060101010101" pitchFamily="49" charset="-122"/>
              <a:cs typeface="+mn-ea"/>
              <a:sym typeface="+mn-lt"/>
            </a:endParaRPr>
          </a:p>
        </p:txBody>
      </p:sp>
      <p:grpSp>
        <p:nvGrpSpPr>
          <p:cNvPr id="15" name="组合 14"/>
          <p:cNvGrpSpPr/>
          <p:nvPr/>
        </p:nvGrpSpPr>
        <p:grpSpPr>
          <a:xfrm>
            <a:off x="10846907" y="5160182"/>
            <a:ext cx="453958" cy="453958"/>
            <a:chOff x="5869021" y="5872413"/>
            <a:chExt cx="453958" cy="453958"/>
          </a:xfrm>
        </p:grpSpPr>
        <p:sp>
          <p:nvSpPr>
            <p:cNvPr id="17" name="矩形 16"/>
            <p:cNvSpPr/>
            <p:nvPr/>
          </p:nvSpPr>
          <p:spPr>
            <a:xfrm>
              <a:off x="5869021" y="5872413"/>
              <a:ext cx="453958" cy="45395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楷体" panose="02010609060101010101" pitchFamily="49" charset="-122"/>
                <a:cs typeface="+mn-ea"/>
                <a:sym typeface="+mn-lt"/>
              </a:endParaRPr>
            </a:p>
          </p:txBody>
        </p:sp>
        <p:sp>
          <p:nvSpPr>
            <p:cNvPr id="18" name="箭头: V 形 17"/>
            <p:cNvSpPr/>
            <p:nvPr/>
          </p:nvSpPr>
          <p:spPr>
            <a:xfrm rot="5400000">
              <a:off x="5997358" y="5972932"/>
              <a:ext cx="197284" cy="252920"/>
            </a:xfrm>
            <a:prstGeom prst="chevron">
              <a:avLst>
                <a:gd name="adj" fmla="val 7253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a:ea typeface="楷体" panose="02010609060101010101" pitchFamily="49" charset="-122"/>
                <a:cs typeface="+mn-ea"/>
                <a:sym typeface="+mn-lt"/>
              </a:endParaRPr>
            </a:p>
          </p:txBody>
        </p:sp>
      </p:grpSp>
      <p:sp>
        <p:nvSpPr>
          <p:cNvPr id="5" name="文本框 4"/>
          <p:cNvSpPr txBox="1"/>
          <p:nvPr/>
        </p:nvSpPr>
        <p:spPr>
          <a:xfrm>
            <a:off x="5098256" y="4664202"/>
            <a:ext cx="1995488"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sz="1600" b="0"/>
              <a:t>2026年3月</a:t>
            </a:r>
          </a:p>
        </p:txBody>
      </p:sp>
      <p:pic>
        <p:nvPicPr>
          <p:cNvPr id="12" name="图片 11"/>
          <p:cNvPicPr>
            <a:picLocks noChangeAspect="1"/>
          </p:cNvPicPr>
          <p:nvPr/>
        </p:nvPicPr>
        <p:blipFill>
          <a:blip r:embed="rId4"/>
          <a:stretch>
            <a:fillRect/>
          </a:stretch>
        </p:blipFill>
        <p:spPr>
          <a:xfrm>
            <a:off x="2721062" y="864162"/>
            <a:ext cx="2207110" cy="687291"/>
          </a:xfrm>
          <a:prstGeom prst="rect">
            <a:avLst/>
          </a:prstGeom>
        </p:spPr>
      </p:pic>
      <p:sp>
        <p:nvSpPr>
          <p:cNvPr id="7" name="文本框 6"/>
          <p:cNvSpPr txBox="1"/>
          <p:nvPr/>
        </p:nvSpPr>
        <p:spPr>
          <a:xfrm>
            <a:off x="4618672" y="2967335"/>
            <a:ext cx="2954655" cy="92333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sz="2800" b="1"/>
              <a:t>Mercury 2</a:t>
            </a:r>
            <a:br/>
            <a:r>
              <a:rPr sz="2800" b="1"/>
              <a:t>扩散推理速览</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11480" y="320040"/>
            <a:ext cx="73152" cy="731520"/>
          </a:xfrm>
          <a:prstGeom prst="rect">
            <a:avLst/>
          </a:prstGeom>
          <a:solidFill>
            <a:srgbClr val="232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228600"/>
            <a:ext cx="7726679" cy="369332"/>
          </a:xfrm>
          <a:prstGeom prst="rect">
            <a:avLst/>
          </a:prstGeom>
          <a:noFill/>
        </p:spPr>
        <p:txBody>
          <a:bodyPr wrap="square">
            <a:spAutoFit/>
          </a:bodyPr>
          <a:lstStyle/>
          <a:p>
            <a:r>
              <a:rPr sz="2400" b="1"/>
              <a:t>目录</a:t>
            </a:r>
            <a:endParaRPr b="1" dirty="0">
              <a:solidFill>
                <a:schemeClr val="accent1"/>
              </a:solidFill>
            </a:endParaRPr>
          </a:p>
        </p:txBody>
      </p:sp>
      <p:sp>
        <p:nvSpPr>
          <p:cNvPr id="6" name="Rounded Rectangle 5"/>
          <p:cNvSpPr/>
          <p:nvPr/>
        </p:nvSpPr>
        <p:spPr>
          <a:xfrm>
            <a:off x="658368" y="1389888"/>
            <a:ext cx="10058400" cy="4773168"/>
          </a:xfrm>
          <a:prstGeom prst="roundRect">
            <a:avLst/>
          </a:prstGeom>
          <a:solidFill>
            <a:srgbClr val="FAFAFA"/>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22960" y="1783080"/>
            <a:ext cx="9738360" cy="1477328"/>
          </a:xfrm>
          <a:prstGeom prst="rect">
            <a:avLst/>
          </a:prstGeom>
          <a:noFill/>
        </p:spPr>
        <p:txBody>
          <a:bodyPr wrap="square">
            <a:spAutoFit/>
          </a:bodyPr>
          <a:lstStyle/>
          <a:p>
            <a:pPr/>
            <a:r>
              <a:rPr sz="1800"/>
              <a:t>• Mercury 2 的模型定位与核心亮点</a:t>
            </a:r>
            <a:endParaRPr lang="en-US" dirty="0"/>
          </a:p>
          <a:p>
            <a:pPr/>
            <a:r>
              <a:rPr sz="1800"/>
              <a:t>• 扩散式并行生成为何能把速度拉到 1009 tokens/s</a:t>
            </a:r>
          </a:p>
          <a:p>
            <a:pPr/>
            <a:r>
              <a:rPr sz="1800"/>
              <a:t>• 性能、价格与应用场景的综合判断</a:t>
            </a:r>
          </a:p>
          <a:p>
            <a:pPr/>
            <a:r>
              <a:rPr sz="1800"/>
              <a:t>• Inception Labs 的技术路线、团队与产业背书</a:t>
            </a:r>
          </a:p>
          <a:p>
            <a:pPr/>
            <a:r>
              <a:rPr sz="1800"/>
              <a:t>• 对实时 AI 产品与投资观察的启发</a:t>
            </a:r>
          </a:p>
        </p:txBody>
      </p:sp>
      <p:pic>
        <p:nvPicPr>
          <p:cNvPr id="9" name="图片 11">
            <a:extLst>
              <a:ext uri="{FF2B5EF4-FFF2-40B4-BE49-F238E27FC236}">
                <a16:creationId xmlns:a16="http://schemas.microsoft.com/office/drawing/2014/main" id="{250D6EF6-E290-DB59-6252-7A2C142C9435}"/>
              </a:ext>
            </a:extLst>
          </p:cNvPr>
          <p:cNvPicPr>
            <a:picLocks noChangeAspect="1"/>
          </p:cNvPicPr>
          <p:nvPr/>
        </p:nvPicPr>
        <p:blipFill>
          <a:blip r:embed="rId2"/>
          <a:stretch>
            <a:fillRect/>
          </a:stretch>
        </p:blipFill>
        <p:spPr>
          <a:xfrm>
            <a:off x="10716768" y="193040"/>
            <a:ext cx="1398224" cy="435405"/>
          </a:xfrm>
          <a:prstGeom prst="rect">
            <a:avLst/>
          </a:prstGeom>
        </p:spPr>
      </p:pic>
    </p:spTree>
    <p:extLst>
      <p:ext uri="{BB962C8B-B14F-4D97-AF65-F5344CB8AC3E}">
        <p14:creationId xmlns:p14="http://schemas.microsoft.com/office/powerpoint/2010/main" val="3194321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11480" y="320040"/>
            <a:ext cx="73152" cy="731520"/>
          </a:xfrm>
          <a:prstGeom prst="rect">
            <a:avLst/>
          </a:prstGeom>
          <a:solidFill>
            <a:srgbClr val="232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228600"/>
            <a:ext cx="7726679" cy="369332"/>
          </a:xfrm>
          <a:prstGeom prst="rect">
            <a:avLst/>
          </a:prstGeom>
          <a:noFill/>
        </p:spPr>
        <p:txBody>
          <a:bodyPr wrap="square">
            <a:spAutoFit/>
          </a:bodyPr>
          <a:lstStyle/>
          <a:p>
            <a:r>
              <a:rPr sz="2200" b="1"/>
              <a:t>模型定位：Mercury 2 是什么</a:t>
            </a:r>
          </a:p>
        </p:txBody>
      </p:sp>
      <p:sp>
        <p:nvSpPr>
          <p:cNvPr id="4" name="TextBox 3"/>
          <p:cNvSpPr txBox="1"/>
          <p:nvPr/>
        </p:nvSpPr>
        <p:spPr>
          <a:xfrm>
            <a:off x="676656" y="877824"/>
            <a:ext cx="9692640" cy="279564"/>
          </a:xfrm>
          <a:prstGeom prst="rect">
            <a:avLst/>
          </a:prstGeom>
          <a:noFill/>
        </p:spPr>
        <p:txBody>
          <a:bodyPr wrap="square">
            <a:spAutoFit/>
          </a:bodyPr>
          <a:lstStyle/>
          <a:p>
            <a:r>
              <a:rPr sz="1300" b="0"/>
              <a:t>全球最快的推理型 LLM 之一，核心卖点是“扩散式并行生成”</a:t>
            </a:r>
          </a:p>
        </p:txBody>
      </p:sp>
      <p:grpSp>
        <p:nvGrpSpPr>
          <p:cNvPr id="5" name="Group 4">
            <a:extLst>
              <a:ext uri="{FF2B5EF4-FFF2-40B4-BE49-F238E27FC236}">
                <a16:creationId xmlns:a16="http://schemas.microsoft.com/office/drawing/2014/main" id="{6D9C2101-A6BF-F306-52D1-079E6187C064}"/>
              </a:ext>
            </a:extLst>
          </p:cNvPr>
          <p:cNvGrpSpPr/>
          <p:nvPr/>
        </p:nvGrpSpPr>
        <p:grpSpPr>
          <a:xfrm>
            <a:off x="1165146" y="5074072"/>
            <a:ext cx="10333608" cy="1555328"/>
            <a:chOff x="604672" y="1280756"/>
            <a:chExt cx="4900000" cy="4773169"/>
          </a:xfrm>
        </p:grpSpPr>
        <p:sp>
          <p:nvSpPr>
            <p:cNvPr id="6" name="Rounded Rectangle 5"/>
            <p:cNvSpPr/>
            <p:nvPr/>
          </p:nvSpPr>
          <p:spPr>
            <a:xfrm>
              <a:off x="604672" y="1280756"/>
              <a:ext cx="4900000" cy="4773169"/>
            </a:xfrm>
            <a:prstGeom prst="roundRect">
              <a:avLst/>
            </a:prstGeom>
            <a:solidFill>
              <a:srgbClr val="FAFAFA"/>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8" name="TextBox 7"/>
            <p:cNvSpPr txBox="1"/>
            <p:nvPr/>
          </p:nvSpPr>
          <p:spPr>
            <a:xfrm>
              <a:off x="804672" y="1790067"/>
              <a:ext cx="4500000" cy="3754548"/>
            </a:xfrm>
            <a:prstGeom prst="rect">
              <a:avLst/>
            </a:prstGeom>
            <a:noFill/>
          </p:spPr>
          <p:txBody>
            <a:bodyPr wrap="square">
              <a:spAutoFit/>
            </a:bodyPr>
            <a:lstStyle/>
            <a:p>
              <a:pPr algn="l">
                <a:spcBef>
                  <a:spcPts val="0"/>
                </a:spcBef>
                <a:spcAft>
                  <a:spcPts val="700"/>
                </a:spcAft>
              </a:pPr>
              <a:r>
                <a:rPr sz="1300"/>
                <a:t>• 官方将其定义为推理型语言模型，但底层不再沿用逐 token 自回归解码。</a:t>
              </a:r>
              <a:endParaRPr lang="en-US" altLang="zh-CN" sz="1400" dirty="0"/>
            </a:p>
            <a:p>
              <a:pPr/>
              <a:r>
                <a:rPr sz="1300"/>
                <a:t>• 生成方式更像“先形成草稿、再并行修订”的编辑过程，可同时优化多个 token。</a:t>
              </a:r>
            </a:p>
            <a:p>
              <a:pPr/>
              <a:r>
                <a:rPr sz="1300"/>
                <a:t>• 对于 Agent、检索、抽取、代码补全等多步循环任务，延迟不会像传统模型那样线性累积。</a:t>
              </a:r>
            </a:p>
          </p:txBody>
        </p:sp>
      </p:grpSp>
      <p:pic>
        <p:nvPicPr>
          <p:cNvPr id="12" name="图片 11">
            <a:extLst>
              <a:ext uri="{FF2B5EF4-FFF2-40B4-BE49-F238E27FC236}">
                <a16:creationId xmlns:a16="http://schemas.microsoft.com/office/drawing/2014/main" id="{BFDDFE6E-EA1A-D7D6-B770-0D9C20C6EAE0}"/>
              </a:ext>
            </a:extLst>
          </p:cNvPr>
          <p:cNvPicPr>
            <a:picLocks noChangeAspect="1"/>
          </p:cNvPicPr>
          <p:nvPr/>
        </p:nvPicPr>
        <p:blipFill>
          <a:blip r:embed="rId2"/>
          <a:stretch>
            <a:fillRect/>
          </a:stretch>
        </p:blipFill>
        <p:spPr>
          <a:xfrm>
            <a:off x="10716768" y="193040"/>
            <a:ext cx="1398224" cy="435405"/>
          </a:xfrm>
          <a:prstGeom prst="rect">
            <a:avLst/>
          </a:prstGeom>
        </p:spPr>
      </p:pic>
      <p:pic>
        <p:nvPicPr>
          <p:cNvPr id="13" name="Picture 12" descr="parallel.png"/>
          <p:cNvPicPr>
            <a:picLocks noChangeAspect="1"/>
          </p:cNvPicPr>
          <p:nvPr/>
        </p:nvPicPr>
        <p:blipFill>
          <a:blip r:embed="rId4"/>
          <a:stretch>
            <a:fillRect/>
          </a:stretch>
        </p:blipFill>
        <p:spPr>
          <a:xfrm>
            <a:off x="1459243" y="1488932"/>
            <a:ext cx="8910053" cy="3358404"/>
          </a:xfrm>
          <a:prstGeom prst="rect">
            <a:avLst/>
          </a:prstGeom>
        </p:spPr>
      </p:pic>
    </p:spTree>
    <p:extLst>
      <p:ext uri="{BB962C8B-B14F-4D97-AF65-F5344CB8AC3E}">
        <p14:creationId xmlns:p14="http://schemas.microsoft.com/office/powerpoint/2010/main" val="25807025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11480" y="320040"/>
            <a:ext cx="73152" cy="731520"/>
          </a:xfrm>
          <a:prstGeom prst="rect">
            <a:avLst/>
          </a:prstGeom>
          <a:solidFill>
            <a:srgbClr val="232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228600"/>
            <a:ext cx="7726679" cy="369332"/>
          </a:xfrm>
          <a:prstGeom prst="rect">
            <a:avLst/>
          </a:prstGeom>
          <a:noFill/>
        </p:spPr>
        <p:txBody>
          <a:bodyPr wrap="square">
            <a:spAutoFit/>
          </a:bodyPr>
          <a:lstStyle/>
          <a:p>
            <a:r>
              <a:rPr sz="2200" b="1"/>
              <a:t>为什么它会快：速度曲线被重写</a:t>
            </a:r>
            <a:endParaRPr b="1" dirty="0">
              <a:solidFill>
                <a:schemeClr val="accent1"/>
              </a:solidFill>
            </a:endParaRPr>
          </a:p>
        </p:txBody>
      </p:sp>
      <p:sp>
        <p:nvSpPr>
          <p:cNvPr id="4" name="TextBox 3"/>
          <p:cNvSpPr txBox="1"/>
          <p:nvPr/>
        </p:nvSpPr>
        <p:spPr>
          <a:xfrm>
            <a:off x="676656" y="877824"/>
            <a:ext cx="9692640" cy="275332"/>
          </a:xfrm>
          <a:prstGeom prst="rect">
            <a:avLst/>
          </a:prstGeom>
          <a:noFill/>
        </p:spPr>
        <p:txBody>
          <a:bodyPr wrap="square">
            <a:spAutoFit/>
          </a:bodyPr>
          <a:lstStyle/>
          <a:p>
            <a:r>
              <a:rPr sz="1300" b="0"/>
              <a:t>从“打字机模式”切换到并行 refinement，是 Mercury 2 的根本差异</a:t>
            </a:r>
          </a:p>
        </p:txBody>
      </p:sp>
      <p:grpSp>
        <p:nvGrpSpPr>
          <p:cNvPr id="5" name="Group 4">
            <a:extLst>
              <a:ext uri="{FF2B5EF4-FFF2-40B4-BE49-F238E27FC236}">
                <a16:creationId xmlns:a16="http://schemas.microsoft.com/office/drawing/2014/main" id="{FC5915E9-91C5-9C15-39BE-414ED70C7357}"/>
              </a:ext>
            </a:extLst>
          </p:cNvPr>
          <p:cNvGrpSpPr/>
          <p:nvPr/>
        </p:nvGrpSpPr>
        <p:grpSpPr>
          <a:xfrm>
            <a:off x="658368" y="1389888"/>
            <a:ext cx="3615249" cy="4773168"/>
            <a:chOff x="658368" y="1389888"/>
            <a:chExt cx="4900000" cy="4773168"/>
          </a:xfrm>
        </p:grpSpPr>
        <p:sp>
          <p:nvSpPr>
            <p:cNvPr id="6" name="Rounded Rectangle 5"/>
            <p:cNvSpPr/>
            <p:nvPr/>
          </p:nvSpPr>
          <p:spPr>
            <a:xfrm>
              <a:off x="658368" y="1389888"/>
              <a:ext cx="4900000" cy="4773168"/>
            </a:xfrm>
            <a:prstGeom prst="roundRect">
              <a:avLst/>
            </a:prstGeom>
            <a:solidFill>
              <a:srgbClr val="FAFAFA"/>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8" name="TextBox 7"/>
            <p:cNvSpPr txBox="1"/>
            <p:nvPr/>
          </p:nvSpPr>
          <p:spPr>
            <a:xfrm>
              <a:off x="822960" y="1783080"/>
              <a:ext cx="4500000" cy="3337388"/>
            </a:xfrm>
            <a:prstGeom prst="rect">
              <a:avLst/>
            </a:prstGeom>
            <a:noFill/>
          </p:spPr>
          <p:txBody>
            <a:bodyPr wrap="square">
              <a:spAutoFit/>
            </a:bodyPr>
            <a:lstStyle/>
            <a:p>
              <a:pPr algn="l">
                <a:lnSpc>
                  <a:spcPct val="116000"/>
                </a:lnSpc>
                <a:spcBef>
                  <a:spcPts val="0"/>
                </a:spcBef>
                <a:spcAft>
                  <a:spcPts val="700"/>
                </a:spcAft>
              </a:pPr>
              <a:r>
                <a:rPr sz="1250"/>
                <a:t>• 官方披露在 NVIDIA Blackwell GPU 上可达 1009 tokens/s。</a:t>
              </a:r>
              <a:endParaRPr lang="en-US" sz="1400" dirty="0"/>
            </a:p>
            <a:p>
              <a:pPr/>
              <a:r>
                <a:rPr sz="1250"/>
                <a:t>• 相较 GPT-5 mini、Claude 4.5 Haiku 等轻量模型，速度优势超过 5 倍。</a:t>
              </a:r>
            </a:p>
            <a:p>
              <a:pPr/>
              <a:r>
                <a:rPr sz="1250"/>
                <a:t>• 快的不只是首 token，更关键是整段输出吞吐更高，适合高并发生产环境。</a:t>
              </a:r>
            </a:p>
            <a:p>
              <a:pPr/>
              <a:r>
                <a:rPr sz="1250"/>
                <a:t>• 第三方传播里，Mercury 2 已经被视为“扩散式推理”进入主流视野的标志事件。</a:t>
              </a:r>
            </a:p>
          </p:txBody>
        </p:sp>
      </p:grpSp>
      <p:pic>
        <p:nvPicPr>
          <p:cNvPr id="12" name="图片 11">
            <a:extLst>
              <a:ext uri="{FF2B5EF4-FFF2-40B4-BE49-F238E27FC236}">
                <a16:creationId xmlns:a16="http://schemas.microsoft.com/office/drawing/2014/main" id="{E8F9F1FC-F284-020F-1F78-D30A3159FDB1}"/>
              </a:ext>
            </a:extLst>
          </p:cNvPr>
          <p:cNvPicPr>
            <a:picLocks noChangeAspect="1"/>
          </p:cNvPicPr>
          <p:nvPr/>
        </p:nvPicPr>
        <p:blipFill>
          <a:blip r:embed="rId3"/>
          <a:stretch>
            <a:fillRect/>
          </a:stretch>
        </p:blipFill>
        <p:spPr>
          <a:xfrm>
            <a:off x="10716768" y="193040"/>
            <a:ext cx="1398224" cy="435405"/>
          </a:xfrm>
          <a:prstGeom prst="rect">
            <a:avLst/>
          </a:prstGeom>
        </p:spPr>
      </p:pic>
      <p:pic>
        <p:nvPicPr>
          <p:cNvPr id="13" name="Picture 12" descr="speed_benchmark.png"/>
          <p:cNvPicPr>
            <a:picLocks noChangeAspect="1"/>
          </p:cNvPicPr>
          <p:nvPr/>
        </p:nvPicPr>
        <p:blipFill>
          <a:blip r:embed="rId5"/>
          <a:stretch>
            <a:fillRect/>
          </a:stretch>
        </p:blipFill>
        <p:spPr>
          <a:xfrm>
            <a:off x="4360908" y="1401106"/>
            <a:ext cx="7172724" cy="526385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197022-F9BD-C816-5EFB-A7046504206B}"/>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1082E560-F4FC-ABF7-685F-122968B602D8}"/>
              </a:ext>
            </a:extLst>
          </p:cNvPr>
          <p:cNvSpPr/>
          <p:nvPr/>
        </p:nvSpPr>
        <p:spPr>
          <a:xfrm>
            <a:off x="411480" y="320040"/>
            <a:ext cx="73152" cy="731520"/>
          </a:xfrm>
          <a:prstGeom prst="rect">
            <a:avLst/>
          </a:prstGeom>
          <a:solidFill>
            <a:srgbClr val="232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D1B063CA-15F7-F773-048F-94E5629D57FF}"/>
              </a:ext>
            </a:extLst>
          </p:cNvPr>
          <p:cNvSpPr txBox="1"/>
          <p:nvPr/>
        </p:nvSpPr>
        <p:spPr>
          <a:xfrm>
            <a:off x="658368" y="228600"/>
            <a:ext cx="7726679" cy="369332"/>
          </a:xfrm>
          <a:prstGeom prst="rect">
            <a:avLst/>
          </a:prstGeom>
          <a:noFill/>
        </p:spPr>
        <p:txBody>
          <a:bodyPr wrap="square">
            <a:spAutoFit/>
          </a:bodyPr>
          <a:lstStyle/>
          <a:p>
            <a:r>
              <a:rPr sz="2200" b="1"/>
              <a:t>指标总览：速度、价格、能力一起看</a:t>
            </a:r>
            <a:endParaRPr b="1" dirty="0">
              <a:solidFill>
                <a:schemeClr val="accent1"/>
              </a:solidFill>
            </a:endParaRPr>
          </a:p>
        </p:txBody>
      </p:sp>
      <p:sp>
        <p:nvSpPr>
          <p:cNvPr id="4" name="TextBox 3">
            <a:extLst>
              <a:ext uri="{FF2B5EF4-FFF2-40B4-BE49-F238E27FC236}">
                <a16:creationId xmlns:a16="http://schemas.microsoft.com/office/drawing/2014/main" id="{DC6E33D4-2714-5197-7F12-7A6769D22D87}"/>
              </a:ext>
            </a:extLst>
          </p:cNvPr>
          <p:cNvSpPr txBox="1"/>
          <p:nvPr/>
        </p:nvSpPr>
        <p:spPr>
          <a:xfrm>
            <a:off x="676656" y="877824"/>
            <a:ext cx="9692640" cy="369332"/>
          </a:xfrm>
          <a:prstGeom prst="rect">
            <a:avLst/>
          </a:prstGeom>
          <a:noFill/>
        </p:spPr>
        <p:txBody>
          <a:bodyPr wrap="square">
            <a:spAutoFit/>
          </a:bodyPr>
          <a:lstStyle/>
          <a:p>
            <a:r>
              <a:rPr sz="1300" b="0"/>
              <a:t>Mercury 2 不是单纯“快模型”，而是在重画质量-速度-成本曲线</a:t>
            </a:r>
          </a:p>
        </p:txBody>
      </p:sp>
      <p:sp>
        <p:nvSpPr>
          <p:cNvPr id="6" name="Rounded Rectangle 5">
            <a:extLst>
              <a:ext uri="{FF2B5EF4-FFF2-40B4-BE49-F238E27FC236}">
                <a16:creationId xmlns:a16="http://schemas.microsoft.com/office/drawing/2014/main" id="{990F5864-CBF1-FD25-4B65-DC8E6B854596}"/>
              </a:ext>
            </a:extLst>
          </p:cNvPr>
          <p:cNvSpPr/>
          <p:nvPr/>
        </p:nvSpPr>
        <p:spPr>
          <a:xfrm>
            <a:off x="658368" y="1389887"/>
            <a:ext cx="10543162" cy="5239513"/>
          </a:xfrm>
          <a:prstGeom prst="roundRect">
            <a:avLst/>
          </a:prstGeom>
          <a:solidFill>
            <a:srgbClr val="FAFAFA"/>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BA1B8104-1CEE-7BD6-5AE9-0E6A111D0BC2}"/>
              </a:ext>
            </a:extLst>
          </p:cNvPr>
          <p:cNvSpPr txBox="1"/>
          <p:nvPr/>
        </p:nvSpPr>
        <p:spPr>
          <a:xfrm>
            <a:off x="822959" y="1783080"/>
            <a:ext cx="10193383" cy="2013628"/>
          </a:xfrm>
          <a:prstGeom prst="rect">
            <a:avLst/>
          </a:prstGeom>
          <a:noFill/>
        </p:spPr>
        <p:txBody>
          <a:bodyPr wrap="square">
            <a:spAutoFit/>
          </a:bodyPr>
          <a:lstStyle/>
          <a:p>
            <a:pPr algn="l">
              <a:lnSpc>
                <a:spcPct val="116000"/>
              </a:lnSpc>
              <a:spcBef>
                <a:spcPts val="0"/>
              </a:spcBef>
              <a:spcAft>
                <a:spcPts val="700"/>
              </a:spcAft>
            </a:pPr>
            <a:r>
              <a:rPr sz="1700"/>
              <a:t>• 速度：1009 tokens/s，主打实时推理与高并发响应。</a:t>
            </a:r>
            <a:endParaRPr lang="en-US" sz="1500" dirty="0">
              <a:solidFill>
                <a:srgbClr val="2D2D2D"/>
              </a:solidFill>
            </a:endParaRPr>
          </a:p>
          <a:p>
            <a:pPr/>
            <a:r>
              <a:rPr sz="1700"/>
              <a:t>• 价格：输入 0.25 美元 / 百万，输出 0.75 美元 / 百万。</a:t>
            </a:r>
          </a:p>
          <a:p>
            <a:pPr/>
            <a:r>
              <a:rPr sz="1700"/>
              <a:t>• 能力：GPQA、LCB、AIME 等基准不输主流轻量/速度型模型。</a:t>
            </a:r>
          </a:p>
          <a:p>
            <a:pPr/>
            <a:r>
              <a:rPr sz="1700"/>
              <a:t>• 功能：128K 上下文、工具调用、结构化 JSON、可调推理。</a:t>
            </a:r>
          </a:p>
          <a:p>
            <a:pPr/>
            <a:r>
              <a:rPr sz="1700"/>
              <a:t>• 接口：兼容 OpenAI API，迁移与接入成本较低。</a:t>
            </a:r>
          </a:p>
        </p:txBody>
      </p:sp>
      <p:pic>
        <p:nvPicPr>
          <p:cNvPr id="12" name="图片 11">
            <a:extLst>
              <a:ext uri="{FF2B5EF4-FFF2-40B4-BE49-F238E27FC236}">
                <a16:creationId xmlns:a16="http://schemas.microsoft.com/office/drawing/2014/main" id="{DA0879EF-A5B0-27B7-D5DC-7D6550013730}"/>
              </a:ext>
            </a:extLst>
          </p:cNvPr>
          <p:cNvPicPr>
            <a:picLocks noChangeAspect="1"/>
          </p:cNvPicPr>
          <p:nvPr/>
        </p:nvPicPr>
        <p:blipFill>
          <a:blip r:embed="rId2"/>
          <a:stretch>
            <a:fillRect/>
          </a:stretch>
        </p:blipFill>
        <p:spPr>
          <a:xfrm>
            <a:off x="10716768" y="193040"/>
            <a:ext cx="1398224" cy="435405"/>
          </a:xfrm>
          <a:prstGeom prst="rect">
            <a:avLst/>
          </a:prstGeom>
        </p:spPr>
      </p:pic>
    </p:spTree>
    <p:extLst>
      <p:ext uri="{BB962C8B-B14F-4D97-AF65-F5344CB8AC3E}">
        <p14:creationId xmlns:p14="http://schemas.microsoft.com/office/powerpoint/2010/main" val="1410444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11480" y="320040"/>
            <a:ext cx="73152" cy="731520"/>
          </a:xfrm>
          <a:prstGeom prst="rect">
            <a:avLst/>
          </a:prstGeom>
          <a:solidFill>
            <a:srgbClr val="232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228600"/>
            <a:ext cx="7726679" cy="369332"/>
          </a:xfrm>
          <a:prstGeom prst="rect">
            <a:avLst/>
          </a:prstGeom>
          <a:noFill/>
        </p:spPr>
        <p:txBody>
          <a:bodyPr wrap="square">
            <a:spAutoFit/>
          </a:bodyPr>
          <a:lstStyle/>
          <a:p>
            <a:r>
              <a:rPr sz="2200" b="1"/>
              <a:t>应用场景：速度优势如何转化为价值</a:t>
            </a:r>
            <a:endParaRPr b="1" dirty="0">
              <a:solidFill>
                <a:schemeClr val="accent1"/>
              </a:solidFill>
            </a:endParaRPr>
          </a:p>
        </p:txBody>
      </p:sp>
      <p:sp>
        <p:nvSpPr>
          <p:cNvPr id="4" name="TextBox 3"/>
          <p:cNvSpPr txBox="1"/>
          <p:nvPr/>
        </p:nvSpPr>
        <p:spPr>
          <a:xfrm>
            <a:off x="676656" y="877824"/>
            <a:ext cx="9692640" cy="275332"/>
          </a:xfrm>
          <a:prstGeom prst="rect">
            <a:avLst/>
          </a:prstGeom>
          <a:noFill/>
        </p:spPr>
        <p:txBody>
          <a:bodyPr wrap="square">
            <a:spAutoFit/>
          </a:bodyPr>
          <a:lstStyle/>
          <a:p>
            <a:r>
              <a:rPr sz="1300" b="0"/>
              <a:t>真正受益的是“多轮、多步、强交互”的生产型 AI 工作流</a:t>
            </a:r>
          </a:p>
        </p:txBody>
      </p:sp>
      <p:sp>
        <p:nvSpPr>
          <p:cNvPr id="6" name="Rounded Rectangle 5"/>
          <p:cNvSpPr/>
          <p:nvPr/>
        </p:nvSpPr>
        <p:spPr>
          <a:xfrm>
            <a:off x="658368" y="1389888"/>
            <a:ext cx="10058400" cy="4773168"/>
          </a:xfrm>
          <a:prstGeom prst="roundRect">
            <a:avLst/>
          </a:prstGeom>
          <a:solidFill>
            <a:srgbClr val="FAFAFA"/>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22960" y="1783080"/>
            <a:ext cx="9738360" cy="2013628"/>
          </a:xfrm>
          <a:prstGeom prst="rect">
            <a:avLst/>
          </a:prstGeom>
          <a:noFill/>
        </p:spPr>
        <p:txBody>
          <a:bodyPr wrap="square">
            <a:spAutoFit/>
          </a:bodyPr>
          <a:lstStyle/>
          <a:p>
            <a:pPr algn="l">
              <a:lnSpc>
                <a:spcPct val="116000"/>
              </a:lnSpc>
              <a:spcBef>
                <a:spcPts val="0"/>
              </a:spcBef>
              <a:spcAft>
                <a:spcPts val="700"/>
              </a:spcAft>
            </a:pPr>
            <a:r>
              <a:rPr sz="1700"/>
              <a:t>• 代码与编辑：自动补全、改写、重构等场景对延迟极敏感。</a:t>
            </a:r>
            <a:endParaRPr lang="en-US" dirty="0"/>
          </a:p>
          <a:p>
            <a:pPr/>
            <a:r>
              <a:rPr sz="1700"/>
              <a:t>• Agent：单任务常串联数十次推理，单次提速会被放大成整体收益。</a:t>
            </a:r>
          </a:p>
          <a:p>
            <a:pPr/>
            <a:r>
              <a:rPr sz="1700"/>
              <a:t>• 语音：让“推理质量”更接近自然对话的实时节奏。</a:t>
            </a:r>
          </a:p>
          <a:p>
            <a:pPr/>
            <a:r>
              <a:rPr sz="1700"/>
              <a:t>• 搜索 / RAG：多跳检索、重排与总结链路更易压到可接受延迟。</a:t>
            </a:r>
          </a:p>
          <a:p>
            <a:pPr/>
            <a:r>
              <a:rPr sz="1700"/>
              <a:t>• 企业部署：官方强调 p95 延迟、高并发稳定性和轮次一致性。</a:t>
            </a:r>
          </a:p>
        </p:txBody>
      </p:sp>
      <p:pic>
        <p:nvPicPr>
          <p:cNvPr id="9" name="图片 11">
            <a:extLst>
              <a:ext uri="{FF2B5EF4-FFF2-40B4-BE49-F238E27FC236}">
                <a16:creationId xmlns:a16="http://schemas.microsoft.com/office/drawing/2014/main" id="{D6161145-8687-472E-1628-987A8FF3CE75}"/>
              </a:ext>
            </a:extLst>
          </p:cNvPr>
          <p:cNvPicPr>
            <a:picLocks noChangeAspect="1"/>
          </p:cNvPicPr>
          <p:nvPr/>
        </p:nvPicPr>
        <p:blipFill>
          <a:blip r:embed="rId2"/>
          <a:stretch>
            <a:fillRect/>
          </a:stretch>
        </p:blipFill>
        <p:spPr>
          <a:xfrm>
            <a:off x="10716768" y="193040"/>
            <a:ext cx="1398224" cy="43540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DFA997-489F-9B2F-79F7-C80B273B3CE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7EA03209-782E-0052-5968-B67AA2938015}"/>
              </a:ext>
            </a:extLst>
          </p:cNvPr>
          <p:cNvSpPr/>
          <p:nvPr/>
        </p:nvSpPr>
        <p:spPr>
          <a:xfrm>
            <a:off x="411480" y="320040"/>
            <a:ext cx="73152" cy="731520"/>
          </a:xfrm>
          <a:prstGeom prst="rect">
            <a:avLst/>
          </a:prstGeom>
          <a:solidFill>
            <a:srgbClr val="232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3803A4D4-1CA4-38DB-57A4-BA0BF2D4EF73}"/>
              </a:ext>
            </a:extLst>
          </p:cNvPr>
          <p:cNvSpPr txBox="1"/>
          <p:nvPr/>
        </p:nvSpPr>
        <p:spPr>
          <a:xfrm>
            <a:off x="658368" y="228600"/>
            <a:ext cx="7726679" cy="369332"/>
          </a:xfrm>
          <a:prstGeom prst="rect">
            <a:avLst/>
          </a:prstGeom>
          <a:noFill/>
        </p:spPr>
        <p:txBody>
          <a:bodyPr wrap="square">
            <a:spAutoFit/>
          </a:bodyPr>
          <a:lstStyle/>
          <a:p>
            <a:r>
              <a:rPr sz="2200" b="1"/>
              <a:t>能力与延迟表现：并没有为了速度显著降智</a:t>
            </a:r>
          </a:p>
        </p:txBody>
      </p:sp>
      <p:sp>
        <p:nvSpPr>
          <p:cNvPr id="4" name="TextBox 3">
            <a:extLst>
              <a:ext uri="{FF2B5EF4-FFF2-40B4-BE49-F238E27FC236}">
                <a16:creationId xmlns:a16="http://schemas.microsoft.com/office/drawing/2014/main" id="{831B1BCF-7E89-4C4C-CBB7-E6CB262DBD0C}"/>
              </a:ext>
            </a:extLst>
          </p:cNvPr>
          <p:cNvSpPr txBox="1"/>
          <p:nvPr/>
        </p:nvSpPr>
        <p:spPr>
          <a:xfrm>
            <a:off x="676656" y="877824"/>
            <a:ext cx="9692640" cy="279564"/>
          </a:xfrm>
          <a:prstGeom prst="rect">
            <a:avLst/>
          </a:prstGeom>
          <a:noFill/>
        </p:spPr>
        <p:txBody>
          <a:bodyPr wrap="square">
            <a:spAutoFit/>
          </a:bodyPr>
          <a:lstStyle/>
          <a:p>
            <a:r>
              <a:rPr sz="1300" b="0"/>
              <a:t>官方对比图显示，Mercury 2 在关键基准上接近甚至超过多款速度型模型</a:t>
            </a:r>
          </a:p>
        </p:txBody>
      </p:sp>
      <p:grpSp>
        <p:nvGrpSpPr>
          <p:cNvPr id="5" name="Group 4">
            <a:extLst>
              <a:ext uri="{FF2B5EF4-FFF2-40B4-BE49-F238E27FC236}">
                <a16:creationId xmlns:a16="http://schemas.microsoft.com/office/drawing/2014/main" id="{C0E39660-D457-A2C0-B2F2-7235B1708694}"/>
              </a:ext>
            </a:extLst>
          </p:cNvPr>
          <p:cNvGrpSpPr/>
          <p:nvPr/>
        </p:nvGrpSpPr>
        <p:grpSpPr>
          <a:xfrm>
            <a:off x="1165146" y="5074072"/>
            <a:ext cx="10333608" cy="1610850"/>
            <a:chOff x="604672" y="1280756"/>
            <a:chExt cx="4900000" cy="4943561"/>
          </a:xfrm>
        </p:grpSpPr>
        <p:sp>
          <p:nvSpPr>
            <p:cNvPr id="6" name="Rounded Rectangle 5">
              <a:extLst>
                <a:ext uri="{FF2B5EF4-FFF2-40B4-BE49-F238E27FC236}">
                  <a16:creationId xmlns:a16="http://schemas.microsoft.com/office/drawing/2014/main" id="{C2CFCB56-1B98-30B0-7981-5207569C971B}"/>
                </a:ext>
              </a:extLst>
            </p:cNvPr>
            <p:cNvSpPr/>
            <p:nvPr/>
          </p:nvSpPr>
          <p:spPr>
            <a:xfrm>
              <a:off x="604672" y="1280756"/>
              <a:ext cx="4900000" cy="4943561"/>
            </a:xfrm>
            <a:prstGeom prst="roundRect">
              <a:avLst/>
            </a:prstGeom>
            <a:solidFill>
              <a:srgbClr val="FAFAFA"/>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8" name="TextBox 7">
              <a:extLst>
                <a:ext uri="{FF2B5EF4-FFF2-40B4-BE49-F238E27FC236}">
                  <a16:creationId xmlns:a16="http://schemas.microsoft.com/office/drawing/2014/main" id="{CF4EF040-EA97-AD13-F24C-A2864079B93F}"/>
                </a:ext>
              </a:extLst>
            </p:cNvPr>
            <p:cNvSpPr txBox="1"/>
            <p:nvPr/>
          </p:nvSpPr>
          <p:spPr>
            <a:xfrm>
              <a:off x="804672" y="1875263"/>
              <a:ext cx="4500000" cy="3754547"/>
            </a:xfrm>
            <a:prstGeom prst="rect">
              <a:avLst/>
            </a:prstGeom>
            <a:noFill/>
          </p:spPr>
          <p:txBody>
            <a:bodyPr wrap="square">
              <a:spAutoFit/>
            </a:bodyPr>
            <a:lstStyle/>
            <a:p>
              <a:pPr>
                <a:spcAft>
                  <a:spcPts val="700"/>
                </a:spcAft>
              </a:pPr>
              <a:r>
                <a:rPr sz="1300"/>
                <a:t>• E2E latency 约 1.7 秒，显著低于表中多数对比模型。</a:t>
              </a:r>
            </a:p>
            <a:p>
              <a:pPr/>
              <a:r>
                <a:rPr sz="1300"/>
                <a:t>• GPQA 74、LCB 67、AIME 91，说明其在科学问答、代码和数学上保持了较强竞争力。</a:t>
              </a:r>
            </a:p>
            <a:p>
              <a:pPr/>
              <a:r>
                <a:rPr sz="1300"/>
                <a:t>• 第三方中文解读特别强调：Mercury 2 在 AIME 上甚至压过部分以性能见长的 Flash 系列模型。</a:t>
              </a:r>
            </a:p>
          </p:txBody>
        </p:sp>
      </p:grpSp>
      <p:pic>
        <p:nvPicPr>
          <p:cNvPr id="12" name="图片 11">
            <a:extLst>
              <a:ext uri="{FF2B5EF4-FFF2-40B4-BE49-F238E27FC236}">
                <a16:creationId xmlns:a16="http://schemas.microsoft.com/office/drawing/2014/main" id="{86CA906E-E902-BFA0-FD82-9724A14A9620}"/>
              </a:ext>
            </a:extLst>
          </p:cNvPr>
          <p:cNvPicPr>
            <a:picLocks noChangeAspect="1"/>
          </p:cNvPicPr>
          <p:nvPr/>
        </p:nvPicPr>
        <p:blipFill>
          <a:blip r:embed="rId2"/>
          <a:stretch>
            <a:fillRect/>
          </a:stretch>
        </p:blipFill>
        <p:spPr>
          <a:xfrm>
            <a:off x="10716768" y="193040"/>
            <a:ext cx="1398224" cy="435405"/>
          </a:xfrm>
          <a:prstGeom prst="rect">
            <a:avLst/>
          </a:prstGeom>
        </p:spPr>
      </p:pic>
      <p:pic>
        <p:nvPicPr>
          <p:cNvPr id="13" name="Picture 12" descr="official_table.png"/>
          <p:cNvPicPr>
            <a:picLocks noChangeAspect="1"/>
          </p:cNvPicPr>
          <p:nvPr/>
        </p:nvPicPr>
        <p:blipFill>
          <a:blip r:embed="rId4"/>
          <a:stretch>
            <a:fillRect/>
          </a:stretch>
        </p:blipFill>
        <p:spPr>
          <a:xfrm>
            <a:off x="1459243" y="1488932"/>
            <a:ext cx="8910053" cy="3358404"/>
          </a:xfrm>
          <a:prstGeom prst="rect">
            <a:avLst/>
          </a:prstGeom>
        </p:spPr>
      </p:pic>
    </p:spTree>
    <p:extLst>
      <p:ext uri="{BB962C8B-B14F-4D97-AF65-F5344CB8AC3E}">
        <p14:creationId xmlns:p14="http://schemas.microsoft.com/office/powerpoint/2010/main" val="12102291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9EFCBB-E62D-C4DF-0EBF-1426E1BF7064}"/>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70FAF407-6C34-CEAB-20A4-DB69D8889AA5}"/>
              </a:ext>
            </a:extLst>
          </p:cNvPr>
          <p:cNvSpPr/>
          <p:nvPr/>
        </p:nvSpPr>
        <p:spPr>
          <a:xfrm>
            <a:off x="411480" y="320040"/>
            <a:ext cx="73152" cy="731520"/>
          </a:xfrm>
          <a:prstGeom prst="rect">
            <a:avLst/>
          </a:prstGeom>
          <a:solidFill>
            <a:srgbClr val="232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B7B0B496-0834-E43C-E3E8-36C18BFED06C}"/>
              </a:ext>
            </a:extLst>
          </p:cNvPr>
          <p:cNvSpPr txBox="1"/>
          <p:nvPr/>
        </p:nvSpPr>
        <p:spPr>
          <a:xfrm>
            <a:off x="658368" y="228600"/>
            <a:ext cx="7726679" cy="369332"/>
          </a:xfrm>
          <a:prstGeom prst="rect">
            <a:avLst/>
          </a:prstGeom>
          <a:noFill/>
        </p:spPr>
        <p:txBody>
          <a:bodyPr wrap="square">
            <a:spAutoFit/>
          </a:bodyPr>
          <a:lstStyle/>
          <a:p>
            <a:r>
              <a:rPr sz="2200" b="1"/>
              <a:t>第三方视角：Mercury 2 位于高速度高智能象限</a:t>
            </a:r>
          </a:p>
        </p:txBody>
      </p:sp>
      <p:sp>
        <p:nvSpPr>
          <p:cNvPr id="4" name="TextBox 3">
            <a:extLst>
              <a:ext uri="{FF2B5EF4-FFF2-40B4-BE49-F238E27FC236}">
                <a16:creationId xmlns:a16="http://schemas.microsoft.com/office/drawing/2014/main" id="{DAE4457B-2385-3316-5017-6A5ECEC9236E}"/>
              </a:ext>
            </a:extLst>
          </p:cNvPr>
          <p:cNvSpPr txBox="1"/>
          <p:nvPr/>
        </p:nvSpPr>
        <p:spPr>
          <a:xfrm>
            <a:off x="676656" y="877824"/>
            <a:ext cx="9692640" cy="369332"/>
          </a:xfrm>
          <a:prstGeom prst="rect">
            <a:avLst/>
          </a:prstGeom>
          <a:noFill/>
        </p:spPr>
        <p:txBody>
          <a:bodyPr wrap="square">
            <a:spAutoFit/>
          </a:bodyPr>
          <a:lstStyle/>
          <a:p>
            <a:r>
              <a:rPr sz="1300" b="0"/>
              <a:t>若第三方基准可信，它已进入“小模型最优象限”</a:t>
            </a:r>
          </a:p>
        </p:txBody>
      </p:sp>
      <p:grpSp>
        <p:nvGrpSpPr>
          <p:cNvPr id="5" name="Group 4">
            <a:extLst>
              <a:ext uri="{FF2B5EF4-FFF2-40B4-BE49-F238E27FC236}">
                <a16:creationId xmlns:a16="http://schemas.microsoft.com/office/drawing/2014/main" id="{19054F56-B109-C816-900E-27E3D42CF076}"/>
              </a:ext>
            </a:extLst>
          </p:cNvPr>
          <p:cNvGrpSpPr/>
          <p:nvPr/>
        </p:nvGrpSpPr>
        <p:grpSpPr>
          <a:xfrm>
            <a:off x="658368" y="1389888"/>
            <a:ext cx="3615249" cy="4773168"/>
            <a:chOff x="658368" y="1389888"/>
            <a:chExt cx="4900000" cy="4773168"/>
          </a:xfrm>
        </p:grpSpPr>
        <p:sp>
          <p:nvSpPr>
            <p:cNvPr id="6" name="Rounded Rectangle 5">
              <a:extLst>
                <a:ext uri="{FF2B5EF4-FFF2-40B4-BE49-F238E27FC236}">
                  <a16:creationId xmlns:a16="http://schemas.microsoft.com/office/drawing/2014/main" id="{9B221681-0918-FEBB-CD3E-2CAE594395C6}"/>
                </a:ext>
              </a:extLst>
            </p:cNvPr>
            <p:cNvSpPr/>
            <p:nvPr/>
          </p:nvSpPr>
          <p:spPr>
            <a:xfrm>
              <a:off x="658368" y="1389888"/>
              <a:ext cx="4900000" cy="4773168"/>
            </a:xfrm>
            <a:prstGeom prst="roundRect">
              <a:avLst/>
            </a:prstGeom>
            <a:solidFill>
              <a:srgbClr val="FAFAFA"/>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8" name="TextBox 7">
              <a:extLst>
                <a:ext uri="{FF2B5EF4-FFF2-40B4-BE49-F238E27FC236}">
                  <a16:creationId xmlns:a16="http://schemas.microsoft.com/office/drawing/2014/main" id="{AAA3AEBC-78BF-ABDB-3B03-1D583D45364F}"/>
                </a:ext>
              </a:extLst>
            </p:cNvPr>
            <p:cNvSpPr txBox="1"/>
            <p:nvPr/>
          </p:nvSpPr>
          <p:spPr>
            <a:xfrm>
              <a:off x="822960" y="1783080"/>
              <a:ext cx="4500000" cy="2960682"/>
            </a:xfrm>
            <a:prstGeom prst="rect">
              <a:avLst/>
            </a:prstGeom>
            <a:noFill/>
          </p:spPr>
          <p:txBody>
            <a:bodyPr wrap="square">
              <a:spAutoFit/>
            </a:bodyPr>
            <a:lstStyle/>
            <a:p>
              <a:pPr>
                <a:lnSpc>
                  <a:spcPct val="116000"/>
                </a:lnSpc>
                <a:spcAft>
                  <a:spcPts val="700"/>
                </a:spcAft>
              </a:pPr>
              <a:r>
                <a:rPr sz="1250"/>
                <a:t>• Artificial Analysis 图中，Mercury 2 被单独甩到 1k+ tokens/s 区间。</a:t>
              </a:r>
              <a:endParaRPr lang="en-US" altLang="zh-CN" sz="1400" dirty="0"/>
            </a:p>
            <a:p>
              <a:pPr/>
              <a:r>
                <a:rPr sz="1250"/>
                <a:t>• 在相近成本带内，速度与智能度组合都明显优于传统自回归速度型模型。</a:t>
              </a:r>
            </a:p>
            <a:p>
              <a:pPr/>
              <a:r>
                <a:rPr sz="1250"/>
                <a:t>• 这更像“架构范式红利”，而不是简单的工程加速。</a:t>
              </a:r>
            </a:p>
            <a:p>
              <a:pPr/>
              <a:r>
                <a:rPr sz="1250"/>
                <a:t>• 因此市场讨论的焦点，已从“能不能用”转向“会不会改写实时 AI 产品设计”。</a:t>
              </a:r>
            </a:p>
          </p:txBody>
        </p:sp>
      </p:grpSp>
      <p:pic>
        <p:nvPicPr>
          <p:cNvPr id="12" name="图片 11">
            <a:extLst>
              <a:ext uri="{FF2B5EF4-FFF2-40B4-BE49-F238E27FC236}">
                <a16:creationId xmlns:a16="http://schemas.microsoft.com/office/drawing/2014/main" id="{A9C9959B-2ACF-0A19-39A0-6B6CF6114CBB}"/>
              </a:ext>
            </a:extLst>
          </p:cNvPr>
          <p:cNvPicPr>
            <a:picLocks noChangeAspect="1"/>
          </p:cNvPicPr>
          <p:nvPr/>
        </p:nvPicPr>
        <p:blipFill>
          <a:blip r:embed="rId3"/>
          <a:stretch>
            <a:fillRect/>
          </a:stretch>
        </p:blipFill>
        <p:spPr>
          <a:xfrm>
            <a:off x="10716768" y="193040"/>
            <a:ext cx="1398224" cy="435405"/>
          </a:xfrm>
          <a:prstGeom prst="rect">
            <a:avLst/>
          </a:prstGeom>
        </p:spPr>
      </p:pic>
      <p:pic>
        <p:nvPicPr>
          <p:cNvPr id="13" name="Picture 12" descr="intelligence_speed.png"/>
          <p:cNvPicPr>
            <a:picLocks noChangeAspect="1"/>
          </p:cNvPicPr>
          <p:nvPr/>
        </p:nvPicPr>
        <p:blipFill>
          <a:blip r:embed="rId5"/>
          <a:stretch>
            <a:fillRect/>
          </a:stretch>
        </p:blipFill>
        <p:spPr>
          <a:xfrm>
            <a:off x="4360908" y="1401106"/>
            <a:ext cx="7172724" cy="5263854"/>
          </a:xfrm>
          <a:prstGeom prst="rect">
            <a:avLst/>
          </a:prstGeom>
        </p:spPr>
      </p:pic>
    </p:spTree>
    <p:extLst>
      <p:ext uri="{BB962C8B-B14F-4D97-AF65-F5344CB8AC3E}">
        <p14:creationId xmlns:p14="http://schemas.microsoft.com/office/powerpoint/2010/main" val="15342223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D9C696-44FB-FD8E-DF06-56351EAC2C5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4D32E6C3-E323-389B-83CB-40BD1B1F3E3F}"/>
              </a:ext>
            </a:extLst>
          </p:cNvPr>
          <p:cNvSpPr/>
          <p:nvPr/>
        </p:nvSpPr>
        <p:spPr>
          <a:xfrm>
            <a:off x="411480" y="320040"/>
            <a:ext cx="73152" cy="731520"/>
          </a:xfrm>
          <a:prstGeom prst="rect">
            <a:avLst/>
          </a:prstGeom>
          <a:solidFill>
            <a:srgbClr val="232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CEB8B13D-B130-6367-59F7-A914EA6D08C4}"/>
              </a:ext>
            </a:extLst>
          </p:cNvPr>
          <p:cNvSpPr txBox="1"/>
          <p:nvPr/>
        </p:nvSpPr>
        <p:spPr>
          <a:xfrm>
            <a:off x="658368" y="228600"/>
            <a:ext cx="7726679" cy="369332"/>
          </a:xfrm>
          <a:prstGeom prst="rect">
            <a:avLst/>
          </a:prstGeom>
          <a:noFill/>
        </p:spPr>
        <p:txBody>
          <a:bodyPr wrap="square">
            <a:spAutoFit/>
          </a:bodyPr>
          <a:lstStyle/>
          <a:p>
            <a:r>
              <a:rPr sz="2200" b="1"/>
              <a:t>价格与产能：单位成本不高，吞吐优势更强</a:t>
            </a:r>
          </a:p>
        </p:txBody>
      </p:sp>
      <p:sp>
        <p:nvSpPr>
          <p:cNvPr id="4" name="TextBox 3">
            <a:extLst>
              <a:ext uri="{FF2B5EF4-FFF2-40B4-BE49-F238E27FC236}">
                <a16:creationId xmlns:a16="http://schemas.microsoft.com/office/drawing/2014/main" id="{624F15D9-4465-5845-E9DC-88447BB4162B}"/>
              </a:ext>
            </a:extLst>
          </p:cNvPr>
          <p:cNvSpPr txBox="1"/>
          <p:nvPr/>
        </p:nvSpPr>
        <p:spPr>
          <a:xfrm>
            <a:off x="676656" y="877824"/>
            <a:ext cx="9692640" cy="369332"/>
          </a:xfrm>
          <a:prstGeom prst="rect">
            <a:avLst/>
          </a:prstGeom>
          <a:noFill/>
        </p:spPr>
        <p:txBody>
          <a:bodyPr wrap="square">
            <a:spAutoFit/>
          </a:bodyPr>
          <a:lstStyle/>
          <a:p>
            <a:r>
              <a:rPr sz="1300" b="0"/>
              <a:t>对生产部署而言，性价比来自“更低等待时间 × 更高吞吐”</a:t>
            </a:r>
          </a:p>
        </p:txBody>
      </p:sp>
      <p:grpSp>
        <p:nvGrpSpPr>
          <p:cNvPr id="5" name="Group 4">
            <a:extLst>
              <a:ext uri="{FF2B5EF4-FFF2-40B4-BE49-F238E27FC236}">
                <a16:creationId xmlns:a16="http://schemas.microsoft.com/office/drawing/2014/main" id="{1229A1FC-50E9-FEC7-F3B3-646707511C95}"/>
              </a:ext>
            </a:extLst>
          </p:cNvPr>
          <p:cNvGrpSpPr/>
          <p:nvPr/>
        </p:nvGrpSpPr>
        <p:grpSpPr>
          <a:xfrm>
            <a:off x="1165146" y="5074072"/>
            <a:ext cx="10333608" cy="1610850"/>
            <a:chOff x="604672" y="1280756"/>
            <a:chExt cx="4900000" cy="4943561"/>
          </a:xfrm>
        </p:grpSpPr>
        <p:sp>
          <p:nvSpPr>
            <p:cNvPr id="6" name="Rounded Rectangle 5">
              <a:extLst>
                <a:ext uri="{FF2B5EF4-FFF2-40B4-BE49-F238E27FC236}">
                  <a16:creationId xmlns:a16="http://schemas.microsoft.com/office/drawing/2014/main" id="{3571BABE-A3E6-C870-5E43-FE2EAC76A6E6}"/>
                </a:ext>
              </a:extLst>
            </p:cNvPr>
            <p:cNvSpPr/>
            <p:nvPr/>
          </p:nvSpPr>
          <p:spPr>
            <a:xfrm>
              <a:off x="604672" y="1280756"/>
              <a:ext cx="4900000" cy="4943561"/>
            </a:xfrm>
            <a:prstGeom prst="roundRect">
              <a:avLst/>
            </a:prstGeom>
            <a:solidFill>
              <a:srgbClr val="FAFAFA"/>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8" name="TextBox 7">
              <a:extLst>
                <a:ext uri="{FF2B5EF4-FFF2-40B4-BE49-F238E27FC236}">
                  <a16:creationId xmlns:a16="http://schemas.microsoft.com/office/drawing/2014/main" id="{80B23CC1-F5C8-CA2F-9EFB-014C94BB5DF7}"/>
                </a:ext>
              </a:extLst>
            </p:cNvPr>
            <p:cNvSpPr txBox="1"/>
            <p:nvPr/>
          </p:nvSpPr>
          <p:spPr>
            <a:xfrm>
              <a:off x="804672" y="1875263"/>
              <a:ext cx="4500000" cy="3754547"/>
            </a:xfrm>
            <a:prstGeom prst="rect">
              <a:avLst/>
            </a:prstGeom>
            <a:noFill/>
          </p:spPr>
          <p:txBody>
            <a:bodyPr wrap="square">
              <a:spAutoFit/>
            </a:bodyPr>
            <a:lstStyle/>
            <a:p>
              <a:pPr>
                <a:spcAft>
                  <a:spcPts val="700"/>
                </a:spcAft>
              </a:pPr>
              <a:r>
                <a:rPr sz="1250"/>
                <a:t>• 在第三方图里，Mercury 2 的速度表现呈明显断层领先。</a:t>
              </a:r>
            </a:p>
            <a:p>
              <a:pPr/>
              <a:r>
                <a:rPr sz="1250"/>
                <a:t>• 价格并未因为追求极速而出现极端溢价，输入和输出单价仍在可部署区间。</a:t>
              </a:r>
            </a:p>
            <a:p>
              <a:pPr/>
              <a:r>
                <a:rPr sz="1250"/>
                <a:t>• 对于并发执行的 Agent、搜索、客服与语音场景，吞吐优势会进一步摊薄系统成本。</a:t>
              </a:r>
            </a:p>
            <a:p>
              <a:pPr/>
              <a:r>
                <a:rPr sz="1250"/>
                <a:t>• 这也是官方反复强调“production AI should feel instant”的底层原因。</a:t>
              </a:r>
            </a:p>
          </p:txBody>
        </p:sp>
      </p:grpSp>
      <p:pic>
        <p:nvPicPr>
          <p:cNvPr id="12" name="图片 11">
            <a:extLst>
              <a:ext uri="{FF2B5EF4-FFF2-40B4-BE49-F238E27FC236}">
                <a16:creationId xmlns:a16="http://schemas.microsoft.com/office/drawing/2014/main" id="{D76D242B-5D74-553E-C043-EA8FCCE4C7D9}"/>
              </a:ext>
            </a:extLst>
          </p:cNvPr>
          <p:cNvPicPr>
            <a:picLocks noChangeAspect="1"/>
          </p:cNvPicPr>
          <p:nvPr/>
        </p:nvPicPr>
        <p:blipFill>
          <a:blip r:embed="rId3"/>
          <a:stretch>
            <a:fillRect/>
          </a:stretch>
        </p:blipFill>
        <p:spPr>
          <a:xfrm>
            <a:off x="10716768" y="193040"/>
            <a:ext cx="1398224" cy="435405"/>
          </a:xfrm>
          <a:prstGeom prst="rect">
            <a:avLst/>
          </a:prstGeom>
        </p:spPr>
      </p:pic>
      <p:pic>
        <p:nvPicPr>
          <p:cNvPr id="13" name="Picture 12" descr="speed_price.png"/>
          <p:cNvPicPr>
            <a:picLocks noChangeAspect="1"/>
          </p:cNvPicPr>
          <p:nvPr/>
        </p:nvPicPr>
        <p:blipFill>
          <a:blip r:embed="rId5"/>
          <a:stretch>
            <a:fillRect/>
          </a:stretch>
        </p:blipFill>
        <p:spPr>
          <a:xfrm>
            <a:off x="1354577" y="1343281"/>
            <a:ext cx="9482845" cy="3574303"/>
          </a:xfrm>
          <a:prstGeom prst="rect">
            <a:avLst/>
          </a:prstGeom>
        </p:spPr>
      </p:pic>
    </p:spTree>
    <p:extLst>
      <p:ext uri="{BB962C8B-B14F-4D97-AF65-F5344CB8AC3E}">
        <p14:creationId xmlns:p14="http://schemas.microsoft.com/office/powerpoint/2010/main" val="9246522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374204-DFC4-5BD7-0122-F1EAB15AB157}"/>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EF4301F7-E898-CE2A-908B-685169BAE26A}"/>
              </a:ext>
            </a:extLst>
          </p:cNvPr>
          <p:cNvSpPr/>
          <p:nvPr/>
        </p:nvSpPr>
        <p:spPr>
          <a:xfrm>
            <a:off x="411480" y="320040"/>
            <a:ext cx="73152" cy="731520"/>
          </a:xfrm>
          <a:prstGeom prst="rect">
            <a:avLst/>
          </a:prstGeom>
          <a:solidFill>
            <a:srgbClr val="232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AE003168-7AEC-A3AD-4642-06DD3B1EE98B}"/>
              </a:ext>
            </a:extLst>
          </p:cNvPr>
          <p:cNvSpPr txBox="1"/>
          <p:nvPr/>
        </p:nvSpPr>
        <p:spPr>
          <a:xfrm>
            <a:off x="658368" y="228600"/>
            <a:ext cx="7726679" cy="369332"/>
          </a:xfrm>
          <a:prstGeom prst="rect">
            <a:avLst/>
          </a:prstGeom>
          <a:noFill/>
        </p:spPr>
        <p:txBody>
          <a:bodyPr wrap="square">
            <a:spAutoFit/>
          </a:bodyPr>
          <a:lstStyle/>
          <a:p>
            <a:r>
              <a:rPr sz="2200" b="1"/>
              <a:t>技术根基：离散扩散让文本生成脱离自回归</a:t>
            </a:r>
          </a:p>
        </p:txBody>
      </p:sp>
      <p:sp>
        <p:nvSpPr>
          <p:cNvPr id="4" name="TextBox 3">
            <a:extLst>
              <a:ext uri="{FF2B5EF4-FFF2-40B4-BE49-F238E27FC236}">
                <a16:creationId xmlns:a16="http://schemas.microsoft.com/office/drawing/2014/main" id="{0B4D8024-EB96-7E90-AE65-C4E310BFCFFE}"/>
              </a:ext>
            </a:extLst>
          </p:cNvPr>
          <p:cNvSpPr txBox="1"/>
          <p:nvPr/>
        </p:nvSpPr>
        <p:spPr>
          <a:xfrm>
            <a:off x="676656" y="877824"/>
            <a:ext cx="9692640" cy="369332"/>
          </a:xfrm>
          <a:prstGeom prst="rect">
            <a:avLst/>
          </a:prstGeom>
          <a:noFill/>
        </p:spPr>
        <p:txBody>
          <a:bodyPr wrap="square">
            <a:spAutoFit/>
          </a:bodyPr>
          <a:lstStyle/>
          <a:p>
            <a:r>
              <a:rPr sz="1300" b="0"/>
              <a:t>Mercury 2 背后不是“优化版 Transformer”，而是一条持续多年的扩散路线</a:t>
            </a:r>
          </a:p>
        </p:txBody>
      </p:sp>
      <p:grpSp>
        <p:nvGrpSpPr>
          <p:cNvPr id="5" name="Group 4">
            <a:extLst>
              <a:ext uri="{FF2B5EF4-FFF2-40B4-BE49-F238E27FC236}">
                <a16:creationId xmlns:a16="http://schemas.microsoft.com/office/drawing/2014/main" id="{2F599E29-857A-D9C8-569F-BC72A99E0965}"/>
              </a:ext>
            </a:extLst>
          </p:cNvPr>
          <p:cNvGrpSpPr/>
          <p:nvPr/>
        </p:nvGrpSpPr>
        <p:grpSpPr>
          <a:xfrm>
            <a:off x="1165146" y="5074072"/>
            <a:ext cx="10333608" cy="1610850"/>
            <a:chOff x="604672" y="1280756"/>
            <a:chExt cx="4900000" cy="4943561"/>
          </a:xfrm>
        </p:grpSpPr>
        <p:sp>
          <p:nvSpPr>
            <p:cNvPr id="6" name="Rounded Rectangle 5">
              <a:extLst>
                <a:ext uri="{FF2B5EF4-FFF2-40B4-BE49-F238E27FC236}">
                  <a16:creationId xmlns:a16="http://schemas.microsoft.com/office/drawing/2014/main" id="{B49FCE35-FABF-9DD8-5627-1C1B6B130733}"/>
                </a:ext>
              </a:extLst>
            </p:cNvPr>
            <p:cNvSpPr/>
            <p:nvPr/>
          </p:nvSpPr>
          <p:spPr>
            <a:xfrm>
              <a:off x="604672" y="1280756"/>
              <a:ext cx="4900000" cy="4943561"/>
            </a:xfrm>
            <a:prstGeom prst="roundRect">
              <a:avLst/>
            </a:prstGeom>
            <a:solidFill>
              <a:srgbClr val="FAFAFA"/>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8" name="TextBox 7">
              <a:extLst>
                <a:ext uri="{FF2B5EF4-FFF2-40B4-BE49-F238E27FC236}">
                  <a16:creationId xmlns:a16="http://schemas.microsoft.com/office/drawing/2014/main" id="{CE03535E-42B1-7612-6A09-68166BB95169}"/>
                </a:ext>
              </a:extLst>
            </p:cNvPr>
            <p:cNvSpPr txBox="1"/>
            <p:nvPr/>
          </p:nvSpPr>
          <p:spPr>
            <a:xfrm>
              <a:off x="804672" y="1875263"/>
              <a:ext cx="4500000" cy="3754547"/>
            </a:xfrm>
            <a:prstGeom prst="rect">
              <a:avLst/>
            </a:prstGeom>
            <a:noFill/>
          </p:spPr>
          <p:txBody>
            <a:bodyPr wrap="square">
              <a:spAutoFit/>
            </a:bodyPr>
            <a:lstStyle/>
            <a:p>
              <a:pPr>
                <a:spcAft>
                  <a:spcPts val="700"/>
                </a:spcAft>
              </a:pPr>
              <a:r>
                <a:rPr sz="1220"/>
                <a:t>• Stefano Ermon 团队长期研究如何把扩散模型从连续空间推广到离散 token 空间。</a:t>
              </a:r>
            </a:p>
            <a:p>
              <a:pPr/>
              <a:r>
                <a:rPr sz="1220"/>
                <a:t>• 2023 年的 SEDD 论文通过 score entropy 损失，把离散扩散真正带入文本建模。</a:t>
              </a:r>
            </a:p>
            <a:p>
              <a:pPr/>
              <a:r>
                <a:rPr sz="1220"/>
                <a:t>• 量子位文章提到，该论文后来获得 ICML 2024 最佳论文，为 Mercury 系列商业化提供了学术地基。</a:t>
              </a:r>
            </a:p>
            <a:p>
              <a:pPr/>
              <a:r>
                <a:rPr sz="1220"/>
                <a:t>• Mercury 2 可以被视为这条学术路线向商业系统化落地的代表产品。</a:t>
              </a:r>
            </a:p>
          </p:txBody>
        </p:sp>
      </p:grpSp>
      <p:pic>
        <p:nvPicPr>
          <p:cNvPr id="12" name="图片 11">
            <a:extLst>
              <a:ext uri="{FF2B5EF4-FFF2-40B4-BE49-F238E27FC236}">
                <a16:creationId xmlns:a16="http://schemas.microsoft.com/office/drawing/2014/main" id="{2AECE820-5FF4-AB0E-642C-74C969BED474}"/>
              </a:ext>
            </a:extLst>
          </p:cNvPr>
          <p:cNvPicPr>
            <a:picLocks noChangeAspect="1"/>
          </p:cNvPicPr>
          <p:nvPr/>
        </p:nvPicPr>
        <p:blipFill>
          <a:blip r:embed="rId3"/>
          <a:stretch>
            <a:fillRect/>
          </a:stretch>
        </p:blipFill>
        <p:spPr>
          <a:xfrm>
            <a:off x="10716768" y="193040"/>
            <a:ext cx="1398224" cy="435405"/>
          </a:xfrm>
          <a:prstGeom prst="rect">
            <a:avLst/>
          </a:prstGeom>
        </p:spPr>
      </p:pic>
      <p:pic>
        <p:nvPicPr>
          <p:cNvPr id="13" name="Picture 12" descr="arxiv.png"/>
          <p:cNvPicPr>
            <a:picLocks noChangeAspect="1"/>
          </p:cNvPicPr>
          <p:nvPr/>
        </p:nvPicPr>
        <p:blipFill>
          <a:blip r:embed="rId5"/>
          <a:stretch>
            <a:fillRect/>
          </a:stretch>
        </p:blipFill>
        <p:spPr>
          <a:xfrm>
            <a:off x="1763104" y="1343281"/>
            <a:ext cx="8665792" cy="3266337"/>
          </a:xfrm>
          <a:prstGeom prst="rect">
            <a:avLst/>
          </a:prstGeom>
        </p:spPr>
      </p:pic>
    </p:spTree>
    <p:extLst>
      <p:ext uri="{BB962C8B-B14F-4D97-AF65-F5344CB8AC3E}">
        <p14:creationId xmlns:p14="http://schemas.microsoft.com/office/powerpoint/2010/main" val="38023057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168C91-BA8C-8C49-13BF-624951DE34F3}"/>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90C41B1A-62F0-08BE-D0E2-12F68439006D}"/>
              </a:ext>
            </a:extLst>
          </p:cNvPr>
          <p:cNvSpPr/>
          <p:nvPr/>
        </p:nvSpPr>
        <p:spPr>
          <a:xfrm>
            <a:off x="411480" y="320040"/>
            <a:ext cx="73152" cy="731520"/>
          </a:xfrm>
          <a:prstGeom prst="rect">
            <a:avLst/>
          </a:prstGeom>
          <a:solidFill>
            <a:srgbClr val="232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E592835A-97C8-2E8D-A9A8-A9F8224221BE}"/>
              </a:ext>
            </a:extLst>
          </p:cNvPr>
          <p:cNvSpPr txBox="1"/>
          <p:nvPr/>
        </p:nvSpPr>
        <p:spPr>
          <a:xfrm>
            <a:off x="658368" y="228600"/>
            <a:ext cx="7726679" cy="369332"/>
          </a:xfrm>
          <a:prstGeom prst="rect">
            <a:avLst/>
          </a:prstGeom>
          <a:noFill/>
        </p:spPr>
        <p:txBody>
          <a:bodyPr wrap="square">
            <a:spAutoFit/>
          </a:bodyPr>
          <a:lstStyle/>
          <a:p>
            <a:r>
              <a:rPr sz="2200" b="1"/>
              <a:t>公司与团队：Inception Labs 持续押注扩散路线</a:t>
            </a:r>
          </a:p>
        </p:txBody>
      </p:sp>
      <p:sp>
        <p:nvSpPr>
          <p:cNvPr id="4" name="TextBox 3">
            <a:extLst>
              <a:ext uri="{FF2B5EF4-FFF2-40B4-BE49-F238E27FC236}">
                <a16:creationId xmlns:a16="http://schemas.microsoft.com/office/drawing/2014/main" id="{788BBC88-1781-ADAB-862B-96990B4AD77A}"/>
              </a:ext>
            </a:extLst>
          </p:cNvPr>
          <p:cNvSpPr txBox="1"/>
          <p:nvPr/>
        </p:nvSpPr>
        <p:spPr>
          <a:xfrm>
            <a:off x="676656" y="877824"/>
            <a:ext cx="9692640" cy="369332"/>
          </a:xfrm>
          <a:prstGeom prst="rect">
            <a:avLst/>
          </a:prstGeom>
          <a:noFill/>
        </p:spPr>
        <p:txBody>
          <a:bodyPr wrap="square">
            <a:spAutoFit/>
          </a:bodyPr>
          <a:lstStyle/>
          <a:p>
            <a:r>
              <a:rPr sz="1300" b="0"/>
              <a:t>不是跟风切换路线，而是围绕“速度与成本曲线”做长期下注</a:t>
            </a:r>
          </a:p>
        </p:txBody>
      </p:sp>
      <p:grpSp>
        <p:nvGrpSpPr>
          <p:cNvPr id="5" name="Group 4">
            <a:extLst>
              <a:ext uri="{FF2B5EF4-FFF2-40B4-BE49-F238E27FC236}">
                <a16:creationId xmlns:a16="http://schemas.microsoft.com/office/drawing/2014/main" id="{B31462D6-0BEB-FFE0-6297-B83C77C48F66}"/>
              </a:ext>
            </a:extLst>
          </p:cNvPr>
          <p:cNvGrpSpPr/>
          <p:nvPr/>
        </p:nvGrpSpPr>
        <p:grpSpPr>
          <a:xfrm>
            <a:off x="1165146" y="5074072"/>
            <a:ext cx="10333608" cy="1610850"/>
            <a:chOff x="604672" y="1280756"/>
            <a:chExt cx="4900000" cy="4943561"/>
          </a:xfrm>
        </p:grpSpPr>
        <p:sp>
          <p:nvSpPr>
            <p:cNvPr id="6" name="Rounded Rectangle 5">
              <a:extLst>
                <a:ext uri="{FF2B5EF4-FFF2-40B4-BE49-F238E27FC236}">
                  <a16:creationId xmlns:a16="http://schemas.microsoft.com/office/drawing/2014/main" id="{233D17FD-1F7A-21FA-374E-DB971BD5CB55}"/>
                </a:ext>
              </a:extLst>
            </p:cNvPr>
            <p:cNvSpPr/>
            <p:nvPr/>
          </p:nvSpPr>
          <p:spPr>
            <a:xfrm>
              <a:off x="604672" y="1280756"/>
              <a:ext cx="4900000" cy="4943561"/>
            </a:xfrm>
            <a:prstGeom prst="roundRect">
              <a:avLst/>
            </a:prstGeom>
            <a:solidFill>
              <a:srgbClr val="FAFAFA"/>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8" name="TextBox 7">
              <a:extLst>
                <a:ext uri="{FF2B5EF4-FFF2-40B4-BE49-F238E27FC236}">
                  <a16:creationId xmlns:a16="http://schemas.microsoft.com/office/drawing/2014/main" id="{95F80A72-52DB-6023-F06B-C052CC7D1218}"/>
                </a:ext>
              </a:extLst>
            </p:cNvPr>
            <p:cNvSpPr txBox="1"/>
            <p:nvPr/>
          </p:nvSpPr>
          <p:spPr>
            <a:xfrm>
              <a:off x="804672" y="1875263"/>
              <a:ext cx="4500000" cy="3754547"/>
            </a:xfrm>
            <a:prstGeom prst="rect">
              <a:avLst/>
            </a:prstGeom>
            <a:noFill/>
          </p:spPr>
          <p:txBody>
            <a:bodyPr wrap="square">
              <a:spAutoFit/>
            </a:bodyPr>
            <a:lstStyle/>
            <a:p>
              <a:pPr>
                <a:spcAft>
                  <a:spcPts val="700"/>
                </a:spcAft>
              </a:pPr>
              <a:r>
                <a:rPr sz="1220"/>
                <a:t>• 公司成立于 2024 年，使命是用 diffusion 机制替代传统自回归生成。</a:t>
              </a:r>
            </a:p>
            <a:p>
              <a:pPr/>
              <a:r>
                <a:rPr sz="1220"/>
                <a:t>• CEO Stefano Ermon 出身斯坦福；核心团队还包括 UCLA 的 Aditya Grover 与 Cornell 的 Volodymyr Kuleshov。</a:t>
              </a:r>
            </a:p>
            <a:p>
              <a:pPr/>
              <a:r>
                <a:rPr sz="1220"/>
                <a:t>• 从官方文章到媒体解读都能看出，这家公司卖点非常聚焦：让“生产 AI 感觉像实时系统”。</a:t>
              </a:r>
            </a:p>
            <a:p>
              <a:pPr/>
              <a:r>
                <a:rPr sz="1220"/>
                <a:t>• Mercury 2 的发布，本质上是在向市场证明扩散式语言模型具备商业可交付性。</a:t>
              </a:r>
            </a:p>
          </p:txBody>
        </p:sp>
      </p:grpSp>
      <p:pic>
        <p:nvPicPr>
          <p:cNvPr id="12" name="图片 11">
            <a:extLst>
              <a:ext uri="{FF2B5EF4-FFF2-40B4-BE49-F238E27FC236}">
                <a16:creationId xmlns:a16="http://schemas.microsoft.com/office/drawing/2014/main" id="{22863754-D7D7-8569-901E-2853A086CBE6}"/>
              </a:ext>
            </a:extLst>
          </p:cNvPr>
          <p:cNvPicPr>
            <a:picLocks noChangeAspect="1"/>
          </p:cNvPicPr>
          <p:nvPr/>
        </p:nvPicPr>
        <p:blipFill>
          <a:blip r:embed="rId2"/>
          <a:stretch>
            <a:fillRect/>
          </a:stretch>
        </p:blipFill>
        <p:spPr>
          <a:xfrm>
            <a:off x="10716768" y="193040"/>
            <a:ext cx="1398224" cy="435405"/>
          </a:xfrm>
          <a:prstGeom prst="rect">
            <a:avLst/>
          </a:prstGeom>
        </p:spPr>
      </p:pic>
      <p:pic>
        <p:nvPicPr>
          <p:cNvPr id="13" name="Picture 12" descr="team_combo.png"/>
          <p:cNvPicPr>
            <a:picLocks noChangeAspect="1"/>
          </p:cNvPicPr>
          <p:nvPr/>
        </p:nvPicPr>
        <p:blipFill>
          <a:blip r:embed="rId4"/>
          <a:stretch>
            <a:fillRect/>
          </a:stretch>
        </p:blipFill>
        <p:spPr>
          <a:xfrm>
            <a:off x="2002694" y="1495289"/>
            <a:ext cx="8186612" cy="3085723"/>
          </a:xfrm>
          <a:prstGeom prst="rect">
            <a:avLst/>
          </a:prstGeom>
        </p:spPr>
      </p:pic>
    </p:spTree>
    <p:extLst>
      <p:ext uri="{BB962C8B-B14F-4D97-AF65-F5344CB8AC3E}">
        <p14:creationId xmlns:p14="http://schemas.microsoft.com/office/powerpoint/2010/main" val="29043190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838950-46EA-7229-03A9-B471BDD4648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74F0E0B6-86BA-5A30-0B82-F17C002B170F}"/>
              </a:ext>
            </a:extLst>
          </p:cNvPr>
          <p:cNvSpPr/>
          <p:nvPr/>
        </p:nvSpPr>
        <p:spPr>
          <a:xfrm>
            <a:off x="411480" y="320040"/>
            <a:ext cx="73152" cy="731520"/>
          </a:xfrm>
          <a:prstGeom prst="rect">
            <a:avLst/>
          </a:prstGeom>
          <a:solidFill>
            <a:srgbClr val="232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328CB3A7-65BA-291F-C33E-1E298252FCD1}"/>
              </a:ext>
            </a:extLst>
          </p:cNvPr>
          <p:cNvSpPr txBox="1"/>
          <p:nvPr/>
        </p:nvSpPr>
        <p:spPr>
          <a:xfrm>
            <a:off x="658368" y="228600"/>
            <a:ext cx="7726679" cy="369332"/>
          </a:xfrm>
          <a:prstGeom prst="rect">
            <a:avLst/>
          </a:prstGeom>
          <a:noFill/>
        </p:spPr>
        <p:txBody>
          <a:bodyPr wrap="square">
            <a:spAutoFit/>
          </a:bodyPr>
          <a:lstStyle/>
          <a:p>
            <a:r>
              <a:rPr sz="2200" b="1"/>
              <a:t>产业背书与市场反响：英伟达、微软系与开发者都在关注</a:t>
            </a:r>
          </a:p>
        </p:txBody>
      </p:sp>
      <p:sp>
        <p:nvSpPr>
          <p:cNvPr id="4" name="TextBox 3">
            <a:extLst>
              <a:ext uri="{FF2B5EF4-FFF2-40B4-BE49-F238E27FC236}">
                <a16:creationId xmlns:a16="http://schemas.microsoft.com/office/drawing/2014/main" id="{68C0E512-BDB3-9EAA-76AE-20DC652260C7}"/>
              </a:ext>
            </a:extLst>
          </p:cNvPr>
          <p:cNvSpPr txBox="1"/>
          <p:nvPr/>
        </p:nvSpPr>
        <p:spPr>
          <a:xfrm>
            <a:off x="676656" y="877824"/>
            <a:ext cx="9692640" cy="369332"/>
          </a:xfrm>
          <a:prstGeom prst="rect">
            <a:avLst/>
          </a:prstGeom>
          <a:noFill/>
        </p:spPr>
        <p:txBody>
          <a:bodyPr wrap="square">
            <a:spAutoFit/>
          </a:bodyPr>
          <a:lstStyle/>
          <a:p>
            <a:r>
              <a:rPr sz="1300" b="0"/>
              <a:t>Mercury 2 的传播并不只是技术圈自嗨，而是直接连接到基础设施与应用落地</a:t>
            </a:r>
          </a:p>
        </p:txBody>
      </p:sp>
      <p:grpSp>
        <p:nvGrpSpPr>
          <p:cNvPr id="5" name="Group 4">
            <a:extLst>
              <a:ext uri="{FF2B5EF4-FFF2-40B4-BE49-F238E27FC236}">
                <a16:creationId xmlns:a16="http://schemas.microsoft.com/office/drawing/2014/main" id="{312F6DD6-C885-3E99-2B7B-884C0F6D5DDF}"/>
              </a:ext>
            </a:extLst>
          </p:cNvPr>
          <p:cNvGrpSpPr/>
          <p:nvPr/>
        </p:nvGrpSpPr>
        <p:grpSpPr>
          <a:xfrm>
            <a:off x="658368" y="1389888"/>
            <a:ext cx="3615249" cy="4773168"/>
            <a:chOff x="658368" y="1389888"/>
            <a:chExt cx="4900000" cy="4773168"/>
          </a:xfrm>
        </p:grpSpPr>
        <p:sp>
          <p:nvSpPr>
            <p:cNvPr id="6" name="Rounded Rectangle 5">
              <a:extLst>
                <a:ext uri="{FF2B5EF4-FFF2-40B4-BE49-F238E27FC236}">
                  <a16:creationId xmlns:a16="http://schemas.microsoft.com/office/drawing/2014/main" id="{F7CD3BB4-1118-CEEA-EAB4-14C7E6F3BA42}"/>
                </a:ext>
              </a:extLst>
            </p:cNvPr>
            <p:cNvSpPr/>
            <p:nvPr/>
          </p:nvSpPr>
          <p:spPr>
            <a:xfrm>
              <a:off x="658368" y="1389888"/>
              <a:ext cx="4900000" cy="4773168"/>
            </a:xfrm>
            <a:prstGeom prst="roundRect">
              <a:avLst/>
            </a:prstGeom>
            <a:solidFill>
              <a:srgbClr val="FAFAFA"/>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8" name="TextBox 7">
              <a:extLst>
                <a:ext uri="{FF2B5EF4-FFF2-40B4-BE49-F238E27FC236}">
                  <a16:creationId xmlns:a16="http://schemas.microsoft.com/office/drawing/2014/main" id="{963808FA-4EFD-5519-92A8-0D8415269747}"/>
                </a:ext>
              </a:extLst>
            </p:cNvPr>
            <p:cNvSpPr txBox="1"/>
            <p:nvPr/>
          </p:nvSpPr>
          <p:spPr>
            <a:xfrm>
              <a:off x="822960" y="1783080"/>
              <a:ext cx="4500000" cy="2427396"/>
            </a:xfrm>
            <a:prstGeom prst="rect">
              <a:avLst/>
            </a:prstGeom>
            <a:noFill/>
          </p:spPr>
          <p:txBody>
            <a:bodyPr wrap="square">
              <a:spAutoFit/>
            </a:bodyPr>
            <a:lstStyle/>
            <a:p>
              <a:pPr>
                <a:lnSpc>
                  <a:spcPct val="116000"/>
                </a:lnSpc>
                <a:spcAft>
                  <a:spcPts val="700"/>
                </a:spcAft>
              </a:pPr>
              <a:r>
                <a:rPr sz="1220"/>
                <a:t>• 融资层面，量子位文章提到公司曾获 5000 万美元融资，投资方包括 NVentures、M12、Menlo Ventures 等。</a:t>
              </a:r>
            </a:p>
            <a:p>
              <a:pPr/>
              <a:r>
                <a:rPr sz="1220"/>
                <a:t>• NVIDIA 官方账号第一时间祝贺，强调其在 Blackwell GPU 上的扩散推理速度。</a:t>
              </a:r>
            </a:p>
            <a:p>
              <a:pPr/>
              <a:r>
                <a:rPr sz="1220"/>
                <a:t>• 开发者讨论集中在端到端语音、实时 HCI、广告优化和自动化执行等对延迟极敏感的场景。</a:t>
              </a:r>
            </a:p>
            <a:p>
              <a:pPr/>
              <a:r>
                <a:rPr sz="1220"/>
                <a:t>• 这说明 Mercury 2 的价值更可能先在“实时系统”而非“离线 benchmark”里兑现。</a:t>
              </a:r>
            </a:p>
          </p:txBody>
        </p:sp>
      </p:grpSp>
      <p:pic>
        <p:nvPicPr>
          <p:cNvPr id="12" name="图片 11">
            <a:extLst>
              <a:ext uri="{FF2B5EF4-FFF2-40B4-BE49-F238E27FC236}">
                <a16:creationId xmlns:a16="http://schemas.microsoft.com/office/drawing/2014/main" id="{BB3B91B3-4BF8-450C-5DDE-83E9962511AD}"/>
              </a:ext>
            </a:extLst>
          </p:cNvPr>
          <p:cNvPicPr>
            <a:picLocks noChangeAspect="1"/>
          </p:cNvPicPr>
          <p:nvPr/>
        </p:nvPicPr>
        <p:blipFill>
          <a:blip r:embed="rId2"/>
          <a:stretch>
            <a:fillRect/>
          </a:stretch>
        </p:blipFill>
        <p:spPr>
          <a:xfrm>
            <a:off x="10716768" y="193040"/>
            <a:ext cx="1398224" cy="435405"/>
          </a:xfrm>
          <a:prstGeom prst="rect">
            <a:avLst/>
          </a:prstGeom>
        </p:spPr>
      </p:pic>
      <p:pic>
        <p:nvPicPr>
          <p:cNvPr id="13" name="Picture 12" descr="market_reaction.png"/>
          <p:cNvPicPr>
            <a:picLocks noChangeAspect="1"/>
          </p:cNvPicPr>
          <p:nvPr/>
        </p:nvPicPr>
        <p:blipFill>
          <a:blip r:embed="rId4"/>
          <a:stretch>
            <a:fillRect/>
          </a:stretch>
        </p:blipFill>
        <p:spPr>
          <a:xfrm>
            <a:off x="5120296" y="1315667"/>
            <a:ext cx="5596472" cy="5468112"/>
          </a:xfrm>
          <a:prstGeom prst="rect">
            <a:avLst/>
          </a:prstGeom>
        </p:spPr>
      </p:pic>
    </p:spTree>
    <p:extLst>
      <p:ext uri="{BB962C8B-B14F-4D97-AF65-F5344CB8AC3E}">
        <p14:creationId xmlns:p14="http://schemas.microsoft.com/office/powerpoint/2010/main" val="24431250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11480" y="320040"/>
            <a:ext cx="73152" cy="731520"/>
          </a:xfrm>
          <a:prstGeom prst="rect">
            <a:avLst/>
          </a:prstGeom>
          <a:solidFill>
            <a:srgbClr val="232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228600"/>
            <a:ext cx="7726679" cy="369332"/>
          </a:xfrm>
          <a:prstGeom prst="rect">
            <a:avLst/>
          </a:prstGeom>
          <a:noFill/>
        </p:spPr>
        <p:txBody>
          <a:bodyPr wrap="square">
            <a:spAutoFit/>
          </a:bodyPr>
          <a:lstStyle/>
          <a:p>
            <a:r>
              <a:rPr sz="2200" b="1"/>
              <a:t>产品就绪度：已经具备进入企业工作流的条件</a:t>
            </a:r>
            <a:endParaRPr b="1" dirty="0">
              <a:solidFill>
                <a:schemeClr val="accent1"/>
              </a:solidFill>
            </a:endParaRPr>
          </a:p>
        </p:txBody>
      </p:sp>
      <p:sp>
        <p:nvSpPr>
          <p:cNvPr id="6" name="Rounded Rectangle 5"/>
          <p:cNvSpPr/>
          <p:nvPr/>
        </p:nvSpPr>
        <p:spPr>
          <a:xfrm>
            <a:off x="658368" y="1389887"/>
            <a:ext cx="10058400" cy="4662570"/>
          </a:xfrm>
          <a:prstGeom prst="roundRect">
            <a:avLst/>
          </a:prstGeom>
          <a:solidFill>
            <a:srgbClr val="FAFAFA"/>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pic>
        <p:nvPicPr>
          <p:cNvPr id="12" name="图片 11">
            <a:extLst>
              <a:ext uri="{FF2B5EF4-FFF2-40B4-BE49-F238E27FC236}">
                <a16:creationId xmlns:a16="http://schemas.microsoft.com/office/drawing/2014/main" id="{9ECC7479-5EE4-0781-9DDB-BF2FE46215EC}"/>
              </a:ext>
            </a:extLst>
          </p:cNvPr>
          <p:cNvPicPr>
            <a:picLocks noChangeAspect="1"/>
          </p:cNvPicPr>
          <p:nvPr/>
        </p:nvPicPr>
        <p:blipFill>
          <a:blip r:embed="rId2"/>
          <a:stretch>
            <a:fillRect/>
          </a:stretch>
        </p:blipFill>
        <p:spPr>
          <a:xfrm>
            <a:off x="10716768" y="193040"/>
            <a:ext cx="1398224" cy="435405"/>
          </a:xfrm>
          <a:prstGeom prst="rect">
            <a:avLst/>
          </a:prstGeom>
        </p:spPr>
      </p:pic>
      <p:sp>
        <p:nvSpPr>
          <p:cNvPr id="9" name="TextBox 8">
            <a:extLst>
              <a:ext uri="{FF2B5EF4-FFF2-40B4-BE49-F238E27FC236}">
                <a16:creationId xmlns:a16="http://schemas.microsoft.com/office/drawing/2014/main" id="{E8451325-14F1-6404-CD7F-85E5DB057CCD}"/>
              </a:ext>
            </a:extLst>
          </p:cNvPr>
          <p:cNvSpPr txBox="1"/>
          <p:nvPr/>
        </p:nvSpPr>
        <p:spPr>
          <a:xfrm>
            <a:off x="1104900" y="1708890"/>
            <a:ext cx="9046028" cy="369332"/>
          </a:xfrm>
          <a:prstGeom prst="rect">
            <a:avLst/>
          </a:prstGeom>
          <a:noFill/>
        </p:spPr>
        <p:txBody>
          <a:bodyPr wrap="square">
            <a:spAutoFit/>
          </a:bodyPr>
          <a:lstStyle/>
          <a:p>
            <a:r>
              <a:rPr sz="1400" b="0"/>
              <a:t>接口兼容：官方明确支持 OpenAI API 兼容格式，可直接嵌入既有调用链。</a:t>
            </a:r>
            <a:endParaRPr lang="en-US" dirty="0"/>
          </a:p>
        </p:txBody>
      </p:sp>
      <p:pic>
        <p:nvPicPr>
          <p:cNvPr id="16" name="Picture 15" descr="bar_speed.png"/>
          <p:cNvPicPr>
            <a:picLocks noChangeAspect="1"/>
          </p:cNvPicPr>
          <p:nvPr/>
        </p:nvPicPr>
        <p:blipFill>
          <a:blip r:embed="rId4"/>
          <a:stretch>
            <a:fillRect/>
          </a:stretch>
        </p:blipFill>
        <p:spPr>
          <a:xfrm>
            <a:off x="3072818" y="2839664"/>
            <a:ext cx="5312229" cy="1907612"/>
          </a:xfrm>
          <a:prstGeom prst="rect">
            <a:avLst/>
          </a:prstGeom>
        </p:spPr>
      </p:pic>
      <p:sp>
        <p:nvSpPr>
          <p:cNvPr id="13" name="TextBox 12">
            <a:extLst>
              <a:ext uri="{FF2B5EF4-FFF2-40B4-BE49-F238E27FC236}">
                <a16:creationId xmlns:a16="http://schemas.microsoft.com/office/drawing/2014/main" id="{EAE55A88-BFF4-0DCA-2DB8-75DD36891FEE}"/>
              </a:ext>
            </a:extLst>
          </p:cNvPr>
          <p:cNvSpPr txBox="1"/>
          <p:nvPr/>
        </p:nvSpPr>
        <p:spPr>
          <a:xfrm>
            <a:off x="1104899" y="2123384"/>
            <a:ext cx="9171215" cy="646331"/>
          </a:xfrm>
          <a:prstGeom prst="rect">
            <a:avLst/>
          </a:prstGeom>
          <a:noFill/>
        </p:spPr>
        <p:txBody>
          <a:bodyPr wrap="square">
            <a:spAutoFit/>
          </a:bodyPr>
          <a:lstStyle/>
          <a:p>
            <a:r>
              <a:rPr sz="1250" b="0"/>
              <a:t>功能形态：128K 上下文、原生 tool use、可调 reasoning、schema-aligned JSON 输出。</a:t>
            </a:r>
          </a:p>
        </p:txBody>
      </p:sp>
      <p:sp>
        <p:nvSpPr>
          <p:cNvPr id="15" name="TextBox 14">
            <a:extLst>
              <a:ext uri="{FF2B5EF4-FFF2-40B4-BE49-F238E27FC236}">
                <a16:creationId xmlns:a16="http://schemas.microsoft.com/office/drawing/2014/main" id="{F19451EF-12EF-0B5F-0652-5166B63BC7EB}"/>
              </a:ext>
            </a:extLst>
          </p:cNvPr>
          <p:cNvSpPr txBox="1"/>
          <p:nvPr/>
        </p:nvSpPr>
        <p:spPr>
          <a:xfrm>
            <a:off x="1028482" y="4817225"/>
            <a:ext cx="9318172" cy="923330"/>
          </a:xfrm>
          <a:prstGeom prst="rect">
            <a:avLst/>
          </a:prstGeom>
          <a:noFill/>
        </p:spPr>
        <p:txBody>
          <a:bodyPr wrap="square">
            <a:spAutoFit/>
          </a:bodyPr>
          <a:lstStyle/>
          <a:p>
            <a:r>
              <a:rPr sz="1250" b="0"/>
              <a:t>部署含义：对于希望压缩 p95 延迟、提升并发吞吐、减少多步链路等待的团队，Mercury 2 已经不是“概念验证”，而是可直接试点评估的产品。</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0F63B7-1052-F65C-A307-1A81BDBEA87B}"/>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3675B49-8415-BB65-E4BB-2E1C0D5D3798}"/>
              </a:ext>
            </a:extLst>
          </p:cNvPr>
          <p:cNvSpPr/>
          <p:nvPr/>
        </p:nvSpPr>
        <p:spPr>
          <a:xfrm>
            <a:off x="411480" y="320040"/>
            <a:ext cx="73152" cy="731520"/>
          </a:xfrm>
          <a:prstGeom prst="rect">
            <a:avLst/>
          </a:prstGeom>
          <a:solidFill>
            <a:srgbClr val="232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14543FE1-647D-47C4-B6A8-97E268ABF333}"/>
              </a:ext>
            </a:extLst>
          </p:cNvPr>
          <p:cNvSpPr txBox="1"/>
          <p:nvPr/>
        </p:nvSpPr>
        <p:spPr>
          <a:xfrm>
            <a:off x="658368" y="228600"/>
            <a:ext cx="7726679" cy="369332"/>
          </a:xfrm>
          <a:prstGeom prst="rect">
            <a:avLst/>
          </a:prstGeom>
          <a:noFill/>
        </p:spPr>
        <p:txBody>
          <a:bodyPr wrap="square">
            <a:spAutoFit/>
          </a:bodyPr>
          <a:lstStyle/>
          <a:p>
            <a:r>
              <a:rPr sz="2200" b="1"/>
              <a:t>投资与产品观察：Mercury 2 值得关注什么</a:t>
            </a:r>
            <a:endParaRPr b="1" dirty="0">
              <a:solidFill>
                <a:schemeClr val="accent1"/>
              </a:solidFill>
            </a:endParaRPr>
          </a:p>
        </p:txBody>
      </p:sp>
      <p:sp>
        <p:nvSpPr>
          <p:cNvPr id="4" name="TextBox 3">
            <a:extLst>
              <a:ext uri="{FF2B5EF4-FFF2-40B4-BE49-F238E27FC236}">
                <a16:creationId xmlns:a16="http://schemas.microsoft.com/office/drawing/2014/main" id="{9EE7049C-9533-A197-FDE2-981332B2E52D}"/>
              </a:ext>
            </a:extLst>
          </p:cNvPr>
          <p:cNvSpPr txBox="1"/>
          <p:nvPr/>
        </p:nvSpPr>
        <p:spPr>
          <a:xfrm>
            <a:off x="676656" y="877824"/>
            <a:ext cx="9692640" cy="275332"/>
          </a:xfrm>
          <a:prstGeom prst="rect">
            <a:avLst/>
          </a:prstGeom>
          <a:noFill/>
        </p:spPr>
        <p:txBody>
          <a:bodyPr wrap="square">
            <a:spAutoFit/>
          </a:bodyPr>
          <a:lstStyle/>
          <a:p>
            <a:r>
              <a:rPr sz="1300" b="0"/>
              <a:t>它未必立刻替代所有模型，但很可能改写“实时 AI”这条产品线</a:t>
            </a:r>
            <a:endParaRPr dirty="0"/>
          </a:p>
        </p:txBody>
      </p:sp>
      <p:sp>
        <p:nvSpPr>
          <p:cNvPr id="6" name="Rounded Rectangle 5">
            <a:extLst>
              <a:ext uri="{FF2B5EF4-FFF2-40B4-BE49-F238E27FC236}">
                <a16:creationId xmlns:a16="http://schemas.microsoft.com/office/drawing/2014/main" id="{5A4FD154-40D5-44B1-D1FC-DE8D1E1A1DCB}"/>
              </a:ext>
            </a:extLst>
          </p:cNvPr>
          <p:cNvSpPr/>
          <p:nvPr/>
        </p:nvSpPr>
        <p:spPr>
          <a:xfrm>
            <a:off x="658368" y="1389888"/>
            <a:ext cx="10058400" cy="3063240"/>
          </a:xfrm>
          <a:prstGeom prst="roundRect">
            <a:avLst/>
          </a:prstGeom>
          <a:solidFill>
            <a:srgbClr val="FAFAFA"/>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453D3965-F8C6-CE16-1A16-40BC9BD212C1}"/>
              </a:ext>
            </a:extLst>
          </p:cNvPr>
          <p:cNvSpPr txBox="1"/>
          <p:nvPr/>
        </p:nvSpPr>
        <p:spPr>
          <a:xfrm>
            <a:off x="822960" y="1783080"/>
            <a:ext cx="9738360" cy="1477136"/>
          </a:xfrm>
          <a:prstGeom prst="rect">
            <a:avLst/>
          </a:prstGeom>
          <a:noFill/>
        </p:spPr>
        <p:txBody>
          <a:bodyPr wrap="square">
            <a:spAutoFit/>
          </a:bodyPr>
          <a:lstStyle/>
          <a:p>
            <a:pPr algn="l">
              <a:lnSpc>
                <a:spcPct val="116000"/>
              </a:lnSpc>
              <a:spcBef>
                <a:spcPts val="0"/>
              </a:spcBef>
              <a:spcAft>
                <a:spcPts val="700"/>
              </a:spcAft>
            </a:pPr>
            <a:r>
              <a:rPr sz="1700"/>
              <a:t>• 范式变量最关键：若扩散式语言模型持续成立，自回归速度护城河会被改写。</a:t>
            </a:r>
            <a:endParaRPr lang="en-US" sz="1600" dirty="0"/>
          </a:p>
          <a:p>
            <a:pPr/>
            <a:r>
              <a:rPr sz="1700"/>
              <a:t>• 最先受益的不是所有任务，而是强交互、强并发、长链路的实时 AI 产品。</a:t>
            </a:r>
          </a:p>
          <a:p>
            <a:pPr/>
            <a:r>
              <a:rPr sz="1700"/>
              <a:t>• 短期风险在于生态成熟度、复杂工具调用稳定性与公开评测覆盖度仍待补强。</a:t>
            </a:r>
          </a:p>
          <a:p>
            <a:pPr/>
            <a:r>
              <a:rPr sz="1700"/>
              <a:t>• 若后续开放更多客户案例、成本曲线和大规模服务数据，Mercury 系列有机会形成差异化赛道。</a:t>
            </a:r>
          </a:p>
        </p:txBody>
      </p:sp>
      <p:pic>
        <p:nvPicPr>
          <p:cNvPr id="12" name="图片 11">
            <a:extLst>
              <a:ext uri="{FF2B5EF4-FFF2-40B4-BE49-F238E27FC236}">
                <a16:creationId xmlns:a16="http://schemas.microsoft.com/office/drawing/2014/main" id="{69C379D1-8735-670C-7110-370A8473F5BF}"/>
              </a:ext>
            </a:extLst>
          </p:cNvPr>
          <p:cNvPicPr>
            <a:picLocks noChangeAspect="1"/>
          </p:cNvPicPr>
          <p:nvPr/>
        </p:nvPicPr>
        <p:blipFill>
          <a:blip r:embed="rId2"/>
          <a:stretch>
            <a:fillRect/>
          </a:stretch>
        </p:blipFill>
        <p:spPr>
          <a:xfrm>
            <a:off x="10716768" y="193040"/>
            <a:ext cx="1398224" cy="435405"/>
          </a:xfrm>
          <a:prstGeom prst="rect">
            <a:avLst/>
          </a:prstGeom>
        </p:spPr>
      </p:pic>
    </p:spTree>
    <p:extLst>
      <p:ext uri="{BB962C8B-B14F-4D97-AF65-F5344CB8AC3E}">
        <p14:creationId xmlns:p14="http://schemas.microsoft.com/office/powerpoint/2010/main" val="3721796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11480" y="320040"/>
            <a:ext cx="73152" cy="731520"/>
          </a:xfrm>
          <a:prstGeom prst="rect">
            <a:avLst/>
          </a:prstGeom>
          <a:solidFill>
            <a:srgbClr val="232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228600"/>
            <a:ext cx="7726679" cy="369332"/>
          </a:xfrm>
          <a:prstGeom prst="rect">
            <a:avLst/>
          </a:prstGeom>
          <a:noFill/>
        </p:spPr>
        <p:txBody>
          <a:bodyPr wrap="square">
            <a:spAutoFit/>
          </a:bodyPr>
          <a:lstStyle/>
          <a:p>
            <a:r>
              <a:rPr sz="2200" b="1"/>
              <a:t>总结与结论</a:t>
            </a:r>
            <a:endParaRPr b="1" dirty="0">
              <a:solidFill>
                <a:schemeClr val="accent1"/>
              </a:solidFill>
            </a:endParaRPr>
          </a:p>
        </p:txBody>
      </p:sp>
      <p:sp>
        <p:nvSpPr>
          <p:cNvPr id="4" name="TextBox 3"/>
          <p:cNvSpPr txBox="1"/>
          <p:nvPr/>
        </p:nvSpPr>
        <p:spPr>
          <a:xfrm>
            <a:off x="676656" y="877824"/>
            <a:ext cx="9692640" cy="275332"/>
          </a:xfrm>
          <a:prstGeom prst="rect">
            <a:avLst/>
          </a:prstGeom>
          <a:noFill/>
        </p:spPr>
        <p:txBody>
          <a:bodyPr wrap="square">
            <a:spAutoFit/>
          </a:bodyPr>
          <a:lstStyle/>
          <a:p>
            <a:r>
              <a:rPr sz="1300" b="0"/>
              <a:t>Mercury 2 展示了“扩散 + 推理 + 实时交互”结合后的新可能</a:t>
            </a:r>
          </a:p>
        </p:txBody>
      </p:sp>
      <p:sp>
        <p:nvSpPr>
          <p:cNvPr id="6" name="Rounded Rectangle 5"/>
          <p:cNvSpPr/>
          <p:nvPr/>
        </p:nvSpPr>
        <p:spPr>
          <a:xfrm>
            <a:off x="658368" y="1389888"/>
            <a:ext cx="10058400" cy="4773168"/>
          </a:xfrm>
          <a:prstGeom prst="roundRect">
            <a:avLst/>
          </a:prstGeom>
          <a:solidFill>
            <a:srgbClr val="FAFAFA"/>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22960" y="1783080"/>
            <a:ext cx="9738360" cy="1616661"/>
          </a:xfrm>
          <a:prstGeom prst="rect">
            <a:avLst/>
          </a:prstGeom>
          <a:noFill/>
        </p:spPr>
        <p:txBody>
          <a:bodyPr wrap="square">
            <a:spAutoFit/>
          </a:bodyPr>
          <a:lstStyle/>
          <a:p>
            <a:pPr algn="l">
              <a:lnSpc>
                <a:spcPct val="116000"/>
              </a:lnSpc>
              <a:spcBef>
                <a:spcPts val="0"/>
              </a:spcBef>
              <a:spcAft>
                <a:spcPts val="700"/>
              </a:spcAft>
            </a:pPr>
            <a:r>
              <a:rPr sz="1700"/>
              <a:t>• 核心亮点是快：1009 tokens/s 把速度从优化问题提升为架构问题。</a:t>
            </a:r>
            <a:endParaRPr lang="en-US" dirty="0"/>
          </a:p>
          <a:p>
            <a:pPr/>
            <a:r>
              <a:rPr sz="1700"/>
              <a:t>• 核心价值是稳：在多个 benchmark 上并未因极速而明显牺牲能力。</a:t>
            </a:r>
          </a:p>
          <a:p>
            <a:pPr/>
            <a:r>
              <a:rPr sz="1700"/>
              <a:t>• 核心壁垒是路线：公司、论文、融资与算力合作构成了完整叙事闭环。</a:t>
            </a:r>
          </a:p>
          <a:p>
            <a:pPr/>
            <a:r>
              <a:rPr sz="1700"/>
              <a:t>• 结论：Mercury 2 适合作为实时 Agent、语音与搜索工作流的重点跟踪标的。</a:t>
            </a:r>
          </a:p>
        </p:txBody>
      </p:sp>
      <p:pic>
        <p:nvPicPr>
          <p:cNvPr id="9" name="图片 11">
            <a:extLst>
              <a:ext uri="{FF2B5EF4-FFF2-40B4-BE49-F238E27FC236}">
                <a16:creationId xmlns:a16="http://schemas.microsoft.com/office/drawing/2014/main" id="{7DC1CCCC-B091-BF68-4FF1-E41993EFD947}"/>
              </a:ext>
            </a:extLst>
          </p:cNvPr>
          <p:cNvPicPr>
            <a:picLocks noChangeAspect="1"/>
          </p:cNvPicPr>
          <p:nvPr/>
        </p:nvPicPr>
        <p:blipFill>
          <a:blip r:embed="rId2"/>
          <a:stretch>
            <a:fillRect/>
          </a:stretch>
        </p:blipFill>
        <p:spPr>
          <a:xfrm>
            <a:off x="10716768" y="193040"/>
            <a:ext cx="1398224" cy="435405"/>
          </a:xfrm>
          <a:prstGeom prst="rect">
            <a:avLst/>
          </a:prstGeom>
        </p:spPr>
      </p:pic>
    </p:spTree>
  </p:cSld>
  <p:clrMapOvr>
    <a:masterClrMapping/>
  </p:clrMapOvr>
</p:sld>
</file>

<file path=ppt/theme/theme1.xml><?xml version="1.0" encoding="utf-8"?>
<a:theme xmlns:a="http://schemas.openxmlformats.org/drawingml/2006/main" name="2_自定义设计方案">
  <a:themeElements>
    <a:clrScheme name="自定义 3">
      <a:dk1>
        <a:srgbClr val="000000"/>
      </a:dk1>
      <a:lt1>
        <a:srgbClr val="FFFFFF"/>
      </a:lt1>
      <a:dk2>
        <a:srgbClr val="778495"/>
      </a:dk2>
      <a:lt2>
        <a:srgbClr val="F0F0F0"/>
      </a:lt2>
      <a:accent1>
        <a:srgbClr val="C00000"/>
      </a:accent1>
      <a:accent2>
        <a:srgbClr val="D8D8D8"/>
      </a:accent2>
      <a:accent3>
        <a:srgbClr val="BFBFBF"/>
      </a:accent3>
      <a:accent4>
        <a:srgbClr val="A5A5A5"/>
      </a:accent4>
      <a:accent5>
        <a:srgbClr val="7F7F7F"/>
      </a:accent5>
      <a:accent6>
        <a:srgbClr val="595959"/>
      </a:accent6>
      <a:hlink>
        <a:srgbClr val="C60C0C"/>
      </a:hlink>
      <a:folHlink>
        <a:srgbClr val="BFBFBF"/>
      </a:folHlink>
    </a:clrScheme>
    <a:fontScheme name="e05413m2">
      <a:majorFont>
        <a:latin typeface="Arial"/>
        <a:ea typeface="楷体"/>
        <a:cs typeface=""/>
      </a:majorFont>
      <a:minorFont>
        <a:latin typeface="Arial"/>
        <a:ea typeface="楷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3_自定义设计方案">
  <a:themeElements>
    <a:clrScheme name="自定义 3">
      <a:dk1>
        <a:srgbClr val="000000"/>
      </a:dk1>
      <a:lt1>
        <a:srgbClr val="FFFFFF"/>
      </a:lt1>
      <a:dk2>
        <a:srgbClr val="778495"/>
      </a:dk2>
      <a:lt2>
        <a:srgbClr val="F0F0F0"/>
      </a:lt2>
      <a:accent1>
        <a:srgbClr val="C00000"/>
      </a:accent1>
      <a:accent2>
        <a:srgbClr val="D8D8D8"/>
      </a:accent2>
      <a:accent3>
        <a:srgbClr val="BFBFBF"/>
      </a:accent3>
      <a:accent4>
        <a:srgbClr val="A5A5A5"/>
      </a:accent4>
      <a:accent5>
        <a:srgbClr val="7F7F7F"/>
      </a:accent5>
      <a:accent6>
        <a:srgbClr val="595959"/>
      </a:accent6>
      <a:hlink>
        <a:srgbClr val="C60C0C"/>
      </a:hlink>
      <a:folHlink>
        <a:srgbClr val="BFBFBF"/>
      </a:folHlink>
    </a:clrScheme>
    <a:fontScheme name="自定义 1">
      <a:majorFont>
        <a:latin typeface="Calibri"/>
        <a:ea typeface="华文楷体"/>
        <a:cs typeface=""/>
      </a:majorFont>
      <a:minorFont>
        <a:latin typeface="Calibri"/>
        <a:ea typeface="华文楷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1492</TotalTime>
  <Words>2059</Words>
  <Application>Microsoft Macintosh PowerPoint</Application>
  <PresentationFormat>Widescreen</PresentationFormat>
  <Paragraphs>145</Paragraphs>
  <Slides>15</Slides>
  <Notes>5</Notes>
  <HiddenSlides>4</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15</vt:i4>
      </vt:variant>
    </vt:vector>
  </HeadingPairs>
  <TitlesOfParts>
    <vt:vector size="21" baseType="lpstr">
      <vt:lpstr>等线</vt:lpstr>
      <vt:lpstr>华文楷体</vt:lpstr>
      <vt:lpstr>Arial</vt:lpstr>
      <vt:lpstr>Calibri</vt:lpstr>
      <vt:lpstr>2_自定义设计方案</vt:lpstr>
      <vt:lpstr>3_自定义设计方案</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Li Yuting</dc:creator>
  <cp:lastModifiedBy>Bingran You</cp:lastModifiedBy>
  <cp:revision>45</cp:revision>
  <dcterms:created xsi:type="dcterms:W3CDTF">2023-06-07T13:12:54Z</dcterms:created>
  <dcterms:modified xsi:type="dcterms:W3CDTF">2026-03-27T05:11:50Z</dcterms:modified>
</cp:coreProperties>
</file>