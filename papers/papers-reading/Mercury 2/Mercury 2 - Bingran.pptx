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</p:sldMasterIdLst>
  <p:notesMasterIdLst>
    <p:notesMasterId r:id="rId21"/>
  </p:notesMasterIdLst>
  <p:sldIdLst>
    <p:sldId id="13773" r:id="rId3"/>
    <p:sldId id="13823" r:id="rId4"/>
    <p:sldId id="13824" r:id="rId5"/>
    <p:sldId id="13825" r:id="rId6"/>
    <p:sldId id="13826" r:id="rId7"/>
    <p:sldId id="13827" r:id="rId8"/>
    <p:sldId id="13770" r:id="rId9"/>
    <p:sldId id="13771" r:id="rId10"/>
    <p:sldId id="13774" r:id="rId11"/>
    <p:sldId id="13802" r:id="rId12"/>
    <p:sldId id="13776" r:id="rId13"/>
    <p:sldId id="13805" r:id="rId14"/>
    <p:sldId id="13806" r:id="rId15"/>
    <p:sldId id="13808" r:id="rId16"/>
    <p:sldId id="13809" r:id="rId17"/>
    <p:sldId id="13810" r:id="rId18"/>
    <p:sldId id="13811" r:id="rId19"/>
    <p:sldId id="13822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16" autoAdjust="0"/>
    <p:restoredTop sz="79719"/>
  </p:normalViewPr>
  <p:slideViewPr>
    <p:cSldViewPr snapToGrid="0">
      <p:cViewPr varScale="1">
        <p:scale>
          <a:sx n="123" d="100"/>
          <a:sy n="123" d="100"/>
        </p:scale>
        <p:origin x="17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B10B1-3F6B-44C2-A3BA-6192D167FFA6}" type="datetimeFigureOut">
              <a:rPr lang="zh-CN" altLang="en-US" smtClean="0"/>
              <a:t>2026/3/26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7573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6584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798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812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277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5039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9767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760413" y="0"/>
            <a:ext cx="9702248" cy="798513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112222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83707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11949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0475" y="123292"/>
            <a:ext cx="10164682" cy="672807"/>
          </a:xfrm>
        </p:spPr>
        <p:txBody>
          <a:bodyPr anchor="ctr">
            <a:noAutofit/>
          </a:bodyPr>
          <a:lstStyle>
            <a:lvl1pPr>
              <a:lnSpc>
                <a:spcPct val="100000"/>
              </a:lnSpc>
              <a:defRPr sz="2800" b="1">
                <a:solidFill>
                  <a:schemeClr val="accent1"/>
                </a:solidFill>
                <a:latin typeface="Calibri" panose="020F0502020204030204" pitchFamily="34" charset="0"/>
                <a:ea typeface="华文楷体" panose="02010600040101010101" pitchFamily="2" charset="-122"/>
                <a:cs typeface="Calibri" panose="020F0502020204030204" pitchFamily="34" charset="0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cxnSp>
        <p:nvCxnSpPr>
          <p:cNvPr id="6" name="直接连接符 5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9462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7501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7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820476" y="796099"/>
            <a:ext cx="10626731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6" name="Picture 2" descr="http://www.meridiancapital.com.cn/images/logo.png"/>
          <p:cNvPicPr>
            <a:picLocks noChangeAspect="1" noChangeArrowheads="1"/>
          </p:cNvPicPr>
          <p:nvPr userDrawn="1"/>
        </p:nvPicPr>
        <p:blipFill>
          <a:blip r:embed="rId6" cstate="email"/>
          <a:srcRect/>
          <a:stretch>
            <a:fillRect/>
          </a:stretch>
        </p:blipFill>
        <p:spPr bwMode="auto">
          <a:xfrm>
            <a:off x="10702413" y="189026"/>
            <a:ext cx="1489587" cy="5164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51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tif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9.png"/><Relationship Id="rId4" Type="http://schemas.openxmlformats.org/officeDocument/2006/relationships/image" Target="../media/image3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if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7656" y="575136"/>
            <a:ext cx="4331884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722"/>
          <a:stretch>
            <a:fillRect/>
          </a:stretch>
        </p:blipFill>
        <p:spPr>
          <a:xfrm>
            <a:off x="591811" y="1778432"/>
            <a:ext cx="11008378" cy="3608729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591811" y="1778432"/>
            <a:ext cx="11008378" cy="3608729"/>
          </a:xfrm>
          <a:prstGeom prst="rect">
            <a:avLst/>
          </a:prstGeom>
          <a:solidFill>
            <a:schemeClr val="bg1">
              <a:lumMod val="75000"/>
              <a:alpha val="48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sp>
        <p:nvSpPr>
          <p:cNvPr id="9" name="矩形 8"/>
          <p:cNvSpPr/>
          <p:nvPr/>
        </p:nvSpPr>
        <p:spPr>
          <a:xfrm flipH="1">
            <a:off x="1573951" y="575136"/>
            <a:ext cx="45719" cy="5751235"/>
          </a:xfrm>
          <a:prstGeom prst="rect">
            <a:avLst/>
          </a:prstGeom>
          <a:noFill/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楷体" panose="02010609060101010101" pitchFamily="49" charset="-122"/>
              <a:cs typeface="+mn-ea"/>
              <a:sym typeface="+mn-lt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10846907" y="5160182"/>
            <a:ext cx="453958" cy="453958"/>
            <a:chOff x="5869021" y="5872413"/>
            <a:chExt cx="453958" cy="453958"/>
          </a:xfrm>
        </p:grpSpPr>
        <p:sp>
          <p:nvSpPr>
            <p:cNvPr id="17" name="矩形 16"/>
            <p:cNvSpPr/>
            <p:nvPr/>
          </p:nvSpPr>
          <p:spPr>
            <a:xfrm>
              <a:off x="5869021" y="5872413"/>
              <a:ext cx="453958" cy="453958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  <p:sp>
          <p:nvSpPr>
            <p:cNvPr id="18" name="箭头: V 形 17"/>
            <p:cNvSpPr/>
            <p:nvPr/>
          </p:nvSpPr>
          <p:spPr>
            <a:xfrm rot="5400000">
              <a:off x="5997358" y="5972932"/>
              <a:ext cx="197284" cy="252920"/>
            </a:xfrm>
            <a:prstGeom prst="chevron">
              <a:avLst>
                <a:gd name="adj" fmla="val 72531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楷体" panose="02010609060101010101" pitchFamily="49" charset="-122"/>
                <a:cs typeface="+mn-ea"/>
                <a:sym typeface="+mn-lt"/>
              </a:endParaRP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5098256" y="4664202"/>
            <a:ext cx="1995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2026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年</a:t>
            </a:r>
            <a:r>
              <a:rPr lang="en-US" altLang="zh-CN" dirty="0">
                <a:solidFill>
                  <a:srgbClr val="000000"/>
                </a:solidFill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楷体" panose="02010609060101010101" pitchFamily="49" charset="-122"/>
                <a:cs typeface="Calibri" panose="020F0502020204030204" pitchFamily="34" charset="0"/>
                <a:sym typeface="+mn-lt"/>
              </a:rPr>
              <a:t>月</a:t>
            </a: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1062" y="864162"/>
            <a:ext cx="2207110" cy="687291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18672" y="2967335"/>
            <a:ext cx="295465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400" b="1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75000"/>
                    <a:lumOff val="25000"/>
                  </a:srgbClr>
                </a:solidFill>
                <a:effectLst/>
                <a:uLnTx/>
                <a:uFillTx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rPr>
              <a:t>华映资本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8888334-E6C6-3EB4-2EB2-5DC86C4196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590" y="1253403"/>
            <a:ext cx="8208820" cy="4617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8415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8C3DDC-6FC3-3AB0-DE4F-FE6562293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0BE15C-C122-D542-EC82-2C954CBD37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77280"/>
            <a:ext cx="7772400" cy="4103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6372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AD680-790F-3203-6B2A-0EF94B308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B7097C-D458-7DFB-5B96-0C500FFD89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1133" y="1284462"/>
            <a:ext cx="7989734" cy="428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011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F626D-12DB-6138-EAF6-4B7129E69E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2DF54B-7213-8B65-AAA2-3DD6D4D16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6923" y="1372548"/>
            <a:ext cx="8278154" cy="4112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875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A2E03-9B03-D2B0-396B-2A4796A3F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39F87B9-DA07-D0AE-605D-085CD8689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1085" y="1219312"/>
            <a:ext cx="8089830" cy="44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10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/>
              <a:t>目录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/>
              <a:t>• Mercury 2 的模型定位与核心亮点</a:t>
            </a:r>
            <a:endParaRPr lang="en-US" dirty="0"/>
          </a:p>
          <a:p>
            <a:r>
              <a:rPr sz="1800"/>
              <a:t>• 扩散式并行生成为何能把速度拉到 1009 tokens/s</a:t>
            </a:r>
          </a:p>
          <a:p>
            <a:r>
              <a:rPr sz="1800"/>
              <a:t>• 性能、价格与应用场景的综合判断</a:t>
            </a:r>
          </a:p>
          <a:p>
            <a:r>
              <a:rPr sz="1800"/>
              <a:t>• Inception Labs 的技术路线、团队与产业背书</a:t>
            </a:r>
          </a:p>
          <a:p>
            <a:r>
              <a:rPr sz="1800"/>
              <a:t>• 对实时 AI 产品与投资观察的启发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250D6EF6-E290-DB59-6252-7A2C142C9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模型定位：Mercury 2 是什么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全球最快的推理型 LLM 之一，核心卖点是“扩散式并行生成”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9C2101-A6BF-F306-52D1-079E6187C064}"/>
              </a:ext>
            </a:extLst>
          </p:cNvPr>
          <p:cNvGrpSpPr/>
          <p:nvPr/>
        </p:nvGrpSpPr>
        <p:grpSpPr>
          <a:xfrm>
            <a:off x="1165146" y="5074072"/>
            <a:ext cx="10333608" cy="1555328"/>
            <a:chOff x="604672" y="1280756"/>
            <a:chExt cx="4900000" cy="4773169"/>
          </a:xfrm>
        </p:grpSpPr>
        <p:sp>
          <p:nvSpPr>
            <p:cNvPr id="6" name="Rounded Rectangle 5"/>
            <p:cNvSpPr/>
            <p:nvPr/>
          </p:nvSpPr>
          <p:spPr>
            <a:xfrm>
              <a:off x="604672" y="1280756"/>
              <a:ext cx="4900000" cy="4773169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04672" y="1790067"/>
              <a:ext cx="4500000" cy="2676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300" dirty="0"/>
                <a:t>• </a:t>
              </a:r>
              <a:r>
                <a:rPr sz="1300" dirty="0" err="1"/>
                <a:t>官方将其定义为推理型语言模型，但底层不再沿用逐</a:t>
              </a:r>
              <a:r>
                <a:rPr sz="1300" dirty="0"/>
                <a:t> token </a:t>
              </a:r>
              <a:r>
                <a:rPr sz="1300" dirty="0" err="1"/>
                <a:t>自回归解码</a:t>
              </a:r>
              <a:r>
                <a:rPr sz="1300" dirty="0"/>
                <a:t>。</a:t>
              </a:r>
              <a:endParaRPr lang="en-US" sz="14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300" dirty="0"/>
                <a:t>• </a:t>
              </a:r>
              <a:r>
                <a:rPr sz="1300" dirty="0" err="1"/>
                <a:t>生成方式更像“先形成草稿、再并行修订”的编辑过程，可同时优化多个</a:t>
              </a:r>
              <a:r>
                <a:rPr sz="1300" dirty="0"/>
                <a:t> token。</a:t>
              </a:r>
              <a:endParaRPr lang="en-US" sz="1300" dirty="0"/>
            </a:p>
            <a:p>
              <a:pPr algn="l">
                <a:spcBef>
                  <a:spcPts val="0"/>
                </a:spcBef>
                <a:spcAft>
                  <a:spcPts val="700"/>
                </a:spcAft>
              </a:pPr>
              <a:r>
                <a:rPr sz="1300" dirty="0"/>
                <a:t>• </a:t>
              </a:r>
              <a:r>
                <a:rPr sz="1300" dirty="0" err="1"/>
                <a:t>对于</a:t>
              </a:r>
              <a:r>
                <a:rPr sz="1300" dirty="0"/>
                <a:t> </a:t>
              </a:r>
              <a:r>
                <a:rPr sz="1300" dirty="0" err="1"/>
                <a:t>Agent、检索、抽取、代码补全等多步循环任务，延迟不会像传统模型那样线性累积</a:t>
              </a:r>
              <a:r>
                <a:rPr sz="13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FDDFE6E-EA1A-D7D6-B770-0D9C20C6EA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7" name="gif_69FB5CE9-1DD0-48E7-918D-78EE8D8E1E1C.mp4">
            <a:hlinkClick r:id="" action="ppaction://media"/>
            <a:extLst>
              <a:ext uri="{FF2B5EF4-FFF2-40B4-BE49-F238E27FC236}">
                <a16:creationId xmlns:a16="http://schemas.microsoft.com/office/drawing/2014/main" id="{A4BC1E3A-0CFF-CC2F-1B5B-CDBDDC8ED94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856932" y="1474890"/>
            <a:ext cx="8950036" cy="3281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02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46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为什么它会快：速度曲线被重写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从“打字机模式”切换到并行 refinement，是 Mercury 2 的根本差异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C5915E9-91C5-9C15-39BE-414ED70C7357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/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822960" y="1783080"/>
              <a:ext cx="4500000" cy="21257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官方披露在</a:t>
              </a:r>
              <a:r>
                <a:rPr sz="1250" dirty="0"/>
                <a:t> NVIDIA Blackwell GPU </a:t>
              </a:r>
              <a:r>
                <a:rPr sz="1250" dirty="0" err="1"/>
                <a:t>上可达</a:t>
              </a:r>
              <a:r>
                <a:rPr sz="1250" dirty="0"/>
                <a:t> 1009 tokens/s。</a:t>
              </a:r>
              <a:endParaRPr lang="en-US" sz="140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相较</a:t>
              </a:r>
              <a:r>
                <a:rPr sz="1250" dirty="0"/>
                <a:t> GPT-5 </a:t>
              </a:r>
              <a:r>
                <a:rPr sz="1250" dirty="0" err="1"/>
                <a:t>mini、Claude</a:t>
              </a:r>
              <a:r>
                <a:rPr sz="1250" dirty="0"/>
                <a:t> 4.5 Haiku </a:t>
              </a:r>
              <a:r>
                <a:rPr sz="1250" dirty="0" err="1"/>
                <a:t>等轻量模型，速度优势超过</a:t>
              </a:r>
              <a:r>
                <a:rPr sz="1250" dirty="0"/>
                <a:t> 5 </a:t>
              </a:r>
              <a:r>
                <a:rPr sz="1250" dirty="0" err="1"/>
                <a:t>倍</a:t>
              </a:r>
              <a:r>
                <a:rPr sz="1250" dirty="0"/>
                <a:t>。</a:t>
              </a:r>
              <a:endParaRPr lang="en-US" sz="125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快的不只是首</a:t>
              </a:r>
              <a:r>
                <a:rPr sz="1250" dirty="0"/>
                <a:t> </a:t>
              </a:r>
              <a:r>
                <a:rPr sz="1250" dirty="0" err="1"/>
                <a:t>token，更关键是整段输出吞吐更高，适合高并发生产环境</a:t>
              </a:r>
              <a:r>
                <a:rPr sz="1250" dirty="0"/>
                <a:t>。</a:t>
              </a:r>
              <a:endParaRPr lang="en-US" sz="1250" dirty="0"/>
            </a:p>
            <a:p>
              <a:pPr algn="l">
                <a:lnSpc>
                  <a:spcPct val="116000"/>
                </a:lnSpc>
                <a:spcBef>
                  <a:spcPts val="0"/>
                </a:spcBef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第三方传播里，Mercury</a:t>
              </a:r>
              <a:r>
                <a:rPr sz="1250" dirty="0"/>
                <a:t> 2 </a:t>
              </a:r>
              <a:r>
                <a:rPr sz="1250" dirty="0" err="1"/>
                <a:t>已经被视为“扩散式推理”进入主流视野的标志事件</a:t>
              </a:r>
              <a:r>
                <a:rPr sz="125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E8F9F1FC-F284-020F-1F78-D30A3159FD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2050" name="Picture 2" descr="Image">
            <a:extLst>
              <a:ext uri="{FF2B5EF4-FFF2-40B4-BE49-F238E27FC236}">
                <a16:creationId xmlns:a16="http://schemas.microsoft.com/office/drawing/2014/main" id="{4B57B52D-85BD-7D36-369F-C65759A20E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5054" y="2456538"/>
            <a:ext cx="7700034" cy="26398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47EAF05-D382-67F7-0CB8-9B5E7CAC48D2}"/>
              </a:ext>
            </a:extLst>
          </p:cNvPr>
          <p:cNvSpPr txBox="1"/>
          <p:nvPr/>
        </p:nvSpPr>
        <p:spPr>
          <a:xfrm>
            <a:off x="2436218" y="6488668"/>
            <a:ext cx="73195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x.com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ArtificialAnlys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/status/2026360495205138756/photo/1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97022-F9BD-C816-5EFB-A7046504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082E560-F4FC-ABF7-685F-122968B602D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1B063CA-15F7-F773-048F-94E5629D57FF}"/>
              </a:ext>
            </a:extLst>
          </p:cNvPr>
          <p:cNvSpPr txBox="1"/>
          <p:nvPr/>
        </p:nvSpPr>
        <p:spPr>
          <a:xfrm>
            <a:off x="658368" y="228600"/>
            <a:ext cx="7726679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dirty="0" err="1"/>
              <a:t>指标总览</a:t>
            </a:r>
            <a:r>
              <a:rPr lang="zh-CN" altLang="en-US" sz="2200" b="1" dirty="0"/>
              <a:t>：速度、价格、能力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6E33D4-2714-5197-7F12-7A6769D22D8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Mercury 2 不是单纯“快模型”，而是在重画质量-速度-成本曲线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90F5864-CBF1-FD25-4B65-DC8E6B854596}"/>
              </a:ext>
            </a:extLst>
          </p:cNvPr>
          <p:cNvSpPr/>
          <p:nvPr/>
        </p:nvSpPr>
        <p:spPr>
          <a:xfrm>
            <a:off x="658368" y="1389887"/>
            <a:ext cx="10543162" cy="5239513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1B8104-1CEE-7BD6-5AE9-0E6A111D0BC2}"/>
              </a:ext>
            </a:extLst>
          </p:cNvPr>
          <p:cNvSpPr txBox="1"/>
          <p:nvPr/>
        </p:nvSpPr>
        <p:spPr>
          <a:xfrm>
            <a:off x="822959" y="1783080"/>
            <a:ext cx="10193383" cy="194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速度：1009 tokens/</a:t>
            </a:r>
            <a:r>
              <a:rPr sz="1700" dirty="0" err="1"/>
              <a:t>s，主打实时推理与高并发响应</a:t>
            </a:r>
            <a:r>
              <a:rPr sz="1700" dirty="0"/>
              <a:t>。</a:t>
            </a:r>
            <a:endParaRPr lang="en-US" sz="1500" dirty="0">
              <a:solidFill>
                <a:srgbClr val="2D2D2D"/>
              </a:solidFill>
            </a:endParaRP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价格：输入</a:t>
            </a:r>
            <a:r>
              <a:rPr sz="1700" dirty="0"/>
              <a:t> 0.25 </a:t>
            </a:r>
            <a:r>
              <a:rPr sz="1700" dirty="0" err="1"/>
              <a:t>美元</a:t>
            </a:r>
            <a:r>
              <a:rPr sz="1700" dirty="0"/>
              <a:t> / </a:t>
            </a:r>
            <a:r>
              <a:rPr sz="1700" dirty="0" err="1"/>
              <a:t>百万，输出</a:t>
            </a:r>
            <a:r>
              <a:rPr sz="1700" dirty="0"/>
              <a:t> 0.75 </a:t>
            </a:r>
            <a:r>
              <a:rPr sz="1700" dirty="0" err="1"/>
              <a:t>美元</a:t>
            </a:r>
            <a:r>
              <a:rPr sz="1700" dirty="0"/>
              <a:t> / </a:t>
            </a:r>
            <a:r>
              <a:rPr sz="1700" dirty="0" err="1"/>
              <a:t>百万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能力：GPQA、LCB、AIME</a:t>
            </a:r>
            <a:r>
              <a:rPr sz="1700" dirty="0"/>
              <a:t> </a:t>
            </a:r>
            <a:r>
              <a:rPr sz="1700" dirty="0" err="1"/>
              <a:t>等基准不输主流轻量</a:t>
            </a:r>
            <a:r>
              <a:rPr sz="1700" dirty="0"/>
              <a:t>/</a:t>
            </a:r>
            <a:r>
              <a:rPr sz="1700" dirty="0" err="1"/>
              <a:t>速度型模型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lang="en-US" altLang="zh-CN" sz="1700" dirty="0"/>
              <a:t>• </a:t>
            </a:r>
            <a:r>
              <a:rPr lang="zh-CN" altLang="en-US" sz="1700" dirty="0"/>
              <a:t>功能：</a:t>
            </a:r>
            <a:r>
              <a:rPr lang="en-US" altLang="zh-CN" sz="1700" dirty="0"/>
              <a:t>128</a:t>
            </a:r>
            <a:r>
              <a:rPr lang="en-US" sz="1700" dirty="0"/>
              <a:t>K </a:t>
            </a:r>
            <a:r>
              <a:rPr lang="zh-CN" altLang="en-US" sz="1700" dirty="0"/>
              <a:t>上下文、工具调用、结构化 </a:t>
            </a:r>
            <a:r>
              <a:rPr lang="en-US" sz="1700" dirty="0"/>
              <a:t>JSON、</a:t>
            </a:r>
            <a:r>
              <a:rPr lang="zh-CN" altLang="en-US" sz="1700" dirty="0"/>
              <a:t>可调推理。</a:t>
            </a:r>
            <a:endParaRPr lang="en-US" altLang="zh-CN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接口：兼容</a:t>
            </a:r>
            <a:r>
              <a:rPr sz="1700" dirty="0"/>
              <a:t> OpenAI </a:t>
            </a:r>
            <a:r>
              <a:rPr sz="1700" dirty="0" err="1"/>
              <a:t>API，迁移与接入成本较低</a:t>
            </a:r>
            <a:r>
              <a:rPr sz="1700" dirty="0"/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A0879EF-A5B0-27B7-D5DC-7D65500137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444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应用场景：速度优势如何转化为价值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真正受益的是“多轮、多步、强交互”的生产型 AI 工作流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389888"/>
            <a:ext cx="10058400" cy="4773168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9738360" cy="1940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代码与编辑：自动补全、改写、重构等场景对延迟极敏感</a:t>
            </a:r>
            <a:r>
              <a:rPr sz="1700" dirty="0"/>
              <a:t>。</a:t>
            </a:r>
            <a:endParaRPr lang="en-US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Agent：单任务常串联数十次推理，单次提速会被放大成整体收益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语音：让“推理质量”更接近自然对话的实时节奏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搜索</a:t>
            </a:r>
            <a:r>
              <a:rPr sz="1700" dirty="0"/>
              <a:t> / </a:t>
            </a:r>
            <a:r>
              <a:rPr sz="1700" dirty="0" err="1"/>
              <a:t>RAG：多跳检索、重排与总结链路更易压到可接受延迟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企业部署：官方强调</a:t>
            </a:r>
            <a:r>
              <a:rPr sz="1700" dirty="0"/>
              <a:t> p95 </a:t>
            </a:r>
            <a:r>
              <a:rPr sz="1700" dirty="0" err="1"/>
              <a:t>延迟、高并发稳定性和轮次一致性</a:t>
            </a:r>
            <a:r>
              <a:rPr sz="1700" dirty="0"/>
              <a:t>。</a:t>
            </a:r>
          </a:p>
        </p:txBody>
      </p:sp>
      <p:pic>
        <p:nvPicPr>
          <p:cNvPr id="9" name="图片 11">
            <a:extLst>
              <a:ext uri="{FF2B5EF4-FFF2-40B4-BE49-F238E27FC236}">
                <a16:creationId xmlns:a16="http://schemas.microsoft.com/office/drawing/2014/main" id="{D6161145-8687-472E-1628-987A8FF3C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FA997-489F-9B2F-79F7-C80B273B3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EA03209-782E-0052-5968-B67AA293801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03A4D4-1CA4-38DB-57A4-BA0BF2D4EF7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能力与延迟表现：并没有为了速度显著降智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1B1BCF-7E89-4C4C-CBB7-E6CB262DBD0C}"/>
              </a:ext>
            </a:extLst>
          </p:cNvPr>
          <p:cNvSpPr txBox="1"/>
          <p:nvPr/>
        </p:nvSpPr>
        <p:spPr>
          <a:xfrm>
            <a:off x="676656" y="877824"/>
            <a:ext cx="9692640" cy="279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官方对比图显示，Mercury 2 在关键基准上接近甚至超过多款速度型模型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0E39660-D457-A2C0-B2F2-7235B1708694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C2CFCB56-1B98-30B0-7981-5207569C971B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F4EF040-EA97-AD13-F24C-A2864079B93F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267619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300" dirty="0"/>
                <a:t>• E2E latency </a:t>
              </a:r>
              <a:r>
                <a:rPr sz="1300" dirty="0" err="1"/>
                <a:t>约</a:t>
              </a:r>
              <a:r>
                <a:rPr sz="1300" dirty="0"/>
                <a:t> 1.7 </a:t>
              </a:r>
              <a:r>
                <a:rPr sz="1300" dirty="0" err="1"/>
                <a:t>秒，显著低于表中多数对比模型</a:t>
              </a:r>
              <a:r>
                <a:rPr sz="1300" dirty="0"/>
                <a:t>。</a:t>
              </a:r>
              <a:endParaRPr lang="en-US" sz="1300" dirty="0"/>
            </a:p>
            <a:p>
              <a:pPr>
                <a:spcAft>
                  <a:spcPts val="700"/>
                </a:spcAft>
              </a:pPr>
              <a:r>
                <a:rPr sz="1300" dirty="0"/>
                <a:t>• GPQA 74、LCB 67、AIME 91，说明其在科学问答、代码和数学上保持了较强竞争力。</a:t>
              </a:r>
              <a:endParaRPr lang="en-US" sz="1300" dirty="0"/>
            </a:p>
            <a:p>
              <a:pPr>
                <a:spcAft>
                  <a:spcPts val="700"/>
                </a:spcAft>
              </a:pPr>
              <a:r>
                <a:rPr sz="1300" dirty="0"/>
                <a:t>• </a:t>
              </a:r>
              <a:r>
                <a:rPr sz="1300" dirty="0" err="1"/>
                <a:t>第三方中文解读特别强调：Mercury</a:t>
              </a:r>
              <a:r>
                <a:rPr sz="1300" dirty="0"/>
                <a:t> 2 </a:t>
              </a:r>
              <a:r>
                <a:rPr sz="1300" dirty="0" err="1"/>
                <a:t>在</a:t>
              </a:r>
              <a:r>
                <a:rPr sz="1300" dirty="0"/>
                <a:t> AIME </a:t>
              </a:r>
              <a:r>
                <a:rPr sz="1300" dirty="0" err="1"/>
                <a:t>上甚至压过部分以性能见长的</a:t>
              </a:r>
              <a:r>
                <a:rPr sz="1300" dirty="0"/>
                <a:t> Flash </a:t>
              </a:r>
              <a:r>
                <a:rPr sz="1300" dirty="0" err="1"/>
                <a:t>系列模型</a:t>
              </a:r>
              <a:r>
                <a:rPr sz="130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86CA906E-E902-BFA0-FD82-9724A14A96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149C8672-7C87-E2CD-E5E5-54489C85A4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83751" y="1333077"/>
            <a:ext cx="7424498" cy="3565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02291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EFCBB-E62D-C4DF-0EBF-1426E1BF7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FAF407-6C34-CEAB-20A4-DB69D8889AA5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B0B496-0834-E43C-E3E8-36C18BFED06C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第三方视角：Mercury 2 位于高速度高智能象限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AE4457B-2385-3316-5017-6A5ECEC9236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若第三方基准可信，它已进入“小模型最优象限”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9054F56-B109-C816-900E-27E3D42CF076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9B221681-0918-FEBB-CD3E-2CAE594395C6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A3AEBC-78BF-ABDB-3B03-1D583D45364F}"/>
                </a:ext>
              </a:extLst>
            </p:cNvPr>
            <p:cNvSpPr txBox="1"/>
            <p:nvPr/>
          </p:nvSpPr>
          <p:spPr>
            <a:xfrm>
              <a:off x="822960" y="1783080"/>
              <a:ext cx="4500000" cy="21257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50" dirty="0"/>
                <a:t>• Artificial Analysis </a:t>
              </a:r>
              <a:r>
                <a:rPr sz="1250" dirty="0" err="1"/>
                <a:t>图中，Mercury</a:t>
              </a:r>
              <a:r>
                <a:rPr sz="1250" dirty="0"/>
                <a:t> 2 </a:t>
              </a:r>
              <a:r>
                <a:rPr sz="1250" dirty="0" err="1"/>
                <a:t>被单独甩到</a:t>
              </a:r>
              <a:r>
                <a:rPr sz="1250" dirty="0"/>
                <a:t> 1k+ tokens/s </a:t>
              </a:r>
              <a:r>
                <a:rPr sz="1250" dirty="0" err="1"/>
                <a:t>区间</a:t>
              </a:r>
              <a:r>
                <a:rPr sz="1250" dirty="0"/>
                <a:t>。</a:t>
              </a:r>
              <a:endParaRPr lang="en-US" sz="140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在相近成本带内，速度与智能度组合都明显优于传统自回归速度型模型</a:t>
              </a:r>
              <a:r>
                <a:rPr sz="1250" dirty="0"/>
                <a:t>。</a:t>
              </a:r>
              <a:endParaRPr lang="en-US" sz="125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50" dirty="0"/>
                <a:t>• 这更像“</a:t>
              </a:r>
              <a:r>
                <a:rPr sz="1250" dirty="0" err="1"/>
                <a:t>架构范式红利</a:t>
              </a:r>
              <a:r>
                <a:rPr sz="1250" dirty="0"/>
                <a:t>”，</a:t>
              </a:r>
              <a:r>
                <a:rPr sz="1250" dirty="0" err="1"/>
                <a:t>而不是简单的工程加速</a:t>
              </a:r>
              <a:r>
                <a:rPr sz="1250" dirty="0"/>
                <a:t>。</a:t>
              </a:r>
              <a:endParaRPr lang="en-US" sz="125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因此市场讨论的焦点，已从“能不能用”转向“会不会改写实时</a:t>
              </a:r>
              <a:r>
                <a:rPr sz="1250" dirty="0"/>
                <a:t> AI </a:t>
              </a:r>
              <a:r>
                <a:rPr sz="1250" dirty="0" err="1"/>
                <a:t>产品设计</a:t>
              </a:r>
              <a:r>
                <a:rPr sz="1250" dirty="0"/>
                <a:t>”。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A9C9959B-2ACF-0A19-39A0-6B6CF6114C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026" name="Picture 2" descr="Image">
            <a:extLst>
              <a:ext uri="{FF2B5EF4-FFF2-40B4-BE49-F238E27FC236}">
                <a16:creationId xmlns:a16="http://schemas.microsoft.com/office/drawing/2014/main" id="{E82025BD-31DC-9F28-F3AF-DE2F01CCCB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4237" y="1818164"/>
            <a:ext cx="7703127" cy="3221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95111AE-A925-F921-4698-67F4AD03ED50}"/>
              </a:ext>
            </a:extLst>
          </p:cNvPr>
          <p:cNvSpPr txBox="1"/>
          <p:nvPr/>
        </p:nvSpPr>
        <p:spPr>
          <a:xfrm>
            <a:off x="1911305" y="6488668"/>
            <a:ext cx="83693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https://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x.com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ArtificialAnlys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/status/2026360491799621744/photo/1</a:t>
            </a:r>
          </a:p>
        </p:txBody>
      </p:sp>
    </p:spTree>
    <p:extLst>
      <p:ext uri="{BB962C8B-B14F-4D97-AF65-F5344CB8AC3E}">
        <p14:creationId xmlns:p14="http://schemas.microsoft.com/office/powerpoint/2010/main" val="15342223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9C696-44FB-FD8E-DF06-56351EAC2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32E6C3-E323-389B-83CB-40BD1B1F3E3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B8B13D-B130-6367-59F7-A914EA6D08C4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价格与产能：单位成本不高，吞吐优势更强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4F15D9-4465-5845-E9DC-88447BB4162B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对生产部署而言，性价比来自“更低等待时间 × 更高吞吐”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1229A1FC-50E9-FEC7-F3B3-646707511C9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3571BABE-A3E6-C870-5E43-FE2EAC76A6E6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0B23CC1-F5C8-CA2F-9EFB-014C94BB5DF7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47118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在第三方图里，Mercury</a:t>
              </a:r>
              <a:r>
                <a:rPr sz="1250" dirty="0"/>
                <a:t> 2 </a:t>
              </a:r>
              <a:r>
                <a:rPr sz="1250" dirty="0" err="1"/>
                <a:t>的速度表现呈明显断层领先</a:t>
              </a:r>
              <a:r>
                <a:rPr sz="1250" dirty="0"/>
                <a:t>。</a:t>
              </a:r>
              <a:endParaRPr lang="en-US" sz="1250" dirty="0"/>
            </a:p>
            <a:p>
              <a:pPr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价格并未因为追求极速而出现极端溢价，输入和输出单价仍在可部署区间</a:t>
              </a:r>
              <a:r>
                <a:rPr sz="1250" dirty="0"/>
                <a:t>。</a:t>
              </a:r>
              <a:endParaRPr lang="en-US" sz="1250" dirty="0"/>
            </a:p>
            <a:p>
              <a:pPr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对于并发执行的</a:t>
              </a:r>
              <a:r>
                <a:rPr sz="1250" dirty="0"/>
                <a:t> </a:t>
              </a:r>
              <a:r>
                <a:rPr sz="1250" dirty="0" err="1"/>
                <a:t>Agent、搜索、客服与语音场景，吞吐优势会进一步摊薄系统成本</a:t>
              </a:r>
              <a:r>
                <a:rPr sz="1250" dirty="0"/>
                <a:t>。</a:t>
              </a:r>
              <a:endParaRPr lang="en-US" sz="1250" dirty="0"/>
            </a:p>
            <a:p>
              <a:pPr>
                <a:spcAft>
                  <a:spcPts val="700"/>
                </a:spcAft>
              </a:pPr>
              <a:r>
                <a:rPr sz="1250" dirty="0"/>
                <a:t>• </a:t>
              </a:r>
              <a:r>
                <a:rPr sz="1250" dirty="0" err="1"/>
                <a:t>这也是官方反复强调“production</a:t>
              </a:r>
              <a:r>
                <a:rPr sz="1250" dirty="0"/>
                <a:t> AI should feel </a:t>
              </a:r>
              <a:r>
                <a:rPr sz="1250" dirty="0" err="1"/>
                <a:t>instant”的底层原因</a:t>
              </a:r>
              <a:r>
                <a:rPr sz="125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D76D242B-5D74-553E-C043-EA8FCCE4C7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4098" name="Picture 2">
            <a:extLst>
              <a:ext uri="{FF2B5EF4-FFF2-40B4-BE49-F238E27FC236}">
                <a16:creationId xmlns:a16="http://schemas.microsoft.com/office/drawing/2014/main" id="{12FDAE7F-C4C0-1B6A-027F-CA91FC24C2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022" y="1440875"/>
            <a:ext cx="8377956" cy="35060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24652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74204-DFC4-5BD7-0122-F1EAB15AB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F4301F7-E898-CE2A-908B-685169BAE26A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003168-7AEC-A3AD-4642-06DD3B1EE98B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技术根基：离散扩散让文本生成脱离自回归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D8024-EB96-7E90-AE65-C4E310BFCFFE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Mercury 2 背后不是“优化版 Transformer”，而是一条持续多年的扩散路线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F599E29-857A-D9C8-569F-BC72A99E0965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B49FCE35-FABF-9DD8-5627-1C1B6B130733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CE03535E-42B1-7612-6A09-68166BB95169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4145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220" dirty="0"/>
                <a:t>• Stefano Ermon </a:t>
              </a:r>
              <a:r>
                <a:rPr sz="1220" dirty="0" err="1"/>
                <a:t>团队长期研究如何把扩散模型从连续空间推广到离散</a:t>
              </a:r>
              <a:r>
                <a:rPr sz="1220" dirty="0"/>
                <a:t> token </a:t>
              </a:r>
              <a:r>
                <a:rPr sz="1220" dirty="0" err="1"/>
                <a:t>空间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spcAft>
                  <a:spcPts val="700"/>
                </a:spcAft>
              </a:pPr>
              <a:r>
                <a:rPr sz="1220" dirty="0"/>
                <a:t>• 2023 </a:t>
              </a:r>
              <a:r>
                <a:rPr sz="1220" dirty="0" err="1"/>
                <a:t>年的</a:t>
              </a:r>
              <a:r>
                <a:rPr sz="1220" dirty="0"/>
                <a:t> SEDD </a:t>
              </a:r>
              <a:r>
                <a:rPr sz="1220" dirty="0" err="1"/>
                <a:t>论文通过</a:t>
              </a:r>
              <a:r>
                <a:rPr sz="1220" dirty="0"/>
                <a:t> score entropy </a:t>
              </a:r>
              <a:r>
                <a:rPr sz="1220" dirty="0" err="1"/>
                <a:t>损失，把离散扩散真正带入文本建模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spcAft>
                  <a:spcPts val="700"/>
                </a:spcAft>
              </a:pPr>
              <a:r>
                <a:rPr sz="1220" dirty="0"/>
                <a:t>• </a:t>
              </a:r>
              <a:r>
                <a:rPr sz="1220" dirty="0" err="1"/>
                <a:t>量子位文章提到，该论文后来获得</a:t>
              </a:r>
              <a:r>
                <a:rPr sz="1220" dirty="0"/>
                <a:t> ICML 2024 </a:t>
              </a:r>
              <a:r>
                <a:rPr sz="1220" dirty="0" err="1"/>
                <a:t>最佳论文，为</a:t>
              </a:r>
              <a:r>
                <a:rPr sz="1220" dirty="0"/>
                <a:t> Mercury </a:t>
              </a:r>
              <a:r>
                <a:rPr sz="1220" dirty="0" err="1"/>
                <a:t>系列商业化提供了学术地基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spcAft>
                  <a:spcPts val="700"/>
                </a:spcAft>
              </a:pPr>
              <a:r>
                <a:rPr sz="1220" dirty="0"/>
                <a:t>• Mercury 2 </a:t>
              </a:r>
              <a:r>
                <a:rPr sz="1220" dirty="0" err="1"/>
                <a:t>可以被视为这条学术路线向商业系统化落地的代表产品</a:t>
              </a:r>
              <a:r>
                <a:rPr sz="122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AECE820-5FF4-AB0E-642C-74C969BED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arxi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3104" y="1343281"/>
            <a:ext cx="8665792" cy="3266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3057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168C91-BA8C-8C49-13BF-624951DE34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0C41B1A-62F0-08BE-D0E2-12F68439006D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92835A-97C8-2E8D-A9A8-A9F8224221BE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公司与团队：Inception Labs 持续押注扩散路线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8BBC88-1781-ADAB-862B-96990B4AD77A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不是跟风切换路线，而是围绕“速度与成本曲线”做长期下注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B31462D6-0BEB-FFE0-6297-B83C77C48F66}"/>
              </a:ext>
            </a:extLst>
          </p:cNvPr>
          <p:cNvGrpSpPr/>
          <p:nvPr/>
        </p:nvGrpSpPr>
        <p:grpSpPr>
          <a:xfrm>
            <a:off x="1165146" y="5074072"/>
            <a:ext cx="10333608" cy="1610850"/>
            <a:chOff x="604672" y="1280756"/>
            <a:chExt cx="4900000" cy="4943561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233D17FD-1F7A-21FA-374E-DB971BD5CB55}"/>
                </a:ext>
              </a:extLst>
            </p:cNvPr>
            <p:cNvSpPr/>
            <p:nvPr/>
          </p:nvSpPr>
          <p:spPr>
            <a:xfrm>
              <a:off x="604672" y="1280756"/>
              <a:ext cx="4900000" cy="4943561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5F80A72-52DB-6023-F06B-C052CC7D1218}"/>
                </a:ext>
              </a:extLst>
            </p:cNvPr>
            <p:cNvSpPr txBox="1"/>
            <p:nvPr/>
          </p:nvSpPr>
          <p:spPr>
            <a:xfrm>
              <a:off x="804672" y="1875263"/>
              <a:ext cx="4500000" cy="341451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700"/>
                </a:spcAft>
              </a:pPr>
              <a:r>
                <a:rPr sz="1220" dirty="0"/>
                <a:t>• </a:t>
              </a:r>
              <a:r>
                <a:rPr sz="1220" dirty="0" err="1"/>
                <a:t>公司成立于</a:t>
              </a:r>
              <a:r>
                <a:rPr sz="1220" dirty="0"/>
                <a:t> 2024 </a:t>
              </a:r>
              <a:r>
                <a:rPr sz="1220" dirty="0" err="1"/>
                <a:t>年，使命是用</a:t>
              </a:r>
              <a:r>
                <a:rPr sz="1220" dirty="0"/>
                <a:t> diffusion </a:t>
              </a:r>
              <a:r>
                <a:rPr sz="1220" dirty="0" err="1"/>
                <a:t>机制替代传统自回归生成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spcAft>
                  <a:spcPts val="700"/>
                </a:spcAft>
              </a:pPr>
              <a:r>
                <a:rPr sz="1220" dirty="0"/>
                <a:t>• CEO Stefano Ermon </a:t>
              </a:r>
              <a:r>
                <a:rPr sz="1220" dirty="0" err="1"/>
                <a:t>出身斯坦福；核心团队还包括</a:t>
              </a:r>
              <a:r>
                <a:rPr sz="1220" dirty="0"/>
                <a:t> UCLA </a:t>
              </a:r>
              <a:r>
                <a:rPr sz="1220" dirty="0" err="1"/>
                <a:t>的</a:t>
              </a:r>
              <a:r>
                <a:rPr sz="1220" dirty="0"/>
                <a:t> Aditya Grover </a:t>
              </a:r>
              <a:r>
                <a:rPr sz="1220" dirty="0" err="1"/>
                <a:t>与</a:t>
              </a:r>
              <a:r>
                <a:rPr sz="1220" dirty="0"/>
                <a:t> Cornell </a:t>
              </a:r>
              <a:r>
                <a:rPr sz="1220" dirty="0" err="1"/>
                <a:t>的</a:t>
              </a:r>
              <a:r>
                <a:rPr sz="1220" dirty="0"/>
                <a:t> Volodymyr Kuleshov。</a:t>
              </a:r>
              <a:endParaRPr lang="en-US" sz="1220" dirty="0"/>
            </a:p>
            <a:p>
              <a:pPr>
                <a:spcAft>
                  <a:spcPts val="700"/>
                </a:spcAft>
              </a:pPr>
              <a:r>
                <a:rPr sz="1220" dirty="0"/>
                <a:t>• </a:t>
              </a:r>
              <a:r>
                <a:rPr sz="1220" dirty="0" err="1"/>
                <a:t>从官方文章到媒体解读都能看出，这家公司卖点非常聚焦：让“生产</a:t>
              </a:r>
              <a:r>
                <a:rPr sz="1220" dirty="0"/>
                <a:t> AI </a:t>
              </a:r>
              <a:r>
                <a:rPr sz="1220" dirty="0" err="1"/>
                <a:t>感觉像实时系统</a:t>
              </a:r>
              <a:r>
                <a:rPr sz="1220" dirty="0"/>
                <a:t>”。</a:t>
              </a:r>
              <a:endParaRPr lang="en-US" sz="1220" dirty="0"/>
            </a:p>
            <a:p>
              <a:pPr>
                <a:spcAft>
                  <a:spcPts val="700"/>
                </a:spcAft>
              </a:pPr>
              <a:r>
                <a:rPr sz="1220" dirty="0"/>
                <a:t>• Mercury 2 </a:t>
              </a:r>
              <a:r>
                <a:rPr sz="1220" dirty="0" err="1"/>
                <a:t>的发布，本质上是在向市场证明扩散式语言模型具备商业可交付性</a:t>
              </a:r>
              <a:r>
                <a:rPr sz="122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22863754-D7D7-8569-901E-2853A086CB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team_comb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694" y="1495289"/>
            <a:ext cx="8186612" cy="3085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319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38950-46EA-7229-03A9-B471BDD4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F0E0B6-86BA-5A30-0B82-F17C002B170F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8CB3A7-65BA-291F-C33E-1E298252FCD1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产业背书与市场反响：英伟达、微软系与开发者都在关注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C0E512-BDB3-9EAA-76AE-20DC652260C7}"/>
              </a:ext>
            </a:extLst>
          </p:cNvPr>
          <p:cNvSpPr txBox="1"/>
          <p:nvPr/>
        </p:nvSpPr>
        <p:spPr>
          <a:xfrm>
            <a:off x="676656" y="877824"/>
            <a:ext cx="96926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Mercury 2 的传播并不只是技术圈自嗨，而是直接连接到基础设施与应用落地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12F6DD6-C885-3E99-2B7B-884C0F6D5DDF}"/>
              </a:ext>
            </a:extLst>
          </p:cNvPr>
          <p:cNvGrpSpPr/>
          <p:nvPr/>
        </p:nvGrpSpPr>
        <p:grpSpPr>
          <a:xfrm>
            <a:off x="658368" y="1389888"/>
            <a:ext cx="3615249" cy="4773168"/>
            <a:chOff x="658368" y="1389888"/>
            <a:chExt cx="4900000" cy="4773168"/>
          </a:xfrm>
        </p:grpSpPr>
        <p:sp>
          <p:nvSpPr>
            <p:cNvPr id="6" name="Rounded Rectangle 5">
              <a:extLst>
                <a:ext uri="{FF2B5EF4-FFF2-40B4-BE49-F238E27FC236}">
                  <a16:creationId xmlns:a16="http://schemas.microsoft.com/office/drawing/2014/main" id="{F7CD3BB4-1118-CEEA-EAB4-14C7E6F3BA42}"/>
                </a:ext>
              </a:extLst>
            </p:cNvPr>
            <p:cNvSpPr/>
            <p:nvPr/>
          </p:nvSpPr>
          <p:spPr>
            <a:xfrm>
              <a:off x="658368" y="1389888"/>
              <a:ext cx="4900000" cy="4773168"/>
            </a:xfrm>
            <a:prstGeom prst="roundRect">
              <a:avLst/>
            </a:prstGeom>
            <a:solidFill>
              <a:srgbClr val="FAFAFA"/>
            </a:solidFill>
            <a:ln>
              <a:solidFill>
                <a:srgbClr val="E2E2E2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63808FA-4EFD-5519-92A8-0D8415269747}"/>
                </a:ext>
              </a:extLst>
            </p:cNvPr>
            <p:cNvSpPr txBox="1"/>
            <p:nvPr/>
          </p:nvSpPr>
          <p:spPr>
            <a:xfrm>
              <a:off x="822960" y="1783080"/>
              <a:ext cx="4735408" cy="230095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20" dirty="0"/>
                <a:t>• </a:t>
              </a:r>
              <a:r>
                <a:rPr sz="1220" dirty="0" err="1"/>
                <a:t>融资层面，量子位文章提到公司曾获</a:t>
              </a:r>
              <a:r>
                <a:rPr sz="1220" dirty="0"/>
                <a:t> 5000 </a:t>
              </a:r>
              <a:r>
                <a:rPr sz="1220" dirty="0" err="1"/>
                <a:t>万美元融资，投资方包括</a:t>
              </a:r>
              <a:r>
                <a:rPr sz="1220" dirty="0"/>
                <a:t> NVentures、M12、Menlo Ventures </a:t>
              </a:r>
              <a:r>
                <a:rPr sz="1220" dirty="0" err="1"/>
                <a:t>等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20" dirty="0"/>
                <a:t>• NVIDIA </a:t>
              </a:r>
              <a:r>
                <a:rPr sz="1220" dirty="0" err="1"/>
                <a:t>官方账号第一时间祝贺，强调其在</a:t>
              </a:r>
              <a:r>
                <a:rPr sz="1220" dirty="0"/>
                <a:t> Blackwell GPU </a:t>
              </a:r>
              <a:r>
                <a:rPr sz="1220" dirty="0" err="1"/>
                <a:t>上的扩散推理速度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20" dirty="0"/>
                <a:t>• </a:t>
              </a:r>
              <a:r>
                <a:rPr sz="1220" dirty="0" err="1"/>
                <a:t>开发者讨论集中在端到端语音、实时</a:t>
              </a:r>
              <a:r>
                <a:rPr sz="1220" dirty="0"/>
                <a:t> </a:t>
              </a:r>
              <a:r>
                <a:rPr sz="1220" dirty="0" err="1"/>
                <a:t>HCI、广告优化和自动化执行等对延迟极敏感的场景</a:t>
              </a:r>
              <a:r>
                <a:rPr sz="1220" dirty="0"/>
                <a:t>。</a:t>
              </a:r>
              <a:endParaRPr lang="en-US" sz="1220" dirty="0"/>
            </a:p>
            <a:p>
              <a:pPr>
                <a:lnSpc>
                  <a:spcPct val="116000"/>
                </a:lnSpc>
                <a:spcAft>
                  <a:spcPts val="700"/>
                </a:spcAft>
              </a:pPr>
              <a:r>
                <a:rPr sz="1220" dirty="0"/>
                <a:t>• </a:t>
              </a:r>
              <a:r>
                <a:rPr sz="1220" dirty="0" err="1"/>
                <a:t>这说明</a:t>
              </a:r>
              <a:r>
                <a:rPr sz="1220" dirty="0"/>
                <a:t> Mercury 2 </a:t>
              </a:r>
              <a:r>
                <a:rPr sz="1220" dirty="0" err="1"/>
                <a:t>的价值更可能先在“实时系统”而非“离线</a:t>
              </a:r>
              <a:r>
                <a:rPr sz="1220" dirty="0"/>
                <a:t> </a:t>
              </a:r>
              <a:r>
                <a:rPr sz="1220" dirty="0" err="1"/>
                <a:t>benchmark”里兑现</a:t>
              </a:r>
              <a:r>
                <a:rPr sz="1220" dirty="0"/>
                <a:t>。</a:t>
              </a:r>
            </a:p>
          </p:txBody>
        </p:sp>
      </p:grpSp>
      <p:pic>
        <p:nvPicPr>
          <p:cNvPr id="12" name="图片 11">
            <a:extLst>
              <a:ext uri="{FF2B5EF4-FFF2-40B4-BE49-F238E27FC236}">
                <a16:creationId xmlns:a16="http://schemas.microsoft.com/office/drawing/2014/main" id="{BB3B91B3-4BF8-450C-5DDE-83E9962511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  <p:pic>
        <p:nvPicPr>
          <p:cNvPr id="13" name="Picture 12" descr="market_rea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374" y="1175770"/>
            <a:ext cx="5104359" cy="4987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1250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F63B7-1052-F65C-A307-1A81BDBEA8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675B49-8415-BB65-E4BB-2E1C0D5D3798}"/>
              </a:ext>
            </a:extLst>
          </p:cNvPr>
          <p:cNvSpPr/>
          <p:nvPr/>
        </p:nvSpPr>
        <p:spPr>
          <a:xfrm>
            <a:off x="411480" y="320040"/>
            <a:ext cx="73152" cy="73152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543FE1-647D-47C4-B6A8-97E268ABF333}"/>
              </a:ext>
            </a:extLst>
          </p:cNvPr>
          <p:cNvSpPr txBox="1"/>
          <p:nvPr/>
        </p:nvSpPr>
        <p:spPr>
          <a:xfrm>
            <a:off x="658368" y="228600"/>
            <a:ext cx="77266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/>
              <a:t>投资与产品观察：Mercury 2 值得关注什么</a:t>
            </a:r>
            <a:endParaRPr b="1" dirty="0">
              <a:solidFill>
                <a:schemeClr val="accent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E7049C-9533-A197-FDE2-981332B2E52D}"/>
              </a:ext>
            </a:extLst>
          </p:cNvPr>
          <p:cNvSpPr txBox="1"/>
          <p:nvPr/>
        </p:nvSpPr>
        <p:spPr>
          <a:xfrm>
            <a:off x="676656" y="877824"/>
            <a:ext cx="9692640" cy="275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/>
              <a:t>它未必立刻替代所有模型，但很可能改写“实时 AI”这条产品线</a:t>
            </a:r>
            <a:endParaRPr dirty="0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4FD154-40D5-44B1-D1FC-DE8D1E1A1DCB}"/>
              </a:ext>
            </a:extLst>
          </p:cNvPr>
          <p:cNvSpPr/>
          <p:nvPr/>
        </p:nvSpPr>
        <p:spPr>
          <a:xfrm>
            <a:off x="658368" y="1389888"/>
            <a:ext cx="10058400" cy="3063240"/>
          </a:xfrm>
          <a:prstGeom prst="roundRect">
            <a:avLst/>
          </a:prstGeom>
          <a:solidFill>
            <a:srgbClr val="FAFAFA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3D3965-F8C6-CE16-1A16-40BC9BD212C1}"/>
              </a:ext>
            </a:extLst>
          </p:cNvPr>
          <p:cNvSpPr txBox="1"/>
          <p:nvPr/>
        </p:nvSpPr>
        <p:spPr>
          <a:xfrm>
            <a:off x="822960" y="1783080"/>
            <a:ext cx="9738360" cy="1547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范式变量最关键：若扩散式语言模型持续成立，自回归速度护城河会被改写</a:t>
            </a:r>
            <a:r>
              <a:rPr sz="1700" dirty="0"/>
              <a:t>。</a:t>
            </a:r>
            <a:endParaRPr lang="en-US" sz="16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最先受益的不是所有任务，而是强交互、强并发、长链路的实时</a:t>
            </a:r>
            <a:r>
              <a:rPr sz="1700" dirty="0"/>
              <a:t> AI </a:t>
            </a:r>
            <a:r>
              <a:rPr sz="1700" dirty="0" err="1"/>
              <a:t>产品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短期风险在于生态成熟度、复杂工具调用稳定性与公开评测覆盖度仍待补强</a:t>
            </a:r>
            <a:r>
              <a:rPr sz="1700" dirty="0"/>
              <a:t>。</a:t>
            </a:r>
            <a:endParaRPr lang="en-US" sz="1700" dirty="0"/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700"/>
              </a:spcAft>
            </a:pPr>
            <a:r>
              <a:rPr sz="1700" dirty="0"/>
              <a:t>• </a:t>
            </a:r>
            <a:r>
              <a:rPr sz="1700" dirty="0" err="1"/>
              <a:t>若后续开放更多客户案例、成本曲线和大规模服务数据，Mercury</a:t>
            </a:r>
            <a:r>
              <a:rPr sz="1700" dirty="0"/>
              <a:t> </a:t>
            </a:r>
            <a:r>
              <a:rPr sz="1700" dirty="0" err="1"/>
              <a:t>系列有机会形成差异化赛道</a:t>
            </a:r>
            <a:r>
              <a:rPr sz="1700" dirty="0"/>
              <a:t>。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9C379D1-8735-670C-7110-370A8473F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6768" y="193040"/>
            <a:ext cx="1398224" cy="435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79659"/>
      </p:ext>
    </p:extLst>
  </p:cSld>
  <p:clrMapOvr>
    <a:masterClrMapping/>
  </p:clrMapOvr>
</p:sld>
</file>

<file path=ppt/theme/theme1.xml><?xml version="1.0" encoding="utf-8"?>
<a:theme xmlns:a="http://schemas.openxmlformats.org/drawingml/2006/main" name="2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e05413m2">
      <a:majorFont>
        <a:latin typeface="Arial"/>
        <a:ea typeface="楷体"/>
        <a:cs typeface=""/>
      </a:majorFont>
      <a:minorFont>
        <a:latin typeface="Arial"/>
        <a:ea typeface="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自定义设计方案">
  <a:themeElements>
    <a:clrScheme name="自定义 3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C00000"/>
      </a:accent1>
      <a:accent2>
        <a:srgbClr val="D8D8D8"/>
      </a:accent2>
      <a:accent3>
        <a:srgbClr val="BFBFBF"/>
      </a:accent3>
      <a:accent4>
        <a:srgbClr val="A5A5A5"/>
      </a:accent4>
      <a:accent5>
        <a:srgbClr val="7F7F7F"/>
      </a:accent5>
      <a:accent6>
        <a:srgbClr val="595959"/>
      </a:accent6>
      <a:hlink>
        <a:srgbClr val="C60C0C"/>
      </a:hlink>
      <a:folHlink>
        <a:srgbClr val="BFBFBF"/>
      </a:folHlink>
    </a:clrScheme>
    <a:fontScheme name="自定义 1">
      <a:majorFont>
        <a:latin typeface="Calibri"/>
        <a:ea typeface="华文楷体"/>
        <a:cs typeface=""/>
      </a:majorFont>
      <a:minorFont>
        <a:latin typeface="Calibri"/>
        <a:ea typeface="华文楷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1507</TotalTime>
  <Words>647</Words>
  <Application>Microsoft Macintosh PowerPoint</Application>
  <PresentationFormat>Widescreen</PresentationFormat>
  <Paragraphs>76</Paragraphs>
  <Slides>18</Slides>
  <Notes>5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等线</vt:lpstr>
      <vt:lpstr>华文楷体</vt:lpstr>
      <vt:lpstr>Arial</vt:lpstr>
      <vt:lpstr>Calibri</vt:lpstr>
      <vt:lpstr>2_自定义设计方案</vt:lpstr>
      <vt:lpstr>3_自定义设计方案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Li Yuting</dc:creator>
  <cp:lastModifiedBy>Bingran You</cp:lastModifiedBy>
  <cp:revision>67</cp:revision>
  <dcterms:created xsi:type="dcterms:W3CDTF">2023-06-07T13:12:54Z</dcterms:created>
  <dcterms:modified xsi:type="dcterms:W3CDTF">2026-03-27T06:07:26Z</dcterms:modified>
</cp:coreProperties>
</file>