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</p:sldMasterIdLst>
  <p:notesMasterIdLst>
    <p:notesMasterId r:id="rId16"/>
  </p:notesMasterIdLst>
  <p:sldIdLst>
    <p:sldId id="13773" r:id="rId3"/>
    <p:sldId id="13770" r:id="rId4"/>
    <p:sldId id="13802" r:id="rId5"/>
    <p:sldId id="13771" r:id="rId6"/>
    <p:sldId id="13774" r:id="rId7"/>
    <p:sldId id="13805" r:id="rId8"/>
    <p:sldId id="13806" r:id="rId9"/>
    <p:sldId id="13808" r:id="rId10"/>
    <p:sldId id="13809" r:id="rId11"/>
    <p:sldId id="13810" r:id="rId12"/>
    <p:sldId id="13811" r:id="rId13"/>
    <p:sldId id="13783" r:id="rId14"/>
    <p:sldId id="13784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527" autoAdjust="0"/>
    <p:restoredTop sz="79719"/>
  </p:normalViewPr>
  <p:slideViewPr>
    <p:cSldViewPr snapToGrid="0">
      <p:cViewPr varScale="1">
        <p:scale>
          <a:sx n="108" d="100"/>
          <a:sy n="108" d="100"/>
        </p:scale>
        <p:origin x="4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B10B1-3F6B-44C2-A3BA-6192D167FFA6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7573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786584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543798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848129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127720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5039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0475" y="123292"/>
            <a:ext cx="10164682" cy="672807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Calibri" panose="020F0502020204030204" pitchFamily="34" charset="0"/>
                <a:ea typeface="华文楷体" panose="02010600040101010101" pitchFamily="2" charset="-122"/>
                <a:cs typeface="Calibri" panose="020F050202020403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820476" y="796099"/>
            <a:ext cx="1062673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9767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2" hasCustomPrompt="1"/>
          </p:nvPr>
        </p:nvSpPr>
        <p:spPr>
          <a:xfrm>
            <a:off x="760413" y="0"/>
            <a:ext cx="9702248" cy="79851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112222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8370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1194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0475" y="123292"/>
            <a:ext cx="10164682" cy="672807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Calibri" panose="020F0502020204030204" pitchFamily="34" charset="0"/>
                <a:ea typeface="华文楷体" panose="02010600040101010101" pitchFamily="2" charset="-122"/>
                <a:cs typeface="Calibri" panose="020F050202020403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820476" y="796099"/>
            <a:ext cx="1062673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9462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7501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7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820476" y="796099"/>
            <a:ext cx="1062673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http://www.meridiancapital.com.cn/images/logo.png"/>
          <p:cNvPicPr>
            <a:picLocks noChangeAspect="1" noChangeArrowheads="1"/>
          </p:cNvPicPr>
          <p:nvPr userDrawn="1"/>
        </p:nvPicPr>
        <p:blipFill>
          <a:blip r:embed="rId6" cstate="email"/>
          <a:srcRect/>
          <a:stretch>
            <a:fillRect/>
          </a:stretch>
        </p:blipFill>
        <p:spPr bwMode="auto">
          <a:xfrm>
            <a:off x="10702413" y="189026"/>
            <a:ext cx="1489587" cy="516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1517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tif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637656" y="575136"/>
            <a:ext cx="4331884" cy="5751235"/>
          </a:xfrm>
          <a:prstGeom prst="rect">
            <a:avLst/>
          </a:prstGeom>
          <a:noFill/>
          <a:ln w="1270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楷体" panose="02010609060101010101" pitchFamily="49" charset="-122"/>
              <a:cs typeface="+mn-ea"/>
              <a:sym typeface="+mn-lt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722"/>
          <a:stretch>
            <a:fillRect/>
          </a:stretch>
        </p:blipFill>
        <p:spPr>
          <a:xfrm>
            <a:off x="591811" y="1778432"/>
            <a:ext cx="11008378" cy="3608729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591811" y="1778432"/>
            <a:ext cx="11008378" cy="3608729"/>
          </a:xfrm>
          <a:prstGeom prst="rect">
            <a:avLst/>
          </a:prstGeom>
          <a:solidFill>
            <a:schemeClr val="bg1">
              <a:lumMod val="75000"/>
              <a:alpha val="48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楷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 flipH="1">
            <a:off x="1573951" y="575136"/>
            <a:ext cx="45719" cy="5751235"/>
          </a:xfrm>
          <a:prstGeom prst="rect">
            <a:avLst/>
          </a:prstGeom>
          <a:noFill/>
          <a:ln w="1270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楷体" panose="02010609060101010101" pitchFamily="49" charset="-122"/>
              <a:cs typeface="+mn-ea"/>
              <a:sym typeface="+mn-lt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10846907" y="5160182"/>
            <a:ext cx="453958" cy="453958"/>
            <a:chOff x="5869021" y="5872413"/>
            <a:chExt cx="453958" cy="453958"/>
          </a:xfrm>
        </p:grpSpPr>
        <p:sp>
          <p:nvSpPr>
            <p:cNvPr id="17" name="矩形 16"/>
            <p:cNvSpPr/>
            <p:nvPr/>
          </p:nvSpPr>
          <p:spPr>
            <a:xfrm>
              <a:off x="5869021" y="5872413"/>
              <a:ext cx="453958" cy="453958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ea"/>
                <a:sym typeface="+mn-lt"/>
              </a:endParaRPr>
            </a:p>
          </p:txBody>
        </p:sp>
        <p:sp>
          <p:nvSpPr>
            <p:cNvPr id="18" name="箭头: V 形 17"/>
            <p:cNvSpPr/>
            <p:nvPr/>
          </p:nvSpPr>
          <p:spPr>
            <a:xfrm rot="5400000">
              <a:off x="5997358" y="5972932"/>
              <a:ext cx="197284" cy="252920"/>
            </a:xfrm>
            <a:prstGeom prst="chevron">
              <a:avLst>
                <a:gd name="adj" fmla="val 7253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ea"/>
                <a:sym typeface="+mn-lt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098256" y="4664202"/>
            <a:ext cx="1995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t>2026年3月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1062" y="864162"/>
            <a:ext cx="2207110" cy="687291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618672" y="2967335"/>
            <a:ext cx="29546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t>LFM2 技术报告图解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solidFill>
                  <a:schemeClr val="accent1"/>
                </a:solidFill>
              </a:rPr>
              <a:t>目录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8368" y="1389888"/>
            <a:ext cx="10058400" cy="4773168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97383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• 概括：LFM2 </a:t>
            </a:r>
            <a:r>
              <a:rPr dirty="0" err="1"/>
              <a:t>是什么，为何强调边缘设备部署</a:t>
            </a:r>
            <a:r>
              <a:rPr dirty="0"/>
              <a:t>。</a:t>
            </a:r>
            <a:endParaRPr lang="en-US" dirty="0"/>
          </a:p>
          <a:p>
            <a:r>
              <a:rPr dirty="0"/>
              <a:t>• 图1-图2：模型家族全景与混合架构设计。</a:t>
            </a:r>
          </a:p>
          <a:p>
            <a:r>
              <a:rPr dirty="0"/>
              <a:t>• 图3-图6：后训练流程与视觉效率-精度权衡。</a:t>
            </a:r>
          </a:p>
          <a:p>
            <a:r>
              <a:rPr dirty="0"/>
              <a:t>• 图7-图9：音频与检索扩展，以及吞吐表现。</a:t>
            </a:r>
          </a:p>
          <a:p>
            <a:r>
              <a:rPr dirty="0"/>
              <a:t>• </a:t>
            </a:r>
            <a:r>
              <a:rPr dirty="0" err="1"/>
              <a:t>总结：从论文证据到落地选型建议</a:t>
            </a:r>
            <a:r>
              <a:rPr dirty="0"/>
              <a:t>。</a:t>
            </a:r>
          </a:p>
        </p:txBody>
      </p:sp>
      <p:pic>
        <p:nvPicPr>
          <p:cNvPr id="9" name="图片 11">
            <a:extLst>
              <a:ext uri="{FF2B5EF4-FFF2-40B4-BE49-F238E27FC236}">
                <a16:creationId xmlns:a16="http://schemas.microsoft.com/office/drawing/2014/main" id="{250D6EF6-E290-DB59-6252-7A2C142C9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32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97022-F9BD-C816-5EFB-A70465042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82E560-F4FC-ABF7-685F-122968B602D8}"/>
              </a:ext>
            </a:extLst>
          </p:cNvPr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B063CA-15F7-F773-048F-94E5629D57FF}"/>
              </a:ext>
            </a:extLst>
          </p:cNvPr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chemeClr val="accent1"/>
                </a:solidFill>
              </a:rPr>
              <a:t>核心问题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6E33D4-2714-5197-7F12-7A6769D22D87}"/>
              </a:ext>
            </a:extLst>
          </p:cNvPr>
          <p:cNvSpPr txBox="1"/>
          <p:nvPr/>
        </p:nvSpPr>
        <p:spPr>
          <a:xfrm>
            <a:off x="676656" y="877824"/>
            <a:ext cx="9692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目标是在端侧预算约束下，同时优化质量、速度与内存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90F5864-CBF1-FD25-4B65-DC8E6B854596}"/>
              </a:ext>
            </a:extLst>
          </p:cNvPr>
          <p:cNvSpPr/>
          <p:nvPr/>
        </p:nvSpPr>
        <p:spPr>
          <a:xfrm>
            <a:off x="658368" y="1389887"/>
            <a:ext cx="10543162" cy="5239513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1B8104-1CEE-7BD6-5AE9-0E6A111D0BC2}"/>
              </a:ext>
            </a:extLst>
          </p:cNvPr>
          <p:cNvSpPr txBox="1"/>
          <p:nvPr/>
        </p:nvSpPr>
        <p:spPr>
          <a:xfrm>
            <a:off x="822959" y="1783080"/>
            <a:ext cx="10193383" cy="1616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dirty="0"/>
              <a:t>• 研究对象：LFM2 </a:t>
            </a:r>
            <a:r>
              <a:rPr dirty="0" err="1"/>
              <a:t>系列（LLM、VLM、Audio、ColBERT</a:t>
            </a:r>
            <a:r>
              <a:rPr dirty="0"/>
              <a:t> </a:t>
            </a:r>
            <a:r>
              <a:rPr dirty="0" err="1"/>
              <a:t>检索）统一技术底座</a:t>
            </a:r>
            <a:r>
              <a:rPr dirty="0"/>
              <a:t>。</a:t>
            </a:r>
            <a:endParaRPr lang="en-US" sz="1500" dirty="0">
              <a:solidFill>
                <a:srgbClr val="2D2D2D"/>
              </a:solidFill>
            </a:endParaR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dirty="0"/>
              <a:t>• </a:t>
            </a:r>
            <a:r>
              <a:rPr dirty="0" err="1"/>
              <a:t>核心方法：硬件在环架构搜索</a:t>
            </a:r>
            <a:r>
              <a:rPr dirty="0"/>
              <a:t> + </a:t>
            </a:r>
            <a:r>
              <a:rPr dirty="0" err="1"/>
              <a:t>分阶段训练配方</a:t>
            </a:r>
            <a:r>
              <a:rPr dirty="0"/>
              <a:t> + </a:t>
            </a:r>
            <a:r>
              <a:rPr dirty="0" err="1"/>
              <a:t>面向部署的评测</a:t>
            </a:r>
            <a:r>
              <a:rPr dirty="0"/>
              <a:t>。</a:t>
            </a:r>
            <a:endParaRPr lang="en-US" dirty="0"/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dirty="0"/>
              <a:t>• </a:t>
            </a:r>
            <a:r>
              <a:rPr dirty="0" err="1"/>
              <a:t>关键承诺：不仅追求榜单分数，更强调可部署性与可复用性</a:t>
            </a:r>
            <a:r>
              <a:rPr dirty="0"/>
              <a:t>。</a:t>
            </a:r>
            <a:endParaRPr lang="en-US" dirty="0"/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dirty="0"/>
              <a:t>• </a:t>
            </a:r>
            <a:r>
              <a:rPr dirty="0" err="1"/>
              <a:t>阅读重点：论文用</a:t>
            </a:r>
            <a:r>
              <a:rPr dirty="0"/>
              <a:t> 9 </a:t>
            </a:r>
            <a:r>
              <a:rPr dirty="0" err="1"/>
              <a:t>张主图把“设计</a:t>
            </a:r>
            <a:r>
              <a:rPr dirty="0"/>
              <a:t>—</a:t>
            </a:r>
            <a:r>
              <a:rPr dirty="0" err="1"/>
              <a:t>训练</a:t>
            </a:r>
            <a:r>
              <a:rPr dirty="0"/>
              <a:t>—</a:t>
            </a:r>
            <a:r>
              <a:rPr dirty="0" err="1"/>
              <a:t>性能</a:t>
            </a:r>
            <a:r>
              <a:rPr dirty="0"/>
              <a:t>—</a:t>
            </a:r>
            <a:r>
              <a:rPr dirty="0" err="1"/>
              <a:t>扩展”串成闭环</a:t>
            </a:r>
            <a:r>
              <a:rPr dirty="0"/>
              <a:t>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DA0879EF-A5B0-27B7-D5DC-7D65500137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44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chemeClr val="accent1"/>
                </a:solidFill>
              </a:rPr>
              <a:t>图1解读：LFM2 Portfolio </a:t>
            </a:r>
            <a:r>
              <a:rPr b="1" dirty="0" err="1">
                <a:solidFill>
                  <a:schemeClr val="accent1"/>
                </a:solidFill>
              </a:rPr>
              <a:t>全景图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6656" y="877824"/>
            <a:ext cx="9692640" cy="279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 err="1"/>
              <a:t>从“基础模型”到“多模态与检索”形成产品化阶梯</a:t>
            </a:r>
            <a:endParaRPr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D9C2101-A6BF-F306-52D1-079E6187C064}"/>
              </a:ext>
            </a:extLst>
          </p:cNvPr>
          <p:cNvGrpSpPr/>
          <p:nvPr/>
        </p:nvGrpSpPr>
        <p:grpSpPr>
          <a:xfrm>
            <a:off x="1165146" y="5074071"/>
            <a:ext cx="10333608" cy="1694863"/>
            <a:chOff x="604672" y="1280753"/>
            <a:chExt cx="4900000" cy="5201390"/>
          </a:xfrm>
        </p:grpSpPr>
        <p:sp>
          <p:nvSpPr>
            <p:cNvPr id="6" name="Rounded Rectangle 5"/>
            <p:cNvSpPr/>
            <p:nvPr/>
          </p:nvSpPr>
          <p:spPr>
            <a:xfrm>
              <a:off x="604672" y="1280753"/>
              <a:ext cx="4900000" cy="5201390"/>
            </a:xfrm>
            <a:prstGeom prst="roundRect">
              <a:avLst/>
            </a:prstGeom>
            <a:solidFill>
              <a:srgbClr val="FAFAFA"/>
            </a:solidFill>
            <a:ln>
              <a:solidFill>
                <a:srgbClr val="E2E2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04672" y="1815266"/>
              <a:ext cx="4500000" cy="41323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700"/>
                </a:spcAft>
              </a:pPr>
              <a:r>
                <a:rPr sz="1600" dirty="0"/>
                <a:t>• </a:t>
              </a:r>
              <a:r>
                <a:rPr sz="1600" dirty="0" err="1"/>
                <a:t>按参数规模覆盖</a:t>
              </a:r>
              <a:r>
                <a:rPr sz="1600" dirty="0"/>
                <a:t> 350M </a:t>
              </a:r>
              <a:r>
                <a:rPr sz="1600" dirty="0" err="1"/>
                <a:t>到</a:t>
              </a:r>
              <a:r>
                <a:rPr sz="1600" dirty="0"/>
                <a:t> 8.3B（1.5B active），</a:t>
              </a:r>
              <a:r>
                <a:rPr sz="1600" dirty="0" err="1"/>
                <a:t>形成清晰选型区间</a:t>
              </a:r>
              <a:r>
                <a:rPr sz="1600" dirty="0"/>
                <a:t>。</a:t>
              </a:r>
              <a:endParaRPr lang="en-US" sz="1200" dirty="0"/>
            </a:p>
            <a:p>
              <a:pPr algn="l">
                <a:spcBef>
                  <a:spcPts val="0"/>
                </a:spcBef>
                <a:spcAft>
                  <a:spcPts val="700"/>
                </a:spcAft>
              </a:pPr>
              <a:r>
                <a:rPr sz="1600" dirty="0"/>
                <a:t>• </a:t>
              </a:r>
              <a:r>
                <a:rPr sz="1600" dirty="0" err="1"/>
                <a:t>右侧结构展示从</a:t>
              </a:r>
              <a:r>
                <a:rPr sz="1600" dirty="0"/>
                <a:t> backbone </a:t>
              </a:r>
              <a:r>
                <a:rPr sz="1600" dirty="0" err="1"/>
                <a:t>到多模态</a:t>
              </a:r>
              <a:r>
                <a:rPr sz="1600" dirty="0"/>
                <a:t>/</a:t>
              </a:r>
              <a:r>
                <a:rPr sz="1600" dirty="0" err="1"/>
                <a:t>检索再到</a:t>
              </a:r>
              <a:r>
                <a:rPr sz="1600" dirty="0"/>
                <a:t> Nanos </a:t>
              </a:r>
              <a:r>
                <a:rPr sz="1600" dirty="0" err="1"/>
                <a:t>的扩展路径</a:t>
              </a:r>
              <a:r>
                <a:rPr sz="1600" dirty="0"/>
                <a:t>。</a:t>
              </a:r>
              <a:endParaRPr lang="en-US" sz="1600" dirty="0"/>
            </a:p>
            <a:p>
              <a:pPr algn="l">
                <a:spcBef>
                  <a:spcPts val="0"/>
                </a:spcBef>
                <a:spcAft>
                  <a:spcPts val="700"/>
                </a:spcAft>
              </a:pPr>
              <a:r>
                <a:rPr sz="1600" dirty="0"/>
                <a:t>• 关键信号是“</a:t>
              </a:r>
              <a:r>
                <a:rPr sz="1600" dirty="0" err="1"/>
                <a:t>统一底座多分支</a:t>
              </a:r>
              <a:r>
                <a:rPr sz="1600" dirty="0"/>
                <a:t>”，</a:t>
              </a:r>
              <a:r>
                <a:rPr sz="1600" dirty="0" err="1"/>
                <a:t>而非每个任务单独训练一套模型</a:t>
              </a:r>
              <a:r>
                <a:rPr sz="1600" dirty="0"/>
                <a:t>。</a:t>
              </a:r>
              <a:endParaRPr lang="en-US" sz="1600" dirty="0"/>
            </a:p>
            <a:p>
              <a:pPr algn="l">
                <a:spcBef>
                  <a:spcPts val="0"/>
                </a:spcBef>
                <a:spcAft>
                  <a:spcPts val="700"/>
                </a:spcAft>
              </a:pPr>
              <a:r>
                <a:rPr sz="1600" dirty="0"/>
                <a:t>• </a:t>
              </a:r>
              <a:r>
                <a:rPr sz="1600" dirty="0" err="1"/>
                <a:t>对边缘侧价值在于：可按设备预算和场景快速匹配合适模型</a:t>
              </a:r>
              <a:r>
                <a:rPr sz="1600" dirty="0"/>
                <a:t>。</a:t>
              </a: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BFDDFE6E-EA1A-D7D6-B770-0D9C20C6E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pic>
        <p:nvPicPr>
          <p:cNvPr id="13" name="Picture 12" descr="_page_1_Figure_0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9243" y="1853830"/>
            <a:ext cx="8910053" cy="2628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702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chemeClr val="accent1"/>
                </a:solidFill>
              </a:rPr>
              <a:t>图2解读：LFM2 </a:t>
            </a:r>
            <a:r>
              <a:rPr b="1" dirty="0" err="1">
                <a:solidFill>
                  <a:schemeClr val="accent1"/>
                </a:solidFill>
              </a:rPr>
              <a:t>混合架构设计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6656" y="877824"/>
            <a:ext cx="9692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/>
              <a:t>短卷积主干</a:t>
            </a:r>
            <a:r>
              <a:rPr b="1" dirty="0"/>
              <a:t> + </a:t>
            </a:r>
            <a:r>
              <a:rPr b="1" dirty="0" err="1"/>
              <a:t>少量</a:t>
            </a:r>
            <a:r>
              <a:rPr b="1" dirty="0"/>
              <a:t> GQA + </a:t>
            </a:r>
            <a:r>
              <a:rPr b="1" dirty="0" err="1"/>
              <a:t>可选</a:t>
            </a:r>
            <a:r>
              <a:rPr b="1" dirty="0"/>
              <a:t> </a:t>
            </a:r>
            <a:r>
              <a:rPr b="1" dirty="0" err="1"/>
              <a:t>MoE，兼顾速度与质量</a:t>
            </a:r>
            <a:endParaRPr b="1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C5915E9-91C5-9C15-39BE-414ED70C7357}"/>
              </a:ext>
            </a:extLst>
          </p:cNvPr>
          <p:cNvGrpSpPr/>
          <p:nvPr/>
        </p:nvGrpSpPr>
        <p:grpSpPr>
          <a:xfrm>
            <a:off x="658368" y="1389888"/>
            <a:ext cx="3615249" cy="4773168"/>
            <a:chOff x="658368" y="1389888"/>
            <a:chExt cx="4900000" cy="4773168"/>
          </a:xfrm>
        </p:grpSpPr>
        <p:sp>
          <p:nvSpPr>
            <p:cNvPr id="6" name="Rounded Rectangle 5"/>
            <p:cNvSpPr/>
            <p:nvPr/>
          </p:nvSpPr>
          <p:spPr>
            <a:xfrm>
              <a:off x="658368" y="1389888"/>
              <a:ext cx="4900000" cy="4773168"/>
            </a:xfrm>
            <a:prstGeom prst="roundRect">
              <a:avLst/>
            </a:prstGeom>
            <a:solidFill>
              <a:srgbClr val="FAFAFA"/>
            </a:solidFill>
            <a:ln>
              <a:solidFill>
                <a:srgbClr val="E2E2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22960" y="1783080"/>
              <a:ext cx="4500000" cy="3337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16000"/>
                </a:lnSpc>
                <a:spcBef>
                  <a:spcPts val="0"/>
                </a:spcBef>
                <a:spcAft>
                  <a:spcPts val="700"/>
                </a:spcAft>
              </a:pPr>
              <a:r>
                <a:rPr dirty="0"/>
                <a:t>• </a:t>
              </a:r>
              <a:r>
                <a:rPr dirty="0" err="1"/>
                <a:t>主体层采用</a:t>
              </a:r>
              <a:r>
                <a:rPr dirty="0"/>
                <a:t> gated short </a:t>
              </a:r>
              <a:r>
                <a:rPr dirty="0" err="1"/>
                <a:t>convolution，显著降低</a:t>
              </a:r>
              <a:r>
                <a:rPr dirty="0"/>
                <a:t> CPU </a:t>
              </a:r>
              <a:r>
                <a:rPr dirty="0" err="1"/>
                <a:t>延迟与内存开销</a:t>
              </a:r>
              <a:r>
                <a:rPr dirty="0"/>
                <a:t>。</a:t>
              </a:r>
              <a:endParaRPr lang="en-US" sz="1400" dirty="0"/>
            </a:p>
            <a:p>
              <a:r>
                <a:rPr dirty="0"/>
                <a:t>• </a:t>
              </a:r>
              <a:r>
                <a:rPr dirty="0" err="1"/>
                <a:t>少量</a:t>
              </a:r>
              <a:r>
                <a:rPr dirty="0"/>
                <a:t> GQA </a:t>
              </a:r>
              <a:r>
                <a:rPr dirty="0" err="1"/>
                <a:t>层负责长程依赖，避免纯局部算子带来的信息损失</a:t>
              </a:r>
              <a:r>
                <a:rPr dirty="0"/>
                <a:t>。</a:t>
              </a:r>
            </a:p>
            <a:p>
              <a:r>
                <a:rPr dirty="0"/>
                <a:t>• </a:t>
              </a:r>
              <a:r>
                <a:rPr dirty="0" err="1"/>
                <a:t>MoE</a:t>
              </a:r>
              <a:r>
                <a:rPr dirty="0"/>
                <a:t> </a:t>
              </a:r>
              <a:r>
                <a:rPr dirty="0" err="1"/>
                <a:t>版本总参</a:t>
              </a:r>
              <a:r>
                <a:rPr dirty="0"/>
                <a:t> 8.3B、激活约 1.5B，实现“高质量 + </a:t>
              </a:r>
              <a:r>
                <a:rPr dirty="0" err="1"/>
                <a:t>低激活成本</a:t>
              </a:r>
              <a:r>
                <a:rPr dirty="0"/>
                <a:t>”。</a:t>
              </a:r>
            </a:p>
            <a:p>
              <a:r>
                <a:rPr dirty="0"/>
                <a:t>• </a:t>
              </a:r>
              <a:r>
                <a:rPr dirty="0" err="1"/>
                <a:t>密集版与</a:t>
              </a:r>
              <a:r>
                <a:rPr dirty="0"/>
                <a:t> </a:t>
              </a:r>
              <a:r>
                <a:rPr dirty="0" err="1"/>
                <a:t>MoE</a:t>
              </a:r>
              <a:r>
                <a:rPr dirty="0"/>
                <a:t> </a:t>
              </a:r>
              <a:r>
                <a:rPr dirty="0" err="1"/>
                <a:t>共享骨架，体现了同架构下的分层性能策略</a:t>
              </a:r>
              <a:r>
                <a:rPr dirty="0"/>
                <a:t>。</a:t>
              </a: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E8F9F1FC-F284-020F-1F78-D30A3159FD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pic>
        <p:nvPicPr>
          <p:cNvPr id="13" name="Picture 12" descr="_page_2_Figure_3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8523" y="1401106"/>
            <a:ext cx="6377494" cy="52638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FA997-489F-9B2F-79F7-C80B273B3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A03209-782E-0052-5968-B67AA2938015}"/>
              </a:ext>
            </a:extLst>
          </p:cNvPr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03A4D4-1CA4-38DB-57A4-BA0BF2D4EF73}"/>
              </a:ext>
            </a:extLst>
          </p:cNvPr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chemeClr val="accent1"/>
                </a:solidFill>
              </a:rPr>
              <a:t>图3解读：三阶段后训练流水线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1B1BCF-7E89-4C4C-CBB7-E6CB262DBD0C}"/>
              </a:ext>
            </a:extLst>
          </p:cNvPr>
          <p:cNvSpPr txBox="1"/>
          <p:nvPr/>
        </p:nvSpPr>
        <p:spPr>
          <a:xfrm>
            <a:off x="676656" y="877824"/>
            <a:ext cx="9692640" cy="279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SFT → 偏好对齐 → 模型合并，目标是能力与稳健性兼得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0E39660-D457-A2C0-B2F2-7235B1708694}"/>
              </a:ext>
            </a:extLst>
          </p:cNvPr>
          <p:cNvGrpSpPr/>
          <p:nvPr/>
        </p:nvGrpSpPr>
        <p:grpSpPr>
          <a:xfrm>
            <a:off x="1165146" y="5074072"/>
            <a:ext cx="10333608" cy="1610850"/>
            <a:chOff x="604672" y="1280756"/>
            <a:chExt cx="4900000" cy="4943561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C2CFCB56-1B98-30B0-7981-5207569C971B}"/>
                </a:ext>
              </a:extLst>
            </p:cNvPr>
            <p:cNvSpPr/>
            <p:nvPr/>
          </p:nvSpPr>
          <p:spPr>
            <a:xfrm>
              <a:off x="604672" y="1280756"/>
              <a:ext cx="4900000" cy="4943561"/>
            </a:xfrm>
            <a:prstGeom prst="roundRect">
              <a:avLst/>
            </a:prstGeom>
            <a:solidFill>
              <a:srgbClr val="FAFAFA"/>
            </a:solidFill>
            <a:ln>
              <a:solidFill>
                <a:srgbClr val="E2E2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F4EF040-EA97-AD13-F24C-A2864079B93F}"/>
                </a:ext>
              </a:extLst>
            </p:cNvPr>
            <p:cNvSpPr txBox="1"/>
            <p:nvPr/>
          </p:nvSpPr>
          <p:spPr>
            <a:xfrm>
              <a:off x="804672" y="1714139"/>
              <a:ext cx="4500000" cy="41323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700"/>
                </a:spcAft>
              </a:pPr>
              <a:r>
                <a:rPr sz="1600" dirty="0"/>
                <a:t>• Stage 1 </a:t>
              </a:r>
              <a:r>
                <a:rPr sz="1600" dirty="0" err="1"/>
                <a:t>用大规模</a:t>
              </a:r>
              <a:r>
                <a:rPr sz="1600" dirty="0"/>
                <a:t> SFT </a:t>
              </a:r>
              <a:r>
                <a:rPr sz="1600" dirty="0" err="1"/>
                <a:t>建立通用对话、指令跟随与任务基础能力</a:t>
              </a:r>
              <a:r>
                <a:rPr sz="1600" dirty="0"/>
                <a:t>。</a:t>
              </a:r>
              <a:endParaRPr lang="en-US" sz="1600" dirty="0"/>
            </a:p>
            <a:p>
              <a:pPr>
                <a:spcAft>
                  <a:spcPts val="700"/>
                </a:spcAft>
              </a:pPr>
              <a:r>
                <a:rPr sz="1600" dirty="0"/>
                <a:t>• Stage 2 </a:t>
              </a:r>
              <a:r>
                <a:rPr sz="1600" dirty="0" err="1"/>
                <a:t>进行偏好对齐，减少回答风格偏移并提升可用性</a:t>
              </a:r>
              <a:r>
                <a:rPr sz="1600" dirty="0"/>
                <a:t>。</a:t>
              </a:r>
              <a:endParaRPr lang="en-US" sz="1600" dirty="0"/>
            </a:p>
            <a:p>
              <a:pPr>
                <a:spcAft>
                  <a:spcPts val="700"/>
                </a:spcAft>
              </a:pPr>
              <a:r>
                <a:rPr sz="1600" dirty="0"/>
                <a:t>• Stage 3 </a:t>
              </a:r>
              <a:r>
                <a:rPr sz="1600" dirty="0" err="1"/>
                <a:t>通过模型合并提高跨任务鲁棒性，降低单</a:t>
              </a:r>
              <a:r>
                <a:rPr sz="1600" dirty="0"/>
                <a:t> checkpoint </a:t>
              </a:r>
              <a:r>
                <a:rPr sz="1600" dirty="0" err="1"/>
                <a:t>偶然性</a:t>
              </a:r>
              <a:r>
                <a:rPr sz="1600" dirty="0"/>
                <a:t>。</a:t>
              </a:r>
              <a:endParaRPr lang="en-US" sz="1600" dirty="0"/>
            </a:p>
            <a:p>
              <a:pPr>
                <a:spcAft>
                  <a:spcPts val="700"/>
                </a:spcAft>
              </a:pPr>
              <a:r>
                <a:rPr sz="1600" dirty="0"/>
                <a:t>• </a:t>
              </a:r>
              <a:r>
                <a:rPr sz="1600" dirty="0" err="1"/>
                <a:t>工程启示：小模型能力提升依赖完整配方，而非单一训练技巧</a:t>
              </a:r>
              <a:r>
                <a:rPr sz="1600" dirty="0"/>
                <a:t>。</a:t>
              </a: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86CA906E-E902-BFA0-FD82-9724A14A9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pic>
        <p:nvPicPr>
          <p:cNvPr id="13" name="Picture 12" descr="_page_9_Figure_5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9243" y="2412498"/>
            <a:ext cx="8910053" cy="1511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229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EFCBB-E62D-C4DF-0EBF-1426E1BF7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FAF407-6C34-CEAB-20A4-DB69D8889AA5}"/>
              </a:ext>
            </a:extLst>
          </p:cNvPr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B0B496-0834-E43C-E3E8-36C18BFED06C}"/>
              </a:ext>
            </a:extLst>
          </p:cNvPr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chemeClr val="accent1"/>
                </a:solidFill>
              </a:rPr>
              <a:t>图4解读：质量-吞吐 Pareto </a:t>
            </a:r>
            <a:r>
              <a:rPr b="1" dirty="0" err="1">
                <a:solidFill>
                  <a:schemeClr val="accent1"/>
                </a:solidFill>
              </a:rPr>
              <a:t>前沿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E4457B-2385-3316-5017-6A5ECEC9236E}"/>
              </a:ext>
            </a:extLst>
          </p:cNvPr>
          <p:cNvSpPr txBox="1"/>
          <p:nvPr/>
        </p:nvSpPr>
        <p:spPr>
          <a:xfrm>
            <a:off x="676656" y="877824"/>
            <a:ext cx="9692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在端侧实测中，LFM2 点位整体位于更优的右上区域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9054F56-B109-C816-900E-27E3D42CF076}"/>
              </a:ext>
            </a:extLst>
          </p:cNvPr>
          <p:cNvGrpSpPr/>
          <p:nvPr/>
        </p:nvGrpSpPr>
        <p:grpSpPr>
          <a:xfrm>
            <a:off x="658368" y="1389888"/>
            <a:ext cx="3615249" cy="4773168"/>
            <a:chOff x="658368" y="1389888"/>
            <a:chExt cx="4900000" cy="4773168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9B221681-0918-FEBB-CD3E-2CAE594395C6}"/>
                </a:ext>
              </a:extLst>
            </p:cNvPr>
            <p:cNvSpPr/>
            <p:nvPr/>
          </p:nvSpPr>
          <p:spPr>
            <a:xfrm>
              <a:off x="658368" y="1389888"/>
              <a:ext cx="4900000" cy="4773168"/>
            </a:xfrm>
            <a:prstGeom prst="roundRect">
              <a:avLst/>
            </a:prstGeom>
            <a:solidFill>
              <a:srgbClr val="FAFAFA"/>
            </a:solidFill>
            <a:ln>
              <a:solidFill>
                <a:srgbClr val="E2E2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AA3AEBC-78BF-ABDB-3B03-1D583D45364F}"/>
                </a:ext>
              </a:extLst>
            </p:cNvPr>
            <p:cNvSpPr txBox="1"/>
            <p:nvPr/>
          </p:nvSpPr>
          <p:spPr>
            <a:xfrm>
              <a:off x="822960" y="1783080"/>
              <a:ext cx="4500000" cy="29606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16000"/>
                </a:lnSpc>
                <a:spcAft>
                  <a:spcPts val="700"/>
                </a:spcAft>
              </a:pPr>
              <a:r>
                <a:t>• 横轴为 prefill/decode 吞吐，纵轴为平均评测得分，右上代表更优权衡。</a:t>
              </a:r>
              <a:endParaRPr lang="en-US" altLang="zh-CN" sz="1400" dirty="0"/>
            </a:p>
            <a:p>
              <a:r>
                <a:t>• LFM2 多个尺寸形成连续前沿，说明不同预算下都能找到高性价比点。</a:t>
              </a:r>
            </a:p>
            <a:p>
              <a:r>
                <a:t>• 2.6B 与 8B-A1B 在高质量区仍保持高吞吐，体现架构效率优势。</a:t>
              </a:r>
            </a:p>
            <a:p>
              <a:r>
                <a:t>• 实践建议：先定延迟预算，再沿 Pareto 前沿挑选分数最高模型。</a:t>
              </a: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A9C9959B-2ACF-0A19-39A0-6B6CF6114C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pic>
        <p:nvPicPr>
          <p:cNvPr id="13" name="Picture 12" descr="_page_15_Figure_0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0908" y="2701204"/>
            <a:ext cx="7172724" cy="2663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222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9C696-44FB-FD8E-DF06-56351EAC2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D32E6C3-E323-389B-83CB-40BD1B1F3E3F}"/>
              </a:ext>
            </a:extLst>
          </p:cNvPr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B8B13D-B130-6367-59F7-A914EA6D08C4}"/>
              </a:ext>
            </a:extLst>
          </p:cNvPr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chemeClr val="accent1"/>
                </a:solidFill>
              </a:rPr>
              <a:t>图5解读：LFM2-VL </a:t>
            </a:r>
            <a:r>
              <a:rPr b="1" dirty="0" err="1">
                <a:solidFill>
                  <a:schemeClr val="accent1"/>
                </a:solidFill>
              </a:rPr>
              <a:t>多模态结构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4F15D9-4465-5845-E9DC-88447BB4162B}"/>
              </a:ext>
            </a:extLst>
          </p:cNvPr>
          <p:cNvSpPr txBox="1"/>
          <p:nvPr/>
        </p:nvSpPr>
        <p:spPr>
          <a:xfrm>
            <a:off x="676656" y="877824"/>
            <a:ext cx="9692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SigLIP2 编码器 + PixelUnshuffle 连接器 + LFM2 语言主干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229A1FC-50E9-FEC7-F3B3-646707511C95}"/>
              </a:ext>
            </a:extLst>
          </p:cNvPr>
          <p:cNvGrpSpPr/>
          <p:nvPr/>
        </p:nvGrpSpPr>
        <p:grpSpPr>
          <a:xfrm>
            <a:off x="1165146" y="5074072"/>
            <a:ext cx="10333608" cy="1610850"/>
            <a:chOff x="604672" y="1280756"/>
            <a:chExt cx="4900000" cy="4943561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3571BABE-A3E6-C870-5E43-FE2EAC76A6E6}"/>
                </a:ext>
              </a:extLst>
            </p:cNvPr>
            <p:cNvSpPr/>
            <p:nvPr/>
          </p:nvSpPr>
          <p:spPr>
            <a:xfrm>
              <a:off x="604672" y="1280756"/>
              <a:ext cx="4900000" cy="4943561"/>
            </a:xfrm>
            <a:prstGeom prst="roundRect">
              <a:avLst/>
            </a:prstGeom>
            <a:solidFill>
              <a:srgbClr val="FAFAFA"/>
            </a:solidFill>
            <a:ln>
              <a:solidFill>
                <a:srgbClr val="E2E2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0B23CC1-F5C8-CA2F-9EFB-014C94BB5DF7}"/>
                </a:ext>
              </a:extLst>
            </p:cNvPr>
            <p:cNvSpPr txBox="1"/>
            <p:nvPr/>
          </p:nvSpPr>
          <p:spPr>
            <a:xfrm>
              <a:off x="804672" y="1686356"/>
              <a:ext cx="4500000" cy="41323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700"/>
                </a:spcAft>
              </a:pPr>
              <a:r>
                <a:rPr sz="1600" dirty="0"/>
                <a:t>• </a:t>
              </a:r>
              <a:r>
                <a:rPr sz="1600" dirty="0" err="1"/>
                <a:t>小图走原生分辨率路径，大图走动态切片路径，再统一映射到语言空间</a:t>
              </a:r>
              <a:r>
                <a:rPr sz="1600" dirty="0"/>
                <a:t>。</a:t>
              </a:r>
              <a:endParaRPr lang="en-US" sz="1600" dirty="0"/>
            </a:p>
            <a:p>
              <a:pPr>
                <a:spcAft>
                  <a:spcPts val="700"/>
                </a:spcAft>
              </a:pPr>
              <a:r>
                <a:rPr sz="1600" dirty="0"/>
                <a:t>• </a:t>
              </a:r>
              <a:r>
                <a:rPr sz="1600" dirty="0" err="1"/>
                <a:t>PixelUnshuffle</a:t>
              </a:r>
              <a:r>
                <a:rPr sz="1600" dirty="0"/>
                <a:t> + MLP </a:t>
              </a:r>
              <a:r>
                <a:rPr sz="1600" dirty="0" err="1"/>
                <a:t>先压缩视觉</a:t>
              </a:r>
              <a:r>
                <a:rPr sz="1600" dirty="0"/>
                <a:t> </a:t>
              </a:r>
              <a:r>
                <a:rPr sz="1600" dirty="0" err="1"/>
                <a:t>token，再进行跨模态对齐</a:t>
              </a:r>
              <a:r>
                <a:rPr sz="1600" dirty="0"/>
                <a:t>。</a:t>
              </a:r>
              <a:endParaRPr lang="en-US" sz="1600" dirty="0"/>
            </a:p>
            <a:p>
              <a:pPr>
                <a:spcAft>
                  <a:spcPts val="700"/>
                </a:spcAft>
              </a:pPr>
              <a:r>
                <a:rPr sz="1600" dirty="0"/>
                <a:t>• 450M </a:t>
              </a:r>
              <a:r>
                <a:rPr sz="1600" dirty="0" err="1"/>
                <a:t>与</a:t>
              </a:r>
              <a:r>
                <a:rPr sz="1600" dirty="0"/>
                <a:t> 1.6B </a:t>
              </a:r>
              <a:r>
                <a:rPr sz="1600" dirty="0" err="1"/>
                <a:t>共用设计思想，主要区别在编码器容量与整体规模</a:t>
              </a:r>
              <a:r>
                <a:rPr sz="1600" dirty="0"/>
                <a:t>。</a:t>
              </a:r>
              <a:endParaRPr lang="en-US" sz="1600" dirty="0"/>
            </a:p>
            <a:p>
              <a:pPr>
                <a:spcAft>
                  <a:spcPts val="700"/>
                </a:spcAft>
              </a:pPr>
              <a:r>
                <a:rPr sz="1600" dirty="0"/>
                <a:t>• </a:t>
              </a:r>
              <a:r>
                <a:rPr sz="1600" dirty="0" err="1"/>
                <a:t>这张图回答“为何能端侧跑</a:t>
              </a:r>
              <a:r>
                <a:rPr sz="1600" dirty="0"/>
                <a:t> VLM”：</a:t>
              </a:r>
              <a:r>
                <a:rPr sz="1600" dirty="0" err="1"/>
                <a:t>先控</a:t>
              </a:r>
              <a:r>
                <a:rPr sz="1600" dirty="0"/>
                <a:t> token </a:t>
              </a:r>
              <a:r>
                <a:rPr sz="1600" dirty="0" err="1"/>
                <a:t>成本，再做信息融合</a:t>
              </a:r>
              <a:r>
                <a:rPr sz="1600" dirty="0"/>
                <a:t>。</a:t>
              </a: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D76D242B-5D74-553E-C043-EA8FCCE4C7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pic>
        <p:nvPicPr>
          <p:cNvPr id="13" name="Picture 12" descr="_page_16_Figure_0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4079" y="1343281"/>
            <a:ext cx="7343841" cy="3574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652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74204-DFC4-5BD7-0122-F1EAB15AB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F4301F7-E898-CE2A-908B-685169BAE26A}"/>
              </a:ext>
            </a:extLst>
          </p:cNvPr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003168-7AEC-A3AD-4642-06DD3B1EE98B}"/>
              </a:ext>
            </a:extLst>
          </p:cNvPr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chemeClr val="accent1"/>
                </a:solidFill>
              </a:rPr>
              <a:t>图6解读：视觉 token </a:t>
            </a:r>
            <a:r>
              <a:rPr b="1" dirty="0" err="1">
                <a:solidFill>
                  <a:schemeClr val="accent1"/>
                </a:solidFill>
              </a:rPr>
              <a:t>预算与精度曲线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4D8024-EB96-7E90-AE65-C4E310BFCFFE}"/>
              </a:ext>
            </a:extLst>
          </p:cNvPr>
          <p:cNvSpPr txBox="1"/>
          <p:nvPr/>
        </p:nvSpPr>
        <p:spPr>
          <a:xfrm>
            <a:off x="676656" y="877824"/>
            <a:ext cx="9692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通过调节 token 上限，在“质量-延迟”之间实现连续折中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F599E29-857A-D9C8-569F-BC72A99E0965}"/>
              </a:ext>
            </a:extLst>
          </p:cNvPr>
          <p:cNvGrpSpPr/>
          <p:nvPr/>
        </p:nvGrpSpPr>
        <p:grpSpPr>
          <a:xfrm>
            <a:off x="1165146" y="5074072"/>
            <a:ext cx="10333608" cy="1610850"/>
            <a:chOff x="604672" y="1280756"/>
            <a:chExt cx="4900000" cy="4943561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B49FCE35-FABF-9DD8-5627-1C1B6B130733}"/>
                </a:ext>
              </a:extLst>
            </p:cNvPr>
            <p:cNvSpPr/>
            <p:nvPr/>
          </p:nvSpPr>
          <p:spPr>
            <a:xfrm>
              <a:off x="604672" y="1280756"/>
              <a:ext cx="4900000" cy="4943561"/>
            </a:xfrm>
            <a:prstGeom prst="roundRect">
              <a:avLst/>
            </a:prstGeom>
            <a:solidFill>
              <a:srgbClr val="FAFAFA"/>
            </a:solidFill>
            <a:ln>
              <a:solidFill>
                <a:srgbClr val="E2E2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E03535E-42B1-7612-6A09-68166BB95169}"/>
                </a:ext>
              </a:extLst>
            </p:cNvPr>
            <p:cNvSpPr txBox="1"/>
            <p:nvPr/>
          </p:nvSpPr>
          <p:spPr>
            <a:xfrm>
              <a:off x="804672" y="1686356"/>
              <a:ext cx="4500000" cy="41323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700"/>
                </a:spcAft>
              </a:pPr>
              <a:r>
                <a:rPr sz="1600" dirty="0"/>
                <a:t>• </a:t>
              </a:r>
              <a:r>
                <a:rPr sz="1600" dirty="0" err="1"/>
                <a:t>横轴近似表示延迟成本，纵轴是多类视觉基准表现</a:t>
              </a:r>
              <a:r>
                <a:rPr sz="1600" dirty="0"/>
                <a:t>。</a:t>
              </a:r>
              <a:endParaRPr lang="en-US" sz="1600" dirty="0"/>
            </a:p>
            <a:p>
              <a:pPr>
                <a:spcAft>
                  <a:spcPts val="700"/>
                </a:spcAft>
              </a:pPr>
              <a:r>
                <a:rPr sz="1600" dirty="0"/>
                <a:t>• </a:t>
              </a:r>
              <a:r>
                <a:rPr sz="1600" dirty="0" err="1"/>
                <a:t>通用视觉理解在低预算下下降较缓，压缩容忍度更高</a:t>
              </a:r>
              <a:r>
                <a:rPr sz="1600" dirty="0"/>
                <a:t>。</a:t>
              </a:r>
              <a:endParaRPr lang="en-US" sz="1600" dirty="0"/>
            </a:p>
            <a:p>
              <a:pPr>
                <a:spcAft>
                  <a:spcPts val="700"/>
                </a:spcAft>
              </a:pPr>
              <a:r>
                <a:rPr sz="1600" dirty="0"/>
                <a:t>• </a:t>
              </a:r>
              <a:r>
                <a:rPr sz="1600" dirty="0" err="1"/>
                <a:t>高分辨率细节任务下降更明显，表明其对</a:t>
              </a:r>
              <a:r>
                <a:rPr sz="1600" dirty="0"/>
                <a:t> token </a:t>
              </a:r>
              <a:r>
                <a:rPr sz="1600" dirty="0" err="1"/>
                <a:t>数更敏感</a:t>
              </a:r>
              <a:r>
                <a:rPr sz="1600" dirty="0"/>
                <a:t>。</a:t>
              </a:r>
              <a:endParaRPr lang="en-US" sz="1600" dirty="0"/>
            </a:p>
            <a:p>
              <a:pPr>
                <a:spcAft>
                  <a:spcPts val="700"/>
                </a:spcAft>
              </a:pPr>
              <a:r>
                <a:rPr sz="1600" dirty="0"/>
                <a:t>• </a:t>
              </a:r>
              <a:r>
                <a:rPr sz="1600" dirty="0" err="1"/>
                <a:t>部署建议：默认低预算运行，遇到细粒度场景再按需升档</a:t>
              </a:r>
              <a:r>
                <a:rPr sz="1600" dirty="0"/>
                <a:t>。</a:t>
              </a: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2AECE820-5FF4-AB0E-642C-74C969BED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pic>
        <p:nvPicPr>
          <p:cNvPr id="13" name="Picture 12" descr="_page_20_Figure_0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3104" y="1699422"/>
            <a:ext cx="8665792" cy="2554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3057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68C91-BA8C-8C49-13BF-624951DE3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C41B1A-62F0-08BE-D0E2-12F68439006D}"/>
              </a:ext>
            </a:extLst>
          </p:cNvPr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92835A-97C8-2E8D-A9A8-A9F8224221BE}"/>
              </a:ext>
            </a:extLst>
          </p:cNvPr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chemeClr val="accent1"/>
                </a:solidFill>
              </a:rPr>
              <a:t>图7解读：LFM2-Audio </a:t>
            </a:r>
            <a:r>
              <a:rPr b="1" dirty="0" err="1">
                <a:solidFill>
                  <a:schemeClr val="accent1"/>
                </a:solidFill>
              </a:rPr>
              <a:t>端到端语音架构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8BBC88-1781-ADAB-862B-96990B4AD77A}"/>
              </a:ext>
            </a:extLst>
          </p:cNvPr>
          <p:cNvSpPr txBox="1"/>
          <p:nvPr/>
        </p:nvSpPr>
        <p:spPr>
          <a:xfrm>
            <a:off x="676656" y="877824"/>
            <a:ext cx="9692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统一解码主干同时处理文本与语音 token，形成闭环系统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31462D6-0BEB-FFE0-6297-B83C77C48F66}"/>
              </a:ext>
            </a:extLst>
          </p:cNvPr>
          <p:cNvGrpSpPr/>
          <p:nvPr/>
        </p:nvGrpSpPr>
        <p:grpSpPr>
          <a:xfrm>
            <a:off x="1165146" y="5074072"/>
            <a:ext cx="10333608" cy="1610850"/>
            <a:chOff x="604672" y="1280756"/>
            <a:chExt cx="4900000" cy="4943561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233D17FD-1F7A-21FA-374E-DB971BD5CB55}"/>
                </a:ext>
              </a:extLst>
            </p:cNvPr>
            <p:cNvSpPr/>
            <p:nvPr/>
          </p:nvSpPr>
          <p:spPr>
            <a:xfrm>
              <a:off x="604672" y="1280756"/>
              <a:ext cx="4900000" cy="4943561"/>
            </a:xfrm>
            <a:prstGeom prst="roundRect">
              <a:avLst/>
            </a:prstGeom>
            <a:solidFill>
              <a:srgbClr val="FAFAFA"/>
            </a:solidFill>
            <a:ln>
              <a:solidFill>
                <a:srgbClr val="E2E2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5F80A72-52DB-6023-F06B-C052CC7D1218}"/>
                </a:ext>
              </a:extLst>
            </p:cNvPr>
            <p:cNvSpPr txBox="1"/>
            <p:nvPr/>
          </p:nvSpPr>
          <p:spPr>
            <a:xfrm>
              <a:off x="804672" y="1686356"/>
              <a:ext cx="4500000" cy="41323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700"/>
                </a:spcAft>
              </a:pPr>
              <a:r>
                <a:rPr sz="1600" dirty="0"/>
                <a:t>• </a:t>
              </a:r>
              <a:r>
                <a:rPr sz="1600" dirty="0" err="1"/>
                <a:t>左图展示文本与音频</a:t>
              </a:r>
              <a:r>
                <a:rPr sz="1600" dirty="0"/>
                <a:t> token </a:t>
              </a:r>
              <a:r>
                <a:rPr sz="1600" dirty="0" err="1"/>
                <a:t>在单序列中联合建模</a:t>
              </a:r>
              <a:r>
                <a:rPr sz="1600" dirty="0"/>
                <a:t>。</a:t>
              </a:r>
              <a:endParaRPr lang="en-US" sz="1600" dirty="0"/>
            </a:p>
            <a:p>
              <a:pPr>
                <a:spcAft>
                  <a:spcPts val="700"/>
                </a:spcAft>
              </a:pPr>
              <a:r>
                <a:rPr sz="1600" dirty="0"/>
                <a:t>• </a:t>
              </a:r>
              <a:r>
                <a:rPr sz="1600" dirty="0" err="1"/>
                <a:t>右图展示离散语音码生成与声码器还原的输出路径</a:t>
              </a:r>
              <a:r>
                <a:rPr sz="1600" dirty="0"/>
                <a:t>。</a:t>
              </a:r>
              <a:endParaRPr lang="en-US" sz="1600" dirty="0"/>
            </a:p>
            <a:p>
              <a:pPr>
                <a:spcAft>
                  <a:spcPts val="700"/>
                </a:spcAft>
              </a:pPr>
              <a:r>
                <a:rPr sz="1600" dirty="0"/>
                <a:t>• </a:t>
              </a:r>
              <a:r>
                <a:rPr sz="1600" dirty="0" err="1"/>
                <a:t>统一架构减少多模块拼接复杂度，提升系统稳定性与维护性</a:t>
              </a:r>
              <a:r>
                <a:rPr sz="1600" dirty="0"/>
                <a:t>。</a:t>
              </a:r>
              <a:endParaRPr lang="en-US" sz="1600" dirty="0"/>
            </a:p>
            <a:p>
              <a:pPr>
                <a:spcAft>
                  <a:spcPts val="700"/>
                </a:spcAft>
              </a:pPr>
              <a:r>
                <a:rPr sz="1600" dirty="0"/>
                <a:t>• </a:t>
              </a:r>
              <a:r>
                <a:rPr sz="1600" dirty="0" err="1"/>
                <a:t>落地价值是低延迟语音助手：ASR、对话、TTS</a:t>
              </a:r>
              <a:r>
                <a:rPr sz="1600" dirty="0"/>
                <a:t> </a:t>
              </a:r>
              <a:r>
                <a:rPr sz="1600" dirty="0" err="1"/>
                <a:t>可共用一套底座</a:t>
              </a:r>
              <a:r>
                <a:rPr sz="1600" dirty="0"/>
                <a:t>。</a:t>
              </a: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22863754-D7D7-8569-901E-2853A086C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pic>
        <p:nvPicPr>
          <p:cNvPr id="13" name="Picture 12" descr="_page_21_Figure_0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3148" y="1495289"/>
            <a:ext cx="6565703" cy="308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319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38950-46EA-7229-03A9-B471BDD46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F0E0B6-86BA-5A30-0B82-F17C002B170F}"/>
              </a:ext>
            </a:extLst>
          </p:cNvPr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8CB3A7-65BA-291F-C33E-1E298252FCD1}"/>
              </a:ext>
            </a:extLst>
          </p:cNvPr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chemeClr val="accent1"/>
                </a:solidFill>
              </a:rPr>
              <a:t>图8解读：LFM2-ColBERT </a:t>
            </a:r>
            <a:r>
              <a:rPr b="1" dirty="0" err="1">
                <a:solidFill>
                  <a:schemeClr val="accent1"/>
                </a:solidFill>
              </a:rPr>
              <a:t>多语言检索效果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C0E512-BDB3-9EAA-76AE-20DC652260C7}"/>
              </a:ext>
            </a:extLst>
          </p:cNvPr>
          <p:cNvSpPr txBox="1"/>
          <p:nvPr/>
        </p:nvSpPr>
        <p:spPr>
          <a:xfrm>
            <a:off x="676656" y="877824"/>
            <a:ext cx="9692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在 NanoBEIR 上，多语言 NDCG@10 展现了稳健跨语种能力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12F6DD6-C885-3E99-2B7B-884C0F6D5DDF}"/>
              </a:ext>
            </a:extLst>
          </p:cNvPr>
          <p:cNvGrpSpPr/>
          <p:nvPr/>
        </p:nvGrpSpPr>
        <p:grpSpPr>
          <a:xfrm>
            <a:off x="658368" y="1389888"/>
            <a:ext cx="3615249" cy="4773168"/>
            <a:chOff x="658368" y="1389888"/>
            <a:chExt cx="4900000" cy="4773168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F7CD3BB4-1118-CEEA-EAB4-14C7E6F3BA42}"/>
                </a:ext>
              </a:extLst>
            </p:cNvPr>
            <p:cNvSpPr/>
            <p:nvPr/>
          </p:nvSpPr>
          <p:spPr>
            <a:xfrm>
              <a:off x="658368" y="1389888"/>
              <a:ext cx="4900000" cy="4773168"/>
            </a:xfrm>
            <a:prstGeom prst="roundRect">
              <a:avLst/>
            </a:prstGeom>
            <a:solidFill>
              <a:srgbClr val="FAFAFA"/>
            </a:solidFill>
            <a:ln>
              <a:solidFill>
                <a:srgbClr val="E2E2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63808FA-4EFD-5519-92A8-0D8415269747}"/>
                </a:ext>
              </a:extLst>
            </p:cNvPr>
            <p:cNvSpPr txBox="1"/>
            <p:nvPr/>
          </p:nvSpPr>
          <p:spPr>
            <a:xfrm>
              <a:off x="822960" y="1783080"/>
              <a:ext cx="4500000" cy="26195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16000"/>
                </a:lnSpc>
                <a:spcAft>
                  <a:spcPts val="700"/>
                </a:spcAft>
              </a:pPr>
              <a:r>
                <a:rPr sz="1600" dirty="0"/>
                <a:t>• </a:t>
              </a:r>
              <a:r>
                <a:rPr sz="1600" dirty="0" err="1"/>
                <a:t>英语、德语、法语、西语等语言表现较强，整体曲线较平稳</a:t>
              </a:r>
              <a:r>
                <a:rPr lang="en-US" sz="1600" dirty="0"/>
                <a:t>。</a:t>
              </a:r>
            </a:p>
            <a:p>
              <a:pPr>
                <a:lnSpc>
                  <a:spcPct val="116000"/>
                </a:lnSpc>
                <a:spcAft>
                  <a:spcPts val="700"/>
                </a:spcAft>
              </a:pPr>
              <a:r>
                <a:rPr sz="1600" dirty="0"/>
                <a:t>• </a:t>
              </a:r>
              <a:r>
                <a:rPr sz="1600" dirty="0" err="1"/>
                <a:t>低资源语言有回落但仍保持可用，体现较好的跨语言泛化</a:t>
              </a:r>
              <a:r>
                <a:rPr sz="1600" dirty="0"/>
                <a:t>。</a:t>
              </a:r>
              <a:endParaRPr lang="en-US" sz="1600" dirty="0"/>
            </a:p>
            <a:p>
              <a:pPr>
                <a:lnSpc>
                  <a:spcPct val="116000"/>
                </a:lnSpc>
                <a:spcAft>
                  <a:spcPts val="700"/>
                </a:spcAft>
              </a:pPr>
              <a:r>
                <a:rPr sz="1600" dirty="0"/>
                <a:t>• </a:t>
              </a:r>
              <a:r>
                <a:rPr sz="1600" dirty="0" err="1"/>
                <a:t>结果表明预训练阶段的多语表征被有效继承到检索任务</a:t>
              </a:r>
              <a:r>
                <a:rPr sz="1600" dirty="0"/>
                <a:t>。</a:t>
              </a:r>
              <a:endParaRPr lang="en-US" sz="1600" dirty="0"/>
            </a:p>
            <a:p>
              <a:pPr>
                <a:lnSpc>
                  <a:spcPct val="116000"/>
                </a:lnSpc>
                <a:spcAft>
                  <a:spcPts val="700"/>
                </a:spcAft>
              </a:pPr>
              <a:r>
                <a:rPr sz="1600" dirty="0"/>
                <a:t>• </a:t>
              </a:r>
              <a:r>
                <a:rPr sz="1600" dirty="0" err="1"/>
                <a:t>工程意义：可先用统一模型全球上线，再按重点语言做增量优化</a:t>
              </a:r>
              <a:r>
                <a:rPr sz="1600" dirty="0"/>
                <a:t>。</a:t>
              </a: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BB3B91B3-4BF8-450C-5DDE-83E996251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pic>
        <p:nvPicPr>
          <p:cNvPr id="13" name="Picture 12" descr="_page_28_Figure_0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296" y="2742402"/>
            <a:ext cx="5596472" cy="2614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1250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chemeClr val="accent1"/>
                </a:solidFill>
              </a:rPr>
              <a:t>图9解读：H100 </a:t>
            </a:r>
            <a:r>
              <a:rPr b="1" dirty="0" err="1">
                <a:solidFill>
                  <a:schemeClr val="accent1"/>
                </a:solidFill>
              </a:rPr>
              <a:t>批量编码吞吐对比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8368" y="1389887"/>
            <a:ext cx="10058400" cy="4662570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ECC7479-5EE4-0781-9DDB-BF2FE46215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451325-14F1-6404-CD7F-85E5DB057CCD}"/>
              </a:ext>
            </a:extLst>
          </p:cNvPr>
          <p:cNvSpPr txBox="1"/>
          <p:nvPr/>
        </p:nvSpPr>
        <p:spPr>
          <a:xfrm>
            <a:off x="1104900" y="1708890"/>
            <a:ext cx="9046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批量=1 时两者都约 60 qps，说明低并发下瓶颈主要在启动与访存，差距有限。</a:t>
            </a:r>
            <a:endParaRPr lang="en-US" dirty="0"/>
          </a:p>
        </p:txBody>
      </p:sp>
      <p:pic>
        <p:nvPicPr>
          <p:cNvPr id="16" name="Picture 15" descr="_page_30_Figure_0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2818" y="2945317"/>
            <a:ext cx="5312229" cy="169630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AE55A88-BFF4-0DCA-2DB8-75DD36891FEE}"/>
              </a:ext>
            </a:extLst>
          </p:cNvPr>
          <p:cNvSpPr txBox="1"/>
          <p:nvPr/>
        </p:nvSpPr>
        <p:spPr>
          <a:xfrm>
            <a:off x="1104899" y="2123384"/>
            <a:ext cx="91712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批量提升到 32/64 后，LFM2-ColBERT 达到约 1350/1420 qps，持续领先对比模型约 3-4%。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9451EF-12EF-0B5F-0652-5166B63BC7EB}"/>
              </a:ext>
            </a:extLst>
          </p:cNvPr>
          <p:cNvSpPr txBox="1"/>
          <p:nvPr/>
        </p:nvSpPr>
        <p:spPr>
          <a:xfrm>
            <a:off x="1028482" y="4817225"/>
            <a:ext cx="93181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尽管参数量约为对比模型的 2.37 倍，吞吐仍接近甚至略优，说明实现与并行效率较强；对高并发检索服务更友好。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solidFill>
                  <a:schemeClr val="accent1"/>
                </a:solidFill>
              </a:rPr>
              <a:t>总结与结语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6656" y="877824"/>
            <a:ext cx="9692640" cy="275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LFM2 证明了“面向端侧的小模型”也能实现强能力与高效率兼顾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89888"/>
            <a:ext cx="10058400" cy="4773168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9738360" cy="1616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dirty="0"/>
              <a:t>• </a:t>
            </a:r>
            <a:r>
              <a:rPr dirty="0" err="1"/>
              <a:t>论文贡献不只在单项指标，而在于给出可部署、可复用的完整方法论</a:t>
            </a:r>
            <a:r>
              <a:rPr dirty="0"/>
              <a:t>。</a:t>
            </a:r>
            <a:endParaRPr lang="en-US" dirty="0"/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dirty="0"/>
              <a:t>• 对视觉任务，LFM2-VL </a:t>
            </a:r>
            <a:r>
              <a:rPr dirty="0" err="1"/>
              <a:t>通过</a:t>
            </a:r>
            <a:r>
              <a:rPr dirty="0"/>
              <a:t> token </a:t>
            </a:r>
            <a:r>
              <a:rPr dirty="0" err="1"/>
              <a:t>预算机制提供了可控的延迟-精度调节</a:t>
            </a:r>
            <a:r>
              <a:rPr dirty="0"/>
              <a:t>。</a:t>
            </a:r>
            <a:endParaRPr lang="en-US" dirty="0"/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dirty="0"/>
              <a:t>• </a:t>
            </a:r>
            <a:r>
              <a:rPr dirty="0" err="1"/>
              <a:t>对系统设计，统一底座有利于降低多模态产品的工程复杂度</a:t>
            </a:r>
            <a:r>
              <a:rPr dirty="0"/>
              <a:t>。</a:t>
            </a:r>
            <a:endParaRPr lang="en-US" dirty="0"/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dirty="0"/>
              <a:t>• </a:t>
            </a:r>
            <a:r>
              <a:rPr dirty="0" err="1"/>
              <a:t>结论：边缘</a:t>
            </a:r>
            <a:r>
              <a:rPr dirty="0"/>
              <a:t> AI 的关键不再是“</a:t>
            </a:r>
            <a:r>
              <a:rPr dirty="0" err="1"/>
              <a:t>参数更大</a:t>
            </a:r>
            <a:r>
              <a:rPr dirty="0"/>
              <a:t>”，</a:t>
            </a:r>
            <a:r>
              <a:rPr dirty="0" err="1"/>
              <a:t>而是“效率与能力协同优化</a:t>
            </a:r>
            <a:r>
              <a:rPr dirty="0"/>
              <a:t>”。</a:t>
            </a:r>
          </a:p>
        </p:txBody>
      </p:sp>
      <p:pic>
        <p:nvPicPr>
          <p:cNvPr id="9" name="图片 11">
            <a:extLst>
              <a:ext uri="{FF2B5EF4-FFF2-40B4-BE49-F238E27FC236}">
                <a16:creationId xmlns:a16="http://schemas.microsoft.com/office/drawing/2014/main" id="{7DC1CCCC-B091-BF68-4FF1-E41993EFD9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2_自定义设计方案">
  <a:themeElements>
    <a:clrScheme name="自定义 3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C00000"/>
      </a:accent1>
      <a:accent2>
        <a:srgbClr val="D8D8D8"/>
      </a:accent2>
      <a:accent3>
        <a:srgbClr val="BFBFBF"/>
      </a:accent3>
      <a:accent4>
        <a:srgbClr val="A5A5A5"/>
      </a:accent4>
      <a:accent5>
        <a:srgbClr val="7F7F7F"/>
      </a:accent5>
      <a:accent6>
        <a:srgbClr val="595959"/>
      </a:accent6>
      <a:hlink>
        <a:srgbClr val="C60C0C"/>
      </a:hlink>
      <a:folHlink>
        <a:srgbClr val="BFBFBF"/>
      </a:folHlink>
    </a:clrScheme>
    <a:fontScheme name="e05413m2">
      <a:majorFont>
        <a:latin typeface="Arial"/>
        <a:ea typeface="楷体"/>
        <a:cs typeface=""/>
      </a:majorFont>
      <a:minorFont>
        <a:latin typeface="Arial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自定义设计方案">
  <a:themeElements>
    <a:clrScheme name="自定义 3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C00000"/>
      </a:accent1>
      <a:accent2>
        <a:srgbClr val="D8D8D8"/>
      </a:accent2>
      <a:accent3>
        <a:srgbClr val="BFBFBF"/>
      </a:accent3>
      <a:accent4>
        <a:srgbClr val="A5A5A5"/>
      </a:accent4>
      <a:accent5>
        <a:srgbClr val="7F7F7F"/>
      </a:accent5>
      <a:accent6>
        <a:srgbClr val="595959"/>
      </a:accent6>
      <a:hlink>
        <a:srgbClr val="C60C0C"/>
      </a:hlink>
      <a:folHlink>
        <a:srgbClr val="BFBFBF"/>
      </a:folHlink>
    </a:clrScheme>
    <a:fontScheme name="自定义 1">
      <a:majorFont>
        <a:latin typeface="Calibri"/>
        <a:ea typeface="华文楷体"/>
        <a:cs typeface=""/>
      </a:majorFont>
      <a:minorFont>
        <a:latin typeface="Calibri"/>
        <a:ea typeface="华文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1518</TotalTime>
  <Words>543</Words>
  <Application>Microsoft Macintosh PowerPoint</Application>
  <PresentationFormat>Widescreen</PresentationFormat>
  <Paragraphs>72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等线</vt:lpstr>
      <vt:lpstr>Arial</vt:lpstr>
      <vt:lpstr>Calibri</vt:lpstr>
      <vt:lpstr>2_自定义设计方案</vt:lpstr>
      <vt:lpstr>3_自定义设计方案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 Yuting</dc:creator>
  <cp:lastModifiedBy>You, Bingran</cp:lastModifiedBy>
  <cp:revision>64</cp:revision>
  <dcterms:created xsi:type="dcterms:W3CDTF">2023-06-07T13:12:54Z</dcterms:created>
  <dcterms:modified xsi:type="dcterms:W3CDTF">2026-03-12T01:27:05Z</dcterms:modified>
</cp:coreProperties>
</file>