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2" r:id="rId2"/>
  </p:sldMasterIdLst>
  <p:notesMasterIdLst>
    <p:notesMasterId r:id="rId18"/>
  </p:notesMasterIdLst>
  <p:sldIdLst>
    <p:sldId id="13773" r:id="rId3"/>
    <p:sldId id="13770" r:id="rId4"/>
    <p:sldId id="13771" r:id="rId5"/>
    <p:sldId id="13774" r:id="rId6"/>
    <p:sldId id="13802" r:id="rId7"/>
    <p:sldId id="13776" r:id="rId8"/>
    <p:sldId id="13805" r:id="rId9"/>
    <p:sldId id="13806" r:id="rId10"/>
    <p:sldId id="13808" r:id="rId11"/>
    <p:sldId id="13809" r:id="rId12"/>
    <p:sldId id="13810" r:id="rId13"/>
    <p:sldId id="13811" r:id="rId14"/>
    <p:sldId id="13783" r:id="rId15"/>
    <p:sldId id="13822" r:id="rId16"/>
    <p:sldId id="13784"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801" autoAdjust="0"/>
    <p:restoredTop sz="79719"/>
  </p:normalViewPr>
  <p:slideViewPr>
    <p:cSldViewPr snapToGrid="0">
      <p:cViewPr varScale="1">
        <p:scale>
          <a:sx n="123" d="100"/>
          <a:sy n="123" d="100"/>
        </p:scale>
        <p:origin x="1552" y="192"/>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B10B1-3F6B-44C2-A3BA-6192D167FFA6}"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Tree>
    <p:extLst>
      <p:ext uri="{BB962C8B-B14F-4D97-AF65-F5344CB8AC3E}">
        <p14:creationId xmlns:p14="http://schemas.microsoft.com/office/powerpoint/2010/main" val="88757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1. </a:t>
            </a:r>
            <a:r>
              <a:rPr lang="en-US" dirty="0" err="1"/>
              <a:t>BrowseComp</a:t>
            </a:r>
            <a:r>
              <a:rPr lang="en-US" dirty="0"/>
              <a:t>-Plus</a:t>
            </a:r>
          </a:p>
          <a:p>
            <a:r>
              <a:rPr lang="zh-CN" altLang="en-US" dirty="0"/>
              <a:t xml:space="preserve">这是一个 </a:t>
            </a:r>
            <a:r>
              <a:rPr lang="en-US" dirty="0"/>
              <a:t xml:space="preserve">Deep Research / </a:t>
            </a:r>
            <a:r>
              <a:rPr lang="zh-CN" altLang="en-US" dirty="0"/>
              <a:t xml:space="preserve">网页检索与浏览 </a:t>
            </a:r>
            <a:r>
              <a:rPr lang="en-US" dirty="0"/>
              <a:t>benchmark，</a:t>
            </a:r>
            <a:r>
              <a:rPr lang="zh-CN" altLang="en-US" dirty="0"/>
              <a:t xml:space="preserve">主要测 </a:t>
            </a:r>
            <a:r>
              <a:rPr lang="en-US" dirty="0"/>
              <a:t xml:space="preserve">agent </a:t>
            </a:r>
            <a:r>
              <a:rPr lang="zh-CN" altLang="en-US" dirty="0"/>
              <a:t xml:space="preserve">能不能围绕复杂问题做多步搜索、筛选证据、综合多个网页信息再给出答案。它是从 </a:t>
            </a:r>
            <a:r>
              <a:rPr lang="en-US" dirty="0" err="1"/>
              <a:t>BrowseComp</a:t>
            </a:r>
            <a:r>
              <a:rPr lang="en-US" dirty="0"/>
              <a:t xml:space="preserve"> </a:t>
            </a:r>
            <a:r>
              <a:rPr lang="zh-CN" altLang="en-US" dirty="0"/>
              <a:t>扩展来的，但用了固定、人工校验过的文档语料，因此比直接连真实互联网更公平、更可复现。 ￼</a:t>
            </a:r>
          </a:p>
          <a:p>
            <a:endParaRPr lang="zh-CN" altLang="en-US" dirty="0"/>
          </a:p>
          <a:p>
            <a:r>
              <a:rPr lang="en-US" altLang="zh-CN" dirty="0"/>
              <a:t xml:space="preserve">2. </a:t>
            </a:r>
            <a:r>
              <a:rPr lang="en-US" dirty="0"/>
              <a:t>Finance Agent</a:t>
            </a:r>
          </a:p>
          <a:p>
            <a:r>
              <a:rPr lang="zh-CN" altLang="en-US" dirty="0"/>
              <a:t xml:space="preserve">这是一个 金融研究任务 </a:t>
            </a:r>
            <a:r>
              <a:rPr lang="en-US" dirty="0"/>
              <a:t>benchmark，</a:t>
            </a:r>
            <a:r>
              <a:rPr lang="zh-CN" altLang="en-US" dirty="0"/>
              <a:t xml:space="preserve">测 </a:t>
            </a:r>
            <a:r>
              <a:rPr lang="en-US" dirty="0"/>
              <a:t xml:space="preserve">agent </a:t>
            </a:r>
            <a:r>
              <a:rPr lang="zh-CN" altLang="en-US" dirty="0"/>
              <a:t xml:space="preserve">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 xml:space="preserve">建模。论文里说它覆盖 </a:t>
            </a:r>
            <a:r>
              <a:rPr lang="en-US" altLang="zh-CN" dirty="0"/>
              <a:t xml:space="preserve">9 </a:t>
            </a:r>
            <a:r>
              <a:rPr lang="zh-CN" altLang="en-US" dirty="0"/>
              <a:t>类金融任务、</a:t>
            </a:r>
            <a:r>
              <a:rPr lang="en-US" altLang="zh-CN" dirty="0"/>
              <a:t xml:space="preserve">537 </a:t>
            </a:r>
            <a:r>
              <a:rPr lang="zh-CN" altLang="en-US" dirty="0"/>
              <a:t xml:space="preserve">个专家编写问题，并配了 </a:t>
            </a:r>
            <a:r>
              <a:rPr lang="en-US" dirty="0"/>
              <a:t xml:space="preserve">Google Search </a:t>
            </a:r>
            <a:r>
              <a:rPr lang="zh-CN" altLang="en-US" dirty="0"/>
              <a:t xml:space="preserve">和 </a:t>
            </a:r>
            <a:r>
              <a:rPr lang="en-US" dirty="0"/>
              <a:t xml:space="preserve">EDGAR </a:t>
            </a:r>
            <a:r>
              <a:rPr lang="zh-CN" altLang="en-US" dirty="0"/>
              <a:t>等工具。 ￼</a:t>
            </a:r>
          </a:p>
          <a:p>
            <a:endParaRPr lang="zh-CN" altLang="en-US" dirty="0"/>
          </a:p>
          <a:p>
            <a:r>
              <a:rPr lang="en-US" altLang="zh-CN" dirty="0"/>
              <a:t xml:space="preserve">3. </a:t>
            </a:r>
            <a:r>
              <a:rPr lang="en-US" dirty="0" err="1"/>
              <a:t>PlanCraft</a:t>
            </a:r>
            <a:endParaRPr lang="en-US" dirty="0"/>
          </a:p>
          <a:p>
            <a:r>
              <a:rPr lang="zh-CN" altLang="en-US" dirty="0"/>
              <a:t xml:space="preserve">这是一个 规划 </a:t>
            </a:r>
            <a:r>
              <a:rPr lang="en-US" altLang="zh-CN" dirty="0"/>
              <a:t xml:space="preserve">/ </a:t>
            </a:r>
            <a:r>
              <a:rPr lang="en-US" dirty="0"/>
              <a:t>sequential planning benchmark，</a:t>
            </a:r>
            <a:r>
              <a:rPr lang="zh-CN" altLang="en-US" dirty="0"/>
              <a:t xml:space="preserve">基于 </a:t>
            </a:r>
            <a:r>
              <a:rPr lang="en-US" dirty="0"/>
              <a:t xml:space="preserve">Minecraft crafting </a:t>
            </a:r>
            <a:r>
              <a:rPr lang="zh-CN" altLang="en-US" dirty="0"/>
              <a:t xml:space="preserve">环境。它主要测 </a:t>
            </a:r>
            <a:r>
              <a:rPr lang="en-US" dirty="0"/>
              <a:t xml:space="preserve">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r>
              <a:rPr lang="en-US" altLang="zh-CN" dirty="0"/>
              <a:t xml:space="preserve">4. </a:t>
            </a:r>
            <a:r>
              <a:rPr lang="en-US" dirty="0"/>
              <a:t>Workbench</a:t>
            </a:r>
          </a:p>
          <a:p>
            <a:r>
              <a:rPr lang="zh-CN" altLang="en-US" dirty="0"/>
              <a:t xml:space="preserve">这是一个 办公流程 </a:t>
            </a:r>
            <a:r>
              <a:rPr lang="en-US" altLang="zh-CN" dirty="0"/>
              <a:t xml:space="preserve">/ </a:t>
            </a:r>
            <a:r>
              <a:rPr lang="zh-CN" altLang="en-US" dirty="0"/>
              <a:t xml:space="preserve">工具使用 </a:t>
            </a:r>
            <a:r>
              <a:rPr lang="en-US" dirty="0"/>
              <a:t>benchmark，</a:t>
            </a:r>
            <a:r>
              <a:rPr lang="zh-CN" altLang="en-US" dirty="0"/>
              <a:t xml:space="preserve">模拟真实 </a:t>
            </a:r>
            <a:r>
              <a:rPr lang="en-US" dirty="0"/>
              <a:t>workplace setting。</a:t>
            </a:r>
            <a:r>
              <a:rPr lang="zh-CN" altLang="en-US" dirty="0"/>
              <a:t xml:space="preserve">里面有一个沙盒办公环境、多个数据库和很多工具，任务像发邮件、安排会议、更新记录等，要求 </a:t>
            </a:r>
            <a:r>
              <a:rPr lang="en-US" dirty="0"/>
              <a:t xml:space="preserve">agent </a:t>
            </a:r>
            <a:r>
              <a:rPr lang="zh-CN" altLang="en-US" dirty="0"/>
              <a:t xml:space="preserve">做规划、选工具、执行多步操作。它更像在测“数字员工”的实际 </a:t>
            </a:r>
            <a:r>
              <a:rPr lang="en-US" dirty="0"/>
              <a:t xml:space="preserve">workflow </a:t>
            </a:r>
            <a:r>
              <a:rPr lang="zh-CN" altLang="en-US" dirty="0"/>
              <a:t>执行能力。 ￼</a:t>
            </a:r>
          </a:p>
          <a:p>
            <a:endParaRPr lang="zh-CN" altLang="en-US" dirty="0"/>
          </a:p>
          <a:p>
            <a:r>
              <a:rPr lang="zh-CN" altLang="en-US" dirty="0"/>
              <a:t xml:space="preserve">	</a:t>
            </a:r>
            <a:r>
              <a:rPr lang="en-US" altLang="zh-CN" dirty="0"/>
              <a:t xml:space="preserve">•	</a:t>
            </a:r>
            <a:r>
              <a:rPr lang="en-US" dirty="0" err="1"/>
              <a:t>BrowseComp</a:t>
            </a:r>
            <a:r>
              <a:rPr lang="en-US" dirty="0"/>
              <a:t>-Plus：</a:t>
            </a:r>
            <a:r>
              <a:rPr lang="zh-CN" altLang="en-US" dirty="0"/>
              <a:t xml:space="preserve">网页研究 </a:t>
            </a:r>
            <a:r>
              <a:rPr lang="en-US" altLang="zh-CN" dirty="0"/>
              <a:t xml:space="preserve">/ </a:t>
            </a:r>
            <a:r>
              <a:rPr lang="zh-CN" altLang="en-US" dirty="0"/>
              <a:t>信息综合</a:t>
            </a:r>
          </a:p>
          <a:p>
            <a:r>
              <a:rPr lang="zh-CN" altLang="en-US" dirty="0"/>
              <a:t xml:space="preserve">	</a:t>
            </a:r>
            <a:r>
              <a:rPr lang="en-US" altLang="zh-CN" dirty="0"/>
              <a:t xml:space="preserve">•	</a:t>
            </a:r>
            <a:r>
              <a:rPr lang="en-US" dirty="0"/>
              <a:t>Finance Agent：</a:t>
            </a:r>
            <a:r>
              <a:rPr lang="zh-CN" altLang="en-US" dirty="0"/>
              <a:t xml:space="preserve">金融分析 </a:t>
            </a:r>
            <a:r>
              <a:rPr lang="en-US" altLang="zh-CN" dirty="0"/>
              <a:t xml:space="preserve">/ </a:t>
            </a:r>
            <a:r>
              <a:rPr lang="zh-CN" altLang="en-US" dirty="0"/>
              <a:t>财报研究</a:t>
            </a:r>
          </a:p>
          <a:p>
            <a:r>
              <a:rPr lang="zh-CN" altLang="en-US" dirty="0"/>
              <a:t xml:space="preserve">	</a:t>
            </a:r>
            <a:r>
              <a:rPr lang="en-US" altLang="zh-CN" dirty="0"/>
              <a:t xml:space="preserve">•	</a:t>
            </a:r>
            <a:r>
              <a:rPr lang="en-US" dirty="0" err="1"/>
              <a:t>PlanCraft</a:t>
            </a:r>
            <a:r>
              <a:rPr lang="en-US" dirty="0"/>
              <a:t>：</a:t>
            </a:r>
            <a:r>
              <a:rPr lang="zh-CN" altLang="en-US" dirty="0"/>
              <a:t xml:space="preserve">序列规划 </a:t>
            </a:r>
            <a:r>
              <a:rPr lang="en-US" altLang="zh-CN" dirty="0"/>
              <a:t xml:space="preserve">/ </a:t>
            </a:r>
            <a:r>
              <a:rPr lang="zh-CN" altLang="en-US" dirty="0"/>
              <a:t>任务分解</a:t>
            </a:r>
          </a:p>
          <a:p>
            <a:r>
              <a:rPr lang="zh-CN" altLang="en-US" dirty="0"/>
              <a:t xml:space="preserve">	</a:t>
            </a:r>
            <a:r>
              <a:rPr lang="en-US" altLang="zh-CN" dirty="0"/>
              <a:t xml:space="preserve">•	</a:t>
            </a:r>
            <a:r>
              <a:rPr lang="en-US" dirty="0"/>
              <a:t>Workbench：</a:t>
            </a:r>
            <a:r>
              <a:rPr lang="zh-CN" altLang="en-US" dirty="0"/>
              <a:t xml:space="preserve">办公自动化 </a:t>
            </a:r>
            <a:r>
              <a:rPr lang="en-US" altLang="zh-CN" dirty="0"/>
              <a:t xml:space="preserve">/ </a:t>
            </a:r>
            <a:r>
              <a:rPr lang="zh-CN" altLang="en-US" dirty="0"/>
              <a:t>工具调用执行  ￼</a:t>
            </a:r>
            <a:endParaRPr lang="en-US" dirty="0"/>
          </a:p>
        </p:txBody>
      </p:sp>
    </p:spTree>
    <p:extLst>
      <p:ext uri="{BB962C8B-B14F-4D97-AF65-F5344CB8AC3E}">
        <p14:creationId xmlns:p14="http://schemas.microsoft.com/office/powerpoint/2010/main" val="3078658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ml:space="preserve">1. </a:t>
            </a:r>
            <a:r>
              <a:rPr lang="en-US" dirty="0" err="1"/>
              <a:t>BrowseComp</a:t>
            </a:r>
            <a:r>
              <a:rPr lang="en-US" dirty="0"/>
              <a:t>-Plus</a:t>
            </a:r>
          </a:p>
          <a:p>
            <a:endParaRPr lang="en-US" dirty="0"/>
          </a:p>
          <a:p>
            <a:r>
              <a:rPr lang="zh-CN" altLang="en-US" dirty="0"/>
              <a:t xml:space="preserve">这是一个 </a:t>
            </a:r>
            <a:r>
              <a:rPr lang="en-US" dirty="0"/>
              <a:t xml:space="preserve">Deep Research / </a:t>
            </a:r>
            <a:r>
              <a:rPr lang="zh-CN" altLang="en-US" dirty="0"/>
              <a:t xml:space="preserve">网页检索与浏览 </a:t>
            </a:r>
            <a:r>
              <a:rPr lang="en-US" dirty="0"/>
              <a:t>benchmark，</a:t>
            </a:r>
            <a:r>
              <a:rPr lang="zh-CN" altLang="en-US" dirty="0"/>
              <a:t xml:space="preserve">主要测 </a:t>
            </a:r>
            <a:r>
              <a:rPr lang="en-US" dirty="0"/>
              <a:t xml:space="preserve">agent </a:t>
            </a:r>
            <a:r>
              <a:rPr lang="zh-CN" altLang="en-US" dirty="0"/>
              <a:t xml:space="preserve">能不能围绕复杂问题做多步搜索、筛选证据、综合多个网页信息再给出答案。它是从 </a:t>
            </a:r>
            <a:r>
              <a:rPr lang="en-US" dirty="0" err="1"/>
              <a:t>BrowseComp</a:t>
            </a:r>
            <a:r>
              <a:rPr lang="en-US" dirty="0"/>
              <a:t xml:space="preserve"> </a:t>
            </a:r>
            <a:r>
              <a:rPr lang="zh-CN" altLang="en-US" dirty="0"/>
              <a:t>扩展来的，但用了固定、人工校验过的文档语料，因此比直接连真实互联网更公平、更可复现。 ￼</a:t>
            </a:r>
          </a:p>
          <a:p>
            <a:endParaRPr lang="zh-CN" altLang="en-US" dirty="0"/>
          </a:p>
          <a:p>
            <a:endParaRPr lang="zh-CN" altLang="en-US" dirty="0"/>
          </a:p>
          <a:p>
            <a:endParaRPr lang="zh-CN" altLang="en-US" dirty="0"/>
          </a:p>
          <a:p>
            <a:r>
              <a:rPr lang="en-US" altLang="zh-CN" dirty="0"/>
              <a:t xml:space="preserve">2. </a:t>
            </a:r>
            <a:r>
              <a:rPr lang="en-US" dirty="0"/>
              <a:t>Finance Agent</a:t>
            </a:r>
          </a:p>
          <a:p>
            <a:endParaRPr lang="en-US" dirty="0"/>
          </a:p>
          <a:p>
            <a:r>
              <a:rPr lang="zh-CN" altLang="en-US" dirty="0"/>
              <a:t xml:space="preserve">这是一个 金融研究任务 </a:t>
            </a:r>
            <a:r>
              <a:rPr lang="en-US" dirty="0"/>
              <a:t>benchmark，</a:t>
            </a:r>
            <a:r>
              <a:rPr lang="zh-CN" altLang="en-US" dirty="0"/>
              <a:t xml:space="preserve">测 </a:t>
            </a:r>
            <a:r>
              <a:rPr lang="en-US" dirty="0"/>
              <a:t xml:space="preserve">agent </a:t>
            </a:r>
            <a:r>
              <a:rPr lang="zh-CN" altLang="en-US" dirty="0"/>
              <a:t xml:space="preserve">能不能完成接近真实分析师工作的任务，比如读近期 </a:t>
            </a:r>
            <a:r>
              <a:rPr lang="en-US" dirty="0"/>
              <a:t>SEC filing、</a:t>
            </a:r>
            <a:r>
              <a:rPr lang="zh-CN" altLang="en-US" dirty="0"/>
              <a:t>做信息检索、比较公司、回答金融研究问题，甚至涉及一定的财务分析</a:t>
            </a:r>
            <a:r>
              <a:rPr lang="en-US" altLang="zh-CN" dirty="0"/>
              <a:t>/</a:t>
            </a:r>
            <a:r>
              <a:rPr lang="zh-CN" altLang="en-US" dirty="0"/>
              <a:t xml:space="preserve">建模。论文里说它覆盖 </a:t>
            </a:r>
            <a:r>
              <a:rPr lang="en-US" altLang="zh-CN" dirty="0"/>
              <a:t xml:space="preserve">9 </a:t>
            </a:r>
            <a:r>
              <a:rPr lang="zh-CN" altLang="en-US" dirty="0"/>
              <a:t>类金融任务、</a:t>
            </a:r>
            <a:r>
              <a:rPr lang="en-US" altLang="zh-CN" dirty="0"/>
              <a:t xml:space="preserve">537 </a:t>
            </a:r>
            <a:r>
              <a:rPr lang="zh-CN" altLang="en-US" dirty="0"/>
              <a:t xml:space="preserve">个专家编写问题，并配了 </a:t>
            </a:r>
            <a:r>
              <a:rPr lang="en-US" dirty="0"/>
              <a:t xml:space="preserve">Google Search </a:t>
            </a:r>
            <a:r>
              <a:rPr lang="zh-CN" altLang="en-US" dirty="0"/>
              <a:t xml:space="preserve">和 </a:t>
            </a:r>
            <a:r>
              <a:rPr lang="en-US" dirty="0"/>
              <a:t xml:space="preserve">EDGAR </a:t>
            </a:r>
            <a:r>
              <a:rPr lang="zh-CN" altLang="en-US" dirty="0"/>
              <a:t>等工具。 ￼</a:t>
            </a:r>
          </a:p>
          <a:p>
            <a:endParaRPr lang="zh-CN" altLang="en-US" dirty="0"/>
          </a:p>
          <a:p>
            <a:endParaRPr lang="zh-CN" altLang="en-US" dirty="0"/>
          </a:p>
          <a:p>
            <a:endParaRPr lang="zh-CN" altLang="en-US" dirty="0"/>
          </a:p>
          <a:p>
            <a:r>
              <a:rPr lang="en-US" altLang="zh-CN" dirty="0"/>
              <a:t xml:space="preserve">3. </a:t>
            </a:r>
            <a:r>
              <a:rPr lang="en-US" dirty="0" err="1"/>
              <a:t>PlanCraft</a:t>
            </a:r>
            <a:endParaRPr lang="en-US" dirty="0"/>
          </a:p>
          <a:p>
            <a:endParaRPr lang="en-US" dirty="0"/>
          </a:p>
          <a:p>
            <a:r>
              <a:rPr lang="zh-CN" altLang="en-US" dirty="0"/>
              <a:t xml:space="preserve">这是一个 规划 </a:t>
            </a:r>
            <a:r>
              <a:rPr lang="en-US" altLang="zh-CN" dirty="0"/>
              <a:t xml:space="preserve">/ </a:t>
            </a:r>
            <a:r>
              <a:rPr lang="en-US" dirty="0"/>
              <a:t>sequential planning benchmark，</a:t>
            </a:r>
            <a:r>
              <a:rPr lang="zh-CN" altLang="en-US" dirty="0"/>
              <a:t xml:space="preserve">基于 </a:t>
            </a:r>
            <a:r>
              <a:rPr lang="en-US" dirty="0"/>
              <a:t xml:space="preserve">Minecraft crafting </a:t>
            </a:r>
            <a:r>
              <a:rPr lang="zh-CN" altLang="en-US" dirty="0"/>
              <a:t xml:space="preserve">环境。它主要测 </a:t>
            </a:r>
            <a:r>
              <a:rPr lang="en-US" dirty="0"/>
              <a:t xml:space="preserve">agent </a:t>
            </a:r>
            <a:r>
              <a:rPr lang="zh-CN" altLang="en-US" dirty="0"/>
              <a:t>是否能把目标拆成一系列正确动作，按顺序规划合成步骤；其中还专门包含一部分无解任务，所以不只是“会不会做”，还测“能不能判断做不到”。 ￼</a:t>
            </a:r>
          </a:p>
          <a:p>
            <a:endParaRPr lang="zh-CN" altLang="en-US" dirty="0"/>
          </a:p>
          <a:p>
            <a:endParaRPr lang="zh-CN" altLang="en-US" dirty="0"/>
          </a:p>
          <a:p>
            <a:endParaRPr lang="zh-CN" altLang="en-US" dirty="0"/>
          </a:p>
          <a:p>
            <a:r>
              <a:rPr lang="en-US" altLang="zh-CN" dirty="0"/>
              <a:t xml:space="preserve">4. </a:t>
            </a:r>
            <a:r>
              <a:rPr lang="en-US" dirty="0"/>
              <a:t>Workbench</a:t>
            </a:r>
          </a:p>
          <a:p>
            <a:endParaRPr lang="en-US" dirty="0"/>
          </a:p>
          <a:p>
            <a:r>
              <a:rPr lang="zh-CN" altLang="en-US" dirty="0"/>
              <a:t xml:space="preserve">这是一个 办公流程 </a:t>
            </a:r>
            <a:r>
              <a:rPr lang="en-US" altLang="zh-CN" dirty="0"/>
              <a:t xml:space="preserve">/ </a:t>
            </a:r>
            <a:r>
              <a:rPr lang="zh-CN" altLang="en-US" dirty="0"/>
              <a:t xml:space="preserve">工具使用 </a:t>
            </a:r>
            <a:r>
              <a:rPr lang="en-US" dirty="0"/>
              <a:t>benchmark，</a:t>
            </a:r>
            <a:r>
              <a:rPr lang="zh-CN" altLang="en-US" dirty="0"/>
              <a:t xml:space="preserve">模拟真实 </a:t>
            </a:r>
            <a:r>
              <a:rPr lang="en-US" dirty="0"/>
              <a:t>workplace setting。</a:t>
            </a:r>
            <a:r>
              <a:rPr lang="zh-CN" altLang="en-US" dirty="0"/>
              <a:t xml:space="preserve">里面有一个沙盒办公环境、多个数据库和很多工具，任务像发邮件、安排会议、更新记录等，要求 </a:t>
            </a:r>
            <a:r>
              <a:rPr lang="en-US" dirty="0"/>
              <a:t xml:space="preserve">agent </a:t>
            </a:r>
            <a:r>
              <a:rPr lang="zh-CN" altLang="en-US" dirty="0"/>
              <a:t xml:space="preserve">做规划、选工具、执行多步操作。它更像在测“数字员工”的实际 </a:t>
            </a:r>
            <a:r>
              <a:rPr lang="en-US" dirty="0"/>
              <a:t xml:space="preserve">workflow </a:t>
            </a:r>
            <a:r>
              <a:rPr lang="zh-CN" altLang="en-US" dirty="0"/>
              <a:t>执行能力。 ￼</a:t>
            </a:r>
          </a:p>
          <a:p>
            <a:endParaRPr lang="zh-CN" altLang="en-US" dirty="0"/>
          </a:p>
          <a:p>
            <a:endParaRPr lang="zh-CN" altLang="en-US" dirty="0"/>
          </a:p>
          <a:p>
            <a:endParaRPr lang="zh-CN" altLang="en-US" dirty="0"/>
          </a:p>
          <a:p>
            <a:r>
              <a:rPr lang="zh-CN" altLang="en-US" dirty="0"/>
              <a:t xml:space="preserve">	</a:t>
            </a:r>
            <a:r>
              <a:rPr lang="en-US" altLang="zh-CN" dirty="0"/>
              <a:t xml:space="preserve">•	</a:t>
            </a:r>
            <a:r>
              <a:rPr lang="en-US" dirty="0" err="1"/>
              <a:t>BrowseComp</a:t>
            </a:r>
            <a:r>
              <a:rPr lang="en-US" dirty="0"/>
              <a:t>-Plus：</a:t>
            </a:r>
            <a:r>
              <a:rPr lang="zh-CN" altLang="en-US" dirty="0"/>
              <a:t xml:space="preserve">网页研究 </a:t>
            </a:r>
            <a:r>
              <a:rPr lang="en-US" altLang="zh-CN" dirty="0"/>
              <a:t xml:space="preserve">/ </a:t>
            </a:r>
            <a:r>
              <a:rPr lang="zh-CN" altLang="en-US" dirty="0"/>
              <a:t>信息综合</a:t>
            </a:r>
          </a:p>
          <a:p>
            <a:endParaRPr lang="zh-CN" altLang="en-US" dirty="0"/>
          </a:p>
          <a:p>
            <a:r>
              <a:rPr lang="zh-CN" altLang="en-US" dirty="0"/>
              <a:t xml:space="preserve">	</a:t>
            </a:r>
            <a:r>
              <a:rPr lang="en-US" altLang="zh-CN" dirty="0"/>
              <a:t xml:space="preserve">•	</a:t>
            </a:r>
            <a:r>
              <a:rPr lang="en-US" dirty="0"/>
              <a:t>Finance Agent：</a:t>
            </a:r>
            <a:r>
              <a:rPr lang="zh-CN" altLang="en-US" dirty="0"/>
              <a:t xml:space="preserve">金融分析 </a:t>
            </a:r>
            <a:r>
              <a:rPr lang="en-US" altLang="zh-CN" dirty="0"/>
              <a:t xml:space="preserve">/ </a:t>
            </a:r>
            <a:r>
              <a:rPr lang="zh-CN" altLang="en-US" dirty="0"/>
              <a:t>财报研究</a:t>
            </a:r>
          </a:p>
          <a:p>
            <a:endParaRPr lang="zh-CN" altLang="en-US" dirty="0"/>
          </a:p>
          <a:p>
            <a:r>
              <a:rPr lang="zh-CN" altLang="en-US" dirty="0"/>
              <a:t xml:space="preserve">	</a:t>
            </a:r>
            <a:r>
              <a:rPr lang="en-US" altLang="zh-CN" dirty="0"/>
              <a:t xml:space="preserve">•	</a:t>
            </a:r>
            <a:r>
              <a:rPr lang="en-US" dirty="0" err="1"/>
              <a:t>PlanCraft</a:t>
            </a:r>
            <a:r>
              <a:rPr lang="en-US" dirty="0"/>
              <a:t>：</a:t>
            </a:r>
            <a:r>
              <a:rPr lang="zh-CN" altLang="en-US" dirty="0"/>
              <a:t xml:space="preserve">序列规划 </a:t>
            </a:r>
            <a:r>
              <a:rPr lang="en-US" altLang="zh-CN" dirty="0"/>
              <a:t xml:space="preserve">/ </a:t>
            </a:r>
            <a:r>
              <a:rPr lang="zh-CN" altLang="en-US" dirty="0"/>
              <a:t>任务分解</a:t>
            </a:r>
          </a:p>
          <a:p>
            <a:endParaRPr lang="zh-CN" altLang="en-US" dirty="0"/>
          </a:p>
          <a:p>
            <a:r>
              <a:rPr lang="zh-CN" altLang="en-US" dirty="0"/>
              <a:t xml:space="preserve">	</a:t>
            </a:r>
            <a:r>
              <a:rPr lang="en-US" altLang="zh-CN" dirty="0"/>
              <a:t xml:space="preserve">•	</a:t>
            </a:r>
            <a:r>
              <a:rPr lang="en-US" dirty="0"/>
              <a:t>Workbench：</a:t>
            </a:r>
            <a:r>
              <a:rPr lang="zh-CN" altLang="en-US" dirty="0"/>
              <a:t xml:space="preserve">办公自动化 </a:t>
            </a:r>
            <a:r>
              <a:rPr lang="en-US" altLang="zh-CN" dirty="0"/>
              <a:t xml:space="preserve">/ </a:t>
            </a:r>
            <a:r>
              <a:rPr lang="zh-CN" altLang="en-US" dirty="0"/>
              <a:t>工具调用执行  ￼</a:t>
            </a:r>
          </a:p>
          <a:p>
            <a:endParaRPr lang="zh-CN" altLang="en-US" dirty="0"/>
          </a:p>
          <a:p>
            <a:endParaRPr lang="en-US" dirty="0"/>
          </a:p>
        </p:txBody>
      </p:sp>
    </p:spTree>
    <p:extLst>
      <p:ext uri="{BB962C8B-B14F-4D97-AF65-F5344CB8AC3E}">
        <p14:creationId xmlns:p14="http://schemas.microsoft.com/office/powerpoint/2010/main" val="854379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xml:space="preserve">论文里确实在“总推理 </a:t>
            </a:r>
            <a:r>
              <a:rPr lang="en-US" dirty="0"/>
              <a:t xml:space="preserve">token </a:t>
            </a:r>
            <a:r>
              <a:rPr lang="zh-CN" altLang="en-US" dirty="0"/>
              <a:t xml:space="preserve">预算大致相同”的前提下比较不同架构，但图 </a:t>
            </a:r>
            <a:r>
              <a:rPr lang="en-US" altLang="zh-CN" dirty="0"/>
              <a:t xml:space="preserve">3 </a:t>
            </a:r>
            <a:r>
              <a:rPr lang="zh-CN" altLang="en-US" dirty="0"/>
              <a:t xml:space="preserve">的横轴用的是按各家 </a:t>
            </a:r>
            <a:r>
              <a:rPr lang="en-US" dirty="0"/>
              <a:t xml:space="preserve">API </a:t>
            </a:r>
            <a:r>
              <a:rPr lang="zh-CN" altLang="en-US" dirty="0"/>
              <a:t xml:space="preserve">单价折算后的“每次实验真实美元成本”，不同模型和架构的单价与实际用掉的 </a:t>
            </a:r>
            <a:r>
              <a:rPr lang="en-US" dirty="0"/>
              <a:t xml:space="preserve">token </a:t>
            </a:r>
            <a:r>
              <a:rPr lang="zh-CN" altLang="en-US" dirty="0"/>
              <a:t xml:space="preserve">数都不一样，所以仍然会出现明显的 </a:t>
            </a:r>
            <a:r>
              <a:rPr lang="en-US" dirty="0"/>
              <a:t xml:space="preserve">performance–cost </a:t>
            </a:r>
            <a:r>
              <a:rPr lang="zh-CN" altLang="en-US" dirty="0"/>
              <a:t xml:space="preserve">关系。 </a:t>
            </a:r>
          </a:p>
          <a:p>
            <a:endParaRPr lang="zh-CN" altLang="en-US" dirty="0"/>
          </a:p>
          <a:p>
            <a:r>
              <a:rPr lang="zh-CN" altLang="en-US" dirty="0"/>
              <a:t xml:space="preserve">换句话说，固定 </a:t>
            </a:r>
            <a:r>
              <a:rPr lang="en-US" dirty="0"/>
              <a:t xml:space="preserve">token </a:t>
            </a:r>
            <a:r>
              <a:rPr lang="zh-CN" altLang="en-US" dirty="0"/>
              <a:t>预算解决的是“计算量公平性”的科学问题，而性能</a:t>
            </a:r>
            <a:r>
              <a:rPr lang="en-US" altLang="zh-CN" dirty="0"/>
              <a:t>–</a:t>
            </a:r>
            <a:r>
              <a:rPr lang="zh-CN" altLang="en-US" dirty="0"/>
              <a:t xml:space="preserve">成本图回答的是“在真实按 </a:t>
            </a:r>
            <a:r>
              <a:rPr lang="en-US" dirty="0"/>
              <a:t xml:space="preserve">token </a:t>
            </a:r>
            <a:r>
              <a:rPr lang="zh-CN" altLang="en-US" dirty="0"/>
              <a:t xml:space="preserve">收费的环境里，哪种模型家族与架构更划算”的工程问题，这两个视角并不矛盾。 </a:t>
            </a:r>
            <a:endParaRPr lang="en-US" dirty="0"/>
          </a:p>
        </p:txBody>
      </p:sp>
    </p:spTree>
    <p:extLst>
      <p:ext uri="{BB962C8B-B14F-4D97-AF65-F5344CB8AC3E}">
        <p14:creationId xmlns:p14="http://schemas.microsoft.com/office/powerpoint/2010/main" val="484812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 xml:space="preserve">在某些模型家族里，用“强模型做子代理 </a:t>
            </a:r>
            <a:r>
              <a:rPr lang="en-US" altLang="zh-CN" dirty="0"/>
              <a:t xml:space="preserve">+ </a:t>
            </a:r>
            <a:r>
              <a:rPr lang="zh-CN" altLang="en-US" dirty="0"/>
              <a:t>比较弱的模型做编排</a:t>
            </a:r>
            <a:r>
              <a:rPr lang="en-US" altLang="zh-CN" dirty="0"/>
              <a:t>/</a:t>
            </a:r>
            <a:r>
              <a:rPr lang="zh-CN" altLang="en-US" dirty="0"/>
              <a:t>协调者”的异构团队，反而比“所有角色都用最强模型”的同构高配团队表现更好、也更省成本。</a:t>
            </a:r>
            <a:endParaRPr lang="en-US" altLang="zh-CN" dirty="0"/>
          </a:p>
          <a:p>
            <a:endParaRPr lang="en-US" dirty="0"/>
          </a:p>
          <a:p>
            <a:r>
              <a:rPr lang="zh-CN" altLang="en-US" dirty="0"/>
              <a:t>图左边的是中心化（</a:t>
            </a:r>
            <a:r>
              <a:rPr lang="en-US" dirty="0"/>
              <a:t>Centralized）</a:t>
            </a:r>
            <a:r>
              <a:rPr lang="zh-CN" altLang="en-US" dirty="0"/>
              <a:t>多智能体架构，图右边的是去中心化（</a:t>
            </a:r>
            <a:r>
              <a:rPr lang="en-US" dirty="0"/>
              <a:t>Decentralized）</a:t>
            </a:r>
            <a:r>
              <a:rPr lang="zh-CN" altLang="en-US" dirty="0"/>
              <a:t xml:space="preserve">多智能体架构。 </a:t>
            </a:r>
          </a:p>
          <a:p>
            <a:r>
              <a:rPr lang="zh-CN" altLang="en-US" dirty="0"/>
              <a:t>左图“</a:t>
            </a:r>
            <a:r>
              <a:rPr lang="en-US" dirty="0"/>
              <a:t>Centralized”</a:t>
            </a:r>
            <a:r>
              <a:rPr lang="zh-CN" altLang="en-US" dirty="0"/>
              <a:t>对应的架构是：有一个**协调者（</a:t>
            </a:r>
            <a:r>
              <a:rPr lang="en-US" dirty="0"/>
              <a:t>orchestrator）</a:t>
            </a:r>
            <a:r>
              <a:rPr lang="zh-CN" altLang="en-US" dirty="0"/>
              <a:t>加多个子代理（</a:t>
            </a:r>
            <a:r>
              <a:rPr lang="en-US" dirty="0"/>
              <a:t>sub-agents）**</a:t>
            </a:r>
            <a:r>
              <a:rPr lang="zh-CN" altLang="en-US" dirty="0"/>
              <a:t xml:space="preserve">的中心化多智能体系统。 </a:t>
            </a:r>
          </a:p>
          <a:p>
            <a:r>
              <a:rPr lang="zh-CN" altLang="en-US" dirty="0"/>
              <a:t>右图“</a:t>
            </a:r>
            <a:r>
              <a:rPr lang="en-US" dirty="0"/>
              <a:t>Decentralized”</a:t>
            </a:r>
            <a:r>
              <a:rPr lang="zh-CN" altLang="en-US" dirty="0"/>
              <a:t xml:space="preserve">对应的架构是：代理之间进行同伴辩论并通过投票达成一致的去中心化多智能体系统。 </a:t>
            </a:r>
            <a:endParaRPr lang="en-US" dirty="0"/>
          </a:p>
        </p:txBody>
      </p:sp>
    </p:spTree>
    <p:extLst>
      <p:ext uri="{BB962C8B-B14F-4D97-AF65-F5344CB8AC3E}">
        <p14:creationId xmlns:p14="http://schemas.microsoft.com/office/powerpoint/2010/main" val="1512772007"/>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50394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769767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
    <p:spTree>
      <p:nvGrpSpPr>
        <p:cNvPr id="1" name=""/>
        <p:cNvGrpSpPr/>
        <p:nvPr/>
      </p:nvGrpSpPr>
      <p:grpSpPr>
        <a:xfrm>
          <a:off x="0" y="0"/>
          <a:ext cx="0" cy="0"/>
          <a:chOff x="0" y="0"/>
          <a:chExt cx="0" cy="0"/>
        </a:xfrm>
      </p:grpSpPr>
      <p:sp>
        <p:nvSpPr>
          <p:cNvPr id="8" name="文本占位符 7"/>
          <p:cNvSpPr>
            <a:spLocks noGrp="1"/>
          </p:cNvSpPr>
          <p:nvPr>
            <p:ph type="body" sz="quarter" idx="12" hasCustomPrompt="1"/>
          </p:nvPr>
        </p:nvSpPr>
        <p:spPr>
          <a:xfrm>
            <a:off x="760413" y="0"/>
            <a:ext cx="9702248" cy="798513"/>
          </a:xfrm>
          <a:prstGeom prst="rect">
            <a:avLst/>
          </a:prstGeom>
        </p:spPr>
        <p:txBody>
          <a:bodyPr anchor="ctr"/>
          <a:lstStyle>
            <a:lvl1pPr marL="0" indent="0">
              <a:buNone/>
              <a:defRPr sz="2800" b="1">
                <a:solidFill>
                  <a:schemeClr val="accent1"/>
                </a:solidFill>
              </a:defRPr>
            </a:lvl1pPr>
          </a:lstStyle>
          <a:p>
            <a:pPr lvl="0"/>
            <a:r>
              <a:rPr lang="zh-CN" altLang="en-US" dirty="0"/>
              <a:t>编辑母版文本样式</a:t>
            </a:r>
          </a:p>
        </p:txBody>
      </p:sp>
    </p:spTree>
    <p:extLst>
      <p:ext uri="{BB962C8B-B14F-4D97-AF65-F5344CB8AC3E}">
        <p14:creationId xmlns:p14="http://schemas.microsoft.com/office/powerpoint/2010/main" val="2112222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8370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标题幻灯片">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838200" y="6356350"/>
            <a:ext cx="2743200" cy="365125"/>
          </a:xfrm>
          <a:prstGeom prst="rect">
            <a:avLst/>
          </a:prstGeom>
        </p:spPr>
        <p:txBody>
          <a:bodyPr/>
          <a:lstStyle/>
          <a:p>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491194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仅标题页">
    <p:spTree>
      <p:nvGrpSpPr>
        <p:cNvPr id="1" name=""/>
        <p:cNvGrpSpPr/>
        <p:nvPr/>
      </p:nvGrpSpPr>
      <p:grpSpPr>
        <a:xfrm>
          <a:off x="0" y="0"/>
          <a:ext cx="0" cy="0"/>
          <a:chOff x="0" y="0"/>
          <a:chExt cx="0" cy="0"/>
        </a:xfrm>
      </p:grpSpPr>
      <p:sp>
        <p:nvSpPr>
          <p:cNvPr id="2" name="标题 1"/>
          <p:cNvSpPr>
            <a:spLocks noGrp="1"/>
          </p:cNvSpPr>
          <p:nvPr>
            <p:ph type="title"/>
          </p:nvPr>
        </p:nvSpPr>
        <p:spPr>
          <a:xfrm>
            <a:off x="820475" y="123292"/>
            <a:ext cx="10164682" cy="672807"/>
          </a:xfrm>
        </p:spPr>
        <p:txBody>
          <a:bodyPr anchor="ctr">
            <a:noAutofit/>
          </a:bodyPr>
          <a:lstStyle>
            <a:lvl1pPr>
              <a:lnSpc>
                <a:spcPct val="100000"/>
              </a:lnSpc>
              <a:defRPr sz="2800" b="1">
                <a:solidFill>
                  <a:schemeClr val="accent1"/>
                </a:solidFill>
                <a:latin typeface="Calibri" panose="020F0502020204030204" pitchFamily="34" charset="0"/>
                <a:ea typeface="华文楷体" panose="02010600040101010101" pitchFamily="2" charset="-122"/>
                <a:cs typeface="Calibri" panose="020F0502020204030204" pitchFamily="34" charset="0"/>
              </a:defRPr>
            </a:lvl1pPr>
          </a:lstStyle>
          <a:p>
            <a:r>
              <a:rPr lang="en-US" altLang="zh-CN" dirty="0"/>
              <a:t>Click to edit Master title style</a:t>
            </a:r>
            <a:endParaRPr lang="en-US" dirty="0"/>
          </a:p>
        </p:txBody>
      </p:sp>
      <p:cxnSp>
        <p:nvCxnSpPr>
          <p:cNvPr id="6" name="直接连接符 5"/>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9462812"/>
      </p:ext>
    </p:extLst>
  </p:cSld>
  <p:clrMapOvr>
    <a:masterClrMapping/>
  </p:clrMapOvr>
</p:sldLayout>
</file>

<file path=ppt/slideMasters/_rels/slideMaster1.xml.rels><?xml version="1.0" encoding="UTF-8"?><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theme" Target="../theme/theme2.xml"/><Relationship Id="rId4"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501411"/>
      </p:ext>
    </p:extLst>
  </p:cSld>
  <p:clrMap bg1="lt1" tx1="dk1" bg2="lt2" tx2="dk2" accent1="accent1" accent2="accent2" accent3="accent3" accent4="accent4" accent5="accent5" accent6="accent6" hlink="hlink" folHlink="folHlink"/>
  <p:sldLayoutIdLst>
    <p:sldLayoutId id="2147483661" r:id="rId1"/>
    <p:sldLayoutId id="2147483667" r:id="rId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8" name="直接连接符 7"/>
          <p:cNvCxnSpPr/>
          <p:nvPr userDrawn="1"/>
        </p:nvCxnSpPr>
        <p:spPr>
          <a:xfrm>
            <a:off x="820476" y="796099"/>
            <a:ext cx="10626731" cy="0"/>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1026" name="Picture 2" descr="http://www.meridiancapital.com.cn/images/logo.png"/>
          <p:cNvPicPr>
            <a:picLocks noChangeAspect="1" noChangeArrowheads="1"/>
          </p:cNvPicPr>
          <p:nvPr userDrawn="1"/>
        </p:nvPicPr>
        <p:blipFill>
          <a:blip r:embed="rId6" cstate="email"/>
          <a:srcRect/>
          <a:stretch>
            <a:fillRect/>
          </a:stretch>
        </p:blipFill>
        <p:spPr bwMode="auto">
          <a:xfrm>
            <a:off x="10702413" y="189026"/>
            <a:ext cx="1489587" cy="516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151714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hf sldNum="0" hdr="0" ftr="0" dt="0"/>
  <p:txStyles>
    <p:titleStyle>
      <a:lvl1pPr algn="l" defTabSz="914400" rtl="0" eaLnBrk="1" latinLnBrk="0" hangingPunct="1">
        <a:lnSpc>
          <a:spcPct val="90000"/>
        </a:lnSpc>
        <a:spcBef>
          <a:spcPct val="0"/>
        </a:spcBef>
        <a:buNone/>
        <a:defRPr sz="3200" kern="1200">
          <a:solidFill>
            <a:schemeClr val="accent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_rels/slide2.xml.rels><?xml version="1.0" encoding="UTF-8"?><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3.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6.xml"/></Relationships>
</file>

<file path=ppt/slides/_rels/slide4.xml.rels><?xml version="1.0" encoding="UTF-8"?><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6.xml.rels><?xml version="1.0" encoding="UTF-8"?><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7.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12.xml.rels><?xml version="1.0" encoding="UTF-8"?><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4.xml.rels><?xml version="1.0" encoding="UTF-8"?><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_rels/slide15.xml.rels><?xml version="1.0" encoding="UTF-8"?><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637656" y="575136"/>
            <a:ext cx="4331884"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pic>
        <p:nvPicPr>
          <p:cNvPr id="11" name="图片 10"/>
          <p:cNvPicPr>
            <a:picLocks noChangeAspect="1"/>
          </p:cNvPicPr>
          <p:nvPr/>
        </p:nvPicPr>
        <p:blipFill rotWithShape="1">
          <a:blip r:embed="rId3">
            <a:extLst>
              <a:ext uri="{28A0092B-C50C-407E-A947-70E740481C1C}">
                <a14:useLocalDpi xmlns:a14="http://schemas.microsoft.com/office/drawing/2010/main" val="0"/>
              </a:ext>
            </a:extLst>
          </a:blip>
          <a:srcRect t="41722"/>
          <a:stretch>
            <a:fillRect/>
          </a:stretch>
        </p:blipFill>
        <p:spPr>
          <a:xfrm>
            <a:off x="591811" y="1778432"/>
            <a:ext cx="11008378" cy="3608729"/>
          </a:xfrm>
          <a:prstGeom prst="rect">
            <a:avLst/>
          </a:prstGeom>
        </p:spPr>
      </p:pic>
      <p:sp>
        <p:nvSpPr>
          <p:cNvPr id="2" name="矩形 1"/>
          <p:cNvSpPr/>
          <p:nvPr/>
        </p:nvSpPr>
        <p:spPr>
          <a:xfrm>
            <a:off x="591811" y="1778432"/>
            <a:ext cx="11008378" cy="3608729"/>
          </a:xfrm>
          <a:prstGeom prst="rect">
            <a:avLst/>
          </a:prstGeom>
          <a:solidFill>
            <a:schemeClr val="bg1">
              <a:lumMod val="75000"/>
              <a:alpha val="48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9" name="矩形 8"/>
          <p:cNvSpPr/>
          <p:nvPr/>
        </p:nvSpPr>
        <p:spPr>
          <a:xfrm flipH="1">
            <a:off x="1573951" y="575136"/>
            <a:ext cx="45719" cy="5751235"/>
          </a:xfrm>
          <a:prstGeom prst="rect">
            <a:avLst/>
          </a:prstGeom>
          <a:noFill/>
          <a:ln w="1270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grpSp>
        <p:nvGrpSpPr>
          <p:cNvPr id="15" name="组合 14"/>
          <p:cNvGrpSpPr/>
          <p:nvPr/>
        </p:nvGrpSpPr>
        <p:grpSpPr>
          <a:xfrm>
            <a:off x="10846907" y="5160182"/>
            <a:ext cx="453958" cy="453958"/>
            <a:chOff x="5869021" y="5872413"/>
            <a:chExt cx="453958" cy="453958"/>
          </a:xfrm>
        </p:grpSpPr>
        <p:sp>
          <p:nvSpPr>
            <p:cNvPr id="17" name="矩形 16"/>
            <p:cNvSpPr/>
            <p:nvPr/>
          </p:nvSpPr>
          <p:spPr>
            <a:xfrm>
              <a:off x="5869021" y="5872413"/>
              <a:ext cx="453958" cy="45395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楷体" panose="02010609060101010101" pitchFamily="49" charset="-122"/>
                <a:cs typeface="+mn-ea"/>
                <a:sym typeface="+mn-lt"/>
              </a:endParaRPr>
            </a:p>
          </p:txBody>
        </p:sp>
        <p:sp>
          <p:nvSpPr>
            <p:cNvPr id="18" name="箭头: V 形 17"/>
            <p:cNvSpPr/>
            <p:nvPr/>
          </p:nvSpPr>
          <p:spPr>
            <a:xfrm rot="5400000">
              <a:off x="5997358" y="5972932"/>
              <a:ext cx="197284" cy="252920"/>
            </a:xfrm>
            <a:prstGeom prst="chevron">
              <a:avLst>
                <a:gd name="adj" fmla="val 725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Arial" panose="020B0604020202020204"/>
                <a:ea typeface="楷体" panose="02010609060101010101" pitchFamily="49" charset="-122"/>
                <a:cs typeface="+mn-ea"/>
                <a:sym typeface="+mn-lt"/>
              </a:endParaRPr>
            </a:p>
          </p:txBody>
        </p:sp>
      </p:grpSp>
      <p:sp>
        <p:nvSpPr>
          <p:cNvPr id="5" name="文本框 4"/>
          <p:cNvSpPr txBox="1"/>
          <p:nvPr/>
        </p:nvSpPr>
        <p:spPr>
          <a:xfrm>
            <a:off x="2900000" y="4664202"/>
            <a:ext cx="6400000"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Interactive Physical Reasoner</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 xml:space="preserve">  ·  2026</a:t>
            </a:r>
            <a:r>
              <a:rPr lang="en-US" altLang="zh-CN" dirty="0">
                <a:solidFill>
                  <a:srgbClr val="000000"/>
                </a:solidFill>
                <a:latin typeface="Calibri" panose="020F0502020204030204" pitchFamily="34" charset="0"/>
                <a:ea typeface="楷体" panose="02010609060101010101" pitchFamily="49" charset="-122"/>
                <a:cs typeface="Calibri" panose="020F0502020204030204" pitchFamily="34" charset="0"/>
                <a:sym typeface="+mn-lt"/>
              </a:rPr>
              <a:t>年5</a:t>
            </a:r>
            <a:r>
              <a:rPr kumimoji="0" lang="zh-CN" altLang="en-US" sz="1800" b="0" i="0" u="none" strike="noStrike" kern="1200" cap="none" spc="0" normalizeH="0" baseline="0" noProof="0" dirty="0">
                <a:ln>
                  <a:noFill/>
                </a:ln>
                <a:solidFill>
                  <a:srgbClr val="000000"/>
                </a:solidFill>
                <a:effectLst/>
                <a:uLnTx/>
                <a:uFillTx/>
                <a:latin typeface="Calibri" panose="020F0502020204030204" pitchFamily="34" charset="0"/>
                <a:ea typeface="楷体" panose="02010609060101010101" pitchFamily="49" charset="-122"/>
                <a:cs typeface="Calibri" panose="020F0502020204030204" pitchFamily="34" charset="0"/>
                <a:sym typeface="+mn-lt"/>
              </a:rPr>
              <a:t>月</a:t>
            </a:r>
          </a:p>
        </p:txBody>
      </p:sp>
      <p:pic>
        <p:nvPicPr>
          <p:cNvPr id="12" name="图片 11"/>
          <p:cNvPicPr>
            <a:picLocks noChangeAspect="1"/>
          </p:cNvPicPr>
          <p:nvPr/>
        </p:nvPicPr>
        <p:blipFill>
          <a:blip r:embed="rId4"/>
          <a:stretch>
            <a:fillRect/>
          </a:stretch>
        </p:blipFill>
        <p:spPr>
          <a:xfrm>
            <a:off x="2721062" y="864162"/>
            <a:ext cx="2207110" cy="687291"/>
          </a:xfrm>
          <a:prstGeom prst="rect">
            <a:avLst/>
          </a:prstGeom>
        </p:spPr>
      </p:pic>
      <p:sp>
        <p:nvSpPr>
          <p:cNvPr id="7" name="文本框 6"/>
          <p:cNvSpPr txBox="1"/>
          <p:nvPr/>
        </p:nvSpPr>
        <p:spPr>
          <a:xfrm>
            <a:off x="2900000" y="2967335"/>
            <a:ext cx="6400000" cy="92333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srgbClr val="000000">
                    <a:lumMod val="75000"/>
                    <a:lumOff val="25000"/>
                  </a:srgbClr>
                </a:solidFill>
                <a:effectLst/>
                <a:uLnTx/>
                <a:uFillTx/>
                <a:latin typeface="华文楷体" panose="02010600040101010101" pitchFamily="2" charset="-122"/>
                <a:ea typeface="华文楷体" panose="02010600040101010101" pitchFamily="2" charset="-122"/>
                <a:cs typeface="+mn-cs"/>
              </a:rPr>
              <a:t>IPR-1 论文解读</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lang="en-US" b="1" dirty="0" err="1">
                <a:solidFill>
                  <a:schemeClr val="accent1"/>
                </a:solidFill>
              </a:rPr>
              <a:t>目录</a:t>
            </a:r>
            <a:endParaRPr b="1" dirty="0">
              <a:solidFill>
                <a:schemeClr val="accent1"/>
              </a:solidFill>
            </a:endParaRP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477328"/>
          </a:xfrm>
          <a:prstGeom prst="rect">
            <a:avLst/>
          </a:prstGeom>
          <a:noFill/>
        </p:spPr>
        <p:txBody>
          <a:bodyPr wrap="square">
            <a:spAutoFit/>
          </a:bodyPr>
          <a:lstStyle/>
          <a:p>
            <a:r>
              <a:rPr lang="en-US" dirty="0"/>
              <a:t xml:space="preserve">• </a:t>
            </a:r>
            <a:r>
              <a:rPr lang="zh-CN" altLang="en-US" dirty="0"/>
              <a:t>第一部分：论文核心创新点（PhysCode、世界模型评分、预测在环GRPO）。</a:t>
            </a:r>
            <a:endParaRPr lang="en-US" dirty="0"/>
          </a:p>
          <a:p>
            <a:r>
              <a:rPr lang="en-US" dirty="0"/>
              <a:t xml:space="preserve">• </a:t>
            </a:r>
            <a:r>
              <a:rPr lang="zh-CN" altLang="en-US" dirty="0"/>
              <a:t>第二部分：论文主要发现（8B骨干超越GPT-5，能力随经验单调缩放）。</a:t>
            </a:r>
          </a:p>
          <a:p>
            <a:r>
              <a:rPr dirty="0"/>
              <a:t xml:space="preserve">• </a:t>
            </a:r>
            <a:r>
              <a:rPr dirty="0"/>
              <a:t>第三部分：论文主要贡献（G2U基准、IPR范式、PhysCode动作空间）。</a:t>
            </a:r>
          </a:p>
          <a:p>
            <a:r>
              <a:rPr dirty="0"/>
              <a:t>• 第四部分：按原文图1到图6逐页解读证据与机制。</a:t>
            </a:r>
          </a:p>
          <a:p>
            <a:r>
              <a:rPr dirty="0"/>
              <a:t xml:space="preserve">• </a:t>
            </a:r>
            <a:r>
              <a:rPr dirty="0"/>
              <a:t>第五部分：方法核心公式、实验缩放与未来展望。</a:t>
            </a:r>
          </a:p>
        </p:txBody>
      </p:sp>
      <p:pic>
        <p:nvPicPr>
          <p:cNvPr id="9" name="图片 11">
            <a:extLst>
              <a:ext uri="{FF2B5EF4-FFF2-40B4-BE49-F238E27FC236}">
                <a16:creationId xmlns:a16="http://schemas.microsoft.com/office/drawing/2014/main" id="{250D6EF6-E290-DB59-6252-7A2C142C9435}"/>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19432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a:solidFill>
                  <a:schemeClr val="accent1"/>
                </a:solidFill>
              </a:rPr>
              <a:t>主要创新点：从“模仿外观”升级为“理解物理机制”</a:t>
            </a:r>
          </a:p>
        </p:txBody>
      </p:sp>
      <p:sp>
        <p:nvSpPr>
          <p:cNvPr id="4" name="TextBox 3"/>
          <p:cNvSpPr txBox="1"/>
          <p:nvPr/>
        </p:nvSpPr>
        <p:spPr>
          <a:xfrm>
            <a:off x="676656" y="877824"/>
            <a:ext cx="9692640" cy="279564"/>
          </a:xfrm>
          <a:prstGeom prst="rect">
            <a:avLst/>
          </a:prstGeom>
          <a:noFill/>
        </p:spPr>
        <p:txBody>
          <a:bodyPr wrap="square">
            <a:spAutoFit/>
          </a:bodyPr>
          <a:lstStyle/>
          <a:p>
            <a:r>
              <a:t>用预测在环把世界模型预测与VLM推理统一到物理中心化潜在动作空间</a:t>
            </a:r>
          </a:p>
        </p:txBody>
      </p:sp>
      <p:grpSp>
        <p:nvGrpSpPr>
          <p:cNvPr id="5" name="Group 4">
            <a:extLst>
              <a:ext uri="{FF2B5EF4-FFF2-40B4-BE49-F238E27FC236}">
                <a16:creationId xmlns:a16="http://schemas.microsoft.com/office/drawing/2014/main" id="{6D9C2101-A6BF-F306-52D1-079E6187C064}"/>
              </a:ext>
            </a:extLst>
          </p:cNvPr>
          <p:cNvGrpSpPr/>
          <p:nvPr/>
        </p:nvGrpSpPr>
        <p:grpSpPr>
          <a:xfrm>
            <a:off x="1165146" y="5074072"/>
            <a:ext cx="10333608" cy="1555328"/>
            <a:chOff x="604672" y="1280756"/>
            <a:chExt cx="4900000" cy="4773169"/>
          </a:xfrm>
        </p:grpSpPr>
        <p:sp>
          <p:nvSpPr>
            <p:cNvPr id="6" name="Rounded Rectangle 5"/>
            <p:cNvSpPr/>
            <p:nvPr/>
          </p:nvSpPr>
          <p:spPr>
            <a:xfrm>
              <a:off x="604672" y="1280756"/>
              <a:ext cx="4900000" cy="4773169"/>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04672" y="1790067"/>
              <a:ext cx="4500000" cy="3754548"/>
            </a:xfrm>
            <a:prstGeom prst="rect">
              <a:avLst/>
            </a:prstGeom>
            <a:noFill/>
          </p:spPr>
          <p:txBody>
            <a:bodyPr wrap="square">
              <a:spAutoFit/>
            </a:bodyPr>
            <a:lstStyle/>
            <a:p>
              <a:pPr algn="l">
                <a:spcBef>
                  <a:spcPts val="0"/>
                </a:spcBef>
                <a:spcAft>
                  <a:spcPts val="700"/>
                </a:spcAft>
              </a:pPr>
              <a:r>
                <a:rPr lang="en-US" sz="1400" dirty="0"/>
                <a:t xml:space="preserve">• </a:t>
              </a:r>
              <a:r>
                <a:rPr lang="zh-CN" altLang="en-US" sz="1400" dirty="0"/>
                <a:t>创新1：提出G2U（Game-to-Unseen）问题与1000+异构游戏，迫使模型抓共享物理而非外观。</a:t>
              </a:r>
              <a:endParaRPr lang="en-US" altLang="zh-CN" sz="1400" dirty="0"/>
            </a:p>
            <a:p>
              <a:pPr algn="l">
                <a:spcBef>
                  <a:spcPts val="0"/>
                </a:spcBef>
                <a:spcAft>
                  <a:spcPts val="700"/>
                </a:spcAft>
              </a:pPr>
              <a:r>
                <a:rPr lang="en-US" altLang="zh-CN" sz="1400" dirty="0"/>
                <a:t xml:space="preserve">• </a:t>
              </a:r>
              <a:r>
                <a:rPr lang="zh-CN" altLang="en-US" sz="1400" dirty="0"/>
                <a:t>创新2：PhysCode物理中心化离散动作码，跨游戏共享而非按键级硬绑定。</a:t>
              </a:r>
              <a:endParaRPr lang="en-US" altLang="zh-CN" sz="1400" dirty="0"/>
            </a:p>
            <a:p>
              <a:pPr algn="l">
                <a:spcBef>
                  <a:spcPts val="0"/>
                </a:spcBef>
                <a:spcAft>
                  <a:spcPts val="700"/>
                </a:spcAft>
              </a:pPr>
              <a:r>
                <a:rPr sz="1400" dirty="0"/>
                <a:t>• 创新3：世界模型短程rollout为VLM动作打分，把"想象"转化为优化奖励。</a:t>
              </a:r>
              <a:endParaRPr sz="1400" dirty="0"/>
            </a:p>
            <a:p>
              <a:r>
                <a:rPr sz="1400" dirty="0"/>
                <a:t>• 创新4：用GRPO以预测优势强化VLM策略，形成"预测-推理"在环闭环。</a:t>
              </a:r>
            </a:p>
          </p:txBody>
        </p:sp>
      </p:grpSp>
      <p:pic>
        <p:nvPicPr>
          <p:cNvPr id="12" name="图片 11">
            <a:extLst>
              <a:ext uri="{FF2B5EF4-FFF2-40B4-BE49-F238E27FC236}">
                <a16:creationId xmlns:a16="http://schemas.microsoft.com/office/drawing/2014/main" id="{BFDDFE6E-EA1A-D7D6-B770-0D9C20C6EAE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2580702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a:solidFill>
                  <a:schemeClr val="accent1"/>
                </a:solidFill>
              </a:rPr>
              <a:t>主要发现：8B骨干在G2U基准上整体超越GPT-5</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三层评估 Survival/Curiosity/Utility 均稳健，能力随经验单调缩放</a:t>
            </a:r>
          </a:p>
        </p:txBody>
      </p:sp>
      <p:grpSp>
        <p:nvGrpSpPr>
          <p:cNvPr id="5" name="Group 4">
            <a:extLst>
              <a:ext uri="{FF2B5EF4-FFF2-40B4-BE49-F238E27FC236}">
                <a16:creationId xmlns:a16="http://schemas.microsoft.com/office/drawing/2014/main" id="{FC5915E9-91C5-9C15-39BE-414ED70C7357}"/>
              </a:ext>
            </a:extLst>
          </p:cNvPr>
          <p:cNvGrpSpPr/>
          <p:nvPr/>
        </p:nvGrpSpPr>
        <p:grpSpPr>
          <a:xfrm>
            <a:off x="658368" y="1389888"/>
            <a:ext cx="3615249" cy="4773168"/>
            <a:chOff x="658368" y="1389888"/>
            <a:chExt cx="4900000" cy="4773168"/>
          </a:xfrm>
        </p:grpSpPr>
        <p:sp>
          <p:nvSpPr>
            <p:cNvPr id="6" name="Rounded Rectangle 5"/>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p:cNvSpPr txBox="1"/>
            <p:nvPr/>
          </p:nvSpPr>
          <p:spPr>
            <a:xfrm>
              <a:off x="822960" y="1783080"/>
              <a:ext cx="4500000" cy="3337388"/>
            </a:xfrm>
            <a:prstGeom prst="rect">
              <a:avLst/>
            </a:prstGeom>
            <a:noFill/>
          </p:spPr>
          <p:txBody>
            <a:bodyPr wrap="square">
              <a:spAutoFit/>
            </a:bodyPr>
            <a:lstStyle/>
            <a:p>
              <a:pPr algn="l">
                <a:lnSpc>
                  <a:spcPct val="116000"/>
                </a:lnSpc>
                <a:spcBef>
                  <a:spcPts val="0"/>
                </a:spcBef>
                <a:spcAft>
                  <a:spcPts val="700"/>
                </a:spcAft>
              </a:pPr>
              <a:r>
                <a:rPr sz="1400" dirty="0"/>
                <a:t xml:space="preserve">• 发现1：IPR综合排名 </a:t>
              </a:r>
              <a:r>
                <a:rPr sz="1400" b="1" dirty="0"/>
                <a:t>4.9/30</a:t>
              </a:r>
              <a:r>
                <a:rPr sz="1400" dirty="0"/>
                <a:t>，整体强于 GPT-5、DreamerV3、V-JEPA2 及各 RL 基线。</a:t>
              </a:r>
              <a:endParaRPr lang="en-US" sz="1400" dirty="0"/>
            </a:p>
            <a:p>
              <a:pPr algn="l">
                <a:lnSpc>
                  <a:spcPct val="116000"/>
                </a:lnSpc>
                <a:spcBef>
                  <a:spcPts val="0"/>
                </a:spcBef>
                <a:spcAft>
                  <a:spcPts val="700"/>
                </a:spcAft>
              </a:pPr>
              <a:r>
                <a:rPr sz="1400" dirty="0"/>
                <a:t>• 发现2：Survival层位列第1（Mean 0.252，远超第二名 GPT-5 的 0.140）。</a:t>
              </a:r>
              <a:endParaRPr lang="en-US" sz="1400" dirty="0"/>
            </a:p>
            <a:p>
              <a:pPr algn="l">
                <a:lnSpc>
                  <a:spcPct val="116000"/>
                </a:lnSpc>
                <a:spcBef>
                  <a:spcPts val="0"/>
                </a:spcBef>
                <a:spcAft>
                  <a:spcPts val="700"/>
                </a:spcAft>
              </a:pPr>
              <a:r>
                <a:rPr sz="1400" dirty="0"/>
                <a:t>• 发现3：训练游戏数 N 增大时，Survival/Curiosity/Utility 三项零样本性能稳步上升。</a:t>
              </a:r>
              <a:endParaRPr lang="en-US" sz="1400" dirty="0"/>
            </a:p>
            <a:p>
              <a:pPr algn="l">
                <a:lnSpc>
                  <a:spcPct val="116000"/>
                </a:lnSpc>
                <a:spcBef>
                  <a:spcPts val="0"/>
                </a:spcBef>
                <a:spcAft>
                  <a:spcPts val="700"/>
                </a:spcAft>
              </a:pPr>
              <a:r>
                <a:rPr sz="1400" dirty="0"/>
                <a:t>• 发现4：基线方法均有短板——预测型偏Curiosity弱Utility，RL偏Utility弱Curiosity。</a:t>
              </a:r>
            </a:p>
          </p:txBody>
        </p:sp>
      </p:grpSp>
      <p:pic>
        <p:nvPicPr>
          <p:cNvPr id="12" name="图片 11">
            <a:extLst>
              <a:ext uri="{FF2B5EF4-FFF2-40B4-BE49-F238E27FC236}">
                <a16:creationId xmlns:a16="http://schemas.microsoft.com/office/drawing/2014/main" id="{E8F9F1FC-F284-020F-1F78-D30A3159FDB1}"/>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p:cNvPicPr>
            <a:picLocks noChangeAspect="1"/>
          </p:cNvPicPr>
          <p:nvPr/>
        </p:nvPicPr>
        <p:blipFill>
          <a:blip r:embed="rId4"/>
          <a:stretch>
            <a:fillRect/>
          </a:stretch>
        </p:blipFill>
        <p:spPr>
          <a:xfrm>
            <a:off x="4360908" y="1401106"/>
            <a:ext cx="7172724" cy="526385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97022-F9BD-C816-5EFB-A704650420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082E560-F4FC-ABF7-685F-122968B602D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D1B063CA-15F7-F773-048F-94E5629D57FF}"/>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主要贡献：问题、数据、方法与实证四层闭环</a:t>
            </a:r>
            <a:endParaRPr b="1" dirty="0">
              <a:solidFill>
                <a:schemeClr val="accent1"/>
              </a:solidFill>
            </a:endParaRPr>
          </a:p>
        </p:txBody>
      </p:sp>
      <p:sp>
        <p:nvSpPr>
          <p:cNvPr id="4" name="TextBox 3">
            <a:extLst>
              <a:ext uri="{FF2B5EF4-FFF2-40B4-BE49-F238E27FC236}">
                <a16:creationId xmlns:a16="http://schemas.microsoft.com/office/drawing/2014/main" id="{DC6E33D4-2714-5197-7F12-7A6769D22D87}"/>
              </a:ext>
            </a:extLst>
          </p:cNvPr>
          <p:cNvSpPr txBox="1"/>
          <p:nvPr/>
        </p:nvSpPr>
        <p:spPr>
          <a:xfrm>
            <a:off x="676656" y="877824"/>
            <a:ext cx="9692640" cy="369332"/>
          </a:xfrm>
          <a:prstGeom prst="rect">
            <a:avLst/>
          </a:prstGeom>
          <a:noFill/>
        </p:spPr>
        <p:txBody>
          <a:bodyPr wrap="square">
            <a:spAutoFit/>
          </a:bodyPr>
          <a:lstStyle/>
          <a:p>
            <a:r>
              <a:rPr dirty="0"/>
              <a:t>不仅给出单点指标，还提供可复验的研究范式与开放数据</a:t>
            </a:r>
          </a:p>
        </p:txBody>
      </p:sp>
      <p:sp>
        <p:nvSpPr>
          <p:cNvPr id="6" name="Rounded Rectangle 5">
            <a:extLst>
              <a:ext uri="{FF2B5EF4-FFF2-40B4-BE49-F238E27FC236}">
                <a16:creationId xmlns:a16="http://schemas.microsoft.com/office/drawing/2014/main" id="{990F5864-CBF1-FD25-4B65-DC8E6B854596}"/>
              </a:ext>
            </a:extLst>
          </p:cNvPr>
          <p:cNvSpPr/>
          <p:nvPr/>
        </p:nvSpPr>
        <p:spPr>
          <a:xfrm>
            <a:off x="658368" y="1389887"/>
            <a:ext cx="10543162" cy="5239513"/>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BA1B8104-1CEE-7BD6-5AE9-0E6A111D0BC2}"/>
              </a:ext>
            </a:extLst>
          </p:cNvPr>
          <p:cNvSpPr txBox="1"/>
          <p:nvPr/>
        </p:nvSpPr>
        <p:spPr>
          <a:xfrm>
            <a:off x="822959" y="1783080"/>
            <a:ext cx="10193383" cy="2013628"/>
          </a:xfrm>
          <a:prstGeom prst="rect">
            <a:avLst/>
          </a:prstGeom>
          <a:noFill/>
        </p:spPr>
        <p:txBody>
          <a:bodyPr wrap="square">
            <a:spAutoFit/>
          </a:bodyPr>
          <a:lstStyle/>
          <a:p>
            <a:pPr algn="l">
              <a:lnSpc>
                <a:spcPct val="116000"/>
              </a:lnSpc>
              <a:spcBef>
                <a:spcPts val="0"/>
              </a:spcBef>
              <a:spcAft>
                <a:spcPts val="700"/>
              </a:spcAft>
            </a:pPr>
            <a:r>
              <a:rPr dirty="0"/>
              <a:t>• 问题贡献：形式化 Game-to-Unseen (G2U) 问题与三层评估（Maslow启发的 Survival/Curiosity/Utility）。</a:t>
            </a:r>
            <a:endParaRPr lang="en-US" sz="1500" dirty="0">
              <a:solidFill>
                <a:srgbClr val="2D2D2D"/>
              </a:solidFill>
            </a:endParaRPr>
          </a:p>
          <a:p>
            <a:pPr algn="l">
              <a:lnSpc>
                <a:spcPct val="116000"/>
              </a:lnSpc>
              <a:spcBef>
                <a:spcPts val="0"/>
              </a:spcBef>
              <a:spcAft>
                <a:spcPts val="700"/>
              </a:spcAft>
            </a:pPr>
            <a:r>
              <a:rPr dirty="0"/>
              <a:t>• 数据贡献：开放 1000+ 异构游戏（863 retro + 134 HTML + 3 商业），覆盖七个多样性轴。</a:t>
            </a:r>
            <a:endParaRPr lang="en-US" dirty="0"/>
          </a:p>
          <a:p>
            <a:pPr algn="l">
              <a:lnSpc>
                <a:spcPct val="116000"/>
              </a:lnSpc>
              <a:spcBef>
                <a:spcPts val="0"/>
              </a:spcBef>
              <a:spcAft>
                <a:spcPts val="700"/>
              </a:spcAft>
            </a:pPr>
            <a:r>
              <a:rPr dirty="0"/>
              <a:t>• 方法贡献：提出 IPR 范式与 PhysCode 物理动作码，统一 WM 预测与 VLM 推理的潜在动作空间。</a:t>
            </a:r>
            <a:endParaRPr lang="en-US" dirty="0"/>
          </a:p>
          <a:p>
            <a:pPr algn="l">
              <a:lnSpc>
                <a:spcPct val="116000"/>
              </a:lnSpc>
              <a:spcBef>
                <a:spcPts val="0"/>
              </a:spcBef>
              <a:spcAft>
                <a:spcPts val="700"/>
              </a:spcAft>
            </a:pPr>
            <a:r>
              <a:rPr dirty="0"/>
              <a:t>• 实证贡献：在 200 款游戏上对比 28 种基线，并报告消融实验、缩放曲线与零样本迁移结果。</a:t>
            </a:r>
            <a:endParaRPr lang="en-US" dirty="0"/>
          </a:p>
          <a:p>
            <a:pPr algn="l">
              <a:lnSpc>
                <a:spcPct val="116000"/>
              </a:lnSpc>
              <a:spcBef>
                <a:spcPts val="0"/>
              </a:spcBef>
              <a:spcAft>
                <a:spcPts val="700"/>
              </a:spcAft>
            </a:pPr>
            <a:r>
              <a:rPr dirty="0"/>
              <a:t>• 工程贡献：基于 Qwen3-VL-8B + 世界模型 + GRPO 给出可复现 pipeline，8B 骨干即可超越 GPT-5。</a:t>
            </a:r>
          </a:p>
        </p:txBody>
      </p:sp>
      <p:pic>
        <p:nvPicPr>
          <p:cNvPr id="12" name="图片 11">
            <a:extLst>
              <a:ext uri="{FF2B5EF4-FFF2-40B4-BE49-F238E27FC236}">
                <a16:creationId xmlns:a16="http://schemas.microsoft.com/office/drawing/2014/main" id="{DA0879EF-A5B0-27B7-D5DC-7D6550013730}"/>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141044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逐图深度解读：从问题设定走向方法与证据</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接下来按原文图1-图6依次理清每张图回答的核心问题</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2013628"/>
          </a:xfrm>
          <a:prstGeom prst="rect">
            <a:avLst/>
          </a:prstGeom>
          <a:noFill/>
        </p:spPr>
        <p:txBody>
          <a:bodyPr wrap="square">
            <a:spAutoFit/>
          </a:bodyPr>
          <a:lstStyle/>
          <a:p>
            <a:pPr algn="l">
              <a:lnSpc>
                <a:spcPct val="116000"/>
              </a:lnSpc>
              <a:spcBef>
                <a:spcPts val="0"/>
              </a:spcBef>
              <a:spcAft>
                <a:spcPts val="700"/>
              </a:spcAft>
            </a:pPr>
            <a:r>
              <a:rPr dirty="0"/>
              <a:t>• 图1 G2U 问题：为何要在 1000+ 异构游戏上学共享物理。</a:t>
            </a:r>
            <a:endParaRPr lang="en-US" dirty="0"/>
          </a:p>
          <a:p>
            <a:pPr algn="l">
              <a:lnSpc>
                <a:spcPct val="116000"/>
              </a:lnSpc>
              <a:spcBef>
                <a:spcPts val="0"/>
              </a:spcBef>
              <a:spcAft>
                <a:spcPts val="700"/>
              </a:spcAft>
            </a:pPr>
            <a:r>
              <a:rPr dirty="0"/>
              <a:t>• 图2 三层评估金字塔：从 Survival 到 Utility 逐层加深的能力维度。</a:t>
            </a:r>
            <a:endParaRPr lang="en-US" dirty="0"/>
          </a:p>
          <a:p>
            <a:pPr algn="l">
              <a:lnSpc>
                <a:spcPct val="116000"/>
              </a:lnSpc>
              <a:spcBef>
                <a:spcPts val="0"/>
              </a:spcBef>
              <a:spcAft>
                <a:spcPts val="700"/>
              </a:spcAft>
            </a:pPr>
            <a:r>
              <a:rPr dirty="0"/>
              <a:t>• 图3 失败案例：键盘混淆、语言模糊、缺乏前瞻为何不行。</a:t>
            </a:r>
            <a:endParaRPr lang="en-US" dirty="0"/>
          </a:p>
          <a:p>
            <a:pPr algn="l">
              <a:lnSpc>
                <a:spcPct val="116000"/>
              </a:lnSpc>
              <a:spcBef>
                <a:spcPts val="0"/>
              </a:spcBef>
              <a:spcAft>
                <a:spcPts val="700"/>
              </a:spcAft>
            </a:pPr>
            <a:r>
              <a:rPr dirty="0"/>
              <a:t>• 图4 动作语义词云：跨域共享语义为 PhysCode 提供天然结构先验。</a:t>
            </a:r>
            <a:endParaRPr lang="en-US" dirty="0"/>
          </a:p>
          <a:p>
            <a:pPr algn="l">
              <a:lnSpc>
                <a:spcPct val="116000"/>
              </a:lnSpc>
              <a:spcBef>
                <a:spcPts val="0"/>
              </a:spcBef>
              <a:spcAft>
                <a:spcPts val="700"/>
              </a:spcAft>
            </a:pPr>
            <a:r>
              <a:rPr dirty="0"/>
              <a:t>• 图5 IPR 三阶段管线：PhysCode 预训练 → 世界模型学习 → 预测在环 GRPO；图6 数据分布。</a:t>
            </a:r>
          </a:p>
        </p:txBody>
      </p:sp>
      <p:pic>
        <p:nvPicPr>
          <p:cNvPr id="9" name="图片 11">
            <a:extLst>
              <a:ext uri="{FF2B5EF4-FFF2-40B4-BE49-F238E27FC236}">
                <a16:creationId xmlns:a16="http://schemas.microsoft.com/office/drawing/2014/main" id="{D6161145-8687-472E-1628-987A8FF3CE75}"/>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FA997-489F-9B2F-79F7-C80B273B3CE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EA03209-782E-0052-5968-B67AA293801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803A4D4-1CA4-38DB-57A4-BA0BF2D4EF73}"/>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1</a:t>
            </a:r>
            <a:r>
              <a:rPr lang="zh-CN" altLang="en-US" b="1" dirty="0">
                <a:solidFill>
                  <a:schemeClr val="accent1"/>
                </a:solidFill>
              </a:rPr>
              <a:t>解读：人类靠交互积累物理与因果，agent 也应如此</a:t>
            </a:r>
          </a:p>
        </p:txBody>
      </p:sp>
      <p:sp>
        <p:nvSpPr>
          <p:cNvPr id="4" name="TextBox 3">
            <a:extLst>
              <a:ext uri="{FF2B5EF4-FFF2-40B4-BE49-F238E27FC236}">
                <a16:creationId xmlns:a16="http://schemas.microsoft.com/office/drawing/2014/main" id="{831B1BCF-7E89-4C4C-CBB7-E6CB262DBD0C}"/>
              </a:ext>
            </a:extLst>
          </p:cNvPr>
          <p:cNvSpPr txBox="1"/>
          <p:nvPr/>
        </p:nvSpPr>
        <p:spPr>
          <a:xfrm>
            <a:off x="676656" y="877824"/>
            <a:ext cx="9692640" cy="279564"/>
          </a:xfrm>
          <a:prstGeom prst="rect">
            <a:avLst/>
          </a:prstGeom>
          <a:noFill/>
        </p:spPr>
        <p:txBody>
          <a:bodyPr wrap="square">
            <a:spAutoFit/>
          </a:bodyPr>
          <a:lstStyle/>
          <a:p>
            <a:r>
              <a:t>异构外观下游戏共享相同物理机制，正是跨域迁移的桥梁</a:t>
            </a:r>
          </a:p>
        </p:txBody>
      </p:sp>
      <p:grpSp>
        <p:nvGrpSpPr>
          <p:cNvPr id="5" name="Group 4">
            <a:extLst>
              <a:ext uri="{FF2B5EF4-FFF2-40B4-BE49-F238E27FC236}">
                <a16:creationId xmlns:a16="http://schemas.microsoft.com/office/drawing/2014/main" id="{C0E39660-D457-A2C0-B2F2-7235B1708694}"/>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C2CFCB56-1B98-30B0-7981-5207569C971B}"/>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F4EF040-EA97-AD13-F24C-A2864079B93F}"/>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xml:space="preserve">• </a:t>
              </a:r>
              <a:r>
                <a:rPr lang="zh-CN" altLang="en-US" sz="1400" dirty="0"/>
                <a:t>核心命题：能否让 agent 像人一样从交互中蒸馏共享物理机制并迁移到全新游戏。</a:t>
              </a:r>
            </a:p>
            <a:p>
              <a:pPr>
                <a:spcAft>
                  <a:spcPts val="700"/>
                </a:spcAft>
              </a:pPr>
              <a:r>
                <a:rPr lang="en-US" altLang="zh-CN" sz="1400" dirty="0"/>
                <a:t xml:space="preserve">• </a:t>
              </a:r>
              <a:r>
                <a:rPr lang="zh-CN" altLang="en-US" sz="1400" dirty="0"/>
                <a:t>1000+ 异构游戏让外观、控制接口、物理参数在训练分布中尽可能多样。</a:t>
              </a:r>
            </a:p>
            <a:p>
              <a:pPr>
                <a:spcAft>
                  <a:spcPts val="700"/>
                </a:spcAft>
              </a:pPr>
              <a:r>
                <a:rPr lang="en-US" altLang="zh-CN" sz="1400" dirty="0"/>
                <a:t xml:space="preserve">• </a:t>
              </a:r>
              <a:r>
                <a:rPr lang="zh-CN" altLang="en-US" sz="1400" dirty="0"/>
                <a:t>"Game-to-Unseen" 评估 agent 在完全没见过的游戏上的零样本能力。</a:t>
              </a:r>
            </a:p>
            <a:p>
              <a:pPr>
                <a:spcAft>
                  <a:spcPts val="700"/>
                </a:spcAft>
              </a:pPr>
              <a:r>
                <a:rPr lang="en-US" altLang="zh-CN" sz="1400" dirty="0"/>
                <a:t xml:space="preserve">• </a:t>
              </a:r>
              <a:r>
                <a:rPr lang="zh-CN" altLang="en-US" sz="1400" dirty="0"/>
                <a:t>这一设定排除"特定游戏过拟合"路径，迫使模型抓真正可迁移的物理结构。</a:t>
              </a:r>
            </a:p>
          </p:txBody>
        </p:sp>
      </p:grpSp>
      <p:pic>
        <p:nvPicPr>
          <p:cNvPr id="12" name="图片 11">
            <a:extLst>
              <a:ext uri="{FF2B5EF4-FFF2-40B4-BE49-F238E27FC236}">
                <a16:creationId xmlns:a16="http://schemas.microsoft.com/office/drawing/2014/main" id="{86CA906E-E902-BFA0-FD82-9724A14A9620}"/>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3" name="Picture 12" descr="slide_03_fit.png">
            <a:extLst>
              <a:ext uri="{FF2B5EF4-FFF2-40B4-BE49-F238E27FC236}">
                <a16:creationId xmlns:a16="http://schemas.microsoft.com/office/drawing/2014/main" id="{4AA3A080-79B2-6290-2D9B-636160DCDC2D}"/>
              </a:ext>
            </a:extLst>
          </p:cNvPr>
          <p:cNvPicPr>
            <a:picLocks noChangeAspect="1"/>
          </p:cNvPicPr>
          <p:nvPr/>
        </p:nvPicPr>
        <p:blipFill>
          <a:blip r:embed="rId3"/>
          <a:stretch>
            <a:fillRect/>
          </a:stretch>
        </p:blipFill>
        <p:spPr>
          <a:xfrm>
            <a:off x="1459243" y="1488932"/>
            <a:ext cx="8910053" cy="3358404"/>
          </a:xfrm>
          <a:prstGeom prst="rect">
            <a:avLst/>
          </a:prstGeom>
        </p:spPr>
      </p:pic>
    </p:spTree>
    <p:extLst>
      <p:ext uri="{BB962C8B-B14F-4D97-AF65-F5344CB8AC3E}">
        <p14:creationId xmlns:p14="http://schemas.microsoft.com/office/powerpoint/2010/main" val="1210229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FCBB-E62D-C4DF-0EBF-1426E1BF706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0FAF407-6C34-CEAB-20A4-DB69D8889AA5}"/>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B7B0B496-0834-E43C-E3E8-36C18BFED06C}"/>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2</a:t>
            </a:r>
            <a:r>
              <a:rPr lang="zh-CN" altLang="en-US" b="1" dirty="0">
                <a:solidFill>
                  <a:schemeClr val="accent1"/>
                </a:solidFill>
              </a:rPr>
              <a:t>解读：Maslow 启发的三层评估金字塔</a:t>
            </a:r>
          </a:p>
        </p:txBody>
      </p:sp>
      <p:sp>
        <p:nvSpPr>
          <p:cNvPr id="4" name="TextBox 3">
            <a:extLst>
              <a:ext uri="{FF2B5EF4-FFF2-40B4-BE49-F238E27FC236}">
                <a16:creationId xmlns:a16="http://schemas.microsoft.com/office/drawing/2014/main" id="{DAE4457B-2385-3316-5017-6A5ECEC9236E}"/>
              </a:ext>
            </a:extLst>
          </p:cNvPr>
          <p:cNvSpPr txBox="1"/>
          <p:nvPr/>
        </p:nvSpPr>
        <p:spPr>
          <a:xfrm>
            <a:off x="676656" y="877824"/>
            <a:ext cx="9692640" cy="369332"/>
          </a:xfrm>
          <a:prstGeom prst="rect">
            <a:avLst/>
          </a:prstGeom>
          <a:noFill/>
        </p:spPr>
        <p:txBody>
          <a:bodyPr wrap="square">
            <a:spAutoFit/>
          </a:bodyPr>
          <a:lstStyle/>
          <a:p>
            <a:r>
              <a:rPr lang="zh-CN" altLang="en-US" dirty="0"/>
              <a:t>从物理直觉到目标驱动推理，逐层加深可量化的能力维度</a:t>
            </a:r>
          </a:p>
        </p:txBody>
      </p:sp>
      <p:grpSp>
        <p:nvGrpSpPr>
          <p:cNvPr id="5" name="Group 4">
            <a:extLst>
              <a:ext uri="{FF2B5EF4-FFF2-40B4-BE49-F238E27FC236}">
                <a16:creationId xmlns:a16="http://schemas.microsoft.com/office/drawing/2014/main" id="{19054F56-B109-C816-900E-27E3D42CF076}"/>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9B221681-0918-FEBB-CD3E-2CAE594395C6}"/>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AAA3AEBC-78BF-ABDB-3B03-1D583D45364F}"/>
                </a:ext>
              </a:extLst>
            </p:cNvPr>
            <p:cNvSpPr txBox="1"/>
            <p:nvPr/>
          </p:nvSpPr>
          <p:spPr>
            <a:xfrm>
              <a:off x="822960" y="1783080"/>
              <a:ext cx="4500000" cy="2960682"/>
            </a:xfrm>
            <a:prstGeom prst="rect">
              <a:avLst/>
            </a:prstGeom>
            <a:noFill/>
          </p:spPr>
          <p:txBody>
            <a:bodyPr wrap="square">
              <a:spAutoFit/>
            </a:bodyPr>
            <a:lstStyle/>
            <a:p>
              <a:pPr>
                <a:lnSpc>
                  <a:spcPct val="116000"/>
                </a:lnSpc>
                <a:spcAft>
                  <a:spcPts val="700"/>
                </a:spcAft>
              </a:pPr>
              <a:r>
                <a:rPr lang="en-US" altLang="zh-CN" sz="1400" dirty="0"/>
                <a:t xml:space="preserve">• </a:t>
              </a:r>
              <a:r>
                <a:rPr lang="en-US" sz="1400" b="1" dirty="0"/>
                <a:t>Survival</a:t>
              </a:r>
              <a:r>
                <a:rPr lang="zh-CN" altLang="en-US" sz="1400" dirty="0"/>
                <a:t>：避险存活，衡量 agent 是否具备基础物理直觉（重力、碰撞、惯性）。</a:t>
              </a:r>
              <a:endParaRPr lang="en-US" altLang="zh-CN" sz="1400" dirty="0"/>
            </a:p>
            <a:p>
              <a:pPr>
                <a:lnSpc>
                  <a:spcPct val="116000"/>
                </a:lnSpc>
                <a:spcAft>
                  <a:spcPts val="700"/>
                </a:spcAft>
              </a:pPr>
              <a:endParaRPr lang="zh-CN" altLang="en-US" sz="1400" dirty="0"/>
            </a:p>
            <a:p>
              <a:r>
                <a:rPr lang="en-US" altLang="zh-CN" sz="1400" dirty="0"/>
                <a:t xml:space="preserve">• </a:t>
              </a:r>
              <a:r>
                <a:rPr lang="en-US" sz="1400" b="1" dirty="0"/>
                <a:t>Curiosity</a:t>
              </a:r>
              <a:r>
                <a:rPr lang="zh-CN" altLang="en-US" sz="1400" dirty="0"/>
                <a:t>：探索新颖状态，衡量是否能像婴儿一样发掘环境因果结构。</a:t>
              </a:r>
              <a:endParaRPr lang="en-US" altLang="zh-CN" sz="1400" dirty="0"/>
            </a:p>
            <a:p>
              <a:endParaRPr lang="zh-CN" altLang="en-US" sz="1400" dirty="0"/>
            </a:p>
            <a:p>
              <a:r>
                <a:rPr lang="en-US" altLang="zh-CN" sz="1400" dirty="0"/>
                <a:t xml:space="preserve">• </a:t>
              </a:r>
              <a:r>
                <a:rPr lang="en-US" sz="1400" b="1" dirty="0"/>
                <a:t>Utility</a:t>
              </a:r>
              <a:r>
                <a:rPr lang="zh-CN" altLang="en-US" sz="1400" dirty="0"/>
                <a:t>：完成下游目标，HNS = (m − m_rnd)/(m_human − m_rnd)。</a:t>
              </a:r>
              <a:endParaRPr lang="en-US" altLang="zh-CN" sz="1400" dirty="0"/>
            </a:p>
            <a:p>
              <a:endParaRPr lang="zh-CN" altLang="en-US" sz="1400" dirty="0"/>
            </a:p>
            <a:p>
              <a:r>
                <a:rPr lang="en-US" altLang="zh-CN" sz="1400" dirty="0"/>
                <a:t xml:space="preserve">• </a:t>
              </a:r>
              <a:r>
                <a:rPr lang="zh-CN" altLang="en-US" sz="1400" dirty="0"/>
                <a:t>三层把"会玩游戏"拆成可量化能力，IPR 在三层均稳健而基线常顾此失彼。</a:t>
              </a:r>
            </a:p>
          </p:txBody>
        </p:sp>
      </p:grpSp>
      <p:pic>
        <p:nvPicPr>
          <p:cNvPr id="12" name="图片 11">
            <a:extLst>
              <a:ext uri="{FF2B5EF4-FFF2-40B4-BE49-F238E27FC236}">
                <a16:creationId xmlns:a16="http://schemas.microsoft.com/office/drawing/2014/main" id="{A9C9959B-2ACF-0A19-39A0-6B6CF6114CBB}"/>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4" name="Picture 13" descr="slide_04_fit.png">
            <a:extLst>
              <a:ext uri="{FF2B5EF4-FFF2-40B4-BE49-F238E27FC236}">
                <a16:creationId xmlns:a16="http://schemas.microsoft.com/office/drawing/2014/main" id="{CB90F16D-E4C3-C1F8-D365-877B52EE507D}"/>
              </a:ext>
            </a:extLst>
          </p:cNvPr>
          <p:cNvPicPr>
            <a:picLocks noChangeAspect="1"/>
          </p:cNvPicPr>
          <p:nvPr/>
        </p:nvPicPr>
        <p:blipFill>
          <a:blip r:embed="rId4"/>
          <a:stretch>
            <a:fillRect/>
          </a:stretch>
        </p:blipFill>
        <p:spPr>
          <a:xfrm>
            <a:off x="4360908" y="1401106"/>
            <a:ext cx="7172724" cy="5263854"/>
          </a:xfrm>
          <a:prstGeom prst="rect">
            <a:avLst/>
          </a:prstGeom>
        </p:spPr>
      </p:pic>
    </p:spTree>
    <p:extLst>
      <p:ext uri="{BB962C8B-B14F-4D97-AF65-F5344CB8AC3E}">
        <p14:creationId xmlns:p14="http://schemas.microsoft.com/office/powerpoint/2010/main" val="15342223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D9C696-44FB-FD8E-DF06-56351EAC2C5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D32E6C3-E323-389B-83CB-40BD1B1F3E3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CEB8B13D-B130-6367-59F7-A914EA6D08C4}"/>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3</a:t>
            </a:r>
            <a:r>
              <a:rPr lang="zh-CN" altLang="en-US" b="1" dirty="0">
                <a:solidFill>
                  <a:schemeClr val="accent1"/>
                </a:solidFill>
              </a:rPr>
              <a:t>解读：现有范式的三大失败模式</a:t>
            </a:r>
          </a:p>
        </p:txBody>
      </p:sp>
      <p:sp>
        <p:nvSpPr>
          <p:cNvPr id="4" name="TextBox 3">
            <a:extLst>
              <a:ext uri="{FF2B5EF4-FFF2-40B4-BE49-F238E27FC236}">
                <a16:creationId xmlns:a16="http://schemas.microsoft.com/office/drawing/2014/main" id="{624F15D9-4465-5845-E9DC-88447BB4162B}"/>
              </a:ext>
            </a:extLst>
          </p:cNvPr>
          <p:cNvSpPr txBox="1"/>
          <p:nvPr/>
        </p:nvSpPr>
        <p:spPr>
          <a:xfrm>
            <a:off x="676656" y="877824"/>
            <a:ext cx="9692640" cy="369332"/>
          </a:xfrm>
          <a:prstGeom prst="rect">
            <a:avLst/>
          </a:prstGeom>
          <a:noFill/>
        </p:spPr>
        <p:txBody>
          <a:bodyPr wrap="square">
            <a:spAutoFit/>
          </a:bodyPr>
          <a:lstStyle/>
          <a:p>
            <a:r>
              <a:rPr lang="zh-CN" altLang="en-US" dirty="0"/>
              <a:t>控制冲突、语言失真、缺乏前瞻共同呼唤新动作空间</a:t>
            </a:r>
          </a:p>
        </p:txBody>
      </p:sp>
      <p:grpSp>
        <p:nvGrpSpPr>
          <p:cNvPr id="5" name="Group 4">
            <a:extLst>
              <a:ext uri="{FF2B5EF4-FFF2-40B4-BE49-F238E27FC236}">
                <a16:creationId xmlns:a16="http://schemas.microsoft.com/office/drawing/2014/main" id="{1229A1FC-50E9-FEC7-F3B3-646707511C9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3571BABE-A3E6-C870-5E43-FE2EAC76A6E6}"/>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80B23CC1-F5C8-CA2F-9EFB-014C94BB5DF7}"/>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xml:space="preserve">• </a:t>
              </a:r>
              <a:r>
                <a:rPr lang="zh-CN" altLang="en-US" sz="1400" b="1" dirty="0"/>
                <a:t>控制冲突</a:t>
              </a:r>
              <a:r>
                <a:rPr lang="zh-CN" altLang="en-US" sz="1400" dirty="0"/>
                <a:t>：同一按键（如 UP）在不同游戏中含义不同（仰望 vs. 上移），形成接口别名。</a:t>
              </a:r>
            </a:p>
            <a:p>
              <a:pPr>
                <a:spcAft>
                  <a:spcPts val="700"/>
                </a:spcAft>
              </a:pPr>
              <a:r>
                <a:rPr lang="en-US" altLang="zh-CN" sz="1400" dirty="0"/>
                <a:t xml:space="preserve">• </a:t>
              </a:r>
              <a:r>
                <a:rPr lang="zh-CN" altLang="en-US" sz="1400" b="1" dirty="0"/>
                <a:t>视觉-语言失真</a:t>
              </a:r>
              <a:r>
                <a:rPr lang="zh-CN" altLang="en-US" sz="1400" dirty="0"/>
                <a:t>：纯文本动作无法精确表达跳跃高度、速度等连续物理量级。</a:t>
              </a:r>
            </a:p>
            <a:p>
              <a:pPr>
                <a:spcAft>
                  <a:spcPts val="700"/>
                </a:spcAft>
              </a:pPr>
              <a:r>
                <a:rPr lang="en-US" altLang="zh-CN" sz="1400" dirty="0"/>
                <a:t xml:space="preserve">• </a:t>
              </a:r>
              <a:r>
                <a:rPr lang="zh-CN" altLang="en-US" sz="1400" b="1" dirty="0"/>
                <a:t>缺乏前瞻</a:t>
              </a:r>
              <a:r>
                <a:rPr lang="zh-CN" altLang="en-US" sz="1400" dirty="0"/>
                <a:t>：没有想象/预测，agent 无法预判尖刺、敌人等危险事件。</a:t>
              </a:r>
            </a:p>
            <a:p>
              <a:pPr>
                <a:spcAft>
                  <a:spcPts val="700"/>
                </a:spcAft>
              </a:pPr>
              <a:r>
                <a:rPr lang="en-US" altLang="zh-CN" sz="1400" dirty="0"/>
                <a:t xml:space="preserve">• </a:t>
              </a:r>
              <a:r>
                <a:rPr lang="zh-CN" altLang="en-US" sz="1400" dirty="0"/>
                <a:t>三类失败共同指向需要"physics-centric"的潜在动作空间——这正是 PhysCode 的来源。</a:t>
              </a:r>
            </a:p>
          </p:txBody>
        </p:sp>
      </p:grpSp>
      <p:pic>
        <p:nvPicPr>
          <p:cNvPr id="12" name="图片 11">
            <a:extLst>
              <a:ext uri="{FF2B5EF4-FFF2-40B4-BE49-F238E27FC236}">
                <a16:creationId xmlns:a16="http://schemas.microsoft.com/office/drawing/2014/main" id="{D76D242B-5D74-553E-C043-EA8FCCE4C7D9}"/>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9" name="Picture 8" descr="slide_09_fit.png">
            <a:extLst>
              <a:ext uri="{FF2B5EF4-FFF2-40B4-BE49-F238E27FC236}">
                <a16:creationId xmlns:a16="http://schemas.microsoft.com/office/drawing/2014/main" id="{8F18A857-6531-D516-1BA3-3AAAAE00A2DB}"/>
              </a:ext>
            </a:extLst>
          </p:cNvPr>
          <p:cNvPicPr>
            <a:picLocks noChangeAspect="1"/>
          </p:cNvPicPr>
          <p:nvPr/>
        </p:nvPicPr>
        <p:blipFill>
          <a:blip r:embed="rId4"/>
          <a:stretch>
            <a:fillRect/>
          </a:stretch>
        </p:blipFill>
        <p:spPr>
          <a:xfrm>
            <a:off x="1354577" y="1343281"/>
            <a:ext cx="9482845" cy="3574303"/>
          </a:xfrm>
          <a:prstGeom prst="rect">
            <a:avLst/>
          </a:prstGeom>
        </p:spPr>
      </p:pic>
    </p:spTree>
    <p:extLst>
      <p:ext uri="{BB962C8B-B14F-4D97-AF65-F5344CB8AC3E}">
        <p14:creationId xmlns:p14="http://schemas.microsoft.com/office/powerpoint/2010/main" val="92465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74204-DFC4-5BD7-0122-F1EAB15AB15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F4301F7-E898-CE2A-908B-685169BAE26A}"/>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AE003168-7AEC-A3AD-4642-06DD3B1EE98B}"/>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4</a:t>
            </a:r>
            <a:r>
              <a:rPr lang="zh-CN" altLang="en-US" b="1" dirty="0">
                <a:solidFill>
                  <a:schemeClr val="accent1"/>
                </a:solidFill>
              </a:rPr>
              <a:t>解读：跨千余游戏的动作语义高度共享</a:t>
            </a:r>
          </a:p>
        </p:txBody>
      </p:sp>
      <p:sp>
        <p:nvSpPr>
          <p:cNvPr id="4" name="TextBox 3">
            <a:extLst>
              <a:ext uri="{FF2B5EF4-FFF2-40B4-BE49-F238E27FC236}">
                <a16:creationId xmlns:a16="http://schemas.microsoft.com/office/drawing/2014/main" id="{0B4D8024-EB96-7E90-AE65-C4E310BFCFFE}"/>
              </a:ext>
            </a:extLst>
          </p:cNvPr>
          <p:cNvSpPr txBox="1"/>
          <p:nvPr/>
        </p:nvSpPr>
        <p:spPr>
          <a:xfrm>
            <a:off x="676656" y="877824"/>
            <a:ext cx="9692640" cy="369332"/>
          </a:xfrm>
          <a:prstGeom prst="rect">
            <a:avLst/>
          </a:prstGeom>
          <a:noFill/>
        </p:spPr>
        <p:txBody>
          <a:bodyPr wrap="square">
            <a:spAutoFit/>
          </a:bodyPr>
          <a:lstStyle/>
          <a:p>
            <a:r>
              <a:rPr lang="zh-CN" altLang="en-US" dirty="0"/>
              <a:t>红色高亮的动作还能直接迁移到机器人通用操作</a:t>
            </a:r>
          </a:p>
        </p:txBody>
      </p:sp>
      <p:grpSp>
        <p:nvGrpSpPr>
          <p:cNvPr id="5" name="Group 4">
            <a:extLst>
              <a:ext uri="{FF2B5EF4-FFF2-40B4-BE49-F238E27FC236}">
                <a16:creationId xmlns:a16="http://schemas.microsoft.com/office/drawing/2014/main" id="{2F599E29-857A-D9C8-569F-BC72A99E0965}"/>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B49FCE35-FABF-9DD8-5627-1C1B6B130733}"/>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CE03535E-42B1-7612-6A09-68166BB95169}"/>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xml:space="preserve">• </a:t>
              </a:r>
              <a:r>
                <a:rPr lang="zh-CN" altLang="en-US" sz="1400" dirty="0"/>
                <a:t>词频越大代表共享越广（jump、move、shoot、pick 等是高频通用动作）。</a:t>
              </a:r>
            </a:p>
            <a:p>
              <a:pPr>
                <a:spcAft>
                  <a:spcPts val="700"/>
                </a:spcAft>
              </a:pPr>
              <a:r>
                <a:rPr lang="en-US" altLang="zh-CN" sz="1400" dirty="0"/>
                <a:t xml:space="preserve">• </a:t>
              </a:r>
              <a:r>
                <a:rPr lang="zh-CN" altLang="en-US" sz="1400" dirty="0"/>
                <a:t>红色高亮的语义与机器人通用动作重叠，揭示游戏-机器人共享接口。</a:t>
              </a:r>
            </a:p>
            <a:p>
              <a:pPr>
                <a:spcAft>
                  <a:spcPts val="700"/>
                </a:spcAft>
              </a:pPr>
              <a:r>
                <a:rPr lang="en-US" altLang="zh-CN" sz="1400" dirty="0"/>
                <a:t xml:space="preserve">• </a:t>
              </a:r>
              <a:r>
                <a:rPr lang="zh-CN" altLang="en-US" sz="1400" dirty="0"/>
                <a:t>这种语义共享为 PhysCode 的 VQ-VAE 聚类提供了天然的结构先验。</a:t>
              </a:r>
            </a:p>
            <a:p>
              <a:pPr>
                <a:spcAft>
                  <a:spcPts val="700"/>
                </a:spcAft>
              </a:pPr>
              <a:r>
                <a:rPr lang="en-US" altLang="zh-CN" sz="1400" dirty="0"/>
                <a:t xml:space="preserve">• </a:t>
              </a:r>
              <a:r>
                <a:rPr lang="zh-CN" altLang="en-US" sz="1400" dirty="0"/>
                <a:t>结论：跨域动作并非杂乱无章，而是有可学习的共享潜在结构。</a:t>
              </a:r>
            </a:p>
          </p:txBody>
        </p:sp>
      </p:grpSp>
      <p:pic>
        <p:nvPicPr>
          <p:cNvPr id="12" name="图片 11">
            <a:extLst>
              <a:ext uri="{FF2B5EF4-FFF2-40B4-BE49-F238E27FC236}">
                <a16:creationId xmlns:a16="http://schemas.microsoft.com/office/drawing/2014/main" id="{2AECE820-5FF4-AB0E-642C-74C969BED474}"/>
              </a:ext>
            </a:extLst>
          </p:cNvPr>
          <p:cNvPicPr>
            <a:picLocks noChangeAspect="1"/>
          </p:cNvPicPr>
          <p:nvPr/>
        </p:nvPicPr>
        <p:blipFill>
          <a:blip r:embed="rId3"/>
          <a:stretch>
            <a:fillRect/>
          </a:stretch>
        </p:blipFill>
        <p:spPr>
          <a:xfrm>
            <a:off x="10716768" y="193040"/>
            <a:ext cx="1398224" cy="435405"/>
          </a:xfrm>
          <a:prstGeom prst="rect">
            <a:avLst/>
          </a:prstGeom>
        </p:spPr>
      </p:pic>
      <p:pic>
        <p:nvPicPr>
          <p:cNvPr id="10" name="Picture 9" descr="slide_10_fit.png">
            <a:extLst>
              <a:ext uri="{FF2B5EF4-FFF2-40B4-BE49-F238E27FC236}">
                <a16:creationId xmlns:a16="http://schemas.microsoft.com/office/drawing/2014/main" id="{B9B576A5-4B3E-63B5-0046-90B31531F56A}"/>
              </a:ext>
            </a:extLst>
          </p:cNvPr>
          <p:cNvPicPr>
            <a:picLocks noChangeAspect="1"/>
          </p:cNvPicPr>
          <p:nvPr/>
        </p:nvPicPr>
        <p:blipFill>
          <a:blip r:embed="rId4"/>
          <a:stretch>
            <a:fillRect/>
          </a:stretch>
        </p:blipFill>
        <p:spPr>
          <a:xfrm>
            <a:off x="1763104" y="1343281"/>
            <a:ext cx="8665792" cy="3266337"/>
          </a:xfrm>
          <a:prstGeom prst="rect">
            <a:avLst/>
          </a:prstGeom>
        </p:spPr>
      </p:pic>
    </p:spTree>
    <p:extLst>
      <p:ext uri="{BB962C8B-B14F-4D97-AF65-F5344CB8AC3E}">
        <p14:creationId xmlns:p14="http://schemas.microsoft.com/office/powerpoint/2010/main" val="38023057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68C91-BA8C-8C49-13BF-624951DE34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0C41B1A-62F0-08BE-D0E2-12F68439006D}"/>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E592835A-97C8-2E8D-A9A8-A9F8224221BE}"/>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5</a:t>
            </a:r>
            <a:r>
              <a:rPr lang="zh-CN" altLang="en-US" b="1" dirty="0">
                <a:solidFill>
                  <a:schemeClr val="accent1"/>
                </a:solidFill>
              </a:rPr>
              <a:t>解读：IPR 三阶段训练管线总览</a:t>
            </a:r>
          </a:p>
        </p:txBody>
      </p:sp>
      <p:sp>
        <p:nvSpPr>
          <p:cNvPr id="4" name="TextBox 3">
            <a:extLst>
              <a:ext uri="{FF2B5EF4-FFF2-40B4-BE49-F238E27FC236}">
                <a16:creationId xmlns:a16="http://schemas.microsoft.com/office/drawing/2014/main" id="{788BBC88-1781-ADAB-862B-96990B4AD77A}"/>
              </a:ext>
            </a:extLst>
          </p:cNvPr>
          <p:cNvSpPr txBox="1"/>
          <p:nvPr/>
        </p:nvSpPr>
        <p:spPr>
          <a:xfrm>
            <a:off x="676656" y="877824"/>
            <a:ext cx="9692640" cy="369332"/>
          </a:xfrm>
          <a:prstGeom prst="rect">
            <a:avLst/>
          </a:prstGeom>
          <a:noFill/>
        </p:spPr>
        <p:txBody>
          <a:bodyPr wrap="square">
            <a:spAutoFit/>
          </a:bodyPr>
          <a:lstStyle/>
          <a:p>
            <a:r>
              <a:rPr lang="zh-CN" altLang="en-US" dirty="0"/>
              <a:t>PhysCode 预训练 → 世界模型学习 → 预测在环 GRPO，三步把"想象"灌入 VLM 策略</a:t>
            </a:r>
          </a:p>
        </p:txBody>
      </p:sp>
      <p:grpSp>
        <p:nvGrpSpPr>
          <p:cNvPr id="5" name="Group 4">
            <a:extLst>
              <a:ext uri="{FF2B5EF4-FFF2-40B4-BE49-F238E27FC236}">
                <a16:creationId xmlns:a16="http://schemas.microsoft.com/office/drawing/2014/main" id="{B31462D6-0BEB-FFE0-6297-B83C77C48F66}"/>
              </a:ext>
            </a:extLst>
          </p:cNvPr>
          <p:cNvGrpSpPr/>
          <p:nvPr/>
        </p:nvGrpSpPr>
        <p:grpSpPr>
          <a:xfrm>
            <a:off x="1165146" y="5074072"/>
            <a:ext cx="10333608" cy="1610850"/>
            <a:chOff x="604672" y="1280756"/>
            <a:chExt cx="4900000" cy="4943561"/>
          </a:xfrm>
        </p:grpSpPr>
        <p:sp>
          <p:nvSpPr>
            <p:cNvPr id="6" name="Rounded Rectangle 5">
              <a:extLst>
                <a:ext uri="{FF2B5EF4-FFF2-40B4-BE49-F238E27FC236}">
                  <a16:creationId xmlns:a16="http://schemas.microsoft.com/office/drawing/2014/main" id="{233D17FD-1F7A-21FA-374E-DB971BD5CB55}"/>
                </a:ext>
              </a:extLst>
            </p:cNvPr>
            <p:cNvSpPr/>
            <p:nvPr/>
          </p:nvSpPr>
          <p:spPr>
            <a:xfrm>
              <a:off x="604672" y="1280756"/>
              <a:ext cx="4900000" cy="4943561"/>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5F80A72-52DB-6023-F06B-C052CC7D1218}"/>
                </a:ext>
              </a:extLst>
            </p:cNvPr>
            <p:cNvSpPr txBox="1"/>
            <p:nvPr/>
          </p:nvSpPr>
          <p:spPr>
            <a:xfrm>
              <a:off x="804672" y="1875263"/>
              <a:ext cx="4500000" cy="3754547"/>
            </a:xfrm>
            <a:prstGeom prst="rect">
              <a:avLst/>
            </a:prstGeom>
            <a:noFill/>
          </p:spPr>
          <p:txBody>
            <a:bodyPr wrap="square">
              <a:spAutoFit/>
            </a:bodyPr>
            <a:lstStyle/>
            <a:p>
              <a:pPr>
                <a:spcAft>
                  <a:spcPts val="700"/>
                </a:spcAft>
              </a:pPr>
              <a:r>
                <a:rPr lang="en-US" altLang="zh-CN" sz="1400" dirty="0"/>
                <a:t xml:space="preserve">• </a:t>
              </a:r>
              <a:r>
                <a:rPr lang="zh-CN" altLang="en-US" sz="1400" b="1" dirty="0"/>
                <a:t>Stage 1</a:t>
              </a:r>
              <a:r>
                <a:rPr lang="zh-CN" altLang="en-US" sz="1400" dirty="0"/>
                <a:t>：用视频片段+光流+语义提示训练 VQ-VAE，得到 PhysCode 离散动作码本。</a:t>
              </a:r>
            </a:p>
            <a:p>
              <a:pPr>
                <a:spcAft>
                  <a:spcPts val="700"/>
                </a:spcAft>
              </a:pPr>
              <a:r>
                <a:rPr lang="en-US" altLang="zh-CN" sz="1400" dirty="0"/>
                <a:t xml:space="preserve">• </a:t>
              </a:r>
              <a:r>
                <a:rPr lang="zh-CN" altLang="en-US" sz="1400" b="1" dirty="0"/>
                <a:t>Stage 2</a:t>
              </a:r>
              <a:r>
                <a:rPr lang="zh-CN" altLang="en-US" sz="1400" dirty="0"/>
                <a:t>：以 PhysCode 为条件训练特征级世界模型，预测未来表征与奖励。</a:t>
              </a:r>
            </a:p>
            <a:p>
              <a:pPr>
                <a:spcAft>
                  <a:spcPts val="700"/>
                </a:spcAft>
              </a:pPr>
              <a:r>
                <a:rPr lang="en-US" altLang="zh-CN" sz="1400" dirty="0"/>
                <a:t xml:space="preserve">• </a:t>
              </a:r>
              <a:r>
                <a:rPr lang="zh-CN" altLang="en-US" sz="1400" b="1" dirty="0"/>
                <a:t>Stage 3</a:t>
              </a:r>
              <a:r>
                <a:rPr lang="zh-CN" altLang="en-US" sz="1400" dirty="0"/>
                <a:t>：VLM 推理并采样多条候选 PhysCode，由 WM rollout 打分后选最优执行。</a:t>
              </a:r>
            </a:p>
            <a:p>
              <a:pPr>
                <a:spcAft>
                  <a:spcPts val="700"/>
                </a:spcAft>
              </a:pPr>
              <a:r>
                <a:rPr lang="en-US" altLang="zh-CN" sz="1400" dirty="0"/>
                <a:t xml:space="preserve">• </a:t>
              </a:r>
              <a:r>
                <a:rPr lang="zh-CN" altLang="en-US" sz="1400" dirty="0"/>
                <a:t>选中动作的优势回流 GRPO，逐步把"预测能力"内化进 VLM 策略。</a:t>
              </a:r>
            </a:p>
          </p:txBody>
        </p:sp>
      </p:grpSp>
      <p:pic>
        <p:nvPicPr>
          <p:cNvPr id="12" name="图片 11">
            <a:extLst>
              <a:ext uri="{FF2B5EF4-FFF2-40B4-BE49-F238E27FC236}">
                <a16:creationId xmlns:a16="http://schemas.microsoft.com/office/drawing/2014/main" id="{22863754-D7D7-8569-901E-2853A086CBE6}"/>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9" name="Picture 8" descr="slide_11_fit.png">
            <a:extLst>
              <a:ext uri="{FF2B5EF4-FFF2-40B4-BE49-F238E27FC236}">
                <a16:creationId xmlns:a16="http://schemas.microsoft.com/office/drawing/2014/main" id="{10463AB9-75DC-B245-8B83-8CF08199E6A9}"/>
              </a:ext>
            </a:extLst>
          </p:cNvPr>
          <p:cNvPicPr>
            <a:picLocks noChangeAspect="1"/>
          </p:cNvPicPr>
          <p:nvPr/>
        </p:nvPicPr>
        <p:blipFill>
          <a:blip r:embed="rId3"/>
          <a:stretch>
            <a:fillRect/>
          </a:stretch>
        </p:blipFill>
        <p:spPr>
          <a:xfrm>
            <a:off x="2002694" y="1495289"/>
            <a:ext cx="8186612" cy="3085723"/>
          </a:xfrm>
          <a:prstGeom prst="rect">
            <a:avLst/>
          </a:prstGeom>
        </p:spPr>
      </p:pic>
    </p:spTree>
    <p:extLst>
      <p:ext uri="{BB962C8B-B14F-4D97-AF65-F5344CB8AC3E}">
        <p14:creationId xmlns:p14="http://schemas.microsoft.com/office/powerpoint/2010/main" val="290431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38950-46EA-7229-03A9-B471BDD464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4F0E0B6-86BA-5A30-0B82-F17C002B170F}"/>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328CB3A7-65BA-291F-C33E-1E298252FCD1}"/>
              </a:ext>
            </a:extLst>
          </p:cNvPr>
          <p:cNvSpPr txBox="1"/>
          <p:nvPr/>
        </p:nvSpPr>
        <p:spPr>
          <a:xfrm>
            <a:off x="658368" y="228600"/>
            <a:ext cx="7726679" cy="369332"/>
          </a:xfrm>
          <a:prstGeom prst="rect">
            <a:avLst/>
          </a:prstGeom>
          <a:noFill/>
        </p:spPr>
        <p:txBody>
          <a:bodyPr wrap="square">
            <a:spAutoFit/>
          </a:bodyPr>
          <a:lstStyle/>
          <a:p>
            <a:r>
              <a:rPr lang="zh-CN" altLang="en-US" b="1" dirty="0">
                <a:solidFill>
                  <a:schemeClr val="accent1"/>
                </a:solidFill>
              </a:rPr>
              <a:t>图</a:t>
            </a:r>
            <a:r>
              <a:rPr lang="en-US" altLang="zh-CN" b="1" dirty="0">
                <a:solidFill>
                  <a:schemeClr val="accent1"/>
                </a:solidFill>
              </a:rPr>
              <a:t>6</a:t>
            </a:r>
            <a:r>
              <a:rPr lang="zh-CN" altLang="en-US" b="1" dirty="0">
                <a:solidFill>
                  <a:schemeClr val="accent1"/>
                </a:solidFill>
              </a:rPr>
              <a:t>解读：1000+ 游戏的七维多样性分布</a:t>
            </a:r>
          </a:p>
        </p:txBody>
      </p:sp>
      <p:sp>
        <p:nvSpPr>
          <p:cNvPr id="4" name="TextBox 3">
            <a:extLst>
              <a:ext uri="{FF2B5EF4-FFF2-40B4-BE49-F238E27FC236}">
                <a16:creationId xmlns:a16="http://schemas.microsoft.com/office/drawing/2014/main" id="{68C0E512-BDB3-9EAA-76AE-20DC652260C7}"/>
              </a:ext>
            </a:extLst>
          </p:cNvPr>
          <p:cNvSpPr txBox="1"/>
          <p:nvPr/>
        </p:nvSpPr>
        <p:spPr>
          <a:xfrm>
            <a:off x="676656" y="877824"/>
            <a:ext cx="9692640" cy="369332"/>
          </a:xfrm>
          <a:prstGeom prst="rect">
            <a:avLst/>
          </a:prstGeom>
          <a:noFill/>
        </p:spPr>
        <p:txBody>
          <a:bodyPr wrap="square">
            <a:spAutoFit/>
          </a:bodyPr>
          <a:lstStyle/>
          <a:p>
            <a:r>
              <a:rPr lang="zh-CN" altLang="en-US" dirty="0"/>
              <a:t>类别×界面×视觉×视角×因果×物理×难度，构成统计支撑</a:t>
            </a:r>
          </a:p>
        </p:txBody>
      </p:sp>
      <p:grpSp>
        <p:nvGrpSpPr>
          <p:cNvPr id="5" name="Group 4">
            <a:extLst>
              <a:ext uri="{FF2B5EF4-FFF2-40B4-BE49-F238E27FC236}">
                <a16:creationId xmlns:a16="http://schemas.microsoft.com/office/drawing/2014/main" id="{312F6DD6-C885-3E99-2B7B-884C0F6D5DDF}"/>
              </a:ext>
            </a:extLst>
          </p:cNvPr>
          <p:cNvGrpSpPr/>
          <p:nvPr/>
        </p:nvGrpSpPr>
        <p:grpSpPr>
          <a:xfrm>
            <a:off x="658368" y="1389888"/>
            <a:ext cx="3615249" cy="4773168"/>
            <a:chOff x="658368" y="1389888"/>
            <a:chExt cx="4900000" cy="4773168"/>
          </a:xfrm>
        </p:grpSpPr>
        <p:sp>
          <p:nvSpPr>
            <p:cNvPr id="6" name="Rounded Rectangle 5">
              <a:extLst>
                <a:ext uri="{FF2B5EF4-FFF2-40B4-BE49-F238E27FC236}">
                  <a16:creationId xmlns:a16="http://schemas.microsoft.com/office/drawing/2014/main" id="{F7CD3BB4-1118-CEEA-EAB4-14C7E6F3BA42}"/>
                </a:ext>
              </a:extLst>
            </p:cNvPr>
            <p:cNvSpPr/>
            <p:nvPr/>
          </p:nvSpPr>
          <p:spPr>
            <a:xfrm>
              <a:off x="658368" y="1389888"/>
              <a:ext cx="49000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8" name="TextBox 7">
              <a:extLst>
                <a:ext uri="{FF2B5EF4-FFF2-40B4-BE49-F238E27FC236}">
                  <a16:creationId xmlns:a16="http://schemas.microsoft.com/office/drawing/2014/main" id="{963808FA-4EFD-5519-92A8-0D8415269747}"/>
                </a:ext>
              </a:extLst>
            </p:cNvPr>
            <p:cNvSpPr txBox="1"/>
            <p:nvPr/>
          </p:nvSpPr>
          <p:spPr>
            <a:xfrm>
              <a:off x="822960" y="1783080"/>
              <a:ext cx="4500000" cy="2427396"/>
            </a:xfrm>
            <a:prstGeom prst="rect">
              <a:avLst/>
            </a:prstGeom>
            <a:noFill/>
          </p:spPr>
          <p:txBody>
            <a:bodyPr wrap="square">
              <a:spAutoFit/>
            </a:bodyPr>
            <a:lstStyle/>
            <a:p>
              <a:pPr>
                <a:lnSpc>
                  <a:spcPct val="116000"/>
                </a:lnSpc>
                <a:spcAft>
                  <a:spcPts val="700"/>
                </a:spcAft>
              </a:pPr>
              <a:r>
                <a:rPr lang="en-US" altLang="zh-CN" sz="1400" dirty="0"/>
                <a:t xml:space="preserve">• </a:t>
              </a:r>
              <a:r>
                <a:rPr lang="zh-CN" altLang="en-US" sz="1400" dirty="0"/>
                <a:t>游戏类别覆盖平台、射击、运动等强物理交互题材，确保物理多样性。</a:t>
              </a:r>
            </a:p>
            <a:p>
              <a:pPr>
                <a:lnSpc>
                  <a:spcPct val="116000"/>
                </a:lnSpc>
                <a:spcAft>
                  <a:spcPts val="700"/>
                </a:spcAft>
              </a:pPr>
              <a:endParaRPr lang="zh-CN" altLang="en-US" sz="1400" dirty="0"/>
            </a:p>
            <a:p>
              <a:pPr>
                <a:lnSpc>
                  <a:spcPct val="116000"/>
                </a:lnSpc>
                <a:spcAft>
                  <a:spcPts val="700"/>
                </a:spcAft>
              </a:pPr>
              <a:r>
                <a:rPr lang="en-US" altLang="zh-CN" sz="1400" dirty="0"/>
                <a:t xml:space="preserve">• </a:t>
              </a:r>
              <a:r>
                <a:rPr lang="zh-CN" altLang="en-US" sz="1400" dirty="0"/>
                <a:t>控制接口跨 GameBoy 离散键、键鼠混合、高维 hybrid，强迫模型抗接口漂移。</a:t>
              </a:r>
            </a:p>
            <a:p>
              <a:pPr>
                <a:lnSpc>
                  <a:spcPct val="116000"/>
                </a:lnSpc>
                <a:spcAft>
                  <a:spcPts val="700"/>
                </a:spcAft>
              </a:pPr>
              <a:endParaRPr lang="zh-CN" altLang="en-US" sz="1400" dirty="0"/>
            </a:p>
            <a:p>
              <a:pPr>
                <a:lnSpc>
                  <a:spcPct val="116000"/>
                </a:lnSpc>
                <a:spcAft>
                  <a:spcPts val="700"/>
                </a:spcAft>
              </a:pPr>
              <a:r>
                <a:rPr lang="en-US" altLang="zh-CN" sz="1400" dirty="0"/>
                <a:t xml:space="preserve">• </a:t>
              </a:r>
              <a:r>
                <a:rPr lang="zh-CN" altLang="en-US" sz="1400" dirty="0"/>
                <a:t>物理原理涵盖重力/接触/惯性，因果机制覆盖伤害/收集/惩罚等多种结构。</a:t>
              </a:r>
            </a:p>
          </p:txBody>
        </p:sp>
      </p:grpSp>
      <p:pic>
        <p:nvPicPr>
          <p:cNvPr id="12" name="图片 11">
            <a:extLst>
              <a:ext uri="{FF2B5EF4-FFF2-40B4-BE49-F238E27FC236}">
                <a16:creationId xmlns:a16="http://schemas.microsoft.com/office/drawing/2014/main" id="{BB3B91B3-4BF8-450C-5DDE-83E9962511AD}"/>
              </a:ext>
            </a:extLst>
          </p:cNvPr>
          <p:cNvPicPr>
            <a:picLocks noChangeAspect="1"/>
          </p:cNvPicPr>
          <p:nvPr/>
        </p:nvPicPr>
        <p:blipFill>
          <a:blip r:embed="rId2"/>
          <a:stretch>
            <a:fillRect/>
          </a:stretch>
        </p:blipFill>
        <p:spPr>
          <a:xfrm>
            <a:off x="10716768" y="193040"/>
            <a:ext cx="1398224" cy="435405"/>
          </a:xfrm>
          <a:prstGeom prst="rect">
            <a:avLst/>
          </a:prstGeom>
        </p:spPr>
      </p:pic>
      <p:pic>
        <p:nvPicPr>
          <p:cNvPr id="10" name="Picture 9">
            <a:extLst>
              <a:ext uri="{FF2B5EF4-FFF2-40B4-BE49-F238E27FC236}">
                <a16:creationId xmlns:a16="http://schemas.microsoft.com/office/drawing/2014/main" id="{3B208454-5EB1-B24A-9E3D-46944DA71C23}"/>
              </a:ext>
            </a:extLst>
          </p:cNvPr>
          <p:cNvPicPr>
            <a:picLocks noChangeAspect="1"/>
          </p:cNvPicPr>
          <p:nvPr/>
        </p:nvPicPr>
        <p:blipFill>
          <a:blip r:embed="rId3"/>
          <a:stretch>
            <a:fillRect/>
          </a:stretch>
        </p:blipFill>
        <p:spPr>
          <a:xfrm>
            <a:off x="5120296" y="1315667"/>
            <a:ext cx="5596472" cy="5468112"/>
          </a:xfrm>
          <a:prstGeom prst="rect">
            <a:avLst/>
          </a:prstGeom>
        </p:spPr>
      </p:pic>
    </p:spTree>
    <p:extLst>
      <p:ext uri="{BB962C8B-B14F-4D97-AF65-F5344CB8AC3E}">
        <p14:creationId xmlns:p14="http://schemas.microsoft.com/office/powerpoint/2010/main" val="2443125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方法核心：PhysCode + 世界模型 + GRPO 三阶段统一接口</a:t>
            </a:r>
            <a:endParaRPr b="1" dirty="0">
              <a:solidFill>
                <a:schemeClr val="accent1"/>
              </a:solidFill>
            </a:endParaRPr>
          </a:p>
        </p:txBody>
      </p:sp>
      <p:sp>
        <p:nvSpPr>
          <p:cNvPr id="6" name="Rounded Rectangle 5"/>
          <p:cNvSpPr/>
          <p:nvPr/>
        </p:nvSpPr>
        <p:spPr>
          <a:xfrm>
            <a:off x="658368" y="1389887"/>
            <a:ext cx="10058400" cy="466257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pic>
        <p:nvPicPr>
          <p:cNvPr id="12" name="图片 11">
            <a:extLst>
              <a:ext uri="{FF2B5EF4-FFF2-40B4-BE49-F238E27FC236}">
                <a16:creationId xmlns:a16="http://schemas.microsoft.com/office/drawing/2014/main" id="{9ECC7479-5EE4-0781-9DDB-BF2FE46215EC}"/>
              </a:ext>
            </a:extLst>
          </p:cNvPr>
          <p:cNvPicPr>
            <a:picLocks noChangeAspect="1"/>
          </p:cNvPicPr>
          <p:nvPr/>
        </p:nvPicPr>
        <p:blipFill>
          <a:blip r:embed="rId2"/>
          <a:stretch>
            <a:fillRect/>
          </a:stretch>
        </p:blipFill>
        <p:spPr>
          <a:xfrm>
            <a:off x="10716768" y="193040"/>
            <a:ext cx="1398224" cy="435405"/>
          </a:xfrm>
          <a:prstGeom prst="rect">
            <a:avLst/>
          </a:prstGeom>
        </p:spPr>
      </p:pic>
      <p:sp>
        <p:nvSpPr>
          <p:cNvPr id="9" name="TextBox 8">
            <a:extLst>
              <a:ext uri="{FF2B5EF4-FFF2-40B4-BE49-F238E27FC236}">
                <a16:creationId xmlns:a16="http://schemas.microsoft.com/office/drawing/2014/main" id="{E8451325-14F1-6404-CD7F-85E5DB057CCD}"/>
              </a:ext>
            </a:extLst>
          </p:cNvPr>
          <p:cNvSpPr txBox="1"/>
          <p:nvPr/>
        </p:nvSpPr>
        <p:spPr>
          <a:xfrm>
            <a:off x="900000" y="1500000"/>
            <a:ext cx="10300000" cy="900000"/>
          </a:xfrm>
          <a:prstGeom prst="rect">
            <a:avLst/>
          </a:prstGeom>
          <a:noFill/>
        </p:spPr>
        <p:txBody>
          <a:bodyPr wrap="square">
            <a:spAutoFit/>
          </a:bodyPr>
          <a:lstStyle/>
          <a:p>
            <a:r>
              <a:rPr lang="en-US" sz="1400" b="1" dirty="0"/>
              <a:t>① PhysCode 损失（VQ-VAE）：</a:t>
            </a:r>
            <a:r>
              <a:rPr lang="en-US" sz="1400" dirty="0"/>
              <a:t>L_LA = ‖f̂_{t+Δ} − f_{t+Δ}‖² + β‖sg[z_t] − c_{a_t}‖² + γ‖z_t − sg[c_{a_t}]‖²。在 视觉+光流+语义 三模态融合上学到物理中心化的离散动作码本。</a:t>
            </a:r>
          </a:p>
        </p:txBody>
      </p:sp>
      <p:pic>
        <p:nvPicPr>
          <p:cNvPr id="10" name="Picture 9">
            <a:extLst>
              <a:ext uri="{FF2B5EF4-FFF2-40B4-BE49-F238E27FC236}">
                <a16:creationId xmlns:a16="http://schemas.microsoft.com/office/drawing/2014/main" id="{0B26CA63-A19A-E911-B667-68E2B859E067}"/>
              </a:ext>
            </a:extLst>
          </p:cNvPr>
          <p:cNvPicPr>
            <a:picLocks noChangeAspect="1"/>
          </p:cNvPicPr>
          <p:nvPr/>
        </p:nvPicPr>
        <p:blipFill>
          <a:blip r:embed="rId3"/>
          <a:stretch>
            <a:fillRect/>
          </a:stretch>
        </p:blipFill>
        <p:spPr>
          <a:xfrm>
            <a:off x="3500000" y="3700000"/>
            <a:ext cx="5200000" cy="1100000"/>
          </a:xfrm>
          <a:prstGeom prst="rect">
            <a:avLst/>
          </a:prstGeom>
        </p:spPr>
      </p:pic>
      <p:sp>
        <p:nvSpPr>
          <p:cNvPr id="13" name="TextBox 12">
            <a:extLst>
              <a:ext uri="{FF2B5EF4-FFF2-40B4-BE49-F238E27FC236}">
                <a16:creationId xmlns:a16="http://schemas.microsoft.com/office/drawing/2014/main" id="{EAE55A88-BFF4-0DCA-2DB8-75DD36891FEE}"/>
              </a:ext>
            </a:extLst>
          </p:cNvPr>
          <p:cNvSpPr txBox="1"/>
          <p:nvPr/>
        </p:nvSpPr>
        <p:spPr>
          <a:xfrm>
            <a:off x="900000" y="2520000"/>
            <a:ext cx="10300000" cy="900000"/>
          </a:xfrm>
          <a:prstGeom prst="rect">
            <a:avLst/>
          </a:prstGeom>
          <a:noFill/>
        </p:spPr>
        <p:txBody>
          <a:bodyPr wrap="square">
            <a:spAutoFit/>
          </a:bodyPr>
          <a:lstStyle/>
          <a:p>
            <a:r>
              <a:rPr lang="en-US" sz="1400" b="1" dirty="0"/>
              <a:t>② 世界模型预测 + GRPO 强化：</a:t>
            </a:r>
            <a:r>
              <a:rPr lang="en-US" sz="1400" dirty="0"/>
              <a:t>(f̂_{t+Δ}, V_θ) = P_θ(f_t, e_{a_t}) 在 latent 空间预测未来特征与价值；L_GRPO = (1/B)·Σ A^{(b)} log π_φ(a^{(b)}|f_t,g) − β·KL(π_φ‖π_0)，VLM 按预测优势更新策略，KL 防止偏离基线。</a:t>
            </a:r>
          </a:p>
        </p:txBody>
      </p:sp>
      <p:sp>
        <p:nvSpPr>
          <p:cNvPr id="15" name="TextBox 14">
            <a:extLst>
              <a:ext uri="{FF2B5EF4-FFF2-40B4-BE49-F238E27FC236}">
                <a16:creationId xmlns:a16="http://schemas.microsoft.com/office/drawing/2014/main" id="{F19451EF-12EF-0B5F-0652-5166B63BC7EB}"/>
              </a:ext>
            </a:extLst>
          </p:cNvPr>
          <p:cNvSpPr txBox="1"/>
          <p:nvPr/>
        </p:nvSpPr>
        <p:spPr>
          <a:xfrm>
            <a:off x="900000" y="5000000"/>
            <a:ext cx="10300000" cy="900000"/>
          </a:xfrm>
          <a:prstGeom prst="rect">
            <a:avLst/>
          </a:prstGeom>
          <a:noFill/>
        </p:spPr>
        <p:txBody>
          <a:bodyPr wrap="square">
            <a:spAutoFit/>
          </a:bodyPr>
          <a:lstStyle/>
          <a:p>
            <a:r>
              <a:rPr lang="en-US" sz="1400" b="1" dirty="0"/>
              <a:t>③ 缩放结果（图7）：</a:t>
            </a:r>
            <a:r>
              <a:rPr lang="en-US" sz="1400" dirty="0"/>
              <a:t>在 50 款留出游戏 T_U 上，随训练游戏数 N 增大，零样本 Survival / Curiosity / Utility 三项稳步上升——交互经验越多，IPR 越接近"携带物理先验"的人类化行为。</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F63B7-1052-F65C-A307-1A81BDBEA87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3675B49-8415-BB65-E4BB-2E1C0D5D3798}"/>
              </a:ext>
            </a:extLst>
          </p:cNvPr>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14543FE1-647D-47C4-B6A8-97E268ABF333}"/>
              </a:ext>
            </a:extLst>
          </p:cNvPr>
          <p:cNvSpPr txBox="1"/>
          <p:nvPr/>
        </p:nvSpPr>
        <p:spPr>
          <a:xfrm>
            <a:off x="658368" y="228600"/>
            <a:ext cx="7726679" cy="369332"/>
          </a:xfrm>
          <a:prstGeom prst="rect">
            <a:avLst/>
          </a:prstGeom>
          <a:noFill/>
        </p:spPr>
        <p:txBody>
          <a:bodyPr wrap="square">
            <a:spAutoFit/>
          </a:bodyPr>
          <a:lstStyle/>
          <a:p>
            <a:r>
              <a:rPr b="1" dirty="0" err="1">
                <a:solidFill>
                  <a:schemeClr val="accent1"/>
                </a:solidFill>
              </a:rPr>
              <a:t>综合讨论：实验主表与消融</a:t>
            </a:r>
            <a:endParaRPr b="1" dirty="0">
              <a:solidFill>
                <a:schemeClr val="accent1"/>
              </a:solidFill>
            </a:endParaRPr>
          </a:p>
        </p:txBody>
      </p:sp>
      <p:sp>
        <p:nvSpPr>
          <p:cNvPr id="4" name="TextBox 3">
            <a:extLst>
              <a:ext uri="{FF2B5EF4-FFF2-40B4-BE49-F238E27FC236}">
                <a16:creationId xmlns:a16="http://schemas.microsoft.com/office/drawing/2014/main" id="{9EE7049C-9533-A197-FDE2-981332B2E52D}"/>
              </a:ext>
            </a:extLst>
          </p:cNvPr>
          <p:cNvSpPr txBox="1"/>
          <p:nvPr/>
        </p:nvSpPr>
        <p:spPr>
          <a:xfrm>
            <a:off x="676656" y="877824"/>
            <a:ext cx="9692640" cy="275332"/>
          </a:xfrm>
          <a:prstGeom prst="rect">
            <a:avLst/>
          </a:prstGeom>
          <a:noFill/>
        </p:spPr>
        <p:txBody>
          <a:bodyPr wrap="square">
            <a:spAutoFit/>
          </a:bodyPr>
          <a:lstStyle/>
          <a:p>
            <a:r>
              <a:rPr dirty="0" err="1"/>
              <a:t>IPR 在 200 款游戏 28 种基线上稳健领先，消融揭示"预测+推理"缺一不可</a:t>
            </a:r>
            <a:endParaRPr dirty="0"/>
          </a:p>
        </p:txBody>
      </p:sp>
      <p:sp>
        <p:nvSpPr>
          <p:cNvPr id="6" name="Rounded Rectangle 5">
            <a:extLst>
              <a:ext uri="{FF2B5EF4-FFF2-40B4-BE49-F238E27FC236}">
                <a16:creationId xmlns:a16="http://schemas.microsoft.com/office/drawing/2014/main" id="{5A4FD154-40D5-44B1-D1FC-DE8D1E1A1DCB}"/>
              </a:ext>
            </a:extLst>
          </p:cNvPr>
          <p:cNvSpPr/>
          <p:nvPr/>
        </p:nvSpPr>
        <p:spPr>
          <a:xfrm>
            <a:off x="658368" y="1389888"/>
            <a:ext cx="10058400" cy="3063240"/>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53D3965-F8C6-CE16-1A16-40BC9BD212C1}"/>
              </a:ext>
            </a:extLst>
          </p:cNvPr>
          <p:cNvSpPr txBox="1"/>
          <p:nvPr/>
        </p:nvSpPr>
        <p:spPr>
          <a:xfrm>
            <a:off x="822960" y="1783080"/>
            <a:ext cx="9738360" cy="1477136"/>
          </a:xfrm>
          <a:prstGeom prst="rect">
            <a:avLst/>
          </a:prstGeom>
          <a:noFill/>
        </p:spPr>
        <p:txBody>
          <a:bodyPr wrap="square">
            <a:spAutoFit/>
          </a:bodyPr>
          <a:lstStyle/>
          <a:p>
            <a:pPr algn="l">
              <a:lnSpc>
                <a:spcPct val="116000"/>
              </a:lnSpc>
              <a:spcBef>
                <a:spcPts val="0"/>
              </a:spcBef>
              <a:spcAft>
                <a:spcPts val="700"/>
              </a:spcAft>
            </a:pPr>
            <a:r>
              <a:rPr sz="1600" b="1" dirty="0"/>
              <a:t>• 主表 (Tab. 2)：</a:t>
            </a:r>
            <a:r>
              <a:rPr sz="1600" dirty="0"/>
              <a:t>IPR 综合排名 4.9 / 30，远优于 Qwen3-VL-8B w/o IPR 的 18.2。</a:t>
            </a:r>
            <a:endParaRPr lang="en-US" sz="1600" dirty="0"/>
          </a:p>
          <a:p>
            <a:pPr algn="l">
              <a:lnSpc>
                <a:spcPct val="116000"/>
              </a:lnSpc>
              <a:spcBef>
                <a:spcPts val="0"/>
              </a:spcBef>
              <a:spcAft>
                <a:spcPts val="700"/>
              </a:spcAft>
            </a:pPr>
            <a:r>
              <a:rPr sz="1600" b="1" dirty="0"/>
              <a:t>• Survival 第 1：</a:t>
            </a:r>
            <a:r>
              <a:rPr sz="1600" dirty="0"/>
              <a:t>Mean 0.252，Avg Rank 2.6，Top-3 占比 72.0%；Curiosity 1.173，Utility 0.493。</a:t>
            </a:r>
            <a:endParaRPr lang="en-US" sz="1600" dirty="0"/>
          </a:p>
          <a:p>
            <a:pPr algn="l">
              <a:lnSpc>
                <a:spcPct val="116000"/>
              </a:lnSpc>
              <a:spcBef>
                <a:spcPts val="0"/>
              </a:spcBef>
              <a:spcAft>
                <a:spcPts val="700"/>
              </a:spcAft>
            </a:pPr>
            <a:r>
              <a:rPr sz="1600" b="1" dirty="0"/>
              <a:t>• 消融 (Tab. 3)：</a:t>
            </a:r>
            <a:r>
              <a:rPr sz="1600" dirty="0"/>
              <a:t>BC 冲掉先验，PPO 偏短期奖励，唯有 IPR 在 Survival/Curiosity/Utility 三项均强。</a:t>
            </a:r>
            <a:endParaRPr lang="en-US" sz="1600" dirty="0"/>
          </a:p>
          <a:p>
            <a:pPr algn="l">
              <a:lnSpc>
                <a:spcPct val="116000"/>
              </a:lnSpc>
              <a:spcBef>
                <a:spcPts val="0"/>
              </a:spcBef>
              <a:spcAft>
                <a:spcPts val="700"/>
              </a:spcAft>
            </a:pPr>
            <a:r>
              <a:rPr sz="1600" b="1" dirty="0"/>
              <a:t>• 关键启示：</a:t>
            </a:r>
            <a:r>
              <a:rPr sz="1600" dirty="0"/>
              <a:t>"预测在环 + 物理中心化潜在动作"是 8B 骨干超越 GPT-5 的真正驱动因素。</a:t>
            </a:r>
          </a:p>
        </p:txBody>
      </p:sp>
      <p:pic>
        <p:nvPicPr>
          <p:cNvPr id="12" name="图片 11">
            <a:extLst>
              <a:ext uri="{FF2B5EF4-FFF2-40B4-BE49-F238E27FC236}">
                <a16:creationId xmlns:a16="http://schemas.microsoft.com/office/drawing/2014/main" id="{69C379D1-8735-670C-7110-370A8473F5BF}"/>
              </a:ext>
            </a:extLst>
          </p:cNvPr>
          <p:cNvPicPr>
            <a:picLocks noChangeAspect="1"/>
          </p:cNvPicPr>
          <p:nvPr/>
        </p:nvPicPr>
        <p:blipFill>
          <a:blip r:embed="rId2"/>
          <a:stretch>
            <a:fillRect/>
          </a:stretch>
        </p:blipFill>
        <p:spPr>
          <a:xfrm>
            <a:off x="10716768" y="193040"/>
            <a:ext cx="1398224" cy="435405"/>
          </a:xfrm>
          <a:prstGeom prst="rect">
            <a:avLst/>
          </a:prstGeom>
        </p:spPr>
      </p:pic>
    </p:spTree>
    <p:extLst>
      <p:ext uri="{BB962C8B-B14F-4D97-AF65-F5344CB8AC3E}">
        <p14:creationId xmlns:p14="http://schemas.microsoft.com/office/powerpoint/2010/main" val="372179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1480" y="320040"/>
            <a:ext cx="73152" cy="731520"/>
          </a:xfrm>
          <a:prstGeom prst="rect">
            <a:avLst/>
          </a:prstGeom>
          <a:solidFill>
            <a:srgbClr val="2323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58368" y="228600"/>
            <a:ext cx="7726679" cy="369332"/>
          </a:xfrm>
          <a:prstGeom prst="rect">
            <a:avLst/>
          </a:prstGeom>
          <a:noFill/>
        </p:spPr>
        <p:txBody>
          <a:bodyPr wrap="square">
            <a:spAutoFit/>
          </a:bodyPr>
          <a:lstStyle/>
          <a:p>
            <a:r>
              <a:rPr b="1" dirty="0" err="1">
                <a:solidFill>
                  <a:schemeClr val="accent1"/>
                </a:solidFill>
              </a:rPr>
              <a:t>总结与结论</a:t>
            </a:r>
            <a:endParaRPr b="1" dirty="0">
              <a:solidFill>
                <a:schemeClr val="accent1"/>
              </a:solidFill>
            </a:endParaRPr>
          </a:p>
        </p:txBody>
      </p:sp>
      <p:sp>
        <p:nvSpPr>
          <p:cNvPr id="4" name="TextBox 3"/>
          <p:cNvSpPr txBox="1"/>
          <p:nvPr/>
        </p:nvSpPr>
        <p:spPr>
          <a:xfrm>
            <a:off x="676656" y="877824"/>
            <a:ext cx="9692640" cy="275332"/>
          </a:xfrm>
          <a:prstGeom prst="rect">
            <a:avLst/>
          </a:prstGeom>
          <a:noFill/>
        </p:spPr>
        <p:txBody>
          <a:bodyPr wrap="square">
            <a:spAutoFit/>
          </a:bodyPr>
          <a:lstStyle/>
          <a:p>
            <a:r>
              <a:t>这篇论文把"物理推理"重新定义为可通过交互持续增长的能力</a:t>
            </a:r>
          </a:p>
        </p:txBody>
      </p:sp>
      <p:sp>
        <p:nvSpPr>
          <p:cNvPr id="6" name="Rounded Rectangle 5"/>
          <p:cNvSpPr/>
          <p:nvPr/>
        </p:nvSpPr>
        <p:spPr>
          <a:xfrm>
            <a:off x="658368" y="1389888"/>
            <a:ext cx="10058400" cy="4773168"/>
          </a:xfrm>
          <a:prstGeom prst="roundRect">
            <a:avLst/>
          </a:prstGeom>
          <a:solidFill>
            <a:srgbClr val="FAFAFA"/>
          </a:solidFill>
          <a:ln>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60" y="1783080"/>
            <a:ext cx="9738360" cy="1616661"/>
          </a:xfrm>
          <a:prstGeom prst="rect">
            <a:avLst/>
          </a:prstGeom>
          <a:noFill/>
        </p:spPr>
        <p:txBody>
          <a:bodyPr wrap="square">
            <a:spAutoFit/>
          </a:bodyPr>
          <a:lstStyle/>
          <a:p>
            <a:pPr algn="l">
              <a:lnSpc>
                <a:spcPct val="116000"/>
              </a:lnSpc>
              <a:spcBef>
                <a:spcPts val="0"/>
              </a:spcBef>
              <a:spcAft>
                <a:spcPts val="700"/>
              </a:spcAft>
            </a:pPr>
            <a:r>
              <a:rPr dirty="0" b="1"/>
              <a:t>• 主要创新：</a:t>
            </a:r>
            <a:r>
              <a:rPr dirty="0"/>
              <a:t>PhysCode + 预测在环 GRPO，让世界模型与 VLM 在同一物理动作空间互相强化。</a:t>
            </a:r>
            <a:endParaRPr lang="en-US" dirty="0"/>
          </a:p>
          <a:p>
            <a:pPr algn="l">
              <a:lnSpc>
                <a:spcPct val="116000"/>
              </a:lnSpc>
              <a:spcBef>
                <a:spcPts val="0"/>
              </a:spcBef>
              <a:spcAft>
                <a:spcPts val="700"/>
              </a:spcAft>
            </a:pPr>
            <a:r>
              <a:rPr dirty="0" b="1"/>
              <a:t>• 主要发现：</a:t>
            </a:r>
            <a:r>
              <a:rPr dirty="0"/>
              <a:t>8B 骨干在 G2U 基准上整体超越 GPT-5；能力随训练游戏数和交互步数单调缩放，并零样本迁移。</a:t>
            </a:r>
            <a:endParaRPr lang="en-US" dirty="0"/>
          </a:p>
          <a:p>
            <a:pPr algn="l">
              <a:lnSpc>
                <a:spcPct val="116000"/>
              </a:lnSpc>
              <a:spcBef>
                <a:spcPts val="0"/>
              </a:spcBef>
              <a:spcAft>
                <a:spcPts val="700"/>
              </a:spcAft>
            </a:pPr>
            <a:r>
              <a:rPr dirty="0" b="1"/>
              <a:t>• 主要贡献：</a:t>
            </a:r>
            <a:r>
              <a:rPr dirty="0"/>
              <a:t>开放 1000+ 异构游戏与 Survival/Curiosity/Utility 三层评估，给出可复现的 IPR pipeline。</a:t>
            </a:r>
            <a:endParaRPr lang="en-US" dirty="0"/>
          </a:p>
          <a:p>
            <a:pPr algn="l">
              <a:lnSpc>
                <a:spcPct val="116000"/>
              </a:lnSpc>
              <a:spcBef>
                <a:spcPts val="0"/>
              </a:spcBef>
              <a:spcAft>
                <a:spcPts val="700"/>
              </a:spcAft>
            </a:pPr>
            <a:r>
              <a:rPr dirty="0" b="1"/>
              <a:t>• 局限与展望：</a:t>
            </a:r>
            <a:r>
              <a:rPr dirty="0"/>
              <a:t>仍局限于游戏环境与短程想象，下一步面向真实机器人场景做长程交互推理。</a:t>
            </a:r>
          </a:p>
        </p:txBody>
      </p:sp>
      <p:pic>
        <p:nvPicPr>
          <p:cNvPr id="9" name="图片 11">
            <a:extLst>
              <a:ext uri="{FF2B5EF4-FFF2-40B4-BE49-F238E27FC236}">
                <a16:creationId xmlns:a16="http://schemas.microsoft.com/office/drawing/2014/main" id="{7DC1CCCC-B091-BF68-4FF1-E41993EFD947}"/>
              </a:ext>
            </a:extLst>
          </p:cNvPr>
          <p:cNvPicPr>
            <a:picLocks noChangeAspect="1"/>
          </p:cNvPicPr>
          <p:nvPr/>
        </p:nvPicPr>
        <p:blipFill>
          <a:blip r:embed="rId2"/>
          <a:stretch>
            <a:fillRect/>
          </a:stretch>
        </p:blipFill>
        <p:spPr>
          <a:xfrm>
            <a:off x="10716768" y="193040"/>
            <a:ext cx="1398224" cy="435405"/>
          </a:xfrm>
          <a:prstGeom prst="rect">
            <a:avLst/>
          </a:prstGeom>
        </p:spPr>
      </p:pic>
    </p:spTree>
  </p:cSld>
  <p:clrMapOvr>
    <a:masterClrMapping/>
  </p:clrMapOvr>
</p:sld>
</file>

<file path=ppt/theme/theme1.xml><?xml version="1.0" encoding="utf-8"?>
<a:theme xmlns:a="http://schemas.openxmlformats.org/drawingml/2006/main" name="2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e05413m2">
      <a:majorFont>
        <a:latin typeface="Arial"/>
        <a:ea typeface="楷体"/>
        <a:cs typeface=""/>
      </a:majorFont>
      <a:minorFont>
        <a:latin typeface="Arial"/>
        <a:ea typeface="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自定义设计方案">
  <a:themeElements>
    <a:clrScheme name="自定义 3">
      <a:dk1>
        <a:srgbClr val="000000"/>
      </a:dk1>
      <a:lt1>
        <a:srgbClr val="FFFFFF"/>
      </a:lt1>
      <a:dk2>
        <a:srgbClr val="778495"/>
      </a:dk2>
      <a:lt2>
        <a:srgbClr val="F0F0F0"/>
      </a:lt2>
      <a:accent1>
        <a:srgbClr val="C00000"/>
      </a:accent1>
      <a:accent2>
        <a:srgbClr val="D8D8D8"/>
      </a:accent2>
      <a:accent3>
        <a:srgbClr val="BFBFBF"/>
      </a:accent3>
      <a:accent4>
        <a:srgbClr val="A5A5A5"/>
      </a:accent4>
      <a:accent5>
        <a:srgbClr val="7F7F7F"/>
      </a:accent5>
      <a:accent6>
        <a:srgbClr val="595959"/>
      </a:accent6>
      <a:hlink>
        <a:srgbClr val="C60C0C"/>
      </a:hlink>
      <a:folHlink>
        <a:srgbClr val="BFBFBF"/>
      </a:folHlink>
    </a:clrScheme>
    <a:fontScheme name="自定义 1">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1492</TotalTime>
  <Words>2059</Words>
  <Application>Microsoft Macintosh PowerPoint</Application>
  <PresentationFormat>Widescreen</PresentationFormat>
  <Paragraphs>145</Paragraphs>
  <Slides>15</Slides>
  <Notes>5</Notes>
  <HiddenSlides>4</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15</vt:i4>
      </vt:variant>
    </vt:vector>
  </HeadingPairs>
  <TitlesOfParts>
    <vt:vector size="21" baseType="lpstr">
      <vt:lpstr>等线</vt:lpstr>
      <vt:lpstr>华文楷体</vt:lpstr>
      <vt:lpstr>Arial</vt:lpstr>
      <vt:lpstr>Calibri</vt:lpstr>
      <vt:lpstr>2_自定义设计方案</vt:lpstr>
      <vt:lpstr>3_自定义设计方案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 Yuting</dc:creator>
  <cp:lastModifiedBy>Bingran You</cp:lastModifiedBy>
  <cp:revision>45</cp:revision>
  <dcterms:created xsi:type="dcterms:W3CDTF">2023-06-07T13:12:54Z</dcterms:created>
  <dcterms:modified xsi:type="dcterms:W3CDTF">2026-03-27T05:11:50Z</dcterms:modified>
</cp:coreProperties>
</file>