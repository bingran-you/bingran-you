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19"/>
  </p:notesMasterIdLst>
  <p:sldIdLst>
    <p:sldId id="13773" r:id="rId3"/>
    <p:sldId id="13803" r:id="rId4"/>
    <p:sldId id="13770" r:id="rId5"/>
    <p:sldId id="13804" r:id="rId6"/>
    <p:sldId id="13771" r:id="rId7"/>
    <p:sldId id="13774" r:id="rId8"/>
    <p:sldId id="13802" r:id="rId9"/>
    <p:sldId id="13776" r:id="rId10"/>
    <p:sldId id="13805" r:id="rId11"/>
    <p:sldId id="13806" r:id="rId12"/>
    <p:sldId id="13808" r:id="rId13"/>
    <p:sldId id="13809" r:id="rId14"/>
    <p:sldId id="13810" r:id="rId15"/>
    <p:sldId id="13811" r:id="rId16"/>
    <p:sldId id="13783" r:id="rId17"/>
    <p:sldId id="13784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10" autoAdjust="0"/>
    <p:restoredTop sz="94660"/>
  </p:normalViewPr>
  <p:slideViewPr>
    <p:cSldViewPr snapToGrid="0">
      <p:cViewPr>
        <p:scale>
          <a:sx n="133" d="100"/>
          <a:sy n="133" d="100"/>
        </p:scale>
        <p:origin x="656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B10B1-3F6B-44C2-A3BA-6192D167FFA6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573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039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0475" y="123292"/>
            <a:ext cx="10164682" cy="67280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Calibri" panose="020F0502020204030204" pitchFamily="34" charset="0"/>
                <a:ea typeface="华文楷体" panose="02010600040101010101" pitchFamily="2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76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760413" y="0"/>
            <a:ext cx="9702248" cy="7985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1222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37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19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0475" y="123292"/>
            <a:ext cx="10164682" cy="67280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Calibri" panose="020F0502020204030204" pitchFamily="34" charset="0"/>
                <a:ea typeface="华文楷体" panose="02010600040101010101" pitchFamily="2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46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50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http://www.meridiancapital.com.cn/images/logo.png"/>
          <p:cNvPicPr>
            <a:picLocks noChangeAspect="1" noChangeArrowheads="1"/>
          </p:cNvPicPr>
          <p:nvPr userDrawn="1"/>
        </p:nvPicPr>
        <p:blipFill>
          <a:blip r:embed="rId6" cstate="email"/>
          <a:srcRect/>
          <a:stretch>
            <a:fillRect/>
          </a:stretch>
        </p:blipFill>
        <p:spPr bwMode="auto">
          <a:xfrm>
            <a:off x="10702413" y="189026"/>
            <a:ext cx="1489587" cy="51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51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37656" y="575136"/>
            <a:ext cx="4331884" cy="575123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22"/>
          <a:stretch>
            <a:fillRect/>
          </a:stretch>
        </p:blipFill>
        <p:spPr>
          <a:xfrm>
            <a:off x="591811" y="1778432"/>
            <a:ext cx="11008378" cy="360872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91811" y="1778432"/>
            <a:ext cx="11008378" cy="3608729"/>
          </a:xfrm>
          <a:prstGeom prst="rect">
            <a:avLst/>
          </a:prstGeom>
          <a:solidFill>
            <a:schemeClr val="bg1">
              <a:lumMod val="75000"/>
              <a:alpha val="48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 flipH="1">
            <a:off x="1573951" y="575136"/>
            <a:ext cx="45719" cy="575123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0846907" y="5160182"/>
            <a:ext cx="453958" cy="453958"/>
            <a:chOff x="5869021" y="5872413"/>
            <a:chExt cx="453958" cy="453958"/>
          </a:xfrm>
        </p:grpSpPr>
        <p:sp>
          <p:nvSpPr>
            <p:cNvPr id="17" name="矩形 16"/>
            <p:cNvSpPr/>
            <p:nvPr/>
          </p:nvSpPr>
          <p:spPr>
            <a:xfrm>
              <a:off x="5869021" y="5872413"/>
              <a:ext cx="453958" cy="45395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 rot="5400000">
              <a:off x="5997358" y="5972932"/>
              <a:ext cx="197284" cy="252920"/>
            </a:xfrm>
            <a:prstGeom prst="chevron">
              <a:avLst>
                <a:gd name="adj" fmla="val 7253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098256" y="4664202"/>
            <a:ext cx="199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n-lt"/>
              </a:rPr>
              <a:t>2026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n-lt"/>
              </a:rPr>
              <a:t>年</a:t>
            </a:r>
            <a:r>
              <a:rPr lang="en-US" altLang="zh-CN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n-lt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n-lt"/>
              </a:rPr>
              <a:t>月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062" y="864162"/>
            <a:ext cx="2207110" cy="68729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18672" y="2967335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华映资本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B266EC-70A5-AC9B-F06F-2D843CCA78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40" b="2838"/>
          <a:stretch>
            <a:fillRect/>
          </a:stretch>
        </p:blipFill>
        <p:spPr>
          <a:xfrm>
            <a:off x="2750709" y="1583"/>
            <a:ext cx="6690582" cy="685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96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目录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</a:t>
            </a:r>
            <a:r>
              <a:rPr lang="zh-CN" altLang="en-US" dirty="0"/>
              <a:t> 第一部分：论文主要创新点（研究范式、受控实验与预测方程）。</a:t>
            </a:r>
            <a:endParaRPr lang="en-US" dirty="0"/>
          </a:p>
          <a:p>
            <a:r>
              <a:rPr lang="en-US" dirty="0"/>
              <a:t>•</a:t>
            </a:r>
            <a:r>
              <a:rPr lang="zh-CN" altLang="en-US" dirty="0"/>
              <a:t> 第二部分：论文主要发现（何时多智能体增益，何时显著退化）。</a:t>
            </a:r>
          </a:p>
          <a:p>
            <a:r>
              <a:rPr dirty="0"/>
              <a:t>• </a:t>
            </a:r>
            <a:r>
              <a:rPr dirty="0" err="1"/>
              <a:t>第三部分：论文主要贡献（理论贡献、方法贡献、工程价值</a:t>
            </a:r>
            <a:r>
              <a:rPr dirty="0"/>
              <a:t>）。</a:t>
            </a:r>
          </a:p>
          <a:p>
            <a:r>
              <a:rPr dirty="0"/>
              <a:t>• 第四部分：按原文图1到图6逐页解读证据与机制。</a:t>
            </a:r>
          </a:p>
          <a:p>
            <a:r>
              <a:rPr dirty="0"/>
              <a:t>• </a:t>
            </a:r>
            <a:r>
              <a:rPr dirty="0" err="1"/>
              <a:t>第五部分：给出可部署的架构选择建议与结论讨论</a:t>
            </a:r>
            <a:r>
              <a:rPr dirty="0"/>
              <a:t>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250D6EF6-E290-DB59-6252-7A2C142C9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2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607A5-E9C1-9532-A545-6AB3616E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961506-B660-E743-309E-97B6A0F05A8A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A3D809-E57B-6095-A452-08E9C428020D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智能体协同的五大基础拓扑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B8FBBD8-4B22-E840-6968-9D0F7025DDFE}"/>
              </a:ext>
            </a:extLst>
          </p:cNvPr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4F04A6C8-232A-1310-E046-3E7EC8EBA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6A5B48-5914-2F35-1EE3-72A05A7D7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228"/>
          <a:stretch>
            <a:fillRect/>
          </a:stretch>
        </p:blipFill>
        <p:spPr>
          <a:xfrm>
            <a:off x="1218398" y="1503582"/>
            <a:ext cx="8944280" cy="453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648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主要创新点：把多智能体研究推进到“可预测科学</a:t>
            </a:r>
            <a:r>
              <a:rPr b="1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核心在于严谨定义、受控比较与可外推的定量模型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9C2101-A6BF-F306-52D1-079E6187C064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2"/>
          </a:xfrm>
        </p:grpSpPr>
        <p:sp>
          <p:nvSpPr>
            <p:cNvPr id="6" name="Rounded Rectangle 5"/>
            <p:cNvSpPr/>
            <p:nvPr/>
          </p:nvSpPr>
          <p:spPr>
            <a:xfrm>
              <a:off x="604672" y="1280756"/>
              <a:ext cx="4900000" cy="4773169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4672" y="1499616"/>
              <a:ext cx="4600000" cy="11334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4672" y="2469771"/>
              <a:ext cx="4500000" cy="37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lang="en-US" sz="1400" dirty="0"/>
                <a:t>• </a:t>
              </a:r>
              <a:r>
                <a:rPr lang="zh-CN" altLang="en-US" sz="1400" dirty="0"/>
                <a:t>创新</a:t>
              </a:r>
              <a:r>
                <a:rPr lang="en-US" altLang="zh-CN" sz="1400" dirty="0"/>
                <a:t>1</a:t>
              </a:r>
              <a:r>
                <a:rPr lang="zh-CN" altLang="en-US" sz="1400" dirty="0"/>
                <a:t>：提出</a:t>
              </a:r>
              <a:r>
                <a:rPr lang="en-US" sz="1400" dirty="0"/>
                <a:t>Agentic</a:t>
              </a:r>
              <a:r>
                <a:rPr lang="zh-CN" altLang="en-US" sz="1400" dirty="0"/>
                <a:t>评估的必要条件，明确区分静态推理任务与真实交互任务。</a:t>
              </a:r>
              <a:endParaRPr lang="en-US" altLang="zh-CN" sz="1400" dirty="0"/>
            </a:p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创新</a:t>
              </a:r>
              <a:r>
                <a:rPr lang="en-US" altLang="zh-CN" sz="1400" dirty="0"/>
                <a:t>2</a:t>
              </a:r>
              <a:r>
                <a:rPr lang="zh-CN" altLang="en-US" sz="1400" dirty="0"/>
                <a:t>：在</a:t>
              </a:r>
              <a:r>
                <a:rPr lang="en-US" altLang="zh-CN" sz="1400" dirty="0"/>
                <a:t>180</a:t>
              </a:r>
              <a:r>
                <a:rPr lang="zh-CN" altLang="en-US" sz="1400" dirty="0"/>
                <a:t>个配置中控制提示词、工具和预算，仅改变协调拓扑以识别因果效应。</a:t>
              </a:r>
              <a:endParaRPr lang="en-US" altLang="zh-CN" sz="1400" dirty="0"/>
            </a:p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创新3：构建含20项参数的混合效应缩放方程，交叉验证R²达0.524。</a:t>
              </a:r>
            </a:p>
            <a:p>
              <a:r>
                <a:rPr sz="1400" dirty="0"/>
                <a:t>• 创新4：把架构选择转化为可测任务特征驱动的预测问题，而非经验拍脑袋。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FDDFE6E-EA1A-D7D6-B770-0D9C20C6E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slide_03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243" y="1488932"/>
            <a:ext cx="8910053" cy="335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02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主要发现：多智能体收益不是单调上升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任务结构决定收益方向，协调成本决定收益上限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5915E9-91C5-9C15-39BE-414ED70C7357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/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4672" y="1499616"/>
              <a:ext cx="460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1783080"/>
              <a:ext cx="4500000" cy="2337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发现1：工具-协调负交互显著（β约-0.267，p&lt;0.001），</a:t>
              </a:r>
              <a:r>
                <a:rPr sz="1400" dirty="0" err="1"/>
                <a:t>工具越多越容易被协调税吞噬</a:t>
              </a:r>
              <a:r>
                <a:rPr sz="1400" dirty="0"/>
                <a:t>。</a:t>
              </a:r>
              <a:endParaRPr lang="en-US" sz="1400" dirty="0"/>
            </a:p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发现2：能力天花板效应明显，单智能体基线约达到45%后，多智能体常进入边际递减。</a:t>
              </a:r>
              <a:endParaRPr lang="en-US" sz="1400" dirty="0"/>
            </a:p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发现3：错误放大强依赖拓扑，Independent可达17.2倍，Centralized约4.4倍。</a:t>
              </a:r>
              <a:endParaRPr lang="en-US" sz="1400" dirty="0"/>
            </a:p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发现4：Finance偏Centralized，Browse偏Decentralized，PlanCraft对MAS普遍不友好。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E8F9F1FC-F284-020F-1F78-D30A3159F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4" name="Picture 13" descr="slide_04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908" y="1401106"/>
            <a:ext cx="7172724" cy="52638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97022-F9BD-C816-5EFB-A70465042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82E560-F4FC-ABF7-685F-122968B602D8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063CA-15F7-F773-048F-94E5629D57FF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主要贡献：理论、方法与工程三层闭环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E33D4-2714-5197-7F12-7A6769D22D87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不仅解释“</a:t>
            </a:r>
            <a:r>
              <a:rPr dirty="0" err="1"/>
              <a:t>为什么</a:t>
            </a:r>
            <a:r>
              <a:rPr dirty="0"/>
              <a:t>”，</a:t>
            </a:r>
            <a:r>
              <a:rPr dirty="0" err="1"/>
              <a:t>还回答“怎么选、怎么用</a:t>
            </a:r>
            <a:r>
              <a:rPr dirty="0"/>
              <a:t>”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90F5864-CBF1-FD25-4B65-DC8E6B854596}"/>
              </a:ext>
            </a:extLst>
          </p:cNvPr>
          <p:cNvSpPr/>
          <p:nvPr/>
        </p:nvSpPr>
        <p:spPr>
          <a:xfrm>
            <a:off x="658368" y="1389887"/>
            <a:ext cx="10543162" cy="5239513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B4A5A-F250-D399-D052-756A5467D8BB}"/>
              </a:ext>
            </a:extLst>
          </p:cNvPr>
          <p:cNvSpPr txBox="1"/>
          <p:nvPr/>
        </p:nvSpPr>
        <p:spPr>
          <a:xfrm>
            <a:off x="804672" y="1499616"/>
            <a:ext cx="6254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/>
              <a:t>核心要点</a:t>
            </a:r>
            <a:endParaRPr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1B8104-1CEE-7BD6-5AE9-0E6A111D0BC2}"/>
              </a:ext>
            </a:extLst>
          </p:cNvPr>
          <p:cNvSpPr txBox="1"/>
          <p:nvPr/>
        </p:nvSpPr>
        <p:spPr>
          <a:xfrm>
            <a:off x="822959" y="1783080"/>
            <a:ext cx="10193383" cy="201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</a:t>
            </a:r>
            <a:r>
              <a:rPr dirty="0" err="1"/>
              <a:t>理论贡献：给出面向Agent系统的缩放原则，系统反驳“更多代理必然更好”的泛化命题</a:t>
            </a:r>
            <a:r>
              <a:rPr dirty="0"/>
              <a:t>。</a:t>
            </a:r>
            <a:endParaRPr lang="en-US" sz="1500" dirty="0">
              <a:solidFill>
                <a:srgbClr val="2D2D2D"/>
              </a:solidFill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方法贡献：提供可复验协议（3大模型族、4类任务、5种架构、180个受控配置）。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预测贡献：模型在留出配置上可预测最优架构，报告87%的选择准确率。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外推贡献：在GPT-5.2外样本上保持较低误差，验证关键规律具备跨代泛化潜力。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</a:t>
            </a:r>
            <a:r>
              <a:rPr dirty="0" err="1"/>
              <a:t>工程贡献：形成可落地决策框架，用效率、开销、冗余与错误放大联合选型</a:t>
            </a:r>
            <a:r>
              <a:rPr dirty="0"/>
              <a:t>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A0879EF-A5B0-27B7-D5DC-7D6550013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4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逐图深度解读：从结论走向证据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下面按原文图1-图6依次解释每张图在回答什么问题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/>
              <a:t>核心要点</a:t>
            </a:r>
            <a:endParaRPr b="1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201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图1：模型能力与协同架构是否存在协同放大。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图2：不同任务类型中，MAS相对SAS为何会分化。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图3：性能提升与成本上升之间如何权衡。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图4与图5：异构编队与代理数量扩展的边界条件。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图6：跨模型族、跨基准是否存在稳定的缩放动态。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D6161145-8687-472E-1628-987A8FF3C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FA997-489F-9B2F-79F7-C80B273B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A03209-782E-0052-5968-B67AA2938015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3A4D4-1CA4-38DB-57A4-BA0BF2D4EF73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</a:t>
            </a:r>
            <a:r>
              <a:rPr lang="en-US" altLang="zh-CN" b="1" dirty="0">
                <a:solidFill>
                  <a:schemeClr val="accent1"/>
                </a:solidFill>
              </a:rPr>
              <a:t>1</a:t>
            </a:r>
            <a:r>
              <a:rPr lang="zh-CN" altLang="en-US" b="1" dirty="0">
                <a:solidFill>
                  <a:schemeClr val="accent1"/>
                </a:solidFill>
              </a:rPr>
              <a:t>解读：能力增长会放大协同收益，但并非无条件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B1BCF-7E89-4C4C-CBB7-E6CB262DBD0C}"/>
              </a:ext>
            </a:extLst>
          </p:cNvPr>
          <p:cNvSpPr txBox="1"/>
          <p:nvPr/>
        </p:nvSpPr>
        <p:spPr>
          <a:xfrm>
            <a:off x="676656" y="877824"/>
            <a:ext cx="9692640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核心在于严谨定义、受控比较与可外推的定量模型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E39660-D457-A2C0-B2F2-7235B1708694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C2CFCB56-1B98-30B0-7981-5207569C971B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5685B7-E2AE-89F1-9238-EED70F0C32B9}"/>
                </a:ext>
              </a:extLst>
            </p:cNvPr>
            <p:cNvSpPr txBox="1"/>
            <p:nvPr/>
          </p:nvSpPr>
          <p:spPr>
            <a:xfrm>
              <a:off x="804672" y="1499616"/>
              <a:ext cx="4600000" cy="11334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4EF040-EA97-AD13-F24C-A2864079B93F}"/>
                </a:ext>
              </a:extLst>
            </p:cNvPr>
            <p:cNvSpPr txBox="1"/>
            <p:nvPr/>
          </p:nvSpPr>
          <p:spPr>
            <a:xfrm>
              <a:off x="804672" y="2469770"/>
              <a:ext cx="4500000" cy="37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三大模型族总体都随能力提升而上升，说明底座能力仍是首要驱动因子。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同等能力下，</a:t>
              </a:r>
              <a:r>
                <a:rPr lang="en-US" sz="1400" dirty="0"/>
                <a:t>Centralized/Hybrid</a:t>
              </a:r>
              <a:r>
                <a:rPr lang="zh-CN" altLang="en-US" sz="1400" dirty="0"/>
                <a:t>常优于</a:t>
              </a:r>
              <a:r>
                <a:rPr lang="en-US" sz="1400" dirty="0"/>
                <a:t>SAS，</a:t>
              </a:r>
              <a:r>
                <a:rPr lang="zh-CN" altLang="en-US" sz="1400" dirty="0"/>
                <a:t>说明协调机制可放大能力红利。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增益幅度并不恒定，局部区间出现回落，反映协调成本会抵消部分收益。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管理含义：应同步优化“模型能力</a:t>
              </a:r>
              <a:r>
                <a:rPr lang="en-US" altLang="zh-CN" sz="1400" dirty="0"/>
                <a:t>×</a:t>
              </a:r>
              <a:r>
                <a:rPr lang="zh-CN" altLang="en-US" sz="1400" dirty="0"/>
                <a:t>协调拓扑”，不能只做模型升级。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86CA906E-E902-BFA0-FD82-9724A14A9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slide_03_fit.png">
            <a:extLst>
              <a:ext uri="{FF2B5EF4-FFF2-40B4-BE49-F238E27FC236}">
                <a16:creationId xmlns:a16="http://schemas.microsoft.com/office/drawing/2014/main" id="{4AA3A080-79B2-6290-2D9B-636160DCD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243" y="1488932"/>
            <a:ext cx="8910053" cy="335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29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EFCBB-E62D-C4DF-0EBF-1426E1BF7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FAF407-6C34-CEAB-20A4-DB69D8889AA5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B0B496-0834-E43C-E3E8-36C18BFED06C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</a:t>
            </a:r>
            <a:r>
              <a:rPr lang="en-US" altLang="zh-CN" b="1" dirty="0">
                <a:solidFill>
                  <a:schemeClr val="accent1"/>
                </a:solidFill>
              </a:rPr>
              <a:t>2</a:t>
            </a:r>
            <a:r>
              <a:rPr lang="zh-CN" altLang="en-US" b="1" dirty="0">
                <a:solidFill>
                  <a:schemeClr val="accent1"/>
                </a:solidFill>
              </a:rPr>
              <a:t>解读：任务结构决定</a:t>
            </a:r>
            <a:r>
              <a:rPr lang="en-US" b="1" dirty="0">
                <a:solidFill>
                  <a:schemeClr val="accent1"/>
                </a:solidFill>
              </a:rPr>
              <a:t>MAS</a:t>
            </a:r>
            <a:r>
              <a:rPr lang="zh-CN" altLang="en-US" b="1" dirty="0">
                <a:solidFill>
                  <a:schemeClr val="accent1"/>
                </a:solidFill>
              </a:rPr>
              <a:t>是增益还是退化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4457B-2385-3316-5017-6A5ECEC9236E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同一套架构在不同基准上的表现方向可以完全相反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054F56-B109-C816-900E-27E3D42CF076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B221681-0918-FEBB-CD3E-2CAE594395C6}"/>
                </a:ext>
              </a:extLst>
            </p:cNvPr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F2B4A9-1C0B-D041-B64A-A34B9CC52970}"/>
                </a:ext>
              </a:extLst>
            </p:cNvPr>
            <p:cNvSpPr txBox="1"/>
            <p:nvPr/>
          </p:nvSpPr>
          <p:spPr>
            <a:xfrm>
              <a:off x="804672" y="1499616"/>
              <a:ext cx="460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A3AEBC-78BF-ABDB-3B03-1D583D45364F}"/>
                </a:ext>
              </a:extLst>
            </p:cNvPr>
            <p:cNvSpPr txBox="1"/>
            <p:nvPr/>
          </p:nvSpPr>
          <p:spPr>
            <a:xfrm>
              <a:off x="822960" y="1783080"/>
              <a:ext cx="4500000" cy="29606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lang="en-US" sz="1400" dirty="0"/>
                <a:t>• Finance-Agent</a:t>
              </a:r>
              <a:r>
                <a:rPr lang="zh-CN" altLang="en-US" sz="1400" dirty="0"/>
                <a:t>中</a:t>
              </a:r>
              <a:r>
                <a:rPr lang="en-US" sz="1400" dirty="0"/>
                <a:t>MAS</a:t>
              </a:r>
              <a:r>
                <a:rPr lang="zh-CN" altLang="en-US" sz="1400" dirty="0"/>
                <a:t>可达约</a:t>
              </a:r>
              <a:r>
                <a:rPr lang="en-US" altLang="zh-CN" sz="1400" dirty="0"/>
                <a:t>+57%</a:t>
              </a:r>
              <a:r>
                <a:rPr lang="zh-CN" altLang="en-US" sz="1400" dirty="0"/>
                <a:t>到</a:t>
              </a:r>
              <a:r>
                <a:rPr lang="en-US" altLang="zh-CN" sz="1400" dirty="0"/>
                <a:t>+81%</a:t>
              </a:r>
              <a:r>
                <a:rPr lang="zh-CN" altLang="en-US" sz="1400" dirty="0"/>
                <a:t>，核心原因是任务可并行分解。</a:t>
              </a:r>
              <a:endParaRPr lang="en-US" altLang="zh-CN" sz="140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endParaRPr lang="zh-CN" altLang="en-US" sz="1400" dirty="0"/>
            </a:p>
            <a:p>
              <a:r>
                <a:rPr lang="en-US" altLang="zh-CN" sz="1400" dirty="0"/>
                <a:t>• </a:t>
              </a:r>
              <a:r>
                <a:rPr lang="en-US" sz="1400" dirty="0" err="1"/>
                <a:t>PlanCraft</a:t>
              </a:r>
              <a:r>
                <a:rPr lang="zh-CN" altLang="en-US" sz="1400" dirty="0"/>
                <a:t>中</a:t>
              </a:r>
              <a:r>
                <a:rPr lang="en-US" sz="1400" dirty="0"/>
                <a:t>MAS</a:t>
              </a:r>
              <a:r>
                <a:rPr lang="zh-CN" altLang="en-US" sz="1400" dirty="0"/>
                <a:t>全面退化（约</a:t>
              </a:r>
              <a:r>
                <a:rPr lang="en-US" altLang="zh-CN" sz="1400" dirty="0"/>
                <a:t>-39%</a:t>
              </a:r>
              <a:r>
                <a:rPr lang="zh-CN" altLang="en-US" sz="1400" dirty="0"/>
                <a:t>到</a:t>
              </a:r>
              <a:r>
                <a:rPr lang="en-US" altLang="zh-CN" sz="1400" dirty="0"/>
                <a:t>-70%</a:t>
              </a:r>
              <a:r>
                <a:rPr lang="zh-CN" altLang="en-US" sz="1400" dirty="0"/>
                <a:t>），因为顺序依赖强且状态耦合高。</a:t>
              </a:r>
              <a:endParaRPr lang="en-US" altLang="zh-CN" sz="1400" dirty="0"/>
            </a:p>
            <a:p>
              <a:endParaRPr lang="zh-CN" altLang="en-US" sz="1400" dirty="0"/>
            </a:p>
            <a:p>
              <a:r>
                <a:rPr lang="en-US" altLang="zh-CN" sz="1400" dirty="0"/>
                <a:t>• </a:t>
              </a:r>
              <a:r>
                <a:rPr lang="en-US" sz="1400" dirty="0" err="1"/>
                <a:t>BrowseComp</a:t>
              </a:r>
              <a:r>
                <a:rPr lang="zh-CN" altLang="en-US" sz="1400" dirty="0"/>
                <a:t>和</a:t>
              </a:r>
              <a:r>
                <a:rPr lang="en-US" sz="1400" dirty="0"/>
                <a:t>Workbench</a:t>
              </a:r>
              <a:r>
                <a:rPr lang="zh-CN" altLang="en-US" sz="1400" dirty="0"/>
                <a:t>介于中间，体现“部分可分解、部分受开销制约”的混合态。</a:t>
              </a:r>
              <a:endParaRPr lang="en-US" altLang="zh-CN" sz="1400" dirty="0"/>
            </a:p>
            <a:p>
              <a:endParaRPr lang="zh-CN" altLang="en-US" sz="1400" dirty="0"/>
            </a:p>
            <a:p>
              <a:r>
                <a:rPr lang="en-US" altLang="zh-CN" sz="1400" dirty="0"/>
                <a:t>• </a:t>
              </a:r>
              <a:r>
                <a:rPr lang="zh-CN" altLang="en-US" sz="1400" dirty="0"/>
                <a:t>关键判断不是任务难度本身，而是可分解性、工具负载与序列依赖的组合。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A9C9959B-2ACF-0A19-39A0-6B6CF6114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4" name="Picture 13" descr="slide_04_fit.png">
            <a:extLst>
              <a:ext uri="{FF2B5EF4-FFF2-40B4-BE49-F238E27FC236}">
                <a16:creationId xmlns:a16="http://schemas.microsoft.com/office/drawing/2014/main" id="{CB90F16D-E4C3-C1F8-D365-877B52EE5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908" y="1401106"/>
            <a:ext cx="7172724" cy="526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22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C696-44FB-FD8E-DF06-56351EAC2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32E6C3-E323-389B-83CB-40BD1B1F3E3F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8B13D-B130-6367-59F7-A914EA6D08C4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</a:t>
            </a:r>
            <a:r>
              <a:rPr lang="en-US" altLang="zh-CN" b="1" dirty="0">
                <a:solidFill>
                  <a:schemeClr val="accent1"/>
                </a:solidFill>
              </a:rPr>
              <a:t>3</a:t>
            </a:r>
            <a:r>
              <a:rPr lang="zh-CN" altLang="en-US" b="1" dirty="0">
                <a:solidFill>
                  <a:schemeClr val="accent1"/>
                </a:solidFill>
              </a:rPr>
              <a:t>解读：成本</a:t>
            </a:r>
            <a:r>
              <a:rPr lang="en-US" altLang="zh-CN" b="1" dirty="0">
                <a:solidFill>
                  <a:schemeClr val="accent1"/>
                </a:solidFill>
              </a:rPr>
              <a:t>-</a:t>
            </a:r>
            <a:r>
              <a:rPr lang="zh-CN" altLang="en-US" b="1" dirty="0">
                <a:solidFill>
                  <a:schemeClr val="accent1"/>
                </a:solidFill>
              </a:rPr>
              <a:t>性能权衡具有模型族差异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F15D9-4465-5845-E9DC-88447BB4162B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核心问题：性能增益是否值得额外协调成本？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29A1FC-50E9-FEC7-F3B3-646707511C95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571BABE-A3E6-C870-5E43-FE2EAC76A6E6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5E541D-A8BE-7F9B-234C-3723171C5B71}"/>
                </a:ext>
              </a:extLst>
            </p:cNvPr>
            <p:cNvSpPr txBox="1"/>
            <p:nvPr/>
          </p:nvSpPr>
          <p:spPr>
            <a:xfrm>
              <a:off x="804672" y="1499616"/>
              <a:ext cx="4600000" cy="11334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B23CC1-F5C8-CA2F-9EFB-014C94BB5DF7}"/>
                </a:ext>
              </a:extLst>
            </p:cNvPr>
            <p:cNvSpPr txBox="1"/>
            <p:nvPr/>
          </p:nvSpPr>
          <p:spPr>
            <a:xfrm>
              <a:off x="804672" y="2469770"/>
              <a:ext cx="4500000" cy="37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横轴成本、纵轴性能，揭示“最高性能点”与“最优性价比点”往往不一致。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OpenAI</a:t>
              </a:r>
              <a:r>
                <a:rPr lang="zh-CN" altLang="en-US" sz="1400" dirty="0"/>
                <a:t>族在</a:t>
              </a:r>
              <a:r>
                <a:rPr lang="en-US" altLang="zh-CN" sz="1400" dirty="0"/>
                <a:t>Centralized/Hybrid</a:t>
              </a:r>
              <a:r>
                <a:rPr lang="zh-CN" altLang="en-US" sz="1400" dirty="0"/>
                <a:t>上增益更明显，但伴随更高成本。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Google</a:t>
              </a:r>
              <a:r>
                <a:rPr lang="zh-CN" altLang="en-US" sz="1400" dirty="0"/>
                <a:t>族较早出现收益平台期，提示轻量协调场景存在边际收益上限。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工程决策应先设预算约束，再在可行架构集合内优化性能。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D76D242B-5D74-553E-C043-EA8FCCE4C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9" name="Picture 8" descr="slide_09_fit.png">
            <a:extLst>
              <a:ext uri="{FF2B5EF4-FFF2-40B4-BE49-F238E27FC236}">
                <a16:creationId xmlns:a16="http://schemas.microsoft.com/office/drawing/2014/main" id="{8F18A857-6531-D516-1BA3-3AAAAE00A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577" y="1343281"/>
            <a:ext cx="9482845" cy="357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52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74204-DFC4-5BD7-0122-F1EAB15A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4301F7-E898-CE2A-908B-685169BAE26A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03168-7AEC-A3AD-4642-06DD3B1EE98B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</a:t>
            </a:r>
            <a:r>
              <a:rPr lang="en-US" altLang="zh-CN" b="1" dirty="0">
                <a:solidFill>
                  <a:schemeClr val="accent1"/>
                </a:solidFill>
              </a:rPr>
              <a:t>4</a:t>
            </a:r>
            <a:r>
              <a:rPr lang="zh-CN" altLang="en-US" b="1" dirty="0">
                <a:solidFill>
                  <a:schemeClr val="accent1"/>
                </a:solidFill>
              </a:rPr>
              <a:t>解读：异构编队可能优于同构高配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D8024-EB96-7E90-AE65-C4E310BFCFFE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核心问题：是否必须“所有角色都用最强模型”？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F599E29-857A-D9C8-569F-BC72A99E0965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49FCE35-FABF-9DD8-5627-1C1B6B130733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DE79C5C-7D56-C4C9-C6D7-73C765855CE8}"/>
                </a:ext>
              </a:extLst>
            </p:cNvPr>
            <p:cNvSpPr txBox="1"/>
            <p:nvPr/>
          </p:nvSpPr>
          <p:spPr>
            <a:xfrm>
              <a:off x="804672" y="1499616"/>
              <a:ext cx="4600000" cy="11334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03535E-42B1-7612-6A09-68166BB95169}"/>
                </a:ext>
              </a:extLst>
            </p:cNvPr>
            <p:cNvSpPr txBox="1"/>
            <p:nvPr/>
          </p:nvSpPr>
          <p:spPr>
            <a:xfrm>
              <a:off x="804672" y="2469770"/>
              <a:ext cx="4500000" cy="37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该图比较了不同模型能力组合在</a:t>
              </a:r>
              <a:r>
                <a:rPr lang="en-US" altLang="zh-CN" sz="1400" dirty="0"/>
                <a:t>Centralized</a:t>
              </a:r>
              <a:r>
                <a:rPr lang="zh-CN" altLang="en-US" sz="1400" dirty="0"/>
                <a:t>与</a:t>
              </a:r>
              <a:r>
                <a:rPr lang="en-US" altLang="zh-CN" sz="1400" dirty="0"/>
                <a:t>Decentralized</a:t>
              </a:r>
              <a:r>
                <a:rPr lang="zh-CN" altLang="en-US" sz="1400" dirty="0"/>
                <a:t>中的表现差异。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部分家族中，“高能力子代理</a:t>
              </a:r>
              <a:r>
                <a:rPr lang="en-US" altLang="zh-CN" sz="1400" dirty="0"/>
                <a:t>+</a:t>
              </a:r>
              <a:r>
                <a:rPr lang="zh-CN" altLang="en-US" sz="1400" dirty="0"/>
                <a:t>相对弱编排者”可优于全高配同构方案。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说明中心节点的价值在于协同组织与信息筛选，而不只是“参数最大”。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异构编队可提高成本效率，但必须控制角色漂移与通信噪声。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2AECE820-5FF4-AB0E-642C-74C969BED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0" name="Picture 9" descr="slide_10_fit.png">
            <a:extLst>
              <a:ext uri="{FF2B5EF4-FFF2-40B4-BE49-F238E27FC236}">
                <a16:creationId xmlns:a16="http://schemas.microsoft.com/office/drawing/2014/main" id="{B9B576A5-4B3E-63B5-0046-90B31531F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104" y="1343281"/>
            <a:ext cx="8665792" cy="326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05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68C91-BA8C-8C49-13BF-624951DE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C41B1A-62F0-08BE-D0E2-12F68439006D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2835A-97C8-2E8D-A9A8-A9F8224221BE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</a:t>
            </a:r>
            <a:r>
              <a:rPr lang="en-US" altLang="zh-CN" b="1" dirty="0">
                <a:solidFill>
                  <a:schemeClr val="accent1"/>
                </a:solidFill>
              </a:rPr>
              <a:t>5</a:t>
            </a:r>
            <a:r>
              <a:rPr lang="zh-CN" altLang="en-US" b="1" dirty="0">
                <a:solidFill>
                  <a:schemeClr val="accent1"/>
                </a:solidFill>
              </a:rPr>
              <a:t>解读：代理数量扩展存在可观测峰值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BBC88-1781-ADAB-862B-96990B4AD77A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核心问题：</a:t>
            </a:r>
            <a:r>
              <a:rPr lang="en-US" altLang="zh-CN" dirty="0"/>
              <a:t>n-agent</a:t>
            </a:r>
            <a:r>
              <a:rPr lang="zh-CN" altLang="en-US" dirty="0"/>
              <a:t>扩展是否单调提升？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1462D6-0BEB-FFE0-6297-B83C77C48F66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33D17FD-1F7A-21FA-374E-DB971BD5CB55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501A0D0-656D-4F47-7DB7-855518E4C868}"/>
                </a:ext>
              </a:extLst>
            </p:cNvPr>
            <p:cNvSpPr txBox="1"/>
            <p:nvPr/>
          </p:nvSpPr>
          <p:spPr>
            <a:xfrm>
              <a:off x="804672" y="1499616"/>
              <a:ext cx="4600000" cy="11334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F80A72-52DB-6023-F06B-C052CC7D1218}"/>
                </a:ext>
              </a:extLst>
            </p:cNvPr>
            <p:cNvSpPr txBox="1"/>
            <p:nvPr/>
          </p:nvSpPr>
          <p:spPr>
            <a:xfrm>
              <a:off x="804672" y="2469770"/>
              <a:ext cx="4500000" cy="37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两条曲线都呈“先升后降”，证明代理数增加并非单调增益。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Gemini-2.0 Flash</a:t>
              </a:r>
              <a:r>
                <a:rPr lang="zh-CN" altLang="en-US" sz="1400" dirty="0"/>
                <a:t>在约</a:t>
              </a:r>
              <a:r>
                <a:rPr lang="en-US" altLang="zh-CN" sz="1400" dirty="0"/>
                <a:t>7</a:t>
              </a:r>
              <a:r>
                <a:rPr lang="zh-CN" altLang="en-US" sz="1400" dirty="0"/>
                <a:t>代理附近接近峰值，之后开始退化。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Gemini-2.5 Pro</a:t>
              </a:r>
              <a:r>
                <a:rPr lang="zh-CN" altLang="en-US" sz="1400" dirty="0"/>
                <a:t>峰值更早，意味着强模型更早进入“协调收益递减区”。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部署上应将代理数视作超参数在线搜索，而非固定加到最大。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22863754-D7D7-8569-901E-2853A086C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9" name="Picture 8" descr="slide_11_fit.png">
            <a:extLst>
              <a:ext uri="{FF2B5EF4-FFF2-40B4-BE49-F238E27FC236}">
                <a16:creationId xmlns:a16="http://schemas.microsoft.com/office/drawing/2014/main" id="{10463AB9-75DC-B245-8B83-8CF08199E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694" y="1495289"/>
            <a:ext cx="8186612" cy="308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19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38950-46EA-7229-03A9-B471BDD4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F0E0B6-86BA-5A30-0B82-F17C002B170F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CB3A7-65BA-291F-C33E-1E298252FCD1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</a:t>
            </a:r>
            <a:r>
              <a:rPr lang="en-US" altLang="zh-CN" b="1" dirty="0">
                <a:solidFill>
                  <a:schemeClr val="accent1"/>
                </a:solidFill>
              </a:rPr>
              <a:t>6</a:t>
            </a:r>
            <a:r>
              <a:rPr lang="zh-CN" altLang="en-US" b="1" dirty="0">
                <a:solidFill>
                  <a:schemeClr val="accent1"/>
                </a:solidFill>
              </a:rPr>
              <a:t>解读：跨基准缩放规律不统一，但可解释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0E512-BDB3-9EAA-76AE-20DC652260C7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核心问题：不同模型族在不同任务上的协同趋势是否一致？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12F6DD6-C885-3E99-2B7B-884C0F6D5DDF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7CD3BB4-1118-CEEA-EAB4-14C7E6F3BA42}"/>
                </a:ext>
              </a:extLst>
            </p:cNvPr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4A474D-5016-9CA4-CDF3-DB42C5FF60CE}"/>
                </a:ext>
              </a:extLst>
            </p:cNvPr>
            <p:cNvSpPr txBox="1"/>
            <p:nvPr/>
          </p:nvSpPr>
          <p:spPr>
            <a:xfrm>
              <a:off x="804672" y="1499616"/>
              <a:ext cx="460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dirty="0" err="1"/>
                <a:t>核心要点</a:t>
              </a:r>
              <a:endParaRPr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3808FA-4EFD-5519-92A8-0D8415269747}"/>
                </a:ext>
              </a:extLst>
            </p:cNvPr>
            <p:cNvSpPr txBox="1"/>
            <p:nvPr/>
          </p:nvSpPr>
          <p:spPr>
            <a:xfrm>
              <a:off x="822960" y="1783080"/>
              <a:ext cx="4500000" cy="33567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结构化任务中（如</a:t>
              </a:r>
              <a:r>
                <a:rPr lang="en-US" sz="1400" dirty="0"/>
                <a:t>Finance），</a:t>
              </a:r>
              <a:r>
                <a:rPr lang="zh-CN" altLang="en-US" sz="1400" dirty="0"/>
                <a:t>协同放大更明显；开放环境中收益更不稳定。</a:t>
              </a:r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endParaRPr lang="zh-CN" altLang="en-US" sz="140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不同模型族对协调机制敏感度不同，说明“架构选择”具有供应商依赖性。</a:t>
              </a:r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endParaRPr lang="zh-CN" altLang="en-US" sz="140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该图与前文共同指向：最佳拓扑是任务条件化选择，而非通用默认配置。</a:t>
              </a:r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endParaRPr lang="zh-CN" altLang="en-US" sz="140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lang="en-US" altLang="zh-CN" sz="1400" dirty="0"/>
                <a:t>• </a:t>
              </a:r>
              <a:r>
                <a:rPr lang="zh-CN" altLang="en-US" sz="1400" dirty="0"/>
                <a:t>跨域迁移时应先做小样本</a:t>
              </a:r>
              <a:r>
                <a:rPr lang="en-US" sz="1400" dirty="0"/>
                <a:t>A/B，</a:t>
              </a:r>
              <a:r>
                <a:rPr lang="zh-CN" altLang="en-US" sz="1400" dirty="0"/>
                <a:t>再扩大投入，避免一次性重配。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B3B91B3-4BF8-450C-5DDE-83E996251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9" name="Picture 8" descr="slide_12_fit.png">
            <a:extLst>
              <a:ext uri="{FF2B5EF4-FFF2-40B4-BE49-F238E27FC236}">
                <a16:creationId xmlns:a16="http://schemas.microsoft.com/office/drawing/2014/main" id="{5726EE49-6597-1103-A232-43CE30037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054" y="1247156"/>
            <a:ext cx="6701350" cy="508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25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综合讨论：从论文结果到部署决策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可执行的三步法：先判定，再选型，再优化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306324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/>
              <a:t>核心要点</a:t>
            </a:r>
            <a:endParaRPr b="1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14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dirty="0"/>
              <a:t>• 第一步，先测SAS基线：若已接近或超过45%，</a:t>
            </a:r>
            <a:r>
              <a:rPr sz="1600" dirty="0" err="1"/>
              <a:t>应谨慎引入高开销MAS</a:t>
            </a:r>
            <a:r>
              <a:rPr sz="1600" dirty="0"/>
              <a:t>。</a:t>
            </a:r>
            <a:endParaRPr lang="en-US" sz="16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dirty="0"/>
              <a:t>• </a:t>
            </a:r>
            <a:r>
              <a:rPr sz="1600" dirty="0" err="1"/>
              <a:t>第二步，看任务可分解性：可并行任务优先Centralized</a:t>
            </a:r>
            <a:r>
              <a:rPr sz="1600" dirty="0"/>
              <a:t>/</a:t>
            </a:r>
            <a:r>
              <a:rPr sz="1600" dirty="0" err="1"/>
              <a:t>Decentralized；强顺序任务优先SAS</a:t>
            </a:r>
            <a:r>
              <a:rPr sz="1600" dirty="0"/>
              <a:t>。</a:t>
            </a:r>
            <a:endParaRPr lang="en-US" sz="16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dirty="0"/>
              <a:t>• </a:t>
            </a:r>
            <a:r>
              <a:rPr sz="1600" dirty="0" err="1"/>
              <a:t>第三步，做预算约束搜索：同步监控overhead、efficiency、error</a:t>
            </a:r>
            <a:r>
              <a:rPr sz="1600" dirty="0"/>
              <a:t> amplification。</a:t>
            </a:r>
            <a:endParaRPr lang="en-US" sz="16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dirty="0"/>
              <a:t>• 目标不是“</a:t>
            </a:r>
            <a:r>
              <a:rPr sz="1600" dirty="0" err="1"/>
              <a:t>更多代理</a:t>
            </a:r>
            <a:r>
              <a:rPr sz="1600" dirty="0"/>
              <a:t>”，</a:t>
            </a:r>
            <a:r>
              <a:rPr sz="1600" dirty="0" err="1"/>
              <a:t>而是“在约束下选到最匹配的协调结构</a:t>
            </a:r>
            <a:r>
              <a:rPr sz="1600" dirty="0"/>
              <a:t>”。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ECC7479-5EE4-0781-9DDB-BF2FE4621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总结与结论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这篇论文把多智能体系统从经验工程推进到可验证的定量科学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/>
              <a:t>核心要点</a:t>
            </a:r>
            <a:endParaRPr b="1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1616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</a:t>
            </a:r>
            <a:r>
              <a:rPr dirty="0" err="1"/>
              <a:t>主要创新：提出Agentic评估定义与受控实验框架，建立统一比较基准</a:t>
            </a:r>
            <a:r>
              <a:rPr dirty="0"/>
              <a:t>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</a:t>
            </a:r>
            <a:r>
              <a:rPr dirty="0" err="1"/>
              <a:t>主要发现：MAS收益具有强条件性，受任务结构、工具负载和协调拓扑共同决定</a:t>
            </a:r>
            <a:r>
              <a:rPr dirty="0"/>
              <a:t>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</a:t>
            </a:r>
            <a:r>
              <a:rPr dirty="0" err="1"/>
              <a:t>主要贡献：给出可预测的缩放方程与可操作的架构选择规则</a:t>
            </a:r>
            <a:r>
              <a:rPr dirty="0"/>
              <a:t>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</a:t>
            </a:r>
            <a:r>
              <a:rPr dirty="0" err="1"/>
              <a:t>实践建议：先小规模验证，再按任务特征和预算做渐进式多代理扩展</a:t>
            </a:r>
            <a:r>
              <a:rPr dirty="0"/>
              <a:t>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7DC1CCCC-B091-BF68-4FF1-E41993EFD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自定义设计方案">
  <a:themeElements>
    <a:clrScheme name="自定义 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00000"/>
      </a:accent1>
      <a:accent2>
        <a:srgbClr val="D8D8D8"/>
      </a:accent2>
      <a:accent3>
        <a:srgbClr val="BFBFBF"/>
      </a:accent3>
      <a:accent4>
        <a:srgbClr val="A5A5A5"/>
      </a:accent4>
      <a:accent5>
        <a:srgbClr val="7F7F7F"/>
      </a:accent5>
      <a:accent6>
        <a:srgbClr val="595959"/>
      </a:accent6>
      <a:hlink>
        <a:srgbClr val="C60C0C"/>
      </a:hlink>
      <a:folHlink>
        <a:srgbClr val="BFBFBF"/>
      </a:folHlink>
    </a:clrScheme>
    <a:fontScheme name="e05413m2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自定义 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00000"/>
      </a:accent1>
      <a:accent2>
        <a:srgbClr val="D8D8D8"/>
      </a:accent2>
      <a:accent3>
        <a:srgbClr val="BFBFBF"/>
      </a:accent3>
      <a:accent4>
        <a:srgbClr val="A5A5A5"/>
      </a:accent4>
      <a:accent5>
        <a:srgbClr val="7F7F7F"/>
      </a:accent5>
      <a:accent6>
        <a:srgbClr val="595959"/>
      </a:accent6>
      <a:hlink>
        <a:srgbClr val="C60C0C"/>
      </a:hlink>
      <a:folHlink>
        <a:srgbClr val="BFBFBF"/>
      </a:folHlink>
    </a:clrScheme>
    <a:fontScheme name="自定义 1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1087</Words>
  <Application>Microsoft Macintosh PowerPoint</Application>
  <PresentationFormat>Widescreen</PresentationFormat>
  <Paragraphs>102</Paragraphs>
  <Slides>16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等线</vt:lpstr>
      <vt:lpstr>华文楷体</vt:lpstr>
      <vt:lpstr>Arial</vt:lpstr>
      <vt:lpstr>Calibri</vt:lpstr>
      <vt:lpstr>2_自定义设计方案</vt:lpstr>
      <vt:lpstr>3_自定义设计方案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Yuting</dc:creator>
  <cp:lastModifiedBy>You, Bingran</cp:lastModifiedBy>
  <cp:revision>26</cp:revision>
  <dcterms:created xsi:type="dcterms:W3CDTF">2023-06-07T13:12:54Z</dcterms:created>
  <dcterms:modified xsi:type="dcterms:W3CDTF">2026-03-05T00:10:50Z</dcterms:modified>
</cp:coreProperties>
</file>