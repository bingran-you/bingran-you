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18"/>
  </p:notesMasterIdLst>
  <p:sldIdLst>
    <p:sldId id="13773" r:id="rId3"/>
    <p:sldId id="13770" r:id="rId4"/>
    <p:sldId id="13771" r:id="rId5"/>
    <p:sldId id="13774" r:id="rId6"/>
    <p:sldId id="13802" r:id="rId7"/>
    <p:sldId id="13776" r:id="rId8"/>
    <p:sldId id="13805" r:id="rId9"/>
    <p:sldId id="13806" r:id="rId10"/>
    <p:sldId id="13808" r:id="rId11"/>
    <p:sldId id="13809" r:id="rId12"/>
    <p:sldId id="13810" r:id="rId13"/>
    <p:sldId id="13811" r:id="rId14"/>
    <p:sldId id="13783" r:id="rId15"/>
    <p:sldId id="13822" r:id="rId16"/>
    <p:sldId id="1378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03" autoAdjust="0"/>
    <p:restoredTop sz="79738"/>
  </p:normalViewPr>
  <p:slideViewPr>
    <p:cSldViewPr snapToGrid="0">
      <p:cViewPr varScale="1">
        <p:scale>
          <a:sx n="110" d="100"/>
          <a:sy n="110" d="100"/>
        </p:scale>
        <p:origin x="5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2026/5/7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r>
              <a:rPr lang="en-US" altLang="zh-CN" dirty="0"/>
              <a:t>2. </a:t>
            </a:r>
            <a:r>
              <a:rPr lang="en-US" dirty="0"/>
              <a:t>Finance Agent</a:t>
            </a:r>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r>
              <a:rPr lang="en-US" altLang="zh-CN" dirty="0"/>
              <a:t>3. </a:t>
            </a:r>
            <a:r>
              <a:rPr lang="en-US" dirty="0" err="1"/>
              <a:t>PlanCraft</a:t>
            </a:r>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4. </a:t>
            </a:r>
            <a:r>
              <a:rPr lang="en-US" dirty="0"/>
              <a:t>Workbench</a:t>
            </a:r>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endParaRPr lang="en-US" dirty="0"/>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2. </a:t>
            </a:r>
            <a:r>
              <a:rPr lang="en-US" dirty="0"/>
              <a:t>Finance Agent</a:t>
            </a:r>
          </a:p>
          <a:p>
            <a:endParaRPr lang="en-US" dirty="0"/>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endParaRPr lang="zh-CN" altLang="en-US" dirty="0"/>
          </a:p>
          <a:p>
            <a:endParaRPr lang="zh-CN" altLang="en-US" dirty="0"/>
          </a:p>
          <a:p>
            <a:r>
              <a:rPr lang="en-US" altLang="zh-CN" dirty="0"/>
              <a:t>3. </a:t>
            </a:r>
            <a:r>
              <a:rPr lang="en-US" dirty="0" err="1"/>
              <a:t>PlanCraft</a:t>
            </a:r>
            <a:endParaRPr lang="en-US" dirty="0"/>
          </a:p>
          <a:p>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4. </a:t>
            </a:r>
            <a:r>
              <a:rPr lang="en-US" dirty="0"/>
              <a:t>Workbench</a:t>
            </a:r>
          </a:p>
          <a:p>
            <a:endParaRPr lang="en-US" dirty="0"/>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endParaRPr lang="zh-CN" altLang="en-US" dirty="0"/>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endParaRPr lang="zh-CN" altLang="en-US" dirty="0"/>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endParaRPr lang="zh-CN" altLang="en-US" dirty="0"/>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endParaRPr lang="zh-CN" altLang="en-US" dirty="0"/>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论文里确实在“总推理 </a:t>
            </a:r>
            <a:r>
              <a:rPr lang="en-US" dirty="0"/>
              <a:t>token </a:t>
            </a:r>
            <a:r>
              <a:rPr lang="zh-CN" altLang="en-US" dirty="0"/>
              <a:t>预算大致相同”的前提下比较不同架构，但图 </a:t>
            </a:r>
            <a:r>
              <a:rPr lang="en-US" altLang="zh-CN" dirty="0"/>
              <a:t>3 </a:t>
            </a:r>
            <a:r>
              <a:rPr lang="zh-CN" altLang="en-US" dirty="0"/>
              <a:t>的横轴用的是按各家 </a:t>
            </a:r>
            <a:r>
              <a:rPr lang="en-US" dirty="0"/>
              <a:t>API </a:t>
            </a:r>
            <a:r>
              <a:rPr lang="zh-CN" altLang="en-US" dirty="0"/>
              <a:t>单价折算后的“每次实验真实美元成本”，不同模型和架构的单价与实际用掉的 </a:t>
            </a:r>
            <a:r>
              <a:rPr lang="en-US" dirty="0"/>
              <a:t>token </a:t>
            </a:r>
            <a:r>
              <a:rPr lang="zh-CN" altLang="en-US" dirty="0"/>
              <a:t>数都不一样，所以仍然会出现明显的 </a:t>
            </a:r>
            <a:r>
              <a:rPr lang="en-US" dirty="0"/>
              <a:t>performance–cost </a:t>
            </a:r>
            <a:r>
              <a:rPr lang="zh-CN" altLang="en-US" dirty="0"/>
              <a:t>关系。 </a:t>
            </a:r>
          </a:p>
          <a:p>
            <a:endParaRPr lang="zh-CN" altLang="en-US" dirty="0"/>
          </a:p>
          <a:p>
            <a:r>
              <a:rPr lang="zh-CN" altLang="en-US" dirty="0"/>
              <a:t>换句话说，固定 </a:t>
            </a:r>
            <a:r>
              <a:rPr lang="en-US" dirty="0"/>
              <a:t>token </a:t>
            </a:r>
            <a:r>
              <a:rPr lang="zh-CN" altLang="en-US" dirty="0"/>
              <a:t>预算解决的是“计算量公平性”的科学问题，而性能</a:t>
            </a:r>
            <a:r>
              <a:rPr lang="en-US" altLang="zh-CN" dirty="0"/>
              <a:t>–</a:t>
            </a:r>
            <a:r>
              <a:rPr lang="zh-CN" altLang="en-US" dirty="0"/>
              <a:t>成本图回答的是“在真实按 </a:t>
            </a:r>
            <a:r>
              <a:rPr lang="en-US" dirty="0"/>
              <a:t>token </a:t>
            </a:r>
            <a:r>
              <a:rPr lang="zh-CN" altLang="en-US" dirty="0"/>
              <a:t>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在某些模型家族里，用“强模型做子代理 </a:t>
            </a:r>
            <a:r>
              <a:rPr lang="en-US" altLang="zh-CN" dirty="0"/>
              <a:t>+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的中心化多智能体系统。 </a:t>
            </a:r>
          </a:p>
          <a:p>
            <a:r>
              <a:rPr lang="zh-CN" altLang="en-US" dirty="0"/>
              <a:t>右图“</a:t>
            </a:r>
            <a:r>
              <a:rPr lang="en-US" dirty="0"/>
              <a:t>Decentralized”</a:t>
            </a:r>
            <a:r>
              <a:rPr lang="zh-CN" altLang="en-US" dirty="0"/>
              <a:t>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2900000" y="4664202"/>
            <a:ext cx="640000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Interactive Physical Reasoner</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  ·  2026</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年5</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2900000" y="2967335"/>
            <a:ext cx="6400000"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IPR-1 论文解读</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477328"/>
          </a:xfrm>
          <a:prstGeom prst="rect">
            <a:avLst/>
          </a:prstGeom>
          <a:noFill/>
        </p:spPr>
        <p:txBody>
          <a:bodyPr wrap="square">
            <a:spAutoFit/>
          </a:bodyPr>
          <a:lstStyle/>
          <a:p>
            <a:r>
              <a:rPr lang="en-US" dirty="0"/>
              <a:t>• </a:t>
            </a:r>
            <a:r>
              <a:rPr lang="zh-CN" altLang="en-US" dirty="0"/>
              <a:t>第一部分：论文核心创新点（PhysCode、世界模型评分、预测在环GRPO）。</a:t>
            </a:r>
            <a:endParaRPr lang="en-US" dirty="0"/>
          </a:p>
          <a:p>
            <a:r>
              <a:rPr lang="en-US" dirty="0"/>
              <a:t>• </a:t>
            </a:r>
            <a:r>
              <a:rPr lang="zh-CN" altLang="en-US" dirty="0"/>
              <a:t>第二部分：论文主要发现（8B骨干超越GPT-5，能力随经验单调缩放）。</a:t>
            </a:r>
          </a:p>
          <a:p>
            <a:r>
              <a:rPr dirty="0"/>
              <a:t>• 第三部分：论文主要贡献（G2U基准、IPR范式、PhysCode动作空间）。</a:t>
            </a:r>
          </a:p>
          <a:p>
            <a:r>
              <a:rPr dirty="0"/>
              <a:t>• 第四部分：按原文图1到图6逐页解读证据与机制。</a:t>
            </a:r>
          </a:p>
          <a:p>
            <a:r>
              <a:rPr dirty="0"/>
              <a:t>• 第五部分：方法核心公式、实验缩放与未来展望。</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a:solidFill>
                  <a:schemeClr val="accent1"/>
                </a:solidFill>
              </a:rPr>
              <a:t>主要创新点：从“模仿外观”升级为“理解物理机制”</a:t>
            </a:r>
          </a:p>
        </p:txBody>
      </p:sp>
      <p:sp>
        <p:nvSpPr>
          <p:cNvPr id="4" name="TextBox 3"/>
          <p:cNvSpPr txBox="1"/>
          <p:nvPr/>
        </p:nvSpPr>
        <p:spPr>
          <a:xfrm>
            <a:off x="676656" y="877824"/>
            <a:ext cx="9692640" cy="279564"/>
          </a:xfrm>
          <a:prstGeom prst="rect">
            <a:avLst/>
          </a:prstGeom>
          <a:noFill/>
        </p:spPr>
        <p:txBody>
          <a:bodyPr wrap="square">
            <a:spAutoFit/>
          </a:bodyPr>
          <a:lstStyle/>
          <a:p>
            <a:r>
              <a:t>用预测在环把世界模型预测与VLM推理统一到物理中心化潜在动作空间</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555328"/>
            <a:chOff x="604672" y="1280756"/>
            <a:chExt cx="4900000" cy="4773169"/>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04672" y="1790067"/>
              <a:ext cx="4500000" cy="3754548"/>
            </a:xfrm>
            <a:prstGeom prst="rect">
              <a:avLst/>
            </a:prstGeom>
            <a:noFill/>
          </p:spPr>
          <p:txBody>
            <a:bodyPr wrap="square">
              <a:spAutoFit/>
            </a:bodyPr>
            <a:lstStyle/>
            <a:p>
              <a:pPr algn="l">
                <a:spcBef>
                  <a:spcPts val="0"/>
                </a:spcBef>
                <a:spcAft>
                  <a:spcPts val="700"/>
                </a:spcAft>
              </a:pPr>
              <a:r>
                <a:rPr lang="en-US" sz="1400" dirty="0"/>
                <a:t>• </a:t>
              </a:r>
              <a:r>
                <a:rPr lang="zh-CN" altLang="en-US" sz="1400" dirty="0"/>
                <a:t>创新1：提出G2U（Game-to-Unseen）问题与1000+异构游戏，迫使模型抓共享物理而非外观。</a:t>
              </a:r>
              <a:endParaRPr lang="en-US" altLang="zh-CN" sz="1400" dirty="0"/>
            </a:p>
            <a:p>
              <a:pPr algn="l">
                <a:spcBef>
                  <a:spcPts val="0"/>
                </a:spcBef>
                <a:spcAft>
                  <a:spcPts val="700"/>
                </a:spcAft>
              </a:pPr>
              <a:r>
                <a:rPr lang="en-US" altLang="zh-CN" sz="1400" dirty="0"/>
                <a:t>• </a:t>
              </a:r>
              <a:r>
                <a:rPr lang="zh-CN" altLang="en-US" sz="1400" dirty="0"/>
                <a:t>创新2：PhysCode物理中心化离散动作码，跨游戏共享而非按键级硬绑定。</a:t>
              </a:r>
              <a:endParaRPr lang="en-US" altLang="zh-CN" sz="1400" dirty="0"/>
            </a:p>
            <a:p>
              <a:pPr algn="l">
                <a:spcBef>
                  <a:spcPts val="0"/>
                </a:spcBef>
                <a:spcAft>
                  <a:spcPts val="700"/>
                </a:spcAft>
              </a:pPr>
              <a:r>
                <a:rPr sz="1400" dirty="0"/>
                <a:t>• 创新3：世界模型短程rollout为VLM动作打分，把"想象"转化为优化奖励。</a:t>
              </a:r>
            </a:p>
            <a:p>
              <a:r>
                <a:rPr sz="1400" dirty="0"/>
                <a:t>• 创新4：用GRPO以预测优势强化VLM策略，形成"预测-推理"在环闭环。</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a:solidFill>
                  <a:schemeClr val="accent1"/>
                </a:solidFill>
              </a:rPr>
              <a:t>主要发现：8B骨干在G2U基准上整体超越GPT-5</a:t>
            </a:r>
          </a:p>
        </p:txBody>
      </p:sp>
      <p:sp>
        <p:nvSpPr>
          <p:cNvPr id="4" name="TextBox 3"/>
          <p:cNvSpPr txBox="1"/>
          <p:nvPr/>
        </p:nvSpPr>
        <p:spPr>
          <a:xfrm>
            <a:off x="676656" y="877824"/>
            <a:ext cx="9692640" cy="275332"/>
          </a:xfrm>
          <a:prstGeom prst="rect">
            <a:avLst/>
          </a:prstGeom>
          <a:noFill/>
        </p:spPr>
        <p:txBody>
          <a:bodyPr wrap="square">
            <a:spAutoFit/>
          </a:bodyPr>
          <a:lstStyle/>
          <a:p>
            <a:r>
              <a:t>三层评估 Survival/Curiosity/Utility 均稳健，能力随经验单调缩放</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400" dirty="0"/>
                <a:t>• 发现1：IPR综合排名 </a:t>
              </a:r>
              <a:r>
                <a:rPr sz="1400" b="1" dirty="0"/>
                <a:t>4.9/30</a:t>
              </a:r>
              <a:r>
                <a:rPr sz="1400" dirty="0"/>
                <a:t>，整体强于 GPT-5、DreamerV3、V-JEPA2 及各 RL 基线。</a:t>
              </a:r>
              <a:endParaRPr lang="en-US" sz="1400" dirty="0"/>
            </a:p>
            <a:p>
              <a:pPr algn="l">
                <a:lnSpc>
                  <a:spcPct val="116000"/>
                </a:lnSpc>
                <a:spcBef>
                  <a:spcPts val="0"/>
                </a:spcBef>
                <a:spcAft>
                  <a:spcPts val="700"/>
                </a:spcAft>
              </a:pPr>
              <a:r>
                <a:rPr sz="1400" dirty="0"/>
                <a:t>• 发现2：Survival层位列第1（Mean 0.252，远超第二名 GPT-5 的 0.140）。</a:t>
              </a:r>
              <a:endParaRPr lang="en-US" sz="1400" dirty="0"/>
            </a:p>
            <a:p>
              <a:pPr algn="l">
                <a:lnSpc>
                  <a:spcPct val="116000"/>
                </a:lnSpc>
                <a:spcBef>
                  <a:spcPts val="0"/>
                </a:spcBef>
                <a:spcAft>
                  <a:spcPts val="700"/>
                </a:spcAft>
              </a:pPr>
              <a:r>
                <a:rPr sz="1400" dirty="0"/>
                <a:t>• 发现3：训练游戏数 N 增大时，Survival/Curiosity/Utility 三项零样本性能稳步上升。</a:t>
              </a:r>
              <a:endParaRPr lang="en-US" sz="1400" dirty="0"/>
            </a:p>
            <a:p>
              <a:pPr algn="l">
                <a:lnSpc>
                  <a:spcPct val="116000"/>
                </a:lnSpc>
                <a:spcBef>
                  <a:spcPts val="0"/>
                </a:spcBef>
                <a:spcAft>
                  <a:spcPts val="700"/>
                </a:spcAft>
              </a:pPr>
              <a:r>
                <a:rPr sz="1400" dirty="0"/>
                <a:t>• 发现4：基线方法均有短板——预测型偏Curiosity弱Utility，RL偏Utility弱Curiosity。</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p:cNvPicPr>
            <a:picLocks noChangeAspect="1"/>
          </p:cNvPicPr>
          <p:nvPr/>
        </p:nvPicPr>
        <p:blipFill>
          <a:blip r:embed="rId4"/>
          <a:stretch>
            <a:fillRect/>
          </a:stretch>
        </p:blipFill>
        <p:spPr>
          <a:xfrm>
            <a:off x="4360908" y="1401106"/>
            <a:ext cx="7172724" cy="52638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主要贡献：问题、数据、方法与实证四层闭环</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dirty="0"/>
              <a:t>不仅给出单点指标，还提供可复验的研究范式与开放数据</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dirty="0"/>
              <a:t>• 问题贡献：形式化 Game-to-Unseen (G2U) 问题与三层评估（Maslow启发的 Survival/Curiosity/Utility）。</a:t>
            </a:r>
            <a:endParaRPr lang="en-US" sz="1500" dirty="0">
              <a:solidFill>
                <a:srgbClr val="2D2D2D"/>
              </a:solidFill>
            </a:endParaRPr>
          </a:p>
          <a:p>
            <a:pPr algn="l">
              <a:lnSpc>
                <a:spcPct val="116000"/>
              </a:lnSpc>
              <a:spcBef>
                <a:spcPts val="0"/>
              </a:spcBef>
              <a:spcAft>
                <a:spcPts val="700"/>
              </a:spcAft>
            </a:pPr>
            <a:r>
              <a:rPr dirty="0"/>
              <a:t>• 数据贡献：开放 1000+ 异构游戏（863 retro + 134 HTML + 3 商业），覆盖七个多样性轴。</a:t>
            </a:r>
            <a:endParaRPr lang="en-US" dirty="0"/>
          </a:p>
          <a:p>
            <a:pPr algn="l">
              <a:lnSpc>
                <a:spcPct val="116000"/>
              </a:lnSpc>
              <a:spcBef>
                <a:spcPts val="0"/>
              </a:spcBef>
              <a:spcAft>
                <a:spcPts val="700"/>
              </a:spcAft>
            </a:pPr>
            <a:r>
              <a:rPr dirty="0"/>
              <a:t>• 方法贡献：提出 IPR 范式与 PhysCode 物理动作码，统一 WM 预测与 VLM 推理的潜在动作空间。</a:t>
            </a:r>
            <a:endParaRPr lang="en-US" dirty="0"/>
          </a:p>
          <a:p>
            <a:pPr algn="l">
              <a:lnSpc>
                <a:spcPct val="116000"/>
              </a:lnSpc>
              <a:spcBef>
                <a:spcPts val="0"/>
              </a:spcBef>
              <a:spcAft>
                <a:spcPts val="700"/>
              </a:spcAft>
            </a:pPr>
            <a:r>
              <a:rPr dirty="0"/>
              <a:t>• 实证贡献：在 200 款游戏上对比 28 种基线，并报告消融实验、缩放曲线与零样本迁移结果。</a:t>
            </a:r>
            <a:endParaRPr lang="en-US" dirty="0"/>
          </a:p>
          <a:p>
            <a:pPr algn="l">
              <a:lnSpc>
                <a:spcPct val="116000"/>
              </a:lnSpc>
              <a:spcBef>
                <a:spcPts val="0"/>
              </a:spcBef>
              <a:spcAft>
                <a:spcPts val="700"/>
              </a:spcAft>
            </a:pPr>
            <a:r>
              <a:rPr dirty="0"/>
              <a:t>• 工程贡献：基于 Qwen3-VL-8B + 世界模型 + GRPO 给出可复现 pipeline，8B 骨干即可超越 GPT-5。</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逐图深度解读：从问题设定走向方法与证据</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接下来按原文图1-图6依次理清每张图回答的核心问题</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dirty="0"/>
              <a:t>• 图1 G2U 问题：为何要在 1000+ 异构游戏上学共享物理。</a:t>
            </a:r>
            <a:endParaRPr lang="en-US" dirty="0"/>
          </a:p>
          <a:p>
            <a:pPr algn="l">
              <a:lnSpc>
                <a:spcPct val="116000"/>
              </a:lnSpc>
              <a:spcBef>
                <a:spcPts val="0"/>
              </a:spcBef>
              <a:spcAft>
                <a:spcPts val="700"/>
              </a:spcAft>
            </a:pPr>
            <a:r>
              <a:rPr dirty="0"/>
              <a:t>• 图2 三层评估金字塔：从 Survival 到 Utility 逐层加深的能力维度。</a:t>
            </a:r>
            <a:endParaRPr lang="en-US" dirty="0"/>
          </a:p>
          <a:p>
            <a:pPr algn="l">
              <a:lnSpc>
                <a:spcPct val="116000"/>
              </a:lnSpc>
              <a:spcBef>
                <a:spcPts val="0"/>
              </a:spcBef>
              <a:spcAft>
                <a:spcPts val="700"/>
              </a:spcAft>
            </a:pPr>
            <a:r>
              <a:rPr dirty="0"/>
              <a:t>• 图3 失败案例：键盘混淆、语言模糊、缺乏前瞻为何不行。</a:t>
            </a:r>
            <a:endParaRPr lang="en-US" dirty="0"/>
          </a:p>
          <a:p>
            <a:pPr algn="l">
              <a:lnSpc>
                <a:spcPct val="116000"/>
              </a:lnSpc>
              <a:spcBef>
                <a:spcPts val="0"/>
              </a:spcBef>
              <a:spcAft>
                <a:spcPts val="700"/>
              </a:spcAft>
            </a:pPr>
            <a:r>
              <a:rPr dirty="0"/>
              <a:t>• 图4 动作语义词云：跨域共享语义为 PhysCode 提供天然结构先验。</a:t>
            </a:r>
            <a:endParaRPr lang="en-US" dirty="0"/>
          </a:p>
          <a:p>
            <a:pPr algn="l">
              <a:lnSpc>
                <a:spcPct val="116000"/>
              </a:lnSpc>
              <a:spcBef>
                <a:spcPts val="0"/>
              </a:spcBef>
              <a:spcAft>
                <a:spcPts val="700"/>
              </a:spcAft>
            </a:pPr>
            <a:r>
              <a:rPr dirty="0"/>
              <a:t>• 图5 IPR 三阶段管线：PhysCode 预训练 → 世界模型学习 → 预测在环 GRPO；图6 数据分布。</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1</a:t>
            </a:r>
            <a:r>
              <a:rPr lang="zh-CN" altLang="en-US" b="1" dirty="0">
                <a:solidFill>
                  <a:schemeClr val="accent1"/>
                </a:solidFill>
              </a:rPr>
              <a:t>解读：人类靠交互积累物理与因果，agent 也应如此</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t>异构外观下游戏共享相同物理机制，正是跨域迁移的桥梁</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dirty="0"/>
                <a:t>核心命题：能否让 agent 像人一样从交互中蒸馏共享物理机制并迁移到全新游戏。</a:t>
              </a:r>
            </a:p>
            <a:p>
              <a:pPr>
                <a:spcAft>
                  <a:spcPts val="700"/>
                </a:spcAft>
              </a:pPr>
              <a:r>
                <a:rPr lang="en-US" altLang="zh-CN" sz="1400" dirty="0"/>
                <a:t>• </a:t>
              </a:r>
              <a:r>
                <a:rPr lang="zh-CN" altLang="en-US" sz="1400" dirty="0"/>
                <a:t>1000+ 异构游戏让外观、控制接口、物理参数在训练分布中尽可能多样。</a:t>
              </a:r>
            </a:p>
            <a:p>
              <a:pPr>
                <a:spcAft>
                  <a:spcPts val="700"/>
                </a:spcAft>
              </a:pPr>
              <a:r>
                <a:rPr lang="en-US" altLang="zh-CN" sz="1400" dirty="0"/>
                <a:t>• </a:t>
              </a:r>
              <a:r>
                <a:rPr lang="zh-CN" altLang="en-US" sz="1400" dirty="0"/>
                <a:t>"Game-to-Unseen" 评估 agent 在完全没见过的游戏上的零样本能力。</a:t>
              </a:r>
            </a:p>
            <a:p>
              <a:pPr>
                <a:spcAft>
                  <a:spcPts val="700"/>
                </a:spcAft>
              </a:pPr>
              <a:r>
                <a:rPr lang="en-US" altLang="zh-CN" sz="1400" dirty="0"/>
                <a:t>• </a:t>
              </a:r>
              <a:r>
                <a:rPr lang="zh-CN" altLang="en-US" sz="1400" dirty="0"/>
                <a:t>这一设定排除"特定游戏过拟合"路径，迫使模型抓真正可迁移的物理结构。</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a:extLst>
              <a:ext uri="{FF2B5EF4-FFF2-40B4-BE49-F238E27FC236}">
                <a16:creationId xmlns:a16="http://schemas.microsoft.com/office/drawing/2014/main" id="{4AA3A080-79B2-6290-2D9B-636160DCDC2D}"/>
              </a:ext>
            </a:extLst>
          </p:cNvPr>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2</a:t>
            </a:r>
            <a:r>
              <a:rPr lang="zh-CN" altLang="en-US" b="1" dirty="0">
                <a:solidFill>
                  <a:schemeClr val="accent1"/>
                </a:solidFill>
              </a:rPr>
              <a:t>解读：Maslow 启发的三层评估金字塔</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lang="zh-CN" altLang="en-US" dirty="0"/>
              <a:t>从物理直觉到目标驱动推理，逐层加深可量化的能力维度</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lang="en-US" altLang="zh-CN" sz="1400" dirty="0"/>
                <a:t>• </a:t>
              </a:r>
              <a:r>
                <a:rPr lang="en-US" sz="1400" b="1" dirty="0"/>
                <a:t>Survival</a:t>
              </a:r>
              <a:r>
                <a:rPr lang="zh-CN" altLang="en-US" sz="1400" dirty="0"/>
                <a:t>：避险存活，衡量 agent 是否具备基础物理直觉（重力、碰撞、惯性）。</a:t>
              </a:r>
              <a:endParaRPr lang="en-US" altLang="zh-CN" sz="1400" dirty="0"/>
            </a:p>
            <a:p>
              <a:pPr>
                <a:lnSpc>
                  <a:spcPct val="116000"/>
                </a:lnSpc>
                <a:spcAft>
                  <a:spcPts val="700"/>
                </a:spcAft>
              </a:pPr>
              <a:endParaRPr lang="zh-CN" altLang="en-US" sz="1400" dirty="0"/>
            </a:p>
            <a:p>
              <a:r>
                <a:rPr lang="en-US" altLang="zh-CN" sz="1400" dirty="0"/>
                <a:t>• </a:t>
              </a:r>
              <a:r>
                <a:rPr lang="en-US" sz="1400" b="1" dirty="0"/>
                <a:t>Curiosity</a:t>
              </a:r>
              <a:r>
                <a:rPr lang="zh-CN" altLang="en-US" sz="1400" dirty="0"/>
                <a:t>：探索新颖状态，衡量是否能像婴儿一样发掘环境因果结构。</a:t>
              </a:r>
              <a:endParaRPr lang="en-US" altLang="zh-CN" sz="1400" dirty="0"/>
            </a:p>
            <a:p>
              <a:endParaRPr lang="zh-CN" altLang="en-US" sz="1400" dirty="0"/>
            </a:p>
            <a:p>
              <a:r>
                <a:rPr lang="en-US" altLang="zh-CN" sz="1400" dirty="0"/>
                <a:t>• </a:t>
              </a:r>
              <a:r>
                <a:rPr lang="en-US" sz="1400" b="1" dirty="0"/>
                <a:t>Utility</a:t>
              </a:r>
              <a:r>
                <a:rPr lang="zh-CN" altLang="en-US" sz="1400" dirty="0"/>
                <a:t>：完成下游目标，HNS = (m − m_rnd)/(m_human − m_rnd)。</a:t>
              </a:r>
              <a:endParaRPr lang="en-US" altLang="zh-CN" sz="1400" dirty="0"/>
            </a:p>
            <a:p>
              <a:endParaRPr lang="zh-CN" altLang="en-US" sz="1400" dirty="0"/>
            </a:p>
            <a:p>
              <a:r>
                <a:rPr lang="en-US" altLang="zh-CN" sz="1400" dirty="0"/>
                <a:t>• </a:t>
              </a:r>
              <a:r>
                <a:rPr lang="zh-CN" altLang="en-US" sz="1400" dirty="0"/>
                <a:t>三层把"会玩游戏"拆成可量化能力，IPR 在三层均稳健而基线常顾此失彼。</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a:extLst>
              <a:ext uri="{FF2B5EF4-FFF2-40B4-BE49-F238E27FC236}">
                <a16:creationId xmlns:a16="http://schemas.microsoft.com/office/drawing/2014/main" id="{CB90F16D-E4C3-C1F8-D365-877B52EE507D}"/>
              </a:ext>
            </a:extLst>
          </p:cNvPr>
          <p:cNvPicPr>
            <a:picLocks noChangeAspect="1"/>
          </p:cNvPicPr>
          <p:nvPr/>
        </p:nvPicPr>
        <p:blipFill>
          <a:blip r:embed="rId4"/>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3</a:t>
            </a:r>
            <a:r>
              <a:rPr lang="zh-CN" altLang="en-US" b="1" dirty="0">
                <a:solidFill>
                  <a:schemeClr val="accent1"/>
                </a:solidFill>
              </a:rPr>
              <a:t>解读：现有范式的三大失败模式</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lang="zh-CN" altLang="en-US" dirty="0"/>
              <a:t>控制冲突、语言失真、缺乏前瞻共同呼唤新动作空间</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b="1" dirty="0"/>
                <a:t>控制冲突</a:t>
              </a:r>
              <a:r>
                <a:rPr lang="zh-CN" altLang="en-US" sz="1400" dirty="0"/>
                <a:t>：同一按键（如 UP）在不同游戏中含义不同（仰望 vs. 上移），形成接口别名。</a:t>
              </a:r>
            </a:p>
            <a:p>
              <a:pPr>
                <a:spcAft>
                  <a:spcPts val="700"/>
                </a:spcAft>
              </a:pPr>
              <a:r>
                <a:rPr lang="en-US" altLang="zh-CN" sz="1400" dirty="0"/>
                <a:t>• </a:t>
              </a:r>
              <a:r>
                <a:rPr lang="zh-CN" altLang="en-US" sz="1400" b="1" dirty="0"/>
                <a:t>视觉-语言失真</a:t>
              </a:r>
              <a:r>
                <a:rPr lang="zh-CN" altLang="en-US" sz="1400" dirty="0"/>
                <a:t>：纯文本动作无法精确表达跳跃高度、速度等连续物理量级。</a:t>
              </a:r>
            </a:p>
            <a:p>
              <a:pPr>
                <a:spcAft>
                  <a:spcPts val="700"/>
                </a:spcAft>
              </a:pPr>
              <a:r>
                <a:rPr lang="en-US" altLang="zh-CN" sz="1400" dirty="0"/>
                <a:t>• </a:t>
              </a:r>
              <a:r>
                <a:rPr lang="zh-CN" altLang="en-US" sz="1400" b="1" dirty="0"/>
                <a:t>缺乏前瞻</a:t>
              </a:r>
              <a:r>
                <a:rPr lang="zh-CN" altLang="en-US" sz="1400" dirty="0"/>
                <a:t>：没有想象/预测，agent 无法预判尖刺、敌人等危险事件。</a:t>
              </a:r>
            </a:p>
            <a:p>
              <a:pPr>
                <a:spcAft>
                  <a:spcPts val="700"/>
                </a:spcAft>
              </a:pPr>
              <a:r>
                <a:rPr lang="en-US" altLang="zh-CN" sz="1400" dirty="0"/>
                <a:t>• </a:t>
              </a:r>
              <a:r>
                <a:rPr lang="zh-CN" altLang="en-US" sz="1400" dirty="0"/>
                <a:t>三类失败共同指向需要"physics-centric"的潜在动作空间——这正是 PhysCode 的来源。</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9" name="Picture 8" descr="slide_09_fit.png">
            <a:extLst>
              <a:ext uri="{FF2B5EF4-FFF2-40B4-BE49-F238E27FC236}">
                <a16:creationId xmlns:a16="http://schemas.microsoft.com/office/drawing/2014/main" id="{8F18A857-6531-D516-1BA3-3AAAAE00A2DB}"/>
              </a:ext>
            </a:extLst>
          </p:cNvPr>
          <p:cNvPicPr>
            <a:picLocks noChangeAspect="1"/>
          </p:cNvPicPr>
          <p:nvPr/>
        </p:nvPicPr>
        <p:blipFill>
          <a:blip r:embed="rId4"/>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4</a:t>
            </a:r>
            <a:r>
              <a:rPr lang="zh-CN" altLang="en-US" b="1" dirty="0">
                <a:solidFill>
                  <a:schemeClr val="accent1"/>
                </a:solidFill>
              </a:rPr>
              <a:t>解读：跨千余游戏的动作语义高度共享</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lang="zh-CN" altLang="en-US" dirty="0"/>
              <a:t>红色高亮的动作还能直接迁移到机器人通用操作</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dirty="0"/>
                <a:t>词频越大代表共享越广（jump、move、shoot、pick 等是高频通用动作）。</a:t>
              </a:r>
            </a:p>
            <a:p>
              <a:pPr>
                <a:spcAft>
                  <a:spcPts val="700"/>
                </a:spcAft>
              </a:pPr>
              <a:r>
                <a:rPr lang="en-US" altLang="zh-CN" sz="1400" dirty="0"/>
                <a:t>• </a:t>
              </a:r>
              <a:r>
                <a:rPr lang="zh-CN" altLang="en-US" sz="1400" dirty="0"/>
                <a:t>红色高亮的语义与机器人通用动作重叠，揭示游戏-机器人共享接口。</a:t>
              </a:r>
            </a:p>
            <a:p>
              <a:pPr>
                <a:spcAft>
                  <a:spcPts val="700"/>
                </a:spcAft>
              </a:pPr>
              <a:r>
                <a:rPr lang="en-US" altLang="zh-CN" sz="1400" dirty="0"/>
                <a:t>• </a:t>
              </a:r>
              <a:r>
                <a:rPr lang="zh-CN" altLang="en-US" sz="1400" dirty="0"/>
                <a:t>这种语义共享为 PhysCode 的 VQ-VAE 聚类提供了天然的结构先验。</a:t>
              </a:r>
            </a:p>
            <a:p>
              <a:pPr>
                <a:spcAft>
                  <a:spcPts val="700"/>
                </a:spcAft>
              </a:pPr>
              <a:r>
                <a:rPr lang="en-US" altLang="zh-CN" sz="1400" dirty="0"/>
                <a:t>• </a:t>
              </a:r>
              <a:r>
                <a:rPr lang="zh-CN" altLang="en-US" sz="1400" dirty="0"/>
                <a:t>结论：跨域动作并非杂乱无章，而是有可学习的共享潜在结构。</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0" name="Picture 9" descr="slide_10_fit.png">
            <a:extLst>
              <a:ext uri="{FF2B5EF4-FFF2-40B4-BE49-F238E27FC236}">
                <a16:creationId xmlns:a16="http://schemas.microsoft.com/office/drawing/2014/main" id="{B9B576A5-4B3E-63B5-0046-90B31531F56A}"/>
              </a:ext>
            </a:extLst>
          </p:cNvPr>
          <p:cNvPicPr>
            <a:picLocks noChangeAspect="1"/>
          </p:cNvPicPr>
          <p:nvPr/>
        </p:nvPicPr>
        <p:blipFill>
          <a:blip r:embed="rId4"/>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5</a:t>
            </a:r>
            <a:r>
              <a:rPr lang="zh-CN" altLang="en-US" b="1" dirty="0">
                <a:solidFill>
                  <a:schemeClr val="accent1"/>
                </a:solidFill>
              </a:rPr>
              <a:t>解读：IPR 三阶段训练管线总览</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lang="zh-CN" altLang="en-US" dirty="0"/>
              <a:t>PhysCode 预训练 → 世界模型学习 → 预测在环 GRPO，三步把"想象"灌入 VLM 策略</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a:t>
              </a:r>
              <a:r>
                <a:rPr lang="zh-CN" altLang="en-US" sz="1400" b="1" dirty="0"/>
                <a:t>Stage 1</a:t>
              </a:r>
              <a:r>
                <a:rPr lang="zh-CN" altLang="en-US" sz="1400" dirty="0"/>
                <a:t>：用视频片段+光流+语义提示训练 VQ-VAE，得到 PhysCode 离散动作码本。</a:t>
              </a:r>
            </a:p>
            <a:p>
              <a:pPr>
                <a:spcAft>
                  <a:spcPts val="700"/>
                </a:spcAft>
              </a:pPr>
              <a:r>
                <a:rPr lang="en-US" altLang="zh-CN" sz="1400" dirty="0"/>
                <a:t>• </a:t>
              </a:r>
              <a:r>
                <a:rPr lang="zh-CN" altLang="en-US" sz="1400" b="1" dirty="0"/>
                <a:t>Stage 2</a:t>
              </a:r>
              <a:r>
                <a:rPr lang="zh-CN" altLang="en-US" sz="1400" dirty="0"/>
                <a:t>：以 PhysCode 为条件训练特征级世界模型，预测未来表征与奖励。</a:t>
              </a:r>
            </a:p>
            <a:p>
              <a:pPr>
                <a:spcAft>
                  <a:spcPts val="700"/>
                </a:spcAft>
              </a:pPr>
              <a:r>
                <a:rPr lang="en-US" altLang="zh-CN" sz="1400" dirty="0"/>
                <a:t>• </a:t>
              </a:r>
              <a:r>
                <a:rPr lang="zh-CN" altLang="en-US" sz="1400" b="1" dirty="0"/>
                <a:t>Stage 3</a:t>
              </a:r>
              <a:r>
                <a:rPr lang="zh-CN" altLang="en-US" sz="1400" dirty="0"/>
                <a:t>：VLM 推理并采样多条候选 PhysCode，由 WM rollout 打分后选最优执行。</a:t>
              </a:r>
            </a:p>
            <a:p>
              <a:pPr>
                <a:spcAft>
                  <a:spcPts val="700"/>
                </a:spcAft>
              </a:pPr>
              <a:r>
                <a:rPr lang="en-US" altLang="zh-CN" sz="1400" dirty="0"/>
                <a:t>• </a:t>
              </a:r>
              <a:r>
                <a:rPr lang="zh-CN" altLang="en-US" sz="1400" dirty="0"/>
                <a:t>选中动作的优势回流 GRPO，逐步把"预测能力"内化进 VLM 策略。</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9" name="Picture 8" descr="slide_11_fit.png">
            <a:extLst>
              <a:ext uri="{FF2B5EF4-FFF2-40B4-BE49-F238E27FC236}">
                <a16:creationId xmlns:a16="http://schemas.microsoft.com/office/drawing/2014/main" id="{10463AB9-75DC-B245-8B83-8CF08199E6A9}"/>
              </a:ext>
            </a:extLst>
          </p:cNvPr>
          <p:cNvPicPr>
            <a:picLocks noChangeAspect="1"/>
          </p:cNvPicPr>
          <p:nvPr/>
        </p:nvPicPr>
        <p:blipFill>
          <a:blip r:embed="rId3"/>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6</a:t>
            </a:r>
            <a:r>
              <a:rPr lang="zh-CN" altLang="en-US" b="1" dirty="0">
                <a:solidFill>
                  <a:schemeClr val="accent1"/>
                </a:solidFill>
              </a:rPr>
              <a:t>解读：1000+ 游戏的七维多样性分布</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lang="zh-CN" altLang="en-US" dirty="0"/>
              <a:t>类别×界面×视觉×视角×因果×物理×难度，构成统计支撑</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lang="en-US" altLang="zh-CN" sz="1400" dirty="0"/>
                <a:t>• </a:t>
              </a:r>
              <a:r>
                <a:rPr lang="zh-CN" altLang="en-US" sz="1400" dirty="0"/>
                <a:t>游戏类别覆盖平台、射击、运动等强物理交互题材，确保物理多样性。</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控制接口跨 GameBoy 离散键、键鼠混合、高维 hybrid，强迫模型抗接口漂移。</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物理原理涵盖重力/接触/惯性，因果机制覆盖伤害/收集/惩罚等多种结构。</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 name="Picture 9">
            <a:extLst>
              <a:ext uri="{FF2B5EF4-FFF2-40B4-BE49-F238E27FC236}">
                <a16:creationId xmlns:a16="http://schemas.microsoft.com/office/drawing/2014/main" id="{3B208454-5EB1-B24A-9E3D-46944DA71C23}"/>
              </a:ext>
            </a:extLst>
          </p:cNvPr>
          <p:cNvPicPr>
            <a:picLocks noChangeAspect="1"/>
          </p:cNvPicPr>
          <p:nvPr/>
        </p:nvPicPr>
        <p:blipFill>
          <a:blip r:embed="rId3"/>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方法核心：PhysCode + 世界模型 + GRPO 三阶段统一接口</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900000" y="1500000"/>
            <a:ext cx="10300000" cy="900000"/>
          </a:xfrm>
          <a:prstGeom prst="rect">
            <a:avLst/>
          </a:prstGeom>
          <a:noFill/>
        </p:spPr>
        <p:txBody>
          <a:bodyPr wrap="square">
            <a:spAutoFit/>
          </a:bodyPr>
          <a:lstStyle/>
          <a:p>
            <a:r>
              <a:rPr lang="en-US" sz="1400" b="1" dirty="0"/>
              <a:t>① PhysCode 损失（VQ-VAE）：</a:t>
            </a:r>
            <a:r>
              <a:rPr lang="en-US" sz="1400" dirty="0"/>
              <a:t>L_LA = ‖f̂_{t+Δ} − f_{t+Δ}‖² + β‖sg[z_t] − c_{a_t}‖² + γ‖z_t − sg[c_{a_t}]‖²。在 视觉+光流+语义 三模态融合上学到物理中心化的离散动作码本。</a:t>
            </a:r>
          </a:p>
        </p:txBody>
      </p:sp>
      <p:pic>
        <p:nvPicPr>
          <p:cNvPr id="10" name="Picture 9">
            <a:extLst>
              <a:ext uri="{FF2B5EF4-FFF2-40B4-BE49-F238E27FC236}">
                <a16:creationId xmlns:a16="http://schemas.microsoft.com/office/drawing/2014/main" id="{0B26CA63-A19A-E911-B667-68E2B859E067}"/>
              </a:ext>
            </a:extLst>
          </p:cNvPr>
          <p:cNvPicPr>
            <a:picLocks noChangeAspect="1"/>
          </p:cNvPicPr>
          <p:nvPr/>
        </p:nvPicPr>
        <p:blipFill>
          <a:blip r:embed="rId3"/>
          <a:stretch>
            <a:fillRect/>
          </a:stretch>
        </p:blipFill>
        <p:spPr>
          <a:xfrm>
            <a:off x="3500000" y="3700000"/>
            <a:ext cx="5200000" cy="1100000"/>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900000" y="2520000"/>
            <a:ext cx="10300000" cy="900000"/>
          </a:xfrm>
          <a:prstGeom prst="rect">
            <a:avLst/>
          </a:prstGeom>
          <a:noFill/>
        </p:spPr>
        <p:txBody>
          <a:bodyPr wrap="square">
            <a:spAutoFit/>
          </a:bodyPr>
          <a:lstStyle/>
          <a:p>
            <a:r>
              <a:rPr lang="en-US" sz="1400" b="1" dirty="0"/>
              <a:t>② 世界模型预测 + GRPO 强化：</a:t>
            </a:r>
            <a:r>
              <a:rPr lang="en-US" sz="1400" dirty="0"/>
              <a:t>(f̂_{t+Δ}, V_θ) = P_θ(f_t, e_{a_t}) 在 latent 空间预测未来特征与价值；L_GRPO = (1/B)·Σ A^{(b)} log π_φ(a^{(b)}|f_t,g) − β·KL(π_φ‖π_0)，VLM 按预测优势更新策略，KL 防止偏离基线。</a:t>
            </a:r>
          </a:p>
        </p:txBody>
      </p:sp>
      <p:sp>
        <p:nvSpPr>
          <p:cNvPr id="15" name="TextBox 14">
            <a:extLst>
              <a:ext uri="{FF2B5EF4-FFF2-40B4-BE49-F238E27FC236}">
                <a16:creationId xmlns:a16="http://schemas.microsoft.com/office/drawing/2014/main" id="{F19451EF-12EF-0B5F-0652-5166B63BC7EB}"/>
              </a:ext>
            </a:extLst>
          </p:cNvPr>
          <p:cNvSpPr txBox="1"/>
          <p:nvPr/>
        </p:nvSpPr>
        <p:spPr>
          <a:xfrm>
            <a:off x="900000" y="5000000"/>
            <a:ext cx="10300000" cy="900000"/>
          </a:xfrm>
          <a:prstGeom prst="rect">
            <a:avLst/>
          </a:prstGeom>
          <a:noFill/>
        </p:spPr>
        <p:txBody>
          <a:bodyPr wrap="square">
            <a:spAutoFit/>
          </a:bodyPr>
          <a:lstStyle/>
          <a:p>
            <a:r>
              <a:rPr lang="en-US" sz="1400" b="1" dirty="0"/>
              <a:t>③ 缩放结果（图7）：</a:t>
            </a:r>
            <a:r>
              <a:rPr lang="en-US" sz="1400" dirty="0"/>
              <a:t>在 50 款留出游戏 T_U 上，随训练游戏数 N 增大，零样本 Survival / Curiosity / Utility 三项稳步上升——交互经验越多，IPR 越接近"携带物理先验"的人类化行为。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综合讨论：实验主表与消融</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dirty="0" err="1"/>
              <a:t>IPR 在 200 款游戏 28 种基线上稳健领先，消融揭示"预测+推理"缺一不可</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600" b="1" dirty="0"/>
              <a:t>• 主表 (Tab. 2)：</a:t>
            </a:r>
            <a:r>
              <a:rPr sz="1600" dirty="0"/>
              <a:t>IPR 综合排名 4.9 / 30，远优于 Qwen3-VL-8B w/o IPR 的 18.2。</a:t>
            </a:r>
            <a:endParaRPr lang="en-US" sz="1600" dirty="0"/>
          </a:p>
          <a:p>
            <a:pPr algn="l">
              <a:lnSpc>
                <a:spcPct val="116000"/>
              </a:lnSpc>
              <a:spcBef>
                <a:spcPts val="0"/>
              </a:spcBef>
              <a:spcAft>
                <a:spcPts val="700"/>
              </a:spcAft>
            </a:pPr>
            <a:r>
              <a:rPr sz="1600" b="1" dirty="0"/>
              <a:t>• Survival 第 1：</a:t>
            </a:r>
            <a:r>
              <a:rPr sz="1600" dirty="0"/>
              <a:t>Mean 0.252，Avg Rank 2.6，Top-3 占比 72.0%；Curiosity 1.173，Utility 0.493。</a:t>
            </a:r>
            <a:endParaRPr lang="en-US" sz="1600" dirty="0"/>
          </a:p>
          <a:p>
            <a:pPr algn="l">
              <a:lnSpc>
                <a:spcPct val="116000"/>
              </a:lnSpc>
              <a:spcBef>
                <a:spcPts val="0"/>
              </a:spcBef>
              <a:spcAft>
                <a:spcPts val="700"/>
              </a:spcAft>
            </a:pPr>
            <a:r>
              <a:rPr sz="1600" b="1" dirty="0"/>
              <a:t>• 消融 (Tab. 3)：</a:t>
            </a:r>
            <a:r>
              <a:rPr sz="1600" dirty="0"/>
              <a:t>BC 冲掉先验，PPO 偏短期奖励，唯有 IPR 在 Survival/Curiosity/Utility 三项均强。</a:t>
            </a:r>
            <a:endParaRPr lang="en-US" sz="1600" dirty="0"/>
          </a:p>
          <a:p>
            <a:pPr algn="l">
              <a:lnSpc>
                <a:spcPct val="116000"/>
              </a:lnSpc>
              <a:spcBef>
                <a:spcPts val="0"/>
              </a:spcBef>
              <a:spcAft>
                <a:spcPts val="700"/>
              </a:spcAft>
            </a:pPr>
            <a:r>
              <a:rPr sz="1600" b="1" dirty="0"/>
              <a:t>• 关键启示：</a:t>
            </a:r>
            <a:r>
              <a:rPr sz="1600" dirty="0"/>
              <a:t>"预测在环 + 物理中心化潜在动作"是 8B 骨干超越 GPT-5 的真正驱动因素。</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这篇论文把"物理推理"重新定义为可通过交互持续增长的能力</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b="1" dirty="0"/>
              <a:t>• 主要创新：</a:t>
            </a:r>
            <a:r>
              <a:rPr dirty="0"/>
              <a:t>PhysCode + 预测在环 GRPO，让世界模型与 VLM 在同一物理动作空间互相强化。</a:t>
            </a:r>
            <a:endParaRPr lang="en-US" dirty="0"/>
          </a:p>
          <a:p>
            <a:pPr algn="l">
              <a:lnSpc>
                <a:spcPct val="116000"/>
              </a:lnSpc>
              <a:spcBef>
                <a:spcPts val="0"/>
              </a:spcBef>
              <a:spcAft>
                <a:spcPts val="700"/>
              </a:spcAft>
            </a:pPr>
            <a:r>
              <a:rPr b="1" dirty="0"/>
              <a:t>• 主要发现：</a:t>
            </a:r>
            <a:r>
              <a:rPr dirty="0"/>
              <a:t>8B 骨干在 G2U 基准上整体超越 GPT-5；能力随训练游戏数和交互步数单调缩放，并零样本迁移。</a:t>
            </a:r>
            <a:endParaRPr lang="en-US" dirty="0"/>
          </a:p>
          <a:p>
            <a:pPr algn="l">
              <a:lnSpc>
                <a:spcPct val="116000"/>
              </a:lnSpc>
              <a:spcBef>
                <a:spcPts val="0"/>
              </a:spcBef>
              <a:spcAft>
                <a:spcPts val="700"/>
              </a:spcAft>
            </a:pPr>
            <a:r>
              <a:rPr b="1" dirty="0"/>
              <a:t>• 主要贡献：</a:t>
            </a:r>
            <a:r>
              <a:rPr dirty="0"/>
              <a:t>开放 1000+ 异构游戏与 Survival/Curiosity/Utility 三层评估，给出可复现的 IPR pipeline。</a:t>
            </a:r>
            <a:endParaRPr lang="en-US" dirty="0"/>
          </a:p>
          <a:p>
            <a:pPr algn="l">
              <a:lnSpc>
                <a:spcPct val="116000"/>
              </a:lnSpc>
              <a:spcBef>
                <a:spcPts val="0"/>
              </a:spcBef>
              <a:spcAft>
                <a:spcPts val="700"/>
              </a:spcAft>
            </a:pPr>
            <a:r>
              <a:rPr b="1" dirty="0"/>
              <a:t>• 局限与展望：</a:t>
            </a:r>
            <a:r>
              <a:rPr dirty="0"/>
              <a:t>仍局限于游戏环境与短程想象，下一步面向真实机器人场景做长程交互推理。</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TotalTime>
  <Words>2390</Words>
  <Application>Microsoft Macintosh PowerPoint</Application>
  <PresentationFormat>Widescreen</PresentationFormat>
  <Paragraphs>145</Paragraphs>
  <Slides>15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You, Bingran</cp:lastModifiedBy>
  <cp:revision>45</cp:revision>
  <dcterms:created xsi:type="dcterms:W3CDTF">2023-06-07T13:12:54Z</dcterms:created>
  <dcterms:modified xsi:type="dcterms:W3CDTF">2026-05-07T07:22:33Z</dcterms:modified>
</cp:coreProperties>
</file>