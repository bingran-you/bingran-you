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29"/>
  </p:notesMasterIdLst>
  <p:sldIdLst>
    <p:sldId id="13773" r:id="rId3"/>
    <p:sldId id="13823" r:id="rId4"/>
    <p:sldId id="13824" r:id="rId5"/>
    <p:sldId id="13825" r:id="rId6"/>
    <p:sldId id="13826" r:id="rId7"/>
    <p:sldId id="13827" r:id="rId8"/>
    <p:sldId id="13828" r:id="rId9"/>
    <p:sldId id="13829" r:id="rId10"/>
    <p:sldId id="13830" r:id="rId11"/>
    <p:sldId id="13831" r:id="rId12"/>
    <p:sldId id="13832" r:id="rId13"/>
    <p:sldId id="13833" r:id="rId14"/>
    <p:sldId id="13770" r:id="rId15"/>
    <p:sldId id="13771" r:id="rId16"/>
    <p:sldId id="13774" r:id="rId17"/>
    <p:sldId id="13802" r:id="rId18"/>
    <p:sldId id="13776" r:id="rId19"/>
    <p:sldId id="13805" r:id="rId20"/>
    <p:sldId id="13806" r:id="rId21"/>
    <p:sldId id="13808" r:id="rId22"/>
    <p:sldId id="13809" r:id="rId23"/>
    <p:sldId id="13810" r:id="rId24"/>
    <p:sldId id="13811" r:id="rId25"/>
    <p:sldId id="13783" r:id="rId26"/>
    <p:sldId id="13822" r:id="rId27"/>
    <p:sldId id="1378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05" autoAdjust="0"/>
    <p:restoredTop sz="79719"/>
  </p:normalViewPr>
  <p:slideViewPr>
    <p:cSldViewPr snapToGrid="0">
      <p:cViewPr varScale="1">
        <p:scale>
          <a:sx n="108" d="100"/>
          <a:sy n="108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B10B1-3F6B-44C2-A3BA-6192D167FFA6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57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39FB-009B-97B9-3A0A-499B4579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501D3-3E4C-E4AD-E7FD-EF8336086A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546A3-681F-AA8F-D250-55145AD86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4335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7D4EA-F448-A7F7-BFE2-DE7CF068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74677-8176-613F-691A-33D8B9CCC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334A7-2C33-4668-5776-38D7736B7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5216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784EB-0A2B-35D1-8B38-DD32A41F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72806-B06A-D956-5737-0B8743EFB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A3F233-2875-4B6E-C6C5-4838333FB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1527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0073-F284-1984-A1E3-A6074E87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E61B1-8094-469E-1450-96005DE06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A6B74-A750-9F87-25B3-FD3A055AA6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6589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BEE27-5CB1-A6DD-81E7-CC25C471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B217B-B753-1725-671A-7F66E35C1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C02F3-B0BA-BD05-E5C4-B1F84D11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7590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1D26-27D8-2076-891A-F62D64CC4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BBE85-5DC6-BCA4-5532-8904B2190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ABAA0-E63C-FBB2-88D1-D7DC05676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7238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382F8-9C9D-A27E-AE1E-3FDB32D6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CA774-F0CB-35AA-2922-B1CEA9229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C52C8-9560-4719-4166-7E365EF2E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7053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0DED3-8673-14A1-D2E5-73F377630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30210-4A49-A259-3650-70A46E2D8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77C05-95CE-4B3A-BAFB-2A46E3271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3577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F9C5-8E64-B133-13AA-01C075F96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8D763-BF6E-0240-C724-DAB278E056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B2375-70BA-160D-B7FB-1944F66A7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4755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D69F1-C3F3-EAFE-414D-27A417CD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67C37-8F46-8F5E-D771-87C15AA0E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72102-6382-0D33-D52B-897E84F84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7584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0CCBA-A04D-8FD9-65C0-2ADE113D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705FF-8032-3645-34A5-398200B67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1C6A2-34B4-288C-46DF-7A1B5457A1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8296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58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  <a:p>
            <a:endParaRPr 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79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812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772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03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7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760413" y="0"/>
            <a:ext cx="9702248" cy="7985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222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3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9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46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50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meridiancapital.com.cn/images/logo.png"/>
          <p:cNvPicPr>
            <a:picLocks noChangeAspect="1" noChangeArrowheads="1"/>
          </p:cNvPicPr>
          <p:nvPr userDrawn="1"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10702413" y="189026"/>
            <a:ext cx="1489587" cy="51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51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37656" y="575136"/>
            <a:ext cx="4331884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" r="430"/>
          <a:stretch>
            <a:fillRect/>
          </a:stretch>
        </p:blipFill>
        <p:spPr>
          <a:xfrm>
            <a:off x="591811" y="1778432"/>
            <a:ext cx="11008378" cy="360872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1811" y="1778432"/>
            <a:ext cx="11008378" cy="3608729"/>
          </a:xfrm>
          <a:prstGeom prst="rect">
            <a:avLst/>
          </a:prstGeom>
          <a:solidFill>
            <a:schemeClr val="bg1">
              <a:lumMod val="75000"/>
              <a:alpha val="4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 flipH="1">
            <a:off x="1573951" y="575136"/>
            <a:ext cx="45719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846907" y="5160182"/>
            <a:ext cx="453958" cy="453958"/>
            <a:chOff x="5869021" y="5872413"/>
            <a:chExt cx="453958" cy="453958"/>
          </a:xfrm>
        </p:grpSpPr>
        <p:sp>
          <p:nvSpPr>
            <p:cNvPr id="17" name="矩形 16"/>
            <p:cNvSpPr/>
            <p:nvPr/>
          </p:nvSpPr>
          <p:spPr>
            <a:xfrm>
              <a:off x="5869021" y="5872413"/>
              <a:ext cx="453958" cy="4539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 rot="5400000">
              <a:off x="5997358" y="5972932"/>
              <a:ext cx="197284" cy="252920"/>
            </a:xfrm>
            <a:prstGeom prst="chevron">
              <a:avLst>
                <a:gd name="adj" fmla="val 725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62" y="864162"/>
            <a:ext cx="2207110" cy="6872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18672" y="2967335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LFM2-VL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B4B1A-1F10-D83C-3FAD-66425D880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A58961-50CB-4062-2630-81E5C9D8C8B0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B9B28-4417-F9A7-4E8E-48E6E1FC6748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97DB90-465D-75DE-E18A-11FEAA8258D5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B39B0503-3F93-DAA8-46C0-0E4DEA0A1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1350D0-C42E-8959-790A-9D4FC3C53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632" y="1475396"/>
            <a:ext cx="8679872" cy="460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57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520F-07DF-EAAC-8653-AB9A2EBC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459F99-B00E-73B4-9CF6-0582CCA940E3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A8A58F-3159-704C-7AC2-101E80AD2B0E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5980F2E-0ABB-2473-4011-6399DFCE723B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7EBD4CFD-4FBF-255B-088D-7E8509579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AA7799-54BD-0DA7-7F0E-EBAB08859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323" y="1591294"/>
            <a:ext cx="8477354" cy="4379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911F3C-23A4-8484-686C-085BBE8FA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22" y="1591294"/>
            <a:ext cx="5042241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8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9848-677A-DC53-78B7-5E1E1B4E0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116D4A-B011-8D41-4962-96DB49F5642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27BBA-818C-13F9-4934-8A90FB79A625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EBF4DDB-0E69-2A37-C7EE-E7E1D8EFA016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59F03C16-082C-1DDA-7969-FC0B9389A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014D80-F41F-4937-D737-70F970C63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022" y="1991866"/>
            <a:ext cx="9098724" cy="355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3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D2A7B-53DA-AEC0-A643-29E2223A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B6F494-C7EF-E24D-FA4B-E27DE32667A4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92C45-55D0-6764-6D55-867E385558BD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DA74C9-7ADF-950A-BA68-6E471F1B6FA7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7190F88B-9B16-8EFF-E0E9-A8584A0DF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ED0957-03F8-A6FA-20D6-6B1E5B1EE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330" y="1975151"/>
            <a:ext cx="8954476" cy="360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05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BB30-0276-8944-80C3-109E9F7C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63F42E-308F-DE6F-82E6-0082C1313B39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6DF9A8-B2A4-D89B-6269-08DA01F8C95C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4C14C9-F4D8-6321-9C7D-C0A7FE437F09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09425B25-60BA-B5EA-7CC2-20A48CE64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1F3D5E-8BB8-BB39-F572-4B87EBA55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150" y="1732193"/>
            <a:ext cx="8739250" cy="408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1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3FFAB-B8E1-D8C3-E770-4079FF67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7B446A-35E6-76D6-F412-883E706D99E7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AA86E-2F6D-D7D8-EE7B-818F26EA19FD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0F7A6A0-A952-8C02-4F20-6D580E92999E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EBCD3CBB-52E9-1853-9E0F-CD67F6C56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B5B119-CB61-5A49-44F2-5AC621141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1749745"/>
            <a:ext cx="7772400" cy="405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2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CA403-BB03-13C6-88BA-288BFE11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799FC7-3D34-60B6-4E0C-35277AA65DF2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4AC2C-FD57-F01D-5E89-56418E2E1EA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FA5B223-9AC1-FF11-12FB-352462F9E3A8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5F7A23AE-C2BD-0AB3-4177-F8AACD90A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923D72-F099-EA61-7CA0-14C745CD1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1616376"/>
            <a:ext cx="7772400" cy="432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35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3390-8A27-5E5E-A711-5D6AB2B7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2F3BFA-0CBD-A3EC-7551-3640566B905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2B310-F0D2-38C1-322C-70CE41E988EC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80D747-C38E-4176-04F1-4B7E958C5E65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0ED61588-2824-2108-3BAE-B73A534CF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56D043-F08C-4496-76BE-16747ED7F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614" y="1600692"/>
            <a:ext cx="7918150" cy="436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97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6AD8-C0A4-46D2-19F0-22C55462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C9E109-2107-887F-78F6-0F2A3DB91692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B7DD9-985F-62DA-0066-913B168B0910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F31447-85D9-DA9F-EDF0-329D8503C3B8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100AADDC-B222-A3E8-DF1D-D455DA383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87349A-6F79-FF83-6A45-487C73804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1690090"/>
            <a:ext cx="7772400" cy="417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5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2EAA-F484-4ED1-BD93-1DEF99E0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F1A388-8321-BD42-E97B-BD13F6A42A24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8F8E0-C725-5D2C-ECB5-376B237E5245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DC66E5-BF20-759F-F96E-A8D69E7EE95C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33A43C65-A866-3519-7F86-7DB6E5839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A8E1F1-2448-BF62-BE61-E11C2ADDC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232" y="1611398"/>
            <a:ext cx="8203401" cy="43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3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84436-7DFE-A02A-FF0F-1246477C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7FB766-8374-8F49-2CE2-601FA6AB35CB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DD2C0-1246-9256-7358-0DAD5067159B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科普解读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607F72-72BF-663E-341D-EB64969C41BE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E5583B20-A667-AA81-9F4D-92691B963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1560E1-37AF-C9B5-0659-A2997D4AF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232" y="1577352"/>
            <a:ext cx="8299863" cy="443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93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目录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dirty="0" err="1"/>
              <a:t>值得关注：边缘级</a:t>
            </a:r>
            <a:r>
              <a:rPr lang="en-US" dirty="0"/>
              <a:t> VLM 的部署挑战与 LFM2-VL 的定位。</a:t>
            </a:r>
          </a:p>
          <a:p>
            <a:r>
              <a:rPr lang="en-US" dirty="0"/>
              <a:t>• 核心创新：原生分辨率、动态切片、轻量连接器与可调 token 预算。</a:t>
            </a:r>
          </a:p>
          <a:p>
            <a:r>
              <a:rPr dirty="0"/>
              <a:t>• 逐图解读：图1 Demo、图2 架构、图3 速度、图4 显存。</a:t>
            </a:r>
          </a:p>
          <a:p>
            <a:r>
              <a:rPr dirty="0"/>
              <a:t>• 评测与选型：benchmark 结果如何看，450M 与 1.6B 如何取舍。</a:t>
            </a:r>
          </a:p>
          <a:p>
            <a:r>
              <a:rPr dirty="0"/>
              <a:t>• 结论：这条路线对端侧多模态系统意味着什么。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250D6EF6-E290-DB59-6252-7A2C142C9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2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引言：为什么要关注边缘级视觉语言模型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真正难的不是做出 VLM，而是在端侧把它跑得又快又稳。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9C2101-A6BF-F306-52D1-079E6187C064}"/>
              </a:ext>
            </a:extLst>
          </p:cNvPr>
          <p:cNvGrpSpPr/>
          <p:nvPr/>
        </p:nvGrpSpPr>
        <p:grpSpPr>
          <a:xfrm>
            <a:off x="1165146" y="5074072"/>
            <a:ext cx="10333608" cy="1555328"/>
            <a:chOff x="604672" y="1280756"/>
            <a:chExt cx="4900000" cy="4773169"/>
          </a:xfrm>
        </p:grpSpPr>
        <p:sp>
          <p:nvSpPr>
            <p:cNvPr id="6" name="Rounded Rectangle 5"/>
            <p:cNvSpPr/>
            <p:nvPr/>
          </p:nvSpPr>
          <p:spPr>
            <a:xfrm>
              <a:off x="604672" y="1280756"/>
              <a:ext cx="4900000" cy="4773169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1790067"/>
              <a:ext cx="4500000" cy="37545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lang="en-US" sz="1400" dirty="0"/>
                <a:t>• 低延迟：拍照问答、现场巡检、AR 交互都要求即时响应。</a:t>
              </a:r>
              <a:endParaRPr lang="en-US" altLang="zh-CN" sz="14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lang="en-US" altLang="zh-CN" sz="1400" dirty="0"/>
                <a:t>• 低资源：手机、笔记本和边缘盒子对内存与功耗都很敏感。</a:t>
              </a:r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灵活推理：不同图像大小和任务复杂度，不该被固定输入流程绑死。</a:t>
              </a:r>
            </a:p>
            <a:p>
              <a:r>
                <a:rPr sz="1400" dirty="0"/>
                <a:t>• LFM2-VL 的价值就在于：把“能跑起来”也当成模型设计目标。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FDDFE6E-EA1A-D7D6-B770-0D9C20C6E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slide_03_fit.png"/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1459243" y="1488932"/>
            <a:ext cx="8910053" cy="33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02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核心创新：把端侧 VLM 做成可调节的 token 经济学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原生分辨率、动态切片和轻量连接器共同服务部署效率。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5915E9-91C5-9C15-39BE-414ED70C7357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/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1783080"/>
              <a:ext cx="4500000" cy="3337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基于 LFM2 语言主干扩展到视觉语言，而不是重新堆一个更重的骨干。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图像原生处理到 512x512，避免为了统一输入而强行上采样。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大图按 512x512 patch 切片，并用缩略图保留整体场景语义。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400" dirty="0"/>
                <a:t>• PixelUnshuffle + 2-layer MLP 先压缩视觉 token，再送入语言模型。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E8F9F1FC-F284-020F-1F78-D30A3159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4" name="Picture 13" descr="slide_04_fit.png"/>
          <p:cNvPicPr>
            <a:picLocks noChangeAspect="1"/>
          </p:cNvPicPr>
          <p:nvPr/>
        </p:nvPicPr>
        <p:blipFill>
          <a:blip r:embed="rId4"/>
          <a:srcRect l="1136" r="1136"/>
          <a:stretch>
            <a:fillRect/>
          </a:stretch>
        </p:blipFill>
        <p:spPr>
          <a:xfrm>
            <a:off x="4360908" y="1401106"/>
            <a:ext cx="7172724" cy="52638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7022-F9BD-C816-5EFB-A7046504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2E560-F4FC-ABF7-685F-122968B602D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063CA-15F7-F773-048F-94E5629D57FF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先补背景：LFM2 给 LFM2-VL 提供了什么底座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E33D4-2714-5197-7F12-7A6769D22D8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LFM2 </a:t>
            </a:r>
            <a:r>
              <a:rPr dirty="0" err="1"/>
              <a:t>本身就是面向效率优化的语言模型</a:t>
            </a:r>
            <a:r>
              <a:rPr dirty="0"/>
              <a:t>。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0F5864-CBF1-FD25-4B65-DC8E6B854596}"/>
              </a:ext>
            </a:extLst>
          </p:cNvPr>
          <p:cNvSpPr/>
          <p:nvPr/>
        </p:nvSpPr>
        <p:spPr>
          <a:xfrm>
            <a:off x="658368" y="1389887"/>
            <a:ext cx="10543162" cy="5239513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B8104-1CEE-7BD6-5AE9-0E6A111D0BC2}"/>
              </a:ext>
            </a:extLst>
          </p:cNvPr>
          <p:cNvSpPr txBox="1"/>
          <p:nvPr/>
        </p:nvSpPr>
        <p:spPr>
          <a:xfrm>
            <a:off x="822959" y="1783080"/>
            <a:ext cx="10193383" cy="201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LFM2 主干强调短卷积与少量 GQA 的混合设计，目标是兼顾表达能力与推理速度。</a:t>
            </a:r>
            <a:endParaRPr lang="en-US" sz="1500" dirty="0">
              <a:solidFill>
                <a:srgbClr val="2D2D2D"/>
              </a:solidFill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这意味着 VLM 部分继承的是一个本来就面向端侧和低延迟优化过的语言 backbone。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LFM2-VL-450M 使用约 86M 的 SigLIP2 NaFlex base 编码器，优先考虑更紧的资源预算。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LFM2-VL-1.6B 使用约 400M 的 shape-optimized 编码器，换来更强的细粒度视觉能力。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两个版本共享同一套方法论：先把成本控住，再尽量把视觉信息保留下来。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A0879EF-A5B0-27B7-D5DC-7D6550013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逐图导览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分别回答：能做什么、怎么做、快多少、省多少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01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图1：用一个直观 demo 展示 450M 模型的图像理解与语言描述能力。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图2：解释视觉编码、token 压缩和 LFM2 主干如何拼成完整的 VLM。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表1：把精度放回参数量和部署成本语境里，观察它是否“对得起体量”。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图3：速度对比证明其 GPU 推理时间能明显压低到更适合交互应用的区间。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图4：显存对比说明它不是绝对最小，但在效率-能力间找到了更平衡的位置。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D6161145-8687-472E-1628-987A8FF3C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A997-489F-9B2F-79F7-C80B273B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03209-782E-0052-5968-B67AA293801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3A4D4-1CA4-38DB-57A4-BA0BF2D4EF7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图1解读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B1BCF-7E89-4C4C-CBB7-E6CB262DBD0C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直观地展示</a:t>
            </a:r>
            <a:r>
              <a:rPr dirty="0"/>
              <a:t> 450M </a:t>
            </a:r>
            <a:r>
              <a:rPr dirty="0" err="1"/>
              <a:t>版本的基本能力边界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E39660-D457-A2C0-B2F2-7235B1708694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2CFCB56-1B98-30B0-7981-5207569C971B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4EF040-EA97-AD13-F24C-A2864079B93F}"/>
                </a:ext>
              </a:extLst>
            </p:cNvPr>
            <p:cNvSpPr txBox="1"/>
            <p:nvPr/>
          </p:nvSpPr>
          <p:spPr>
            <a:xfrm>
              <a:off x="804672" y="1875263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模型先识别出海滩场景，再抓住“牛在海边”这种相对少见的关键细节。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输出不是单标签分类，而是完整自然语言描述，说明视觉 grounding 与生成是连通的。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论文故意选 450M 版本做展示，强调的正是“小模型也能完成有用视觉理解”。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当然，这类 demo 更像能力切片，真正可靠性还要回到后面的 benchmark 与效率图来看。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6CA906E-E902-BFA0-FD82-9724A14A9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slide_03_fit.png">
            <a:extLst>
              <a:ext uri="{FF2B5EF4-FFF2-40B4-BE49-F238E27FC236}">
                <a16:creationId xmlns:a16="http://schemas.microsoft.com/office/drawing/2014/main" id="{4AA3A080-79B2-6290-2D9B-636160DCDC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1459243" y="1488932"/>
            <a:ext cx="8910053" cy="335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29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FCBB-E62D-C4DF-0EBF-1426E1BF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AF407-6C34-CEAB-20A4-DB69D8889AA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0B496-0834-E43C-E3E8-36C18BFED06C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图2解读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4457B-2385-3316-5017-6A5ECEC9236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核心不是把图像硬塞进 LLM，而是先把视觉信息结构化压缩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054F56-B109-C816-900E-27E3D42CF076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B221681-0918-FEBB-CD3E-2CAE594395C6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A3AEBC-78BF-ABDB-3B03-1D583D45364F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2960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sz="1400" dirty="0"/>
                <a:t>• 底层语言推理由 LFM2 backbone 承担，视觉部分只负责把图像变成可对齐的 token。</a:t>
              </a:r>
              <a:endParaRPr lang="en-US" altLang="zh-CN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endParaRPr lang="zh-CN" altLang="en-US" sz="1400" dirty="0"/>
            </a:p>
            <a:p>
              <a:r>
                <a:rPr lang="en-US" altLang="zh-CN" sz="1400" dirty="0"/>
                <a:t>• SigLIP2 NaFlex 编码器既支持原生分辨率输入，也支持非标准长宽比，不必先统一缩放。</a:t>
              </a:r>
            </a:p>
            <a:p>
              <a:endParaRPr lang="zh-CN" altLang="en-US" sz="1400" dirty="0"/>
            </a:p>
            <a:p>
              <a:r>
                <a:rPr lang="en-US" altLang="zh-CN" sz="1400" dirty="0"/>
                <a:t>• 中间的 connector 通过 PixelUnshuffle + MLP 降低 token 数量，再和文本 token 共同进入 LFM2。</a:t>
              </a:r>
            </a:p>
            <a:p>
              <a:endParaRPr lang="zh-CN" altLang="en-US" sz="1400" dirty="0"/>
            </a:p>
            <a:p>
              <a:r>
                <a:rPr lang="en-US" altLang="zh-CN" sz="1400" dirty="0"/>
                <a:t>• 这让模型的“重活”更多集中在有效信息而非冗余像素上，是效率优势的关键来源。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9C9959B-2ACF-0A19-39A0-6B6CF611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4" name="Picture 13" descr="slide_04_fit.png">
            <a:extLst>
              <a:ext uri="{FF2B5EF4-FFF2-40B4-BE49-F238E27FC236}">
                <a16:creationId xmlns:a16="http://schemas.microsoft.com/office/drawing/2014/main" id="{CB90F16D-E4C3-C1F8-D365-877B52EE50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6" r="1136"/>
          <a:stretch>
            <a:fillRect/>
          </a:stretch>
        </p:blipFill>
        <p:spPr>
          <a:xfrm>
            <a:off x="4360908" y="1401106"/>
            <a:ext cx="7172724" cy="526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2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C696-44FB-FD8E-DF06-56351EAC2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32E6C3-E323-389B-83CB-40BD1B1F3E3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8B13D-B130-6367-59F7-A914EA6D08C4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图2解读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F15D9-4465-5845-E9DC-88447BB4162B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关键在动态切片、全局缩略图，以及可在线调节的视觉 token 预算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29A1FC-50E9-FEC7-F3B3-646707511C9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571BABE-A3E6-C870-5E43-FE2EAC76A6E6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B23CC1-F5C8-CA2F-9EFB-014C94BB5DF7}"/>
                </a:ext>
              </a:extLst>
            </p:cNvPr>
            <p:cNvSpPr txBox="1"/>
            <p:nvPr/>
          </p:nvSpPr>
          <p:spPr>
            <a:xfrm>
              <a:off x="804672" y="1875263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小图直接按原生尺寸处理，避免先放大再编码带来的额外开销。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大图会被切成多个 512x512 patch；1.6B 版本还会额外看到一个全局 thumbnail。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论文给出的例子是：256x384 约 96 tokens，384x680 约 240 tokens，1000x3000 约 1020 tokens。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用户在推理时可以直接调最大图像 token 数和 patch 数量，不必重新训练模型。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76D242B-5D74-553E-C043-EA8FCCE4C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9" name="Picture 8" descr="slide_09_fit.png">
            <a:extLst>
              <a:ext uri="{FF2B5EF4-FFF2-40B4-BE49-F238E27FC236}">
                <a16:creationId xmlns:a16="http://schemas.microsoft.com/office/drawing/2014/main" id="{8F18A857-6531-D516-1BA3-3AAAAE00A2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1354577" y="1343281"/>
            <a:ext cx="9482845" cy="35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52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4204-DFC4-5BD7-0122-F1EAB15A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4301F7-E898-CE2A-908B-685169BAE26A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03168-7AEC-A3AD-4642-06DD3B1EE98B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评测结果：不是绝对 SOTA，但非常“对得起体量”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D8024-EB96-7E90-AE65-C4E310BFCFF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要把精度放回参数规模与部署成本语境里，才能看懂这篇论文的卖点。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599E29-857A-D9C8-569F-BC72A99E096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49FCE35-FABF-9DD8-5627-1C1B6B130733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03535E-42B1-7612-6A09-68166BB95169}"/>
                </a:ext>
              </a:extLst>
            </p:cNvPr>
            <p:cNvSpPr txBox="1"/>
            <p:nvPr/>
          </p:nvSpPr>
          <p:spPr>
            <a:xfrm>
              <a:off x="804672" y="1875263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1.6B 版本在 RealWorldQA 上到 65.23，已经接近 2B 级 InternVL3-2B 的 65.10。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OCRBench、MathVista、SEEDBench_IMG 等结果说明它在 OCR、高分辨率和推理类任务上并不掉队。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450M 版本不是拿来冲榜的，而是给手机、穿戴和更苛刻设备预算准备的可用选项。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所以论文真正强调的是“足够好的精度 + 明显更好的效率”，而不是一味追求最高分。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AECE820-5FF4-AB0E-642C-74C969BE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0" name="Picture 9" descr="slide_10_fit.png">
            <a:extLst>
              <a:ext uri="{FF2B5EF4-FFF2-40B4-BE49-F238E27FC236}">
                <a16:creationId xmlns:a16="http://schemas.microsoft.com/office/drawing/2014/main" id="{B9B576A5-4B3E-63B5-0046-90B31531F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5" b="405"/>
          <a:stretch>
            <a:fillRect/>
          </a:stretch>
        </p:blipFill>
        <p:spPr>
          <a:xfrm>
            <a:off x="1763104" y="1343281"/>
            <a:ext cx="8665792" cy="326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05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8C91-BA8C-8C49-13BF-624951DE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C41B1A-62F0-08BE-D0E2-12F68439006D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2835A-97C8-2E8D-A9A8-A9F8224221BE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图3解读：速度优势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BBC88-1781-ADAB-862B-96990B4AD77A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在相同任务设定下，它把交互延迟直接压到了更适合产品落地的区间。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1462D6-0BEB-FFE0-6297-B83C77C48F66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33D17FD-1F7A-21FA-374E-DB971BD5CB55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F80A72-52DB-6023-F06B-C052CC7D1218}"/>
                </a:ext>
              </a:extLst>
            </p:cNvPr>
            <p:cNvSpPr txBox="1"/>
            <p:nvPr/>
          </p:nvSpPr>
          <p:spPr>
            <a:xfrm>
              <a:off x="804672" y="1875263"/>
              <a:ext cx="4500000" cy="37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论文设定的 workload 是：1 张 1024x1024 图像 + 简短提示词 + 生成 100 个 token。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LFM2-VL-1.6B 的处理时间约 833ms，而几款对比模型分别在 1650ms、1837ms 和 1950ms 左右。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这意味着它相对最快竞品也接近 2 倍速度提升，优势不是小修小补，而是交互层面的体感差异。</a:t>
              </a:r>
            </a:p>
            <a:p>
              <a:pPr>
                <a:spcAft>
                  <a:spcPts val="700"/>
                </a:spcAft>
              </a:pPr>
              <a:r>
                <a:rPr lang="en-US" altLang="zh-CN" sz="1400" dirty="0"/>
                <a:t>• 这张图最能说明：token 压缩和高效 backbone 的设计，最终都会兑现成真实等待时间的减少。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2863754-D7D7-8569-901E-2853A086C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9" name="Picture 8" descr="slide_11_fit.png">
            <a:extLst>
              <a:ext uri="{FF2B5EF4-FFF2-40B4-BE49-F238E27FC236}">
                <a16:creationId xmlns:a16="http://schemas.microsoft.com/office/drawing/2014/main" id="{10463AB9-75DC-B245-8B83-8CF08199E6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682" b="16682"/>
          <a:stretch>
            <a:fillRect/>
          </a:stretch>
        </p:blipFill>
        <p:spPr>
          <a:xfrm>
            <a:off x="2002694" y="1495289"/>
            <a:ext cx="8186612" cy="308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19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8950-46EA-7229-03A9-B471BDD4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F0E0B6-86BA-5A30-0B82-F17C002B170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CB3A7-65BA-291F-C33E-1E298252FCD1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图4解读：显存并非最小，但性价比很高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0E512-BDB3-9EAA-76AE-20DC652260C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重点不是“谁最低”，而是“谁在更强能力下仍没把成本拉爆”。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F6DD6-C885-3E99-2B7B-884C0F6D5DDF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7CD3BB4-1118-CEEA-EAB4-14C7E6F3BA42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3808FA-4EFD-5519-92A8-0D8415269747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24273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altLang="zh-CN" sz="1400" dirty="0"/>
                <a:t>• LFM2-VL-1.6B 约 3.14GB，低于 2B 级对手的 4.20GB 和 4.62GB，但高于更小的 1B 模型 2.06GB。</a:t>
              </a:r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t>• 也就是说，它不是绝对最省内存的模型，但在参数规模、速度和视觉能力之间更平衡。</a:t>
              </a:r>
              <a:endParaRPr lang="zh-CN" altLang="en-US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lang="en-US" altLang="zh-CN" sz="1400" dirty="0"/>
                <a:t>• 对笔记本、本地工作站和单 GPU 场景，这种“稍高一点显存换来更强能力”的交易通常是划算的。</a:t>
              </a:r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t>• 反过来，如果预算极紧，450M 版本才是更符合边缘设备约束的选择。</a:t>
              </a:r>
              <a:endParaRPr lang="zh-CN" altLang="en-US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endParaRPr lang="zh-CN" altLang="en-US" sz="1400" dirty="0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B3B91B3-4BF8-450C-5DDE-83E996251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9" name="Picture 8" descr="slide_11_fit.png">
            <a:extLst>
              <a:ext uri="{FF2B5EF4-FFF2-40B4-BE49-F238E27FC236}">
                <a16:creationId xmlns:a16="http://schemas.microsoft.com/office/drawing/2014/main" id="{E59C04FC-302F-3DFD-E20A-885BDC5087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682" b="16682"/>
          <a:stretch>
            <a:fillRect/>
          </a:stretch>
        </p:blipFill>
        <p:spPr>
          <a:xfrm>
            <a:off x="4393374" y="2314687"/>
            <a:ext cx="7721618" cy="291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25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部署决策：450M 和 1.6B 应该怎么选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7"/>
            <a:ext cx="10058400" cy="466257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CC7479-5EE4-0781-9DDB-BF2FE4621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51325-14F1-6404-CD7F-85E5DB057CCD}"/>
              </a:ext>
            </a:extLst>
          </p:cNvPr>
          <p:cNvSpPr txBox="1"/>
          <p:nvPr/>
        </p:nvSpPr>
        <p:spPr>
          <a:xfrm>
            <a:off x="1104900" y="1708890"/>
            <a:ext cx="9046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先按设备预算分层，再看任务是否依赖细粒度视觉理解。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26CA63-A19A-E911-B667-68E2B859E0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9" b="279"/>
          <a:stretch>
            <a:fillRect/>
          </a:stretch>
        </p:blipFill>
        <p:spPr>
          <a:xfrm>
            <a:off x="3072818" y="2839664"/>
            <a:ext cx="5312229" cy="19076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E55A88-BFF4-0DCA-2DB8-75DD36891FEE}"/>
              </a:ext>
            </a:extLst>
          </p:cNvPr>
          <p:cNvSpPr txBox="1"/>
          <p:nvPr/>
        </p:nvSpPr>
        <p:spPr>
          <a:xfrm>
            <a:off x="1104899" y="2123384"/>
            <a:ext cx="917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450M 搭载更轻的视觉编码器，更适合手机、穿戴、边缘盒子这类强调实时性与低资源占用的场景；1.6B 则更适合笔记本、单 GPU 和需要更强 OCR / 高分辨率理解的任务。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9451EF-12EF-0B5F-0652-5166B63BC7EB}"/>
              </a:ext>
            </a:extLst>
          </p:cNvPr>
          <p:cNvSpPr txBox="1"/>
          <p:nvPr/>
        </p:nvSpPr>
        <p:spPr>
          <a:xfrm>
            <a:off x="1028482" y="4817225"/>
            <a:ext cx="93181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两者共享同一套 token 预算调节机制，所以推荐的选型顺序是：先看内存与延迟，再判断任务是否依赖细节，最后再调图像 token 上限和 patch 数量。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63B7-1052-F65C-A307-1A81BDBE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675B49-8415-BB65-E4BB-2E1C0D5D379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43FE1-647D-47C4-B6A8-97E268ABF33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综合讨论：这篇工作真正贡献了什么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7049C-9533-A197-FDE2-981332B2E52D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把端侧</a:t>
            </a:r>
            <a:r>
              <a:rPr dirty="0"/>
              <a:t> VLM </a:t>
            </a:r>
            <a:r>
              <a:rPr dirty="0" err="1"/>
              <a:t>的优化目标说清楚了：不是更大，而是更可部署</a:t>
            </a:r>
            <a:r>
              <a:rPr dirty="0"/>
              <a:t>。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4FD154-40D5-44B1-D1FC-DE8D1E1A1DCB}"/>
              </a:ext>
            </a:extLst>
          </p:cNvPr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D3965-F8C6-CE16-1A16-40BC9BD212C1}"/>
              </a:ext>
            </a:extLst>
          </p:cNvPr>
          <p:cNvSpPr txBox="1"/>
          <p:nvPr/>
        </p:nvSpPr>
        <p:spPr>
          <a:xfrm>
            <a:off x="822960" y="1783080"/>
            <a:ext cx="9738360" cy="14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</a:t>
            </a:r>
            <a:r>
              <a:rPr sz="1600" dirty="0" err="1"/>
              <a:t>这</a:t>
            </a:r>
            <a:r>
              <a:rPr lang="en-US" sz="1600" dirty="0" err="1"/>
              <a:t>个工作</a:t>
            </a:r>
            <a:r>
              <a:rPr sz="1600" dirty="0" err="1"/>
              <a:t>最有价值的地方，不是某个单点分数，而是把“速度、显存、精度”一起纳入设计目标</a:t>
            </a:r>
            <a:r>
              <a:rPr sz="1600" dirty="0"/>
              <a:t>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LFM2-VL 说明高分辨率视觉理解不一定等于固定高成本，token 预算本身可以成为可调控制杆。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对工程侧来说，这比单纯追求 benchmark 榜首更有意义，因为它直接影响产品是否能落地。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600" dirty="0"/>
              <a:t>• 真正的启发是：未来端侧多模态系统的竞争，很可能是体系化效率设计的竞争。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C379D1-8735-670C-7110-370A8473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96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chemeClr val="accent1"/>
                </a:solidFill>
              </a:rPr>
              <a:t>总结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LFM2-VL 代表了一条更务实的边缘多模态路线。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30512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259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图1：即便是 450M 级别，小模型也能完成有用的视觉 grounding 与描述。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图2是全篇核心：NaFlex 编码器、动态切片、thumbnail 和 token 压缩共同协作。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图3和图4进一步证明：效率收益是真实存在的，而且能直接转化成更短等待时间与更低部署门槛。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dirty="0"/>
              <a:t>• 如果目标是做边缘侧多模态系统，LFM2-VL 的最大启示是“可控成本”往往比 headline SOTA 更重要。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7DC1CCCC-B091-BF68-4FF1-E41993EF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e05413m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自定义 1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825</Words>
  <Application>Microsoft Macintosh PowerPoint</Application>
  <PresentationFormat>Widescreen</PresentationFormat>
  <Paragraphs>148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等线</vt:lpstr>
      <vt:lpstr>华文楷体</vt:lpstr>
      <vt:lpstr>Arial</vt:lpstr>
      <vt:lpstr>Calibri</vt:lpstr>
      <vt:lpstr>2_自定义设计方案</vt:lpstr>
      <vt:lpstr>3_自定义设计方案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Yuting</dc:creator>
  <cp:lastModifiedBy>You, Bingran</cp:lastModifiedBy>
  <cp:revision>84</cp:revision>
  <dcterms:created xsi:type="dcterms:W3CDTF">2023-06-07T13:12:54Z</dcterms:created>
  <dcterms:modified xsi:type="dcterms:W3CDTF">2026-03-14T05:57:37Z</dcterms:modified>
</cp:coreProperties>
</file>