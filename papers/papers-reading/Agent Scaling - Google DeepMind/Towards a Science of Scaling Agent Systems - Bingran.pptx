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29"/>
  </p:notesMasterIdLst>
  <p:sldIdLst>
    <p:sldId id="13773" r:id="rId3"/>
    <p:sldId id="13770" r:id="rId4"/>
    <p:sldId id="13812" r:id="rId5"/>
    <p:sldId id="13813" r:id="rId6"/>
    <p:sldId id="13814" r:id="rId7"/>
    <p:sldId id="13804" r:id="rId8"/>
    <p:sldId id="13815" r:id="rId9"/>
    <p:sldId id="13816" r:id="rId10"/>
    <p:sldId id="13817" r:id="rId11"/>
    <p:sldId id="13818" r:id="rId12"/>
    <p:sldId id="13819" r:id="rId13"/>
    <p:sldId id="13820" r:id="rId14"/>
    <p:sldId id="13821" r:id="rId15"/>
    <p:sldId id="13771" r:id="rId16"/>
    <p:sldId id="13774" r:id="rId17"/>
    <p:sldId id="13802" r:id="rId18"/>
    <p:sldId id="13776" r:id="rId19"/>
    <p:sldId id="13805" r:id="rId20"/>
    <p:sldId id="13806" r:id="rId21"/>
    <p:sldId id="13808" r:id="rId22"/>
    <p:sldId id="13809" r:id="rId23"/>
    <p:sldId id="13810" r:id="rId24"/>
    <p:sldId id="13811" r:id="rId25"/>
    <p:sldId id="13783" r:id="rId26"/>
    <p:sldId id="13822" r:id="rId27"/>
    <p:sldId id="13784"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22" autoAdjust="0"/>
    <p:restoredTop sz="79719"/>
  </p:normalViewPr>
  <p:slideViewPr>
    <p:cSldViewPr snapToGrid="0">
      <p:cViewPr varScale="1">
        <p:scale>
          <a:sx n="108" d="100"/>
          <a:sy n="108" d="100"/>
        </p:scale>
        <p:origin x="56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B10B1-3F6B-44C2-A3BA-6192D167FFA6}" type="datetimeFigureOut">
              <a:rPr lang="zh-CN" altLang="en-US" smtClean="0"/>
              <a:t>2026/3/6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Tree>
    <p:extLst>
      <p:ext uri="{BB962C8B-B14F-4D97-AF65-F5344CB8AC3E}">
        <p14:creationId xmlns:p14="http://schemas.microsoft.com/office/powerpoint/2010/main" val="88757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MMLU </a:t>
            </a:r>
            <a:r>
              <a:rPr lang="zh-CN" altLang="en-US" dirty="0"/>
              <a:t>是 </a:t>
            </a:r>
            <a:r>
              <a:rPr lang="en-US" dirty="0"/>
              <a:t>Massive Multitask Language Understanding </a:t>
            </a:r>
            <a:r>
              <a:rPr lang="zh-CN" altLang="en-US" dirty="0"/>
              <a:t>的缩写。</a:t>
            </a:r>
          </a:p>
          <a:p>
            <a:endParaRPr lang="zh-CN" altLang="en-US" dirty="0"/>
          </a:p>
          <a:p>
            <a:r>
              <a:rPr lang="zh-CN" altLang="en-US" dirty="0"/>
              <a:t>它是一个用来评测大语言模型综合知识与推理能力的经典 </a:t>
            </a:r>
            <a:r>
              <a:rPr lang="en-US" dirty="0"/>
              <a:t>benchmark，</a:t>
            </a:r>
            <a:r>
              <a:rPr lang="zh-CN" altLang="en-US" dirty="0"/>
              <a:t>核心特点是：</a:t>
            </a:r>
          </a:p>
          <a:p>
            <a:r>
              <a:rPr lang="zh-CN" altLang="en-US" dirty="0"/>
              <a:t>	</a:t>
            </a:r>
            <a:r>
              <a:rPr lang="en-US" altLang="zh-CN" dirty="0"/>
              <a:t>•	</a:t>
            </a:r>
            <a:r>
              <a:rPr lang="zh-CN" altLang="en-US" dirty="0"/>
              <a:t>覆盖很多学科，通常说是 </a:t>
            </a:r>
            <a:r>
              <a:rPr lang="en-US" altLang="zh-CN" dirty="0"/>
              <a:t>57 </a:t>
            </a:r>
            <a:r>
              <a:rPr lang="zh-CN" altLang="en-US" dirty="0"/>
              <a:t>个领域</a:t>
            </a:r>
          </a:p>
          <a:p>
            <a:r>
              <a:rPr lang="zh-CN" altLang="en-US" dirty="0"/>
              <a:t>	</a:t>
            </a:r>
            <a:r>
              <a:rPr lang="en-US" altLang="zh-CN" dirty="0"/>
              <a:t>•	</a:t>
            </a:r>
            <a:r>
              <a:rPr lang="zh-CN" altLang="en-US" dirty="0"/>
              <a:t>题目形式大多是 多项选择题</a:t>
            </a:r>
          </a:p>
          <a:p>
            <a:r>
              <a:rPr lang="zh-CN" altLang="en-US" dirty="0"/>
              <a:t>	</a:t>
            </a:r>
            <a:r>
              <a:rPr lang="en-US" altLang="zh-CN" dirty="0"/>
              <a:t>•	</a:t>
            </a:r>
            <a:r>
              <a:rPr lang="zh-CN" altLang="en-US" dirty="0"/>
              <a:t>领域包括数学、物理、历史、法律、医学、计算机、经济学等</a:t>
            </a:r>
          </a:p>
          <a:p>
            <a:r>
              <a:rPr lang="zh-CN" altLang="en-US" dirty="0"/>
              <a:t>	</a:t>
            </a:r>
            <a:r>
              <a:rPr lang="en-US" altLang="zh-CN" dirty="0"/>
              <a:t>•	</a:t>
            </a:r>
            <a:r>
              <a:rPr lang="zh-CN" altLang="en-US" dirty="0"/>
              <a:t>目的是看模型是否具备接近人类考试式的知识理解和推理能力</a:t>
            </a:r>
          </a:p>
          <a:p>
            <a:endParaRPr lang="zh-CN" altLang="en-US" dirty="0"/>
          </a:p>
          <a:p>
            <a:r>
              <a:rPr lang="zh-CN" altLang="en-US" dirty="0"/>
              <a:t>你可以把它理解成：</a:t>
            </a:r>
          </a:p>
          <a:p>
            <a:r>
              <a:rPr lang="zh-CN" altLang="en-US" dirty="0"/>
              <a:t>“给模型做一套跨学科标准化考试。”</a:t>
            </a:r>
            <a:endParaRPr lang="en-US" dirty="0"/>
          </a:p>
        </p:txBody>
      </p:sp>
    </p:spTree>
    <p:extLst>
      <p:ext uri="{BB962C8B-B14F-4D97-AF65-F5344CB8AC3E}">
        <p14:creationId xmlns:p14="http://schemas.microsoft.com/office/powerpoint/2010/main" val="57086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r>
              <a:rPr lang="en-US" altLang="zh-CN" dirty="0"/>
              <a:t>2. </a:t>
            </a:r>
            <a:r>
              <a:rPr lang="en-US" dirty="0"/>
              <a:t>Finance Agent</a:t>
            </a:r>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r>
              <a:rPr lang="en-US" altLang="zh-CN" dirty="0"/>
              <a:t>3. </a:t>
            </a:r>
            <a:r>
              <a:rPr lang="en-US" dirty="0" err="1"/>
              <a:t>PlanCraft</a:t>
            </a:r>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r>
              <a:rPr lang="en-US" altLang="zh-CN" dirty="0"/>
              <a:t>4. </a:t>
            </a:r>
            <a:r>
              <a:rPr lang="en-US" dirty="0"/>
              <a:t>Workbench</a:t>
            </a:r>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endParaRPr lang="en-US" dirty="0"/>
          </a:p>
        </p:txBody>
      </p:sp>
    </p:spTree>
    <p:extLst>
      <p:ext uri="{BB962C8B-B14F-4D97-AF65-F5344CB8AC3E}">
        <p14:creationId xmlns:p14="http://schemas.microsoft.com/office/powerpoint/2010/main" val="3078658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BrowseComp</a:t>
            </a:r>
            <a:r>
              <a:rPr lang="en-US" dirty="0"/>
              <a:t>-Plus</a:t>
            </a:r>
          </a:p>
          <a:p>
            <a:endParaRPr lang="en-US" dirty="0"/>
          </a:p>
          <a:p>
            <a:r>
              <a:rPr lang="zh-CN" altLang="en-US" dirty="0"/>
              <a:t>这是一个 </a:t>
            </a:r>
            <a:r>
              <a:rPr lang="en-US" dirty="0"/>
              <a:t>Deep Research / </a:t>
            </a:r>
            <a:r>
              <a:rPr lang="zh-CN" altLang="en-US" dirty="0"/>
              <a:t>网页检索与浏览 </a:t>
            </a:r>
            <a:r>
              <a:rPr lang="en-US" dirty="0"/>
              <a:t>benchmark，</a:t>
            </a:r>
            <a:r>
              <a:rPr lang="zh-CN" altLang="en-US" dirty="0"/>
              <a:t>主要测 </a:t>
            </a:r>
            <a:r>
              <a:rPr lang="en-US" dirty="0"/>
              <a:t>agent </a:t>
            </a:r>
            <a:r>
              <a:rPr lang="zh-CN" altLang="en-US" dirty="0"/>
              <a:t>能不能围绕复杂问题做多步搜索、筛选证据、综合多个网页信息再给出答案。它是从 </a:t>
            </a:r>
            <a:r>
              <a:rPr lang="en-US" dirty="0" err="1"/>
              <a:t>BrowseComp</a:t>
            </a:r>
            <a:r>
              <a:rPr lang="en-US" dirty="0"/>
              <a:t> </a:t>
            </a:r>
            <a:r>
              <a:rPr lang="zh-CN" altLang="en-US" dirty="0"/>
              <a:t>扩展来的，但用了固定、人工校验过的文档语料，因此比直接连真实互联网更公平、更可复现。 ￼</a:t>
            </a:r>
          </a:p>
          <a:p>
            <a:endParaRPr lang="zh-CN" altLang="en-US" dirty="0"/>
          </a:p>
          <a:p>
            <a:endParaRPr lang="zh-CN" altLang="en-US" dirty="0"/>
          </a:p>
          <a:p>
            <a:endParaRPr lang="zh-CN" altLang="en-US" dirty="0"/>
          </a:p>
          <a:p>
            <a:r>
              <a:rPr lang="en-US" altLang="zh-CN" dirty="0"/>
              <a:t>2. </a:t>
            </a:r>
            <a:r>
              <a:rPr lang="en-US" dirty="0"/>
              <a:t>Finance Agent</a:t>
            </a:r>
          </a:p>
          <a:p>
            <a:endParaRPr lang="en-US" dirty="0"/>
          </a:p>
          <a:p>
            <a:r>
              <a:rPr lang="zh-CN" altLang="en-US" dirty="0"/>
              <a:t>这是一个 金融研究任务 </a:t>
            </a:r>
            <a:r>
              <a:rPr lang="en-US" dirty="0"/>
              <a:t>benchmark，</a:t>
            </a:r>
            <a:r>
              <a:rPr lang="zh-CN" altLang="en-US" dirty="0"/>
              <a:t>测 </a:t>
            </a:r>
            <a:r>
              <a:rPr lang="en-US" dirty="0"/>
              <a:t>agent </a:t>
            </a:r>
            <a:r>
              <a:rPr lang="zh-CN" altLang="en-US" dirty="0"/>
              <a:t>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建模。论文里说它覆盖 </a:t>
            </a:r>
            <a:r>
              <a:rPr lang="en-US" altLang="zh-CN" dirty="0"/>
              <a:t>9 </a:t>
            </a:r>
            <a:r>
              <a:rPr lang="zh-CN" altLang="en-US" dirty="0"/>
              <a:t>类金融任务、</a:t>
            </a:r>
            <a:r>
              <a:rPr lang="en-US" altLang="zh-CN" dirty="0"/>
              <a:t>537 </a:t>
            </a:r>
            <a:r>
              <a:rPr lang="zh-CN" altLang="en-US" dirty="0"/>
              <a:t>个专家编写问题，并配了 </a:t>
            </a:r>
            <a:r>
              <a:rPr lang="en-US" dirty="0"/>
              <a:t>Google Search </a:t>
            </a:r>
            <a:r>
              <a:rPr lang="zh-CN" altLang="en-US" dirty="0"/>
              <a:t>和 </a:t>
            </a:r>
            <a:r>
              <a:rPr lang="en-US" dirty="0"/>
              <a:t>EDGAR </a:t>
            </a:r>
            <a:r>
              <a:rPr lang="zh-CN" altLang="en-US" dirty="0"/>
              <a:t>等工具。 ￼</a:t>
            </a:r>
          </a:p>
          <a:p>
            <a:endParaRPr lang="zh-CN" altLang="en-US" dirty="0"/>
          </a:p>
          <a:p>
            <a:endParaRPr lang="zh-CN" altLang="en-US" dirty="0"/>
          </a:p>
          <a:p>
            <a:endParaRPr lang="zh-CN" altLang="en-US" dirty="0"/>
          </a:p>
          <a:p>
            <a:r>
              <a:rPr lang="en-US" altLang="zh-CN" dirty="0"/>
              <a:t>3. </a:t>
            </a:r>
            <a:r>
              <a:rPr lang="en-US" dirty="0" err="1"/>
              <a:t>PlanCraft</a:t>
            </a:r>
            <a:endParaRPr lang="en-US" dirty="0"/>
          </a:p>
          <a:p>
            <a:endParaRPr lang="en-US" dirty="0"/>
          </a:p>
          <a:p>
            <a:r>
              <a:rPr lang="zh-CN" altLang="en-US" dirty="0"/>
              <a:t>这是一个 规划 </a:t>
            </a:r>
            <a:r>
              <a:rPr lang="en-US" altLang="zh-CN" dirty="0"/>
              <a:t>/ </a:t>
            </a:r>
            <a:r>
              <a:rPr lang="en-US" dirty="0"/>
              <a:t>sequential planning benchmark，</a:t>
            </a:r>
            <a:r>
              <a:rPr lang="zh-CN" altLang="en-US" dirty="0"/>
              <a:t>基于 </a:t>
            </a:r>
            <a:r>
              <a:rPr lang="en-US" dirty="0"/>
              <a:t>Minecraft crafting </a:t>
            </a:r>
            <a:r>
              <a:rPr lang="zh-CN" altLang="en-US" dirty="0"/>
              <a:t>环境。它主要测 </a:t>
            </a:r>
            <a:r>
              <a:rPr lang="en-US" dirty="0"/>
              <a:t>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endParaRPr lang="zh-CN" altLang="en-US" dirty="0"/>
          </a:p>
          <a:p>
            <a:endParaRPr lang="zh-CN" altLang="en-US" dirty="0"/>
          </a:p>
          <a:p>
            <a:r>
              <a:rPr lang="en-US" altLang="zh-CN" dirty="0"/>
              <a:t>4. </a:t>
            </a:r>
            <a:r>
              <a:rPr lang="en-US" dirty="0"/>
              <a:t>Workbench</a:t>
            </a:r>
          </a:p>
          <a:p>
            <a:endParaRPr lang="en-US" dirty="0"/>
          </a:p>
          <a:p>
            <a:r>
              <a:rPr lang="zh-CN" altLang="en-US" dirty="0"/>
              <a:t>这是一个 办公流程 </a:t>
            </a:r>
            <a:r>
              <a:rPr lang="en-US" altLang="zh-CN" dirty="0"/>
              <a:t>/ </a:t>
            </a:r>
            <a:r>
              <a:rPr lang="zh-CN" altLang="en-US" dirty="0"/>
              <a:t>工具使用 </a:t>
            </a:r>
            <a:r>
              <a:rPr lang="en-US" dirty="0"/>
              <a:t>benchmark，</a:t>
            </a:r>
            <a:r>
              <a:rPr lang="zh-CN" altLang="en-US" dirty="0"/>
              <a:t>模拟真实 </a:t>
            </a:r>
            <a:r>
              <a:rPr lang="en-US" dirty="0"/>
              <a:t>workplace setting。</a:t>
            </a:r>
            <a:r>
              <a:rPr lang="zh-CN" altLang="en-US" dirty="0"/>
              <a:t>里面有一个沙盒办公环境、多个数据库和很多工具，任务像发邮件、安排会议、更新记录等，要求 </a:t>
            </a:r>
            <a:r>
              <a:rPr lang="en-US" dirty="0"/>
              <a:t>agent </a:t>
            </a:r>
            <a:r>
              <a:rPr lang="zh-CN" altLang="en-US" dirty="0"/>
              <a:t>做规划、选工具、执行多步操作。它更像在测“数字员工”的实际 </a:t>
            </a:r>
            <a:r>
              <a:rPr lang="en-US" dirty="0"/>
              <a:t>workflow </a:t>
            </a:r>
            <a:r>
              <a:rPr lang="zh-CN" altLang="en-US" dirty="0"/>
              <a:t>执行能力。 ￼</a:t>
            </a:r>
          </a:p>
          <a:p>
            <a:endParaRPr lang="zh-CN" altLang="en-US" dirty="0"/>
          </a:p>
          <a:p>
            <a:endParaRPr lang="zh-CN" altLang="en-US" dirty="0"/>
          </a:p>
          <a:p>
            <a:endParaRPr lang="zh-CN" altLang="en-US" dirty="0"/>
          </a:p>
          <a:p>
            <a:r>
              <a:rPr lang="zh-CN" altLang="en-US" dirty="0"/>
              <a:t>	</a:t>
            </a:r>
            <a:r>
              <a:rPr lang="en-US" altLang="zh-CN" dirty="0"/>
              <a:t>•	</a:t>
            </a:r>
            <a:r>
              <a:rPr lang="en-US" dirty="0" err="1"/>
              <a:t>BrowseComp</a:t>
            </a:r>
            <a:r>
              <a:rPr lang="en-US" dirty="0"/>
              <a:t>-Plus：</a:t>
            </a:r>
            <a:r>
              <a:rPr lang="zh-CN" altLang="en-US" dirty="0"/>
              <a:t>网页研究 </a:t>
            </a:r>
            <a:r>
              <a:rPr lang="en-US" altLang="zh-CN" dirty="0"/>
              <a:t>/ </a:t>
            </a:r>
            <a:r>
              <a:rPr lang="zh-CN" altLang="en-US" dirty="0"/>
              <a:t>信息综合</a:t>
            </a:r>
          </a:p>
          <a:p>
            <a:endParaRPr lang="zh-CN" altLang="en-US" dirty="0"/>
          </a:p>
          <a:p>
            <a:r>
              <a:rPr lang="zh-CN" altLang="en-US" dirty="0"/>
              <a:t>	</a:t>
            </a:r>
            <a:r>
              <a:rPr lang="en-US" altLang="zh-CN" dirty="0"/>
              <a:t>•	</a:t>
            </a:r>
            <a:r>
              <a:rPr lang="en-US" dirty="0"/>
              <a:t>Finance Agent：</a:t>
            </a:r>
            <a:r>
              <a:rPr lang="zh-CN" altLang="en-US" dirty="0"/>
              <a:t>金融分析 </a:t>
            </a:r>
            <a:r>
              <a:rPr lang="en-US" altLang="zh-CN" dirty="0"/>
              <a:t>/ </a:t>
            </a:r>
            <a:r>
              <a:rPr lang="zh-CN" altLang="en-US" dirty="0"/>
              <a:t>财报研究</a:t>
            </a:r>
          </a:p>
          <a:p>
            <a:endParaRPr lang="zh-CN" altLang="en-US" dirty="0"/>
          </a:p>
          <a:p>
            <a:r>
              <a:rPr lang="zh-CN" altLang="en-US" dirty="0"/>
              <a:t>	</a:t>
            </a:r>
            <a:r>
              <a:rPr lang="en-US" altLang="zh-CN" dirty="0"/>
              <a:t>•	</a:t>
            </a:r>
            <a:r>
              <a:rPr lang="en-US" dirty="0" err="1"/>
              <a:t>PlanCraft</a:t>
            </a:r>
            <a:r>
              <a:rPr lang="en-US" dirty="0"/>
              <a:t>：</a:t>
            </a:r>
            <a:r>
              <a:rPr lang="zh-CN" altLang="en-US" dirty="0"/>
              <a:t>序列规划 </a:t>
            </a:r>
            <a:r>
              <a:rPr lang="en-US" altLang="zh-CN" dirty="0"/>
              <a:t>/ </a:t>
            </a:r>
            <a:r>
              <a:rPr lang="zh-CN" altLang="en-US" dirty="0"/>
              <a:t>任务分解</a:t>
            </a:r>
          </a:p>
          <a:p>
            <a:endParaRPr lang="zh-CN" altLang="en-US" dirty="0"/>
          </a:p>
          <a:p>
            <a:r>
              <a:rPr lang="zh-CN" altLang="en-US" dirty="0"/>
              <a:t>	</a:t>
            </a:r>
            <a:r>
              <a:rPr lang="en-US" altLang="zh-CN" dirty="0"/>
              <a:t>•	</a:t>
            </a:r>
            <a:r>
              <a:rPr lang="en-US" dirty="0"/>
              <a:t>Workbench：</a:t>
            </a:r>
            <a:r>
              <a:rPr lang="zh-CN" altLang="en-US" dirty="0"/>
              <a:t>办公自动化 </a:t>
            </a:r>
            <a:r>
              <a:rPr lang="en-US" altLang="zh-CN" dirty="0"/>
              <a:t>/ </a:t>
            </a:r>
            <a:r>
              <a:rPr lang="zh-CN" altLang="en-US" dirty="0"/>
              <a:t>工具调用执行  ￼</a:t>
            </a:r>
          </a:p>
          <a:p>
            <a:endParaRPr lang="zh-CN" altLang="en-US" dirty="0"/>
          </a:p>
          <a:p>
            <a:endParaRPr lang="en-US" dirty="0"/>
          </a:p>
        </p:txBody>
      </p:sp>
    </p:spTree>
    <p:extLst>
      <p:ext uri="{BB962C8B-B14F-4D97-AF65-F5344CB8AC3E}">
        <p14:creationId xmlns:p14="http://schemas.microsoft.com/office/powerpoint/2010/main" val="854379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论文里确实在“总推理 </a:t>
            </a:r>
            <a:r>
              <a:rPr lang="en-US" dirty="0"/>
              <a:t>token </a:t>
            </a:r>
            <a:r>
              <a:rPr lang="zh-CN" altLang="en-US" dirty="0"/>
              <a:t>预算大致相同”的前提下比较不同架构，但图 </a:t>
            </a:r>
            <a:r>
              <a:rPr lang="en-US" altLang="zh-CN" dirty="0"/>
              <a:t>3 </a:t>
            </a:r>
            <a:r>
              <a:rPr lang="zh-CN" altLang="en-US" dirty="0"/>
              <a:t>的横轴用的是按各家 </a:t>
            </a:r>
            <a:r>
              <a:rPr lang="en-US" dirty="0"/>
              <a:t>API </a:t>
            </a:r>
            <a:r>
              <a:rPr lang="zh-CN" altLang="en-US" dirty="0"/>
              <a:t>单价折算后的“每次实验真实美元成本”，不同模型和架构的单价与实际用掉的 </a:t>
            </a:r>
            <a:r>
              <a:rPr lang="en-US" dirty="0"/>
              <a:t>token </a:t>
            </a:r>
            <a:r>
              <a:rPr lang="zh-CN" altLang="en-US" dirty="0"/>
              <a:t>数都不一样，所以仍然会出现明显的 </a:t>
            </a:r>
            <a:r>
              <a:rPr lang="en-US" dirty="0"/>
              <a:t>performance–cost </a:t>
            </a:r>
            <a:r>
              <a:rPr lang="zh-CN" altLang="en-US" dirty="0"/>
              <a:t>关系。 </a:t>
            </a:r>
          </a:p>
          <a:p>
            <a:endParaRPr lang="zh-CN" altLang="en-US" dirty="0"/>
          </a:p>
          <a:p>
            <a:r>
              <a:rPr lang="zh-CN" altLang="en-US" dirty="0"/>
              <a:t>换句话说，固定 </a:t>
            </a:r>
            <a:r>
              <a:rPr lang="en-US" dirty="0"/>
              <a:t>token </a:t>
            </a:r>
            <a:r>
              <a:rPr lang="zh-CN" altLang="en-US" dirty="0"/>
              <a:t>预算解决的是“计算量公平性”的科学问题，而性能</a:t>
            </a:r>
            <a:r>
              <a:rPr lang="en-US" altLang="zh-CN" dirty="0"/>
              <a:t>–</a:t>
            </a:r>
            <a:r>
              <a:rPr lang="zh-CN" altLang="en-US" dirty="0"/>
              <a:t>成本图回答的是“在真实按 </a:t>
            </a:r>
            <a:r>
              <a:rPr lang="en-US" dirty="0"/>
              <a:t>token </a:t>
            </a:r>
            <a:r>
              <a:rPr lang="zh-CN" altLang="en-US" dirty="0"/>
              <a:t>收费的环境里，哪种模型家族与架构更划算”的工程问题，这两个视角并不矛盾。 </a:t>
            </a:r>
            <a:endParaRPr lang="en-US" dirty="0"/>
          </a:p>
        </p:txBody>
      </p:sp>
    </p:spTree>
    <p:extLst>
      <p:ext uri="{BB962C8B-B14F-4D97-AF65-F5344CB8AC3E}">
        <p14:creationId xmlns:p14="http://schemas.microsoft.com/office/powerpoint/2010/main" val="484812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在某些模型家族里，用“强模型做子代理 </a:t>
            </a:r>
            <a:r>
              <a:rPr lang="en-US" altLang="zh-CN" dirty="0"/>
              <a:t>+ </a:t>
            </a:r>
            <a:r>
              <a:rPr lang="zh-CN" altLang="en-US" dirty="0"/>
              <a:t>比较弱的模型做编排</a:t>
            </a:r>
            <a:r>
              <a:rPr lang="en-US" altLang="zh-CN" dirty="0"/>
              <a:t>/</a:t>
            </a:r>
            <a:r>
              <a:rPr lang="zh-CN" altLang="en-US" dirty="0"/>
              <a:t>协调者”的异构团队，反而比“所有角色都用最强模型”的同构高配团队表现更好、也更省成本。</a:t>
            </a:r>
            <a:endParaRPr lang="en-US" altLang="zh-CN" dirty="0"/>
          </a:p>
          <a:p>
            <a:endParaRPr lang="en-US" dirty="0"/>
          </a:p>
          <a:p>
            <a:r>
              <a:rPr lang="zh-CN" altLang="en-US" dirty="0"/>
              <a:t>图左边的是中心化（</a:t>
            </a:r>
            <a:r>
              <a:rPr lang="en-US" dirty="0"/>
              <a:t>Centralized）</a:t>
            </a:r>
            <a:r>
              <a:rPr lang="zh-CN" altLang="en-US" dirty="0"/>
              <a:t>多智能体架构，图右边的是去中心化（</a:t>
            </a:r>
            <a:r>
              <a:rPr lang="en-US" dirty="0"/>
              <a:t>Decentralized）</a:t>
            </a:r>
            <a:r>
              <a:rPr lang="zh-CN" altLang="en-US" dirty="0"/>
              <a:t>多智能体架构。 </a:t>
            </a:r>
          </a:p>
          <a:p>
            <a:r>
              <a:rPr lang="zh-CN" altLang="en-US" dirty="0"/>
              <a:t>左图“</a:t>
            </a:r>
            <a:r>
              <a:rPr lang="en-US" dirty="0"/>
              <a:t>Centralized”</a:t>
            </a:r>
            <a:r>
              <a:rPr lang="zh-CN" altLang="en-US" dirty="0"/>
              <a:t>对应的架构是：有一个**协调者（</a:t>
            </a:r>
            <a:r>
              <a:rPr lang="en-US" dirty="0"/>
              <a:t>orchestrator）</a:t>
            </a:r>
            <a:r>
              <a:rPr lang="zh-CN" altLang="en-US" dirty="0"/>
              <a:t>加多个子代理（</a:t>
            </a:r>
            <a:r>
              <a:rPr lang="en-US" dirty="0"/>
              <a:t>sub-agents）**</a:t>
            </a:r>
            <a:r>
              <a:rPr lang="zh-CN" altLang="en-US" dirty="0"/>
              <a:t>的中心化多智能体系统。 </a:t>
            </a:r>
          </a:p>
          <a:p>
            <a:r>
              <a:rPr lang="zh-CN" altLang="en-US" dirty="0"/>
              <a:t>右图“</a:t>
            </a:r>
            <a:r>
              <a:rPr lang="en-US" dirty="0"/>
              <a:t>Decentralized”</a:t>
            </a:r>
            <a:r>
              <a:rPr lang="zh-CN" altLang="en-US" dirty="0"/>
              <a:t>对应的架构是：代理之间进行同伴辩论并通过投票达成一致的去中心化多智能体系统。 </a:t>
            </a:r>
            <a:endParaRPr lang="en-US" dirty="0"/>
          </a:p>
        </p:txBody>
      </p:sp>
    </p:spTree>
    <p:extLst>
      <p:ext uri="{BB962C8B-B14F-4D97-AF65-F5344CB8AC3E}">
        <p14:creationId xmlns:p14="http://schemas.microsoft.com/office/powerpoint/2010/main" val="1512772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03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697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8" name="文本占位符 7"/>
          <p:cNvSpPr>
            <a:spLocks noGrp="1"/>
          </p:cNvSpPr>
          <p:nvPr>
            <p:ph type="body" sz="quarter" idx="12" hasCustomPrompt="1"/>
          </p:nvPr>
        </p:nvSpPr>
        <p:spPr>
          <a:xfrm>
            <a:off x="760413" y="0"/>
            <a:ext cx="9702248" cy="798513"/>
          </a:xfrm>
          <a:prstGeom prst="rect">
            <a:avLst/>
          </a:prstGeom>
        </p:spPr>
        <p:txBody>
          <a:bodyPr anchor="ctr"/>
          <a:lstStyle>
            <a:lvl1pPr marL="0" indent="0">
              <a:buNone/>
              <a:defRPr sz="2800" b="1">
                <a:solidFill>
                  <a:schemeClr val="accent1"/>
                </a:solidFill>
              </a:defRPr>
            </a:lvl1pPr>
          </a:lstStyle>
          <a:p>
            <a:pPr lvl="0"/>
            <a:r>
              <a:rPr lang="zh-CN" altLang="en-US" dirty="0"/>
              <a:t>编辑母版文本样式</a:t>
            </a:r>
          </a:p>
        </p:txBody>
      </p:sp>
    </p:spTree>
    <p:extLst>
      <p:ext uri="{BB962C8B-B14F-4D97-AF65-F5344CB8AC3E}">
        <p14:creationId xmlns:p14="http://schemas.microsoft.com/office/powerpoint/2010/main" val="211222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8370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Tree>
    <p:extLst>
      <p:ext uri="{BB962C8B-B14F-4D97-AF65-F5344CB8AC3E}">
        <p14:creationId xmlns:p14="http://schemas.microsoft.com/office/powerpoint/2010/main" val="491194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94628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501411"/>
      </p:ext>
    </p:extLst>
  </p:cSld>
  <p:clrMap bg1="lt1" tx1="dk1" bg2="lt2" tx2="dk2" accent1="accent1" accent2="accent2" accent3="accent3" accent4="accent4" accent5="accent5" accent6="accent6" hlink="hlink" folHlink="folHlink"/>
  <p:sldLayoutIdLst>
    <p:sldLayoutId id="2147483661" r:id="rId1"/>
    <p:sldLayoutId id="2147483667"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直接连接符 7"/>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026" name="Picture 2" descr="http://www.meridiancapital.com.cn/images/logo.png"/>
          <p:cNvPicPr>
            <a:picLocks noChangeAspect="1" noChangeArrowheads="1"/>
          </p:cNvPicPr>
          <p:nvPr userDrawn="1"/>
        </p:nvPicPr>
        <p:blipFill>
          <a:blip r:embed="rId6" cstate="email"/>
          <a:srcRect/>
          <a:stretch>
            <a:fillRect/>
          </a:stretch>
        </p:blipFill>
        <p:spPr bwMode="auto">
          <a:xfrm>
            <a:off x="10702413" y="189026"/>
            <a:ext cx="1489587" cy="516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51714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sldNum="0" hdr="0" ftr="0" dt="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tiff"/><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tiff"/><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tiff"/><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tiff"/><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tiff"/><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37656" y="575136"/>
            <a:ext cx="4331884"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pic>
        <p:nvPicPr>
          <p:cNvPr id="11" name="图片 10"/>
          <p:cNvPicPr>
            <a:picLocks noChangeAspect="1"/>
          </p:cNvPicPr>
          <p:nvPr/>
        </p:nvPicPr>
        <p:blipFill rotWithShape="1">
          <a:blip r:embed="rId3">
            <a:extLst>
              <a:ext uri="{28A0092B-C50C-407E-A947-70E740481C1C}">
                <a14:useLocalDpi xmlns:a14="http://schemas.microsoft.com/office/drawing/2010/main" val="0"/>
              </a:ext>
            </a:extLst>
          </a:blip>
          <a:srcRect t="41722"/>
          <a:stretch>
            <a:fillRect/>
          </a:stretch>
        </p:blipFill>
        <p:spPr>
          <a:xfrm>
            <a:off x="591811" y="1778432"/>
            <a:ext cx="11008378" cy="3608729"/>
          </a:xfrm>
          <a:prstGeom prst="rect">
            <a:avLst/>
          </a:prstGeom>
        </p:spPr>
      </p:pic>
      <p:sp>
        <p:nvSpPr>
          <p:cNvPr id="2" name="矩形 1"/>
          <p:cNvSpPr/>
          <p:nvPr/>
        </p:nvSpPr>
        <p:spPr>
          <a:xfrm>
            <a:off x="591811" y="1778432"/>
            <a:ext cx="11008378" cy="3608729"/>
          </a:xfrm>
          <a:prstGeom prst="rect">
            <a:avLst/>
          </a:prstGeom>
          <a:solidFill>
            <a:schemeClr val="bg1">
              <a:lumMod val="75000"/>
              <a:alpha val="4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9" name="矩形 8"/>
          <p:cNvSpPr/>
          <p:nvPr/>
        </p:nvSpPr>
        <p:spPr>
          <a:xfrm flipH="1">
            <a:off x="1573951" y="575136"/>
            <a:ext cx="45719"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grpSp>
        <p:nvGrpSpPr>
          <p:cNvPr id="15" name="组合 14"/>
          <p:cNvGrpSpPr/>
          <p:nvPr/>
        </p:nvGrpSpPr>
        <p:grpSpPr>
          <a:xfrm>
            <a:off x="10846907" y="5160182"/>
            <a:ext cx="453958" cy="453958"/>
            <a:chOff x="5869021" y="5872413"/>
            <a:chExt cx="453958" cy="453958"/>
          </a:xfrm>
        </p:grpSpPr>
        <p:sp>
          <p:nvSpPr>
            <p:cNvPr id="17" name="矩形 16"/>
            <p:cNvSpPr/>
            <p:nvPr/>
          </p:nvSpPr>
          <p:spPr>
            <a:xfrm>
              <a:off x="5869021" y="5872413"/>
              <a:ext cx="453958" cy="4539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18" name="箭头: V 形 17"/>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楷体" panose="02010609060101010101" pitchFamily="49" charset="-122"/>
                <a:cs typeface="+mn-ea"/>
                <a:sym typeface="+mn-lt"/>
              </a:endParaRPr>
            </a:p>
          </p:txBody>
        </p:sp>
      </p:grpSp>
      <p:sp>
        <p:nvSpPr>
          <p:cNvPr id="5" name="文本框 4"/>
          <p:cNvSpPr txBox="1"/>
          <p:nvPr/>
        </p:nvSpPr>
        <p:spPr>
          <a:xfrm>
            <a:off x="5098256" y="4664202"/>
            <a:ext cx="199548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2026</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年</a:t>
            </a: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2</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月</a:t>
            </a:r>
          </a:p>
        </p:txBody>
      </p:sp>
      <p:pic>
        <p:nvPicPr>
          <p:cNvPr id="12" name="图片 11"/>
          <p:cNvPicPr>
            <a:picLocks noChangeAspect="1"/>
          </p:cNvPicPr>
          <p:nvPr/>
        </p:nvPicPr>
        <p:blipFill>
          <a:blip r:embed="rId4"/>
          <a:stretch>
            <a:fillRect/>
          </a:stretch>
        </p:blipFill>
        <p:spPr>
          <a:xfrm>
            <a:off x="2721062" y="864162"/>
            <a:ext cx="2207110" cy="687291"/>
          </a:xfrm>
          <a:prstGeom prst="rect">
            <a:avLst/>
          </a:prstGeom>
        </p:spPr>
      </p:pic>
      <p:sp>
        <p:nvSpPr>
          <p:cNvPr id="7" name="文本框 6"/>
          <p:cNvSpPr txBox="1"/>
          <p:nvPr/>
        </p:nvSpPr>
        <p:spPr>
          <a:xfrm>
            <a:off x="4618672" y="2967335"/>
            <a:ext cx="2954655"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0000">
                    <a:lumMod val="75000"/>
                    <a:lumOff val="25000"/>
                  </a:srgbClr>
                </a:solidFill>
                <a:effectLst/>
                <a:uLnTx/>
                <a:uFillTx/>
                <a:latin typeface="华文楷体" panose="02010600040101010101" pitchFamily="2" charset="-122"/>
                <a:ea typeface="华文楷体" panose="02010600040101010101" pitchFamily="2" charset="-122"/>
                <a:cs typeface="+mn-cs"/>
              </a:rPr>
              <a:t>华映资本</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lang="en-US" b="1" dirty="0" err="1">
                <a:solidFill>
                  <a:schemeClr val="accent1"/>
                </a:solidFill>
              </a:rPr>
              <a:t>目录</a:t>
            </a:r>
            <a:endParaRPr b="1" dirty="0">
              <a:solidFill>
                <a:schemeClr val="accent1"/>
              </a:solidFill>
            </a:endParaRP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274320"/>
          </a:xfrm>
          <a:prstGeom prst="rect">
            <a:avLst/>
          </a:prstGeom>
          <a:noFill/>
        </p:spPr>
        <p:txBody>
          <a:bodyPr wrap="square">
            <a:spAutoFit/>
          </a:bodyPr>
          <a:lstStyle/>
          <a:p>
            <a:r>
              <a:t>核心要点</a:t>
            </a:r>
          </a:p>
        </p:txBody>
      </p:sp>
      <p:sp>
        <p:nvSpPr>
          <p:cNvPr id="8" name="TextBox 7"/>
          <p:cNvSpPr txBox="1"/>
          <p:nvPr/>
        </p:nvSpPr>
        <p:spPr>
          <a:xfrm>
            <a:off x="822960" y="1783080"/>
            <a:ext cx="9738360" cy="1477328"/>
          </a:xfrm>
          <a:prstGeom prst="rect">
            <a:avLst/>
          </a:prstGeom>
          <a:noFill/>
        </p:spPr>
        <p:txBody>
          <a:bodyPr wrap="square">
            <a:spAutoFit/>
          </a:bodyPr>
          <a:lstStyle/>
          <a:p>
            <a:r>
              <a:rPr lang="en-US" dirty="0"/>
              <a:t>•</a:t>
            </a:r>
            <a:r>
              <a:rPr lang="zh-CN" altLang="en-US" dirty="0"/>
              <a:t> 第一部分：论文主要创新点（研究范式、受控实验与预测方程）。</a:t>
            </a:r>
            <a:endParaRPr lang="en-US" dirty="0"/>
          </a:p>
          <a:p>
            <a:r>
              <a:rPr lang="en-US" dirty="0"/>
              <a:t>•</a:t>
            </a:r>
            <a:r>
              <a:rPr lang="zh-CN" altLang="en-US" dirty="0"/>
              <a:t> 第二部分：论文主要发现（何时多智能体增益，何时显著退化）。</a:t>
            </a:r>
          </a:p>
          <a:p>
            <a:r>
              <a:rPr dirty="0"/>
              <a:t>• </a:t>
            </a:r>
            <a:r>
              <a:rPr dirty="0" err="1"/>
              <a:t>第三部分：论文主要贡献（理论贡献、方法贡献、工程价值</a:t>
            </a:r>
            <a:r>
              <a:rPr dirty="0"/>
              <a:t>）。</a:t>
            </a:r>
          </a:p>
          <a:p>
            <a:r>
              <a:rPr dirty="0"/>
              <a:t>• 第四部分：按原文图1到图6逐页解读证据与机制。</a:t>
            </a:r>
          </a:p>
          <a:p>
            <a:r>
              <a:rPr dirty="0"/>
              <a:t>• </a:t>
            </a:r>
            <a:r>
              <a:rPr dirty="0" err="1"/>
              <a:t>第五部分：给出可部署的架构选择建议与结论讨论</a:t>
            </a:r>
            <a:r>
              <a:rPr dirty="0"/>
              <a:t>。</a:t>
            </a:r>
          </a:p>
        </p:txBody>
      </p:sp>
      <p:pic>
        <p:nvPicPr>
          <p:cNvPr id="9" name="图片 11">
            <a:extLst>
              <a:ext uri="{FF2B5EF4-FFF2-40B4-BE49-F238E27FC236}">
                <a16:creationId xmlns:a16="http://schemas.microsoft.com/office/drawing/2014/main" id="{250D6EF6-E290-DB59-6252-7A2C142C9435}"/>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1943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98E89-6720-1D84-3448-12F7055653C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4842EFF-01BF-2227-FE14-D9979123D21E}"/>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6021DA4-E09C-0D46-58D7-E44C3227ADF1}"/>
              </a:ext>
            </a:extLst>
          </p:cNvPr>
          <p:cNvSpPr txBox="1"/>
          <p:nvPr/>
        </p:nvSpPr>
        <p:spPr>
          <a:xfrm>
            <a:off x="658368" y="228600"/>
            <a:ext cx="7726679" cy="369332"/>
          </a:xfrm>
          <a:prstGeom prst="rect">
            <a:avLst/>
          </a:prstGeom>
          <a:noFill/>
        </p:spPr>
        <p:txBody>
          <a:bodyPr wrap="square">
            <a:spAutoFit/>
          </a:bodyPr>
          <a:lstStyle/>
          <a:p>
            <a:r>
              <a:rPr lang="en-US" b="1" dirty="0" err="1">
                <a:solidFill>
                  <a:schemeClr val="accent1"/>
                </a:solidFill>
              </a:rPr>
              <a:t>概览</a:t>
            </a:r>
            <a:endParaRPr b="1" dirty="0">
              <a:solidFill>
                <a:schemeClr val="accent1"/>
              </a:solidFill>
            </a:endParaRPr>
          </a:p>
        </p:txBody>
      </p:sp>
      <p:sp>
        <p:nvSpPr>
          <p:cNvPr id="6" name="Rounded Rectangle 5">
            <a:extLst>
              <a:ext uri="{FF2B5EF4-FFF2-40B4-BE49-F238E27FC236}">
                <a16:creationId xmlns:a16="http://schemas.microsoft.com/office/drawing/2014/main" id="{A9C0A00E-BAF7-1159-6235-D107FE48413D}"/>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2FD8826F-C50E-AAEC-CC8A-CB6A15D82EC6}"/>
              </a:ext>
            </a:extLst>
          </p:cNvPr>
          <p:cNvSpPr txBox="1"/>
          <p:nvPr/>
        </p:nvSpPr>
        <p:spPr>
          <a:xfrm>
            <a:off x="7084858" y="1499616"/>
            <a:ext cx="3485606" cy="369332"/>
          </a:xfrm>
          <a:prstGeom prst="rect">
            <a:avLst/>
          </a:prstGeom>
          <a:noFill/>
        </p:spPr>
        <p:txBody>
          <a:bodyPr wrap="square">
            <a:spAutoFit/>
          </a:bodyPr>
          <a:lstStyle/>
          <a:p>
            <a:r>
              <a:rPr lang="en-US" b="1" dirty="0" err="1"/>
              <a:t>行业现状</a:t>
            </a:r>
            <a:endParaRPr b="1" dirty="0"/>
          </a:p>
        </p:txBody>
      </p:sp>
      <p:sp>
        <p:nvSpPr>
          <p:cNvPr id="8" name="TextBox 7">
            <a:extLst>
              <a:ext uri="{FF2B5EF4-FFF2-40B4-BE49-F238E27FC236}">
                <a16:creationId xmlns:a16="http://schemas.microsoft.com/office/drawing/2014/main" id="{9D25B057-B1A3-35CB-3856-22F59974BFB5}"/>
              </a:ext>
            </a:extLst>
          </p:cNvPr>
          <p:cNvSpPr txBox="1"/>
          <p:nvPr/>
        </p:nvSpPr>
        <p:spPr>
          <a:xfrm>
            <a:off x="7075714" y="1783080"/>
            <a:ext cx="3485606" cy="923330"/>
          </a:xfrm>
          <a:prstGeom prst="rect">
            <a:avLst/>
          </a:prstGeom>
          <a:noFill/>
        </p:spPr>
        <p:txBody>
          <a:bodyPr wrap="square">
            <a:spAutoFit/>
          </a:bodyPr>
          <a:lstStyle/>
          <a:p>
            <a:r>
              <a:rPr lang="en-US" dirty="0"/>
              <a:t>•</a:t>
            </a:r>
            <a:r>
              <a:rPr lang="zh-CN" altLang="en-US" dirty="0"/>
              <a:t> </a:t>
            </a:r>
            <a:r>
              <a:rPr lang="en-US" altLang="zh-CN" dirty="0"/>
              <a:t>Agents</a:t>
            </a:r>
            <a:r>
              <a:rPr lang="zh-CN" altLang="en-US" dirty="0"/>
              <a:t>已经成为</a:t>
            </a:r>
            <a:r>
              <a:rPr lang="en-US" altLang="zh-CN" dirty="0"/>
              <a:t>AI</a:t>
            </a:r>
            <a:r>
              <a:rPr lang="zh-CN" altLang="en-US" dirty="0"/>
              <a:t>应用的主导范式，但是架构设计依然依赖拍脑袋的“炼金术”。</a:t>
            </a:r>
            <a:endParaRPr lang="en-US" altLang="zh-CN" dirty="0"/>
          </a:p>
        </p:txBody>
      </p:sp>
      <p:pic>
        <p:nvPicPr>
          <p:cNvPr id="9" name="图片 11">
            <a:extLst>
              <a:ext uri="{FF2B5EF4-FFF2-40B4-BE49-F238E27FC236}">
                <a16:creationId xmlns:a16="http://schemas.microsoft.com/office/drawing/2014/main" id="{763AF926-B24F-908E-6407-BBE46A00F9B4}"/>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4" name="Picture 3">
            <a:extLst>
              <a:ext uri="{FF2B5EF4-FFF2-40B4-BE49-F238E27FC236}">
                <a16:creationId xmlns:a16="http://schemas.microsoft.com/office/drawing/2014/main" id="{A42C7436-D09D-2FB0-28EE-F84AE13C4FC3}"/>
              </a:ext>
            </a:extLst>
          </p:cNvPr>
          <p:cNvPicPr>
            <a:picLocks noChangeAspect="1"/>
          </p:cNvPicPr>
          <p:nvPr/>
        </p:nvPicPr>
        <p:blipFill>
          <a:blip r:embed="rId3"/>
          <a:stretch>
            <a:fillRect/>
          </a:stretch>
        </p:blipFill>
        <p:spPr>
          <a:xfrm>
            <a:off x="1183335" y="1499616"/>
            <a:ext cx="4281294" cy="4522293"/>
          </a:xfrm>
          <a:prstGeom prst="rect">
            <a:avLst/>
          </a:prstGeom>
        </p:spPr>
      </p:pic>
      <p:sp>
        <p:nvSpPr>
          <p:cNvPr id="5" name="TextBox 4">
            <a:extLst>
              <a:ext uri="{FF2B5EF4-FFF2-40B4-BE49-F238E27FC236}">
                <a16:creationId xmlns:a16="http://schemas.microsoft.com/office/drawing/2014/main" id="{1AD8E932-0E39-7922-4691-801793531738}"/>
              </a:ext>
            </a:extLst>
          </p:cNvPr>
          <p:cNvSpPr txBox="1"/>
          <p:nvPr/>
        </p:nvSpPr>
        <p:spPr>
          <a:xfrm>
            <a:off x="7094002" y="2989874"/>
            <a:ext cx="3485606" cy="369332"/>
          </a:xfrm>
          <a:prstGeom prst="rect">
            <a:avLst/>
          </a:prstGeom>
          <a:noFill/>
        </p:spPr>
        <p:txBody>
          <a:bodyPr wrap="square">
            <a:spAutoFit/>
          </a:bodyPr>
          <a:lstStyle/>
          <a:p>
            <a:r>
              <a:rPr lang="en-US" b="1" dirty="0" err="1"/>
              <a:t>残酷现实</a:t>
            </a:r>
            <a:endParaRPr b="1" dirty="0"/>
          </a:p>
        </p:txBody>
      </p:sp>
      <p:sp>
        <p:nvSpPr>
          <p:cNvPr id="10" name="TextBox 9">
            <a:extLst>
              <a:ext uri="{FF2B5EF4-FFF2-40B4-BE49-F238E27FC236}">
                <a16:creationId xmlns:a16="http://schemas.microsoft.com/office/drawing/2014/main" id="{634C23D1-D502-203B-3CB6-303AE4A29A82}"/>
              </a:ext>
            </a:extLst>
          </p:cNvPr>
          <p:cNvSpPr txBox="1"/>
          <p:nvPr/>
        </p:nvSpPr>
        <p:spPr>
          <a:xfrm>
            <a:off x="7084858" y="3273338"/>
            <a:ext cx="3485606" cy="1200329"/>
          </a:xfrm>
          <a:prstGeom prst="rect">
            <a:avLst/>
          </a:prstGeom>
          <a:noFill/>
        </p:spPr>
        <p:txBody>
          <a:bodyPr wrap="square">
            <a:spAutoFit/>
          </a:bodyPr>
          <a:lstStyle/>
          <a:p>
            <a:r>
              <a:rPr lang="en-US" dirty="0"/>
              <a:t>•</a:t>
            </a:r>
            <a:r>
              <a:rPr lang="zh-CN" altLang="en-US" dirty="0"/>
              <a:t> 堆砌智能体数量并不总是带来性能提升，往往伴随灾难性的系统崩溃。扩展智能体是一门受到多维变量制约的精密科学。</a:t>
            </a:r>
          </a:p>
        </p:txBody>
      </p:sp>
    </p:spTree>
    <p:extLst>
      <p:ext uri="{BB962C8B-B14F-4D97-AF65-F5344CB8AC3E}">
        <p14:creationId xmlns:p14="http://schemas.microsoft.com/office/powerpoint/2010/main" val="1809379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20CF2-0862-50F6-8D67-4398253D3DB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5C1A7A-8406-4AA7-645E-02924D2218C6}"/>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8CB21B8-ABBC-F5CD-BB84-D98405DE887D}"/>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概览</a:t>
            </a:r>
            <a:endParaRPr b="1" dirty="0">
              <a:solidFill>
                <a:schemeClr val="accent1"/>
              </a:solidFill>
            </a:endParaRPr>
          </a:p>
        </p:txBody>
      </p:sp>
      <p:sp>
        <p:nvSpPr>
          <p:cNvPr id="6" name="Rounded Rectangle 5">
            <a:extLst>
              <a:ext uri="{FF2B5EF4-FFF2-40B4-BE49-F238E27FC236}">
                <a16:creationId xmlns:a16="http://schemas.microsoft.com/office/drawing/2014/main" id="{379AEC26-4AD5-70EE-CD2C-270A26B66888}"/>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图片 11">
            <a:extLst>
              <a:ext uri="{FF2B5EF4-FFF2-40B4-BE49-F238E27FC236}">
                <a16:creationId xmlns:a16="http://schemas.microsoft.com/office/drawing/2014/main" id="{5C5BDD20-83C0-E0EC-29F8-515EA711AE2C}"/>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2" name="Picture 11">
            <a:extLst>
              <a:ext uri="{FF2B5EF4-FFF2-40B4-BE49-F238E27FC236}">
                <a16:creationId xmlns:a16="http://schemas.microsoft.com/office/drawing/2014/main" id="{A0634678-11B0-8C4A-6EC9-7D34043D87D2}"/>
              </a:ext>
            </a:extLst>
          </p:cNvPr>
          <p:cNvPicPr>
            <a:picLocks noChangeAspect="1"/>
          </p:cNvPicPr>
          <p:nvPr/>
        </p:nvPicPr>
        <p:blipFill>
          <a:blip r:embed="rId3"/>
          <a:srcRect b="3073"/>
          <a:stretch>
            <a:fillRect/>
          </a:stretch>
        </p:blipFill>
        <p:spPr>
          <a:xfrm>
            <a:off x="1044610" y="1548601"/>
            <a:ext cx="9285915" cy="4318799"/>
          </a:xfrm>
          <a:prstGeom prst="rect">
            <a:avLst/>
          </a:prstGeom>
        </p:spPr>
      </p:pic>
    </p:spTree>
    <p:extLst>
      <p:ext uri="{BB962C8B-B14F-4D97-AF65-F5344CB8AC3E}">
        <p14:creationId xmlns:p14="http://schemas.microsoft.com/office/powerpoint/2010/main" val="1490312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6AAB6-54FE-E64B-38EF-E8F4BBB4EF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672D714-003F-A5DC-1B60-125538975099}"/>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81B3F40-7AED-21A6-7774-ABAB4CB80033}"/>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概览</a:t>
            </a:r>
            <a:endParaRPr b="1" dirty="0">
              <a:solidFill>
                <a:schemeClr val="accent1"/>
              </a:solidFill>
            </a:endParaRPr>
          </a:p>
        </p:txBody>
      </p:sp>
      <p:sp>
        <p:nvSpPr>
          <p:cNvPr id="6" name="Rounded Rectangle 5">
            <a:extLst>
              <a:ext uri="{FF2B5EF4-FFF2-40B4-BE49-F238E27FC236}">
                <a16:creationId xmlns:a16="http://schemas.microsoft.com/office/drawing/2014/main" id="{2033438E-0457-1C42-3CC3-D8CA3FC2D1AB}"/>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图片 11">
            <a:extLst>
              <a:ext uri="{FF2B5EF4-FFF2-40B4-BE49-F238E27FC236}">
                <a16:creationId xmlns:a16="http://schemas.microsoft.com/office/drawing/2014/main" id="{C0DC5829-2D97-41B4-1BEF-586FD4D1F261}"/>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4" name="Picture 3">
            <a:extLst>
              <a:ext uri="{FF2B5EF4-FFF2-40B4-BE49-F238E27FC236}">
                <a16:creationId xmlns:a16="http://schemas.microsoft.com/office/drawing/2014/main" id="{82383BB3-7114-0A4F-AA3D-97B7BCDCBE04}"/>
              </a:ext>
            </a:extLst>
          </p:cNvPr>
          <p:cNvPicPr>
            <a:picLocks noChangeAspect="1"/>
          </p:cNvPicPr>
          <p:nvPr/>
        </p:nvPicPr>
        <p:blipFill>
          <a:blip r:embed="rId4"/>
          <a:srcRect t="2348"/>
          <a:stretch>
            <a:fillRect/>
          </a:stretch>
        </p:blipFill>
        <p:spPr>
          <a:xfrm>
            <a:off x="1164771" y="1665514"/>
            <a:ext cx="9051662" cy="4321629"/>
          </a:xfrm>
          <a:prstGeom prst="rect">
            <a:avLst/>
          </a:prstGeom>
        </p:spPr>
      </p:pic>
    </p:spTree>
    <p:extLst>
      <p:ext uri="{BB962C8B-B14F-4D97-AF65-F5344CB8AC3E}">
        <p14:creationId xmlns:p14="http://schemas.microsoft.com/office/powerpoint/2010/main" val="4155501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607A5-E9C1-9532-A545-6AB3616EA5D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9961506-B660-E743-309E-97B6A0F05A8A}"/>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DA3D809-E57B-6095-A452-08E9C428020D}"/>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概览：</a:t>
            </a:r>
            <a:r>
              <a:rPr lang="en-US" b="1" dirty="0" err="1">
                <a:solidFill>
                  <a:schemeClr val="accent1"/>
                </a:solidFill>
              </a:rPr>
              <a:t>智能体协同的五大基础拓扑</a:t>
            </a:r>
            <a:endParaRPr b="1" dirty="0">
              <a:solidFill>
                <a:schemeClr val="accent1"/>
              </a:solidFill>
            </a:endParaRPr>
          </a:p>
        </p:txBody>
      </p:sp>
      <p:sp>
        <p:nvSpPr>
          <p:cNvPr id="6" name="Rounded Rectangle 5">
            <a:extLst>
              <a:ext uri="{FF2B5EF4-FFF2-40B4-BE49-F238E27FC236}">
                <a16:creationId xmlns:a16="http://schemas.microsoft.com/office/drawing/2014/main" id="{AB8FBBD8-4B22-E840-6968-9D0F7025DDFE}"/>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图片 11">
            <a:extLst>
              <a:ext uri="{FF2B5EF4-FFF2-40B4-BE49-F238E27FC236}">
                <a16:creationId xmlns:a16="http://schemas.microsoft.com/office/drawing/2014/main" id="{4F04A6C8-232A-1310-E046-3E7EC8EBA39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2" name="Picture 11">
            <a:extLst>
              <a:ext uri="{FF2B5EF4-FFF2-40B4-BE49-F238E27FC236}">
                <a16:creationId xmlns:a16="http://schemas.microsoft.com/office/drawing/2014/main" id="{216A5B48-5914-2F35-1EE3-72A05A7D766B}"/>
              </a:ext>
            </a:extLst>
          </p:cNvPr>
          <p:cNvPicPr>
            <a:picLocks noChangeAspect="1"/>
          </p:cNvPicPr>
          <p:nvPr/>
        </p:nvPicPr>
        <p:blipFill>
          <a:blip r:embed="rId3"/>
          <a:srcRect b="9228"/>
          <a:stretch>
            <a:fillRect/>
          </a:stretch>
        </p:blipFill>
        <p:spPr>
          <a:xfrm>
            <a:off x="1218398" y="1503582"/>
            <a:ext cx="8944280" cy="4531458"/>
          </a:xfrm>
          <a:prstGeom prst="rect">
            <a:avLst/>
          </a:prstGeom>
        </p:spPr>
      </p:pic>
    </p:spTree>
    <p:extLst>
      <p:ext uri="{BB962C8B-B14F-4D97-AF65-F5344CB8AC3E}">
        <p14:creationId xmlns:p14="http://schemas.microsoft.com/office/powerpoint/2010/main" val="1890648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E69D3-6E63-5929-2009-880537D18E9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BDDA3D-08B4-6316-2C60-74A1C7B5BC1E}"/>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078A6C1-58F4-6C86-7E25-8C6EABB96B88}"/>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概览：决定多智能体系统成败的三大底层物理定理</a:t>
            </a:r>
            <a:endParaRPr b="1" dirty="0">
              <a:solidFill>
                <a:schemeClr val="accent1"/>
              </a:solidFill>
            </a:endParaRPr>
          </a:p>
        </p:txBody>
      </p:sp>
      <p:sp>
        <p:nvSpPr>
          <p:cNvPr id="6" name="Rounded Rectangle 5">
            <a:extLst>
              <a:ext uri="{FF2B5EF4-FFF2-40B4-BE49-F238E27FC236}">
                <a16:creationId xmlns:a16="http://schemas.microsoft.com/office/drawing/2014/main" id="{480B0379-2BC6-296F-EC2A-B4BC8E1AE665}"/>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图片 11">
            <a:extLst>
              <a:ext uri="{FF2B5EF4-FFF2-40B4-BE49-F238E27FC236}">
                <a16:creationId xmlns:a16="http://schemas.microsoft.com/office/drawing/2014/main" id="{CBA304E2-D1F8-CA61-4C06-88F115F845C6}"/>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4" name="Picture 3">
            <a:extLst>
              <a:ext uri="{FF2B5EF4-FFF2-40B4-BE49-F238E27FC236}">
                <a16:creationId xmlns:a16="http://schemas.microsoft.com/office/drawing/2014/main" id="{92724707-DD06-6216-F7D1-0F078E9B86E5}"/>
              </a:ext>
            </a:extLst>
          </p:cNvPr>
          <p:cNvPicPr>
            <a:picLocks noChangeAspect="1"/>
          </p:cNvPicPr>
          <p:nvPr/>
        </p:nvPicPr>
        <p:blipFill>
          <a:blip r:embed="rId3"/>
          <a:stretch>
            <a:fillRect/>
          </a:stretch>
        </p:blipFill>
        <p:spPr>
          <a:xfrm>
            <a:off x="1714282" y="1493717"/>
            <a:ext cx="7946571" cy="4565509"/>
          </a:xfrm>
          <a:prstGeom prst="rect">
            <a:avLst/>
          </a:prstGeom>
        </p:spPr>
      </p:pic>
    </p:spTree>
    <p:extLst>
      <p:ext uri="{BB962C8B-B14F-4D97-AF65-F5344CB8AC3E}">
        <p14:creationId xmlns:p14="http://schemas.microsoft.com/office/powerpoint/2010/main" val="1017568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52E96-CAB4-8970-C552-79D74ADE8F4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DE8A68C-0168-7C9A-9008-5B8B670C564C}"/>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952F6A6-FF5A-8876-270F-78B360989360}"/>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概览：定律一 工具 </a:t>
            </a:r>
            <a:r>
              <a:rPr lang="en-US" altLang="zh-CN" b="1" dirty="0">
                <a:solidFill>
                  <a:schemeClr val="accent1"/>
                </a:solidFill>
              </a:rPr>
              <a:t>–</a:t>
            </a:r>
            <a:r>
              <a:rPr lang="zh-CN" altLang="en-US" b="1" dirty="0">
                <a:solidFill>
                  <a:schemeClr val="accent1"/>
                </a:solidFill>
              </a:rPr>
              <a:t> 协作权衡</a:t>
            </a:r>
            <a:endParaRPr b="1" dirty="0">
              <a:solidFill>
                <a:schemeClr val="accent1"/>
              </a:solidFill>
            </a:endParaRPr>
          </a:p>
        </p:txBody>
      </p:sp>
      <p:sp>
        <p:nvSpPr>
          <p:cNvPr id="6" name="Rounded Rectangle 5">
            <a:extLst>
              <a:ext uri="{FF2B5EF4-FFF2-40B4-BE49-F238E27FC236}">
                <a16:creationId xmlns:a16="http://schemas.microsoft.com/office/drawing/2014/main" id="{0F56A577-DEAD-1FEA-5224-D2EA278A1ED1}"/>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图片 11">
            <a:extLst>
              <a:ext uri="{FF2B5EF4-FFF2-40B4-BE49-F238E27FC236}">
                <a16:creationId xmlns:a16="http://schemas.microsoft.com/office/drawing/2014/main" id="{1AD2339A-C9C1-8496-E29F-44FB9713EAEB}"/>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5" name="Picture 4">
            <a:extLst>
              <a:ext uri="{FF2B5EF4-FFF2-40B4-BE49-F238E27FC236}">
                <a16:creationId xmlns:a16="http://schemas.microsoft.com/office/drawing/2014/main" id="{0059EE66-527E-CA48-5CC6-7A99CCF89722}"/>
              </a:ext>
            </a:extLst>
          </p:cNvPr>
          <p:cNvPicPr>
            <a:picLocks noChangeAspect="1"/>
          </p:cNvPicPr>
          <p:nvPr/>
        </p:nvPicPr>
        <p:blipFill>
          <a:blip r:embed="rId3"/>
          <a:stretch>
            <a:fillRect/>
          </a:stretch>
        </p:blipFill>
        <p:spPr>
          <a:xfrm>
            <a:off x="1387364" y="1434301"/>
            <a:ext cx="8600408" cy="4684341"/>
          </a:xfrm>
          <a:prstGeom prst="rect">
            <a:avLst/>
          </a:prstGeom>
        </p:spPr>
      </p:pic>
    </p:spTree>
    <p:extLst>
      <p:ext uri="{BB962C8B-B14F-4D97-AF65-F5344CB8AC3E}">
        <p14:creationId xmlns:p14="http://schemas.microsoft.com/office/powerpoint/2010/main" val="2473964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E8B49-DC0C-166E-0BA6-1F3264B8A7B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822672D-01DE-5E2D-CE13-B0C6AD9163C6}"/>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284E676-9F84-9606-AF05-146EE25C4C5C}"/>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概览：定律二  能力饱和效应</a:t>
            </a:r>
            <a:endParaRPr b="1" dirty="0">
              <a:solidFill>
                <a:schemeClr val="accent1"/>
              </a:solidFill>
            </a:endParaRPr>
          </a:p>
        </p:txBody>
      </p:sp>
      <p:sp>
        <p:nvSpPr>
          <p:cNvPr id="6" name="Rounded Rectangle 5">
            <a:extLst>
              <a:ext uri="{FF2B5EF4-FFF2-40B4-BE49-F238E27FC236}">
                <a16:creationId xmlns:a16="http://schemas.microsoft.com/office/drawing/2014/main" id="{65CCF259-35B6-E00B-010C-7A554F684782}"/>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图片 11">
            <a:extLst>
              <a:ext uri="{FF2B5EF4-FFF2-40B4-BE49-F238E27FC236}">
                <a16:creationId xmlns:a16="http://schemas.microsoft.com/office/drawing/2014/main" id="{66D59D1D-60E9-C846-0627-EDC346D0F4BD}"/>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4" name="Picture 3">
            <a:extLst>
              <a:ext uri="{FF2B5EF4-FFF2-40B4-BE49-F238E27FC236}">
                <a16:creationId xmlns:a16="http://schemas.microsoft.com/office/drawing/2014/main" id="{061C5F33-BEF3-9CFC-596E-6D0592606988}"/>
              </a:ext>
            </a:extLst>
          </p:cNvPr>
          <p:cNvPicPr>
            <a:picLocks noChangeAspect="1"/>
          </p:cNvPicPr>
          <p:nvPr/>
        </p:nvPicPr>
        <p:blipFill>
          <a:blip r:embed="rId3"/>
          <a:stretch>
            <a:fillRect/>
          </a:stretch>
        </p:blipFill>
        <p:spPr>
          <a:xfrm>
            <a:off x="1475232" y="1454269"/>
            <a:ext cx="8430768" cy="4708787"/>
          </a:xfrm>
          <a:prstGeom prst="rect">
            <a:avLst/>
          </a:prstGeom>
        </p:spPr>
      </p:pic>
      <p:pic>
        <p:nvPicPr>
          <p:cNvPr id="7" name="Picture 6">
            <a:extLst>
              <a:ext uri="{FF2B5EF4-FFF2-40B4-BE49-F238E27FC236}">
                <a16:creationId xmlns:a16="http://schemas.microsoft.com/office/drawing/2014/main" id="{FFBF411C-206F-4BEE-5F7B-B436E09DBFCE}"/>
              </a:ext>
            </a:extLst>
          </p:cNvPr>
          <p:cNvPicPr>
            <a:picLocks noChangeAspect="1"/>
          </p:cNvPicPr>
          <p:nvPr/>
        </p:nvPicPr>
        <p:blipFill>
          <a:blip r:embed="rId4"/>
          <a:stretch>
            <a:fillRect/>
          </a:stretch>
        </p:blipFill>
        <p:spPr>
          <a:xfrm>
            <a:off x="5584371" y="1454269"/>
            <a:ext cx="4321629" cy="1229674"/>
          </a:xfrm>
          <a:prstGeom prst="rect">
            <a:avLst/>
          </a:prstGeom>
        </p:spPr>
      </p:pic>
    </p:spTree>
    <p:extLst>
      <p:ext uri="{BB962C8B-B14F-4D97-AF65-F5344CB8AC3E}">
        <p14:creationId xmlns:p14="http://schemas.microsoft.com/office/powerpoint/2010/main" val="2089541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38486-C346-2134-9413-7EEA16ABEEC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6A6726E-1486-9BE4-89BB-9D365B51DAE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06BB3FF-9868-A8E9-25AE-4CF157E41AB9}"/>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概览：定律三  拓扑依赖的错误放大</a:t>
            </a:r>
            <a:endParaRPr b="1" dirty="0">
              <a:solidFill>
                <a:schemeClr val="accent1"/>
              </a:solidFill>
            </a:endParaRPr>
          </a:p>
        </p:txBody>
      </p:sp>
      <p:sp>
        <p:nvSpPr>
          <p:cNvPr id="6" name="Rounded Rectangle 5">
            <a:extLst>
              <a:ext uri="{FF2B5EF4-FFF2-40B4-BE49-F238E27FC236}">
                <a16:creationId xmlns:a16="http://schemas.microsoft.com/office/drawing/2014/main" id="{7047678D-48AF-2CE3-2672-A2EDEDD0DE6B}"/>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图片 11">
            <a:extLst>
              <a:ext uri="{FF2B5EF4-FFF2-40B4-BE49-F238E27FC236}">
                <a16:creationId xmlns:a16="http://schemas.microsoft.com/office/drawing/2014/main" id="{3D9AF64C-A7A6-0AB5-A463-F3B8860F32A5}"/>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7" name="Picture 6">
            <a:extLst>
              <a:ext uri="{FF2B5EF4-FFF2-40B4-BE49-F238E27FC236}">
                <a16:creationId xmlns:a16="http://schemas.microsoft.com/office/drawing/2014/main" id="{6C7AE06F-4BFE-D3DD-9658-6E351F7304C4}"/>
              </a:ext>
            </a:extLst>
          </p:cNvPr>
          <p:cNvPicPr>
            <a:picLocks noChangeAspect="1"/>
          </p:cNvPicPr>
          <p:nvPr/>
        </p:nvPicPr>
        <p:blipFill>
          <a:blip r:embed="rId3"/>
          <a:stretch>
            <a:fillRect/>
          </a:stretch>
        </p:blipFill>
        <p:spPr>
          <a:xfrm>
            <a:off x="5584371" y="1454269"/>
            <a:ext cx="4321629" cy="1229674"/>
          </a:xfrm>
          <a:prstGeom prst="rect">
            <a:avLst/>
          </a:prstGeom>
        </p:spPr>
      </p:pic>
      <p:pic>
        <p:nvPicPr>
          <p:cNvPr id="5" name="Picture 4">
            <a:extLst>
              <a:ext uri="{FF2B5EF4-FFF2-40B4-BE49-F238E27FC236}">
                <a16:creationId xmlns:a16="http://schemas.microsoft.com/office/drawing/2014/main" id="{2A7F839F-EEAD-3F8E-0C58-B7E1CD19AE11}"/>
              </a:ext>
            </a:extLst>
          </p:cNvPr>
          <p:cNvPicPr>
            <a:picLocks noChangeAspect="1"/>
          </p:cNvPicPr>
          <p:nvPr/>
        </p:nvPicPr>
        <p:blipFill>
          <a:blip r:embed="rId4"/>
          <a:stretch>
            <a:fillRect/>
          </a:stretch>
        </p:blipFill>
        <p:spPr>
          <a:xfrm>
            <a:off x="1444036" y="1454269"/>
            <a:ext cx="8280669" cy="4630845"/>
          </a:xfrm>
          <a:prstGeom prst="rect">
            <a:avLst/>
          </a:prstGeom>
        </p:spPr>
      </p:pic>
    </p:spTree>
    <p:extLst>
      <p:ext uri="{BB962C8B-B14F-4D97-AF65-F5344CB8AC3E}">
        <p14:creationId xmlns:p14="http://schemas.microsoft.com/office/powerpoint/2010/main" val="945064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BDD54-9455-4196-7B31-B6D49FAB85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C8DB7D9-54A6-BF26-744D-E6292E4751A4}"/>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0C40AF7-90E9-9D68-E0B2-79BC04FB59CC}"/>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概览：模型协作性格测试 </a:t>
            </a:r>
            <a:r>
              <a:rPr lang="en-US" altLang="zh-CN" b="1" dirty="0">
                <a:solidFill>
                  <a:schemeClr val="accent1"/>
                </a:solidFill>
              </a:rPr>
              <a:t>Google</a:t>
            </a:r>
            <a:r>
              <a:rPr lang="zh-CN" altLang="en-US" b="1" dirty="0">
                <a:solidFill>
                  <a:schemeClr val="accent1"/>
                </a:solidFill>
              </a:rPr>
              <a:t> </a:t>
            </a:r>
            <a:r>
              <a:rPr lang="en-US" altLang="zh-CN" b="1" dirty="0">
                <a:solidFill>
                  <a:schemeClr val="accent1"/>
                </a:solidFill>
              </a:rPr>
              <a:t>Gemini</a:t>
            </a:r>
            <a:endParaRPr b="1" dirty="0">
              <a:solidFill>
                <a:schemeClr val="accent1"/>
              </a:solidFill>
            </a:endParaRPr>
          </a:p>
        </p:txBody>
      </p:sp>
      <p:sp>
        <p:nvSpPr>
          <p:cNvPr id="6" name="Rounded Rectangle 5">
            <a:extLst>
              <a:ext uri="{FF2B5EF4-FFF2-40B4-BE49-F238E27FC236}">
                <a16:creationId xmlns:a16="http://schemas.microsoft.com/office/drawing/2014/main" id="{D214E2F4-AC00-EDDA-A21D-8819B8CEB90D}"/>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图片 11">
            <a:extLst>
              <a:ext uri="{FF2B5EF4-FFF2-40B4-BE49-F238E27FC236}">
                <a16:creationId xmlns:a16="http://schemas.microsoft.com/office/drawing/2014/main" id="{61876C4C-6920-375C-7051-98F413B1C3A6}"/>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7" name="Picture 6">
            <a:extLst>
              <a:ext uri="{FF2B5EF4-FFF2-40B4-BE49-F238E27FC236}">
                <a16:creationId xmlns:a16="http://schemas.microsoft.com/office/drawing/2014/main" id="{38919B70-3A95-66B1-23CE-827088D86ACE}"/>
              </a:ext>
            </a:extLst>
          </p:cNvPr>
          <p:cNvPicPr>
            <a:picLocks noChangeAspect="1"/>
          </p:cNvPicPr>
          <p:nvPr/>
        </p:nvPicPr>
        <p:blipFill>
          <a:blip r:embed="rId3"/>
          <a:stretch>
            <a:fillRect/>
          </a:stretch>
        </p:blipFill>
        <p:spPr>
          <a:xfrm>
            <a:off x="5584371" y="1454269"/>
            <a:ext cx="4321629" cy="1229674"/>
          </a:xfrm>
          <a:prstGeom prst="rect">
            <a:avLst/>
          </a:prstGeom>
        </p:spPr>
      </p:pic>
      <p:pic>
        <p:nvPicPr>
          <p:cNvPr id="4" name="Picture 3">
            <a:extLst>
              <a:ext uri="{FF2B5EF4-FFF2-40B4-BE49-F238E27FC236}">
                <a16:creationId xmlns:a16="http://schemas.microsoft.com/office/drawing/2014/main" id="{D49CA801-069C-2ACE-38CB-D509846EACAC}"/>
              </a:ext>
            </a:extLst>
          </p:cNvPr>
          <p:cNvPicPr>
            <a:picLocks noChangeAspect="1"/>
          </p:cNvPicPr>
          <p:nvPr/>
        </p:nvPicPr>
        <p:blipFill>
          <a:blip r:embed="rId4"/>
          <a:stretch>
            <a:fillRect/>
          </a:stretch>
        </p:blipFill>
        <p:spPr>
          <a:xfrm>
            <a:off x="1826565" y="1618167"/>
            <a:ext cx="8538869" cy="4316610"/>
          </a:xfrm>
          <a:prstGeom prst="rect">
            <a:avLst/>
          </a:prstGeom>
        </p:spPr>
      </p:pic>
    </p:spTree>
    <p:extLst>
      <p:ext uri="{BB962C8B-B14F-4D97-AF65-F5344CB8AC3E}">
        <p14:creationId xmlns:p14="http://schemas.microsoft.com/office/powerpoint/2010/main" val="1193543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99161-B1F9-507A-CD53-0FD10216118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748AF3C-6034-B563-53CD-E0C26ED866CE}"/>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6A31297-A2A7-3A8E-56DD-393FA16617F6}"/>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概览：模型协作性格测试 </a:t>
            </a:r>
            <a:r>
              <a:rPr lang="en-US" altLang="zh-CN" b="1" dirty="0">
                <a:solidFill>
                  <a:schemeClr val="accent1"/>
                </a:solidFill>
              </a:rPr>
              <a:t>OpenAI</a:t>
            </a:r>
            <a:r>
              <a:rPr lang="zh-CN" altLang="en-US" b="1" dirty="0">
                <a:solidFill>
                  <a:schemeClr val="accent1"/>
                </a:solidFill>
              </a:rPr>
              <a:t> </a:t>
            </a:r>
            <a:r>
              <a:rPr lang="en-US" altLang="zh-CN" b="1" dirty="0">
                <a:solidFill>
                  <a:schemeClr val="accent1"/>
                </a:solidFill>
              </a:rPr>
              <a:t>GPT</a:t>
            </a:r>
            <a:endParaRPr b="1" dirty="0">
              <a:solidFill>
                <a:schemeClr val="accent1"/>
              </a:solidFill>
            </a:endParaRPr>
          </a:p>
        </p:txBody>
      </p:sp>
      <p:sp>
        <p:nvSpPr>
          <p:cNvPr id="6" name="Rounded Rectangle 5">
            <a:extLst>
              <a:ext uri="{FF2B5EF4-FFF2-40B4-BE49-F238E27FC236}">
                <a16:creationId xmlns:a16="http://schemas.microsoft.com/office/drawing/2014/main" id="{6EAC85AD-AFE6-A1C7-2664-AD481EACDF82}"/>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图片 11">
            <a:extLst>
              <a:ext uri="{FF2B5EF4-FFF2-40B4-BE49-F238E27FC236}">
                <a16:creationId xmlns:a16="http://schemas.microsoft.com/office/drawing/2014/main" id="{FE4C0978-CB2E-0753-CB01-65E6E770C2CF}"/>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7" name="Picture 6">
            <a:extLst>
              <a:ext uri="{FF2B5EF4-FFF2-40B4-BE49-F238E27FC236}">
                <a16:creationId xmlns:a16="http://schemas.microsoft.com/office/drawing/2014/main" id="{A7115746-D913-8631-9FAD-5FC639BDEF64}"/>
              </a:ext>
            </a:extLst>
          </p:cNvPr>
          <p:cNvPicPr>
            <a:picLocks noChangeAspect="1"/>
          </p:cNvPicPr>
          <p:nvPr/>
        </p:nvPicPr>
        <p:blipFill>
          <a:blip r:embed="rId3"/>
          <a:stretch>
            <a:fillRect/>
          </a:stretch>
        </p:blipFill>
        <p:spPr>
          <a:xfrm>
            <a:off x="5584371" y="1454269"/>
            <a:ext cx="4321629" cy="1229674"/>
          </a:xfrm>
          <a:prstGeom prst="rect">
            <a:avLst/>
          </a:prstGeom>
        </p:spPr>
      </p:pic>
      <p:pic>
        <p:nvPicPr>
          <p:cNvPr id="5" name="Picture 4">
            <a:extLst>
              <a:ext uri="{FF2B5EF4-FFF2-40B4-BE49-F238E27FC236}">
                <a16:creationId xmlns:a16="http://schemas.microsoft.com/office/drawing/2014/main" id="{ECDF39FA-8938-AB4E-CA67-31D96842099C}"/>
              </a:ext>
            </a:extLst>
          </p:cNvPr>
          <p:cNvPicPr>
            <a:picLocks noChangeAspect="1"/>
          </p:cNvPicPr>
          <p:nvPr/>
        </p:nvPicPr>
        <p:blipFill>
          <a:blip r:embed="rId4"/>
          <a:stretch>
            <a:fillRect/>
          </a:stretch>
        </p:blipFill>
        <p:spPr>
          <a:xfrm>
            <a:off x="1121835" y="1613449"/>
            <a:ext cx="9131465" cy="4326045"/>
          </a:xfrm>
          <a:prstGeom prst="rect">
            <a:avLst/>
          </a:prstGeom>
        </p:spPr>
      </p:pic>
    </p:spTree>
    <p:extLst>
      <p:ext uri="{BB962C8B-B14F-4D97-AF65-F5344CB8AC3E}">
        <p14:creationId xmlns:p14="http://schemas.microsoft.com/office/powerpoint/2010/main" val="2776181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97E50-F6AB-4962-2B5A-00EB0B457F0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E5F844F-57B0-A6D6-7078-FBFD569DC65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63374B3-CB49-C384-DB49-D7038AB9C723}"/>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概览：模型协作性格测试 </a:t>
            </a:r>
            <a:r>
              <a:rPr lang="en-US" altLang="zh-CN" b="1" dirty="0">
                <a:solidFill>
                  <a:schemeClr val="accent1"/>
                </a:solidFill>
              </a:rPr>
              <a:t>Anthropic</a:t>
            </a:r>
            <a:r>
              <a:rPr lang="zh-CN" altLang="en-US" b="1" dirty="0">
                <a:solidFill>
                  <a:schemeClr val="accent1"/>
                </a:solidFill>
              </a:rPr>
              <a:t> </a:t>
            </a:r>
            <a:r>
              <a:rPr lang="en-US" altLang="zh-CN" b="1" dirty="0">
                <a:solidFill>
                  <a:schemeClr val="accent1"/>
                </a:solidFill>
              </a:rPr>
              <a:t>Claude</a:t>
            </a:r>
            <a:endParaRPr b="1" dirty="0">
              <a:solidFill>
                <a:schemeClr val="accent1"/>
              </a:solidFill>
            </a:endParaRPr>
          </a:p>
        </p:txBody>
      </p:sp>
      <p:sp>
        <p:nvSpPr>
          <p:cNvPr id="6" name="Rounded Rectangle 5">
            <a:extLst>
              <a:ext uri="{FF2B5EF4-FFF2-40B4-BE49-F238E27FC236}">
                <a16:creationId xmlns:a16="http://schemas.microsoft.com/office/drawing/2014/main" id="{44CF9B8B-F284-419F-F495-7C9BC4A0BD50}"/>
              </a:ext>
            </a:extLst>
          </p:cNvPr>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图片 11">
            <a:extLst>
              <a:ext uri="{FF2B5EF4-FFF2-40B4-BE49-F238E27FC236}">
                <a16:creationId xmlns:a16="http://schemas.microsoft.com/office/drawing/2014/main" id="{4AB0546C-7AF1-DC09-A0CB-B5EA34895A2D}"/>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4" name="Picture 3">
            <a:extLst>
              <a:ext uri="{FF2B5EF4-FFF2-40B4-BE49-F238E27FC236}">
                <a16:creationId xmlns:a16="http://schemas.microsoft.com/office/drawing/2014/main" id="{ECAD265C-B192-2FF2-96A9-4A7D187679C5}"/>
              </a:ext>
            </a:extLst>
          </p:cNvPr>
          <p:cNvPicPr>
            <a:picLocks noChangeAspect="1"/>
          </p:cNvPicPr>
          <p:nvPr/>
        </p:nvPicPr>
        <p:blipFill>
          <a:blip r:embed="rId3"/>
          <a:stretch>
            <a:fillRect/>
          </a:stretch>
        </p:blipFill>
        <p:spPr>
          <a:xfrm>
            <a:off x="1219200" y="1766427"/>
            <a:ext cx="8925156" cy="4068316"/>
          </a:xfrm>
          <a:prstGeom prst="rect">
            <a:avLst/>
          </a:prstGeom>
        </p:spPr>
      </p:pic>
      <p:pic>
        <p:nvPicPr>
          <p:cNvPr id="8" name="Picture 7">
            <a:extLst>
              <a:ext uri="{FF2B5EF4-FFF2-40B4-BE49-F238E27FC236}">
                <a16:creationId xmlns:a16="http://schemas.microsoft.com/office/drawing/2014/main" id="{1CF3A9EA-3C8A-70B7-4DC9-34170184A850}"/>
              </a:ext>
            </a:extLst>
          </p:cNvPr>
          <p:cNvPicPr>
            <a:picLocks noChangeAspect="1"/>
          </p:cNvPicPr>
          <p:nvPr/>
        </p:nvPicPr>
        <p:blipFill>
          <a:blip r:embed="rId4"/>
          <a:stretch>
            <a:fillRect/>
          </a:stretch>
        </p:blipFill>
        <p:spPr>
          <a:xfrm flipV="1">
            <a:off x="6452672" y="3597806"/>
            <a:ext cx="3332595" cy="1320664"/>
          </a:xfrm>
          <a:prstGeom prst="rect">
            <a:avLst/>
          </a:prstGeom>
        </p:spPr>
      </p:pic>
    </p:spTree>
    <p:extLst>
      <p:ext uri="{BB962C8B-B14F-4D97-AF65-F5344CB8AC3E}">
        <p14:creationId xmlns:p14="http://schemas.microsoft.com/office/powerpoint/2010/main" val="662656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主要创新点：把多智能体研究推进到“可预测科学</a:t>
            </a:r>
            <a:r>
              <a:rPr b="1" dirty="0">
                <a:solidFill>
                  <a:schemeClr val="accent1"/>
                </a:solidFill>
              </a:rPr>
              <a:t>”</a:t>
            </a:r>
          </a:p>
        </p:txBody>
      </p:sp>
      <p:sp>
        <p:nvSpPr>
          <p:cNvPr id="4" name="TextBox 3"/>
          <p:cNvSpPr txBox="1"/>
          <p:nvPr/>
        </p:nvSpPr>
        <p:spPr>
          <a:xfrm>
            <a:off x="676656" y="877824"/>
            <a:ext cx="9692640" cy="279564"/>
          </a:xfrm>
          <a:prstGeom prst="rect">
            <a:avLst/>
          </a:prstGeom>
          <a:noFill/>
        </p:spPr>
        <p:txBody>
          <a:bodyPr wrap="square">
            <a:spAutoFit/>
          </a:bodyPr>
          <a:lstStyle/>
          <a:p>
            <a:r>
              <a:t>核心在于严谨定义、受控比较与可外推的定量模型</a:t>
            </a:r>
          </a:p>
        </p:txBody>
      </p:sp>
      <p:grpSp>
        <p:nvGrpSpPr>
          <p:cNvPr id="5" name="Group 4">
            <a:extLst>
              <a:ext uri="{FF2B5EF4-FFF2-40B4-BE49-F238E27FC236}">
                <a16:creationId xmlns:a16="http://schemas.microsoft.com/office/drawing/2014/main" id="{6D9C2101-A6BF-F306-52D1-079E6187C064}"/>
              </a:ext>
            </a:extLst>
          </p:cNvPr>
          <p:cNvGrpSpPr/>
          <p:nvPr/>
        </p:nvGrpSpPr>
        <p:grpSpPr>
          <a:xfrm>
            <a:off x="1165146" y="5074072"/>
            <a:ext cx="10333608" cy="1610850"/>
            <a:chOff x="604672" y="1280756"/>
            <a:chExt cx="4900000" cy="4943562"/>
          </a:xfrm>
        </p:grpSpPr>
        <p:sp>
          <p:nvSpPr>
            <p:cNvPr id="6" name="Rounded Rectangle 5"/>
            <p:cNvSpPr/>
            <p:nvPr/>
          </p:nvSpPr>
          <p:spPr>
            <a:xfrm>
              <a:off x="604672" y="1280756"/>
              <a:ext cx="4900000" cy="4773169"/>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04672" y="2469771"/>
              <a:ext cx="4500000" cy="3754547"/>
            </a:xfrm>
            <a:prstGeom prst="rect">
              <a:avLst/>
            </a:prstGeom>
            <a:noFill/>
          </p:spPr>
          <p:txBody>
            <a:bodyPr wrap="square">
              <a:spAutoFit/>
            </a:bodyPr>
            <a:lstStyle/>
            <a:p>
              <a:pPr algn="l">
                <a:spcBef>
                  <a:spcPts val="0"/>
                </a:spcBef>
                <a:spcAft>
                  <a:spcPts val="700"/>
                </a:spcAft>
              </a:pPr>
              <a:r>
                <a:rPr lang="en-US" sz="1400" dirty="0"/>
                <a:t>• </a:t>
              </a:r>
              <a:r>
                <a:rPr lang="zh-CN" altLang="en-US" sz="1400" dirty="0"/>
                <a:t>创新</a:t>
              </a:r>
              <a:r>
                <a:rPr lang="en-US" altLang="zh-CN" sz="1400" dirty="0"/>
                <a:t>1</a:t>
              </a:r>
              <a:r>
                <a:rPr lang="zh-CN" altLang="en-US" sz="1400" dirty="0"/>
                <a:t>：提出</a:t>
              </a:r>
              <a:r>
                <a:rPr lang="en-US" sz="1400" dirty="0"/>
                <a:t>Agentic</a:t>
              </a:r>
              <a:r>
                <a:rPr lang="zh-CN" altLang="en-US" sz="1400" dirty="0"/>
                <a:t>评估的必要条件，明确区分静态推理任务与真实交互任务。</a:t>
              </a:r>
              <a:endParaRPr lang="en-US" altLang="zh-CN" sz="1400" dirty="0"/>
            </a:p>
            <a:p>
              <a:pPr algn="l">
                <a:spcBef>
                  <a:spcPts val="0"/>
                </a:spcBef>
                <a:spcAft>
                  <a:spcPts val="700"/>
                </a:spcAft>
              </a:pPr>
              <a:r>
                <a:rPr lang="en-US" altLang="zh-CN" sz="1400" dirty="0"/>
                <a:t>• </a:t>
              </a:r>
              <a:r>
                <a:rPr lang="zh-CN" altLang="en-US" sz="1400" dirty="0"/>
                <a:t>创新</a:t>
              </a:r>
              <a:r>
                <a:rPr lang="en-US" altLang="zh-CN" sz="1400" dirty="0"/>
                <a:t>2</a:t>
              </a:r>
              <a:r>
                <a:rPr lang="zh-CN" altLang="en-US" sz="1400" dirty="0"/>
                <a:t>：在</a:t>
              </a:r>
              <a:r>
                <a:rPr lang="en-US" altLang="zh-CN" sz="1400" dirty="0"/>
                <a:t>180</a:t>
              </a:r>
              <a:r>
                <a:rPr lang="zh-CN" altLang="en-US" sz="1400" dirty="0"/>
                <a:t>个配置中控制提示词、工具和预算，仅改变协调拓扑以识别因果效应。</a:t>
              </a:r>
              <a:endParaRPr lang="en-US" altLang="zh-CN" sz="1400" dirty="0"/>
            </a:p>
            <a:p>
              <a:pPr algn="l">
                <a:spcBef>
                  <a:spcPts val="0"/>
                </a:spcBef>
                <a:spcAft>
                  <a:spcPts val="700"/>
                </a:spcAft>
              </a:pPr>
              <a:r>
                <a:rPr sz="1400" dirty="0"/>
                <a:t>• 创新3：构建含20项参数的混合效应缩放方程，交叉验证R²</a:t>
              </a:r>
              <a:r>
                <a:rPr lang="zh-CN" altLang="en-US" sz="1400" dirty="0"/>
                <a:t>。</a:t>
              </a:r>
              <a:endParaRPr sz="1400" dirty="0"/>
            </a:p>
            <a:p>
              <a:r>
                <a:rPr sz="1400" dirty="0"/>
                <a:t>• 创新4：把架构选择转化为可测任务特征驱动的预测问题，而非经验拍脑袋。</a:t>
              </a:r>
            </a:p>
          </p:txBody>
        </p:sp>
      </p:grpSp>
      <p:pic>
        <p:nvPicPr>
          <p:cNvPr id="12" name="图片 11">
            <a:extLst>
              <a:ext uri="{FF2B5EF4-FFF2-40B4-BE49-F238E27FC236}">
                <a16:creationId xmlns:a16="http://schemas.microsoft.com/office/drawing/2014/main" id="{BFDDFE6E-EA1A-D7D6-B770-0D9C20C6EAE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2580702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主要发现：多智能体收益不是单调上升</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任务结构决定收益方向，协调成本决定收益上限</a:t>
            </a:r>
          </a:p>
        </p:txBody>
      </p:sp>
      <p:grpSp>
        <p:nvGrpSpPr>
          <p:cNvPr id="5" name="Group 4">
            <a:extLst>
              <a:ext uri="{FF2B5EF4-FFF2-40B4-BE49-F238E27FC236}">
                <a16:creationId xmlns:a16="http://schemas.microsoft.com/office/drawing/2014/main" id="{FC5915E9-91C5-9C15-39BE-414ED70C7357}"/>
              </a:ext>
            </a:extLst>
          </p:cNvPr>
          <p:cNvGrpSpPr/>
          <p:nvPr/>
        </p:nvGrpSpPr>
        <p:grpSpPr>
          <a:xfrm>
            <a:off x="658368" y="1389888"/>
            <a:ext cx="3615249" cy="4773168"/>
            <a:chOff x="658368" y="1389888"/>
            <a:chExt cx="4900000" cy="4773168"/>
          </a:xfrm>
        </p:grpSpPr>
        <p:sp>
          <p:nvSpPr>
            <p:cNvPr id="6" name="Rounded Rectangle 5"/>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804672" y="1499616"/>
              <a:ext cx="4600000" cy="369332"/>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22960" y="1783080"/>
              <a:ext cx="4500000" cy="3337388"/>
            </a:xfrm>
            <a:prstGeom prst="rect">
              <a:avLst/>
            </a:prstGeom>
            <a:noFill/>
          </p:spPr>
          <p:txBody>
            <a:bodyPr wrap="square">
              <a:spAutoFit/>
            </a:bodyPr>
            <a:lstStyle/>
            <a:p>
              <a:pPr algn="l">
                <a:lnSpc>
                  <a:spcPct val="116000"/>
                </a:lnSpc>
                <a:spcBef>
                  <a:spcPts val="0"/>
                </a:spcBef>
                <a:spcAft>
                  <a:spcPts val="700"/>
                </a:spcAft>
              </a:pPr>
              <a:r>
                <a:rPr sz="1400" dirty="0"/>
                <a:t>• 发现1：工具-协调负交互显著（β约-0.267，p&lt;0.001），</a:t>
              </a:r>
              <a:r>
                <a:rPr sz="1400" dirty="0" err="1"/>
                <a:t>工具越多越容易被</a:t>
              </a:r>
              <a:r>
                <a:rPr sz="1400" b="1" dirty="0" err="1"/>
                <a:t>协调税</a:t>
              </a:r>
              <a:r>
                <a:rPr sz="1400" dirty="0" err="1"/>
                <a:t>吞噬</a:t>
              </a:r>
              <a:r>
                <a:rPr sz="1400" dirty="0"/>
                <a:t>。</a:t>
              </a:r>
              <a:endParaRPr lang="en-US" sz="1400" dirty="0"/>
            </a:p>
            <a:p>
              <a:pPr algn="l">
                <a:lnSpc>
                  <a:spcPct val="116000"/>
                </a:lnSpc>
                <a:spcBef>
                  <a:spcPts val="0"/>
                </a:spcBef>
                <a:spcAft>
                  <a:spcPts val="700"/>
                </a:spcAft>
              </a:pPr>
              <a:r>
                <a:rPr sz="1400" dirty="0"/>
                <a:t>• 发现2：能力天花板效应明显，单智能体基线约达到45%后，多智能体常进入边际递减。</a:t>
              </a:r>
              <a:endParaRPr lang="en-US" sz="1400" dirty="0"/>
            </a:p>
            <a:p>
              <a:pPr algn="l">
                <a:lnSpc>
                  <a:spcPct val="116000"/>
                </a:lnSpc>
                <a:spcBef>
                  <a:spcPts val="0"/>
                </a:spcBef>
                <a:spcAft>
                  <a:spcPts val="700"/>
                </a:spcAft>
              </a:pPr>
              <a:r>
                <a:rPr sz="1400" dirty="0"/>
                <a:t>• 发现3：错误放大强依赖拓扑，Independent可达17.2倍，Centralized约4.4倍。</a:t>
              </a:r>
              <a:endParaRPr lang="en-US" sz="1400" dirty="0"/>
            </a:p>
            <a:p>
              <a:pPr algn="l">
                <a:lnSpc>
                  <a:spcPct val="116000"/>
                </a:lnSpc>
                <a:spcBef>
                  <a:spcPts val="0"/>
                </a:spcBef>
                <a:spcAft>
                  <a:spcPts val="700"/>
                </a:spcAft>
              </a:pPr>
              <a:r>
                <a:rPr sz="1400" dirty="0"/>
                <a:t>• 发现4：Finance偏Centralized，Browse偏Decentralized，PlanCraft对MAS普遍不友好。</a:t>
              </a:r>
            </a:p>
          </p:txBody>
        </p:sp>
      </p:grpSp>
      <p:pic>
        <p:nvPicPr>
          <p:cNvPr id="12" name="图片 11">
            <a:extLst>
              <a:ext uri="{FF2B5EF4-FFF2-40B4-BE49-F238E27FC236}">
                <a16:creationId xmlns:a16="http://schemas.microsoft.com/office/drawing/2014/main" id="{E8F9F1FC-F284-020F-1F78-D30A3159FDB1}"/>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p:cNvPicPr>
            <a:picLocks noChangeAspect="1"/>
          </p:cNvPicPr>
          <p:nvPr/>
        </p:nvPicPr>
        <p:blipFill>
          <a:blip r:embed="rId4"/>
          <a:stretch>
            <a:fillRect/>
          </a:stretch>
        </p:blipFill>
        <p:spPr>
          <a:xfrm>
            <a:off x="4360908" y="1401106"/>
            <a:ext cx="7172724" cy="526385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197022-F9BD-C816-5EFB-A704650420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82E560-F4FC-ABF7-685F-122968B602D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1B063CA-15F7-F773-048F-94E5629D57FF}"/>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主要贡献：理论、方法与工程三层闭环</a:t>
            </a:r>
            <a:endParaRPr b="1" dirty="0">
              <a:solidFill>
                <a:schemeClr val="accent1"/>
              </a:solidFill>
            </a:endParaRPr>
          </a:p>
        </p:txBody>
      </p:sp>
      <p:sp>
        <p:nvSpPr>
          <p:cNvPr id="4" name="TextBox 3">
            <a:extLst>
              <a:ext uri="{FF2B5EF4-FFF2-40B4-BE49-F238E27FC236}">
                <a16:creationId xmlns:a16="http://schemas.microsoft.com/office/drawing/2014/main" id="{DC6E33D4-2714-5197-7F12-7A6769D22D87}"/>
              </a:ext>
            </a:extLst>
          </p:cNvPr>
          <p:cNvSpPr txBox="1"/>
          <p:nvPr/>
        </p:nvSpPr>
        <p:spPr>
          <a:xfrm>
            <a:off x="676656" y="877824"/>
            <a:ext cx="9692640" cy="369332"/>
          </a:xfrm>
          <a:prstGeom prst="rect">
            <a:avLst/>
          </a:prstGeom>
          <a:noFill/>
        </p:spPr>
        <p:txBody>
          <a:bodyPr wrap="square">
            <a:spAutoFit/>
          </a:bodyPr>
          <a:lstStyle/>
          <a:p>
            <a:r>
              <a:rPr dirty="0"/>
              <a:t>不仅解释“</a:t>
            </a:r>
            <a:r>
              <a:rPr dirty="0" err="1"/>
              <a:t>为什么</a:t>
            </a:r>
            <a:r>
              <a:rPr dirty="0"/>
              <a:t>”，</a:t>
            </a:r>
            <a:r>
              <a:rPr dirty="0" err="1"/>
              <a:t>还回答“怎么选、怎么用</a:t>
            </a:r>
            <a:r>
              <a:rPr dirty="0"/>
              <a:t>”</a:t>
            </a:r>
          </a:p>
        </p:txBody>
      </p:sp>
      <p:sp>
        <p:nvSpPr>
          <p:cNvPr id="6" name="Rounded Rectangle 5">
            <a:extLst>
              <a:ext uri="{FF2B5EF4-FFF2-40B4-BE49-F238E27FC236}">
                <a16:creationId xmlns:a16="http://schemas.microsoft.com/office/drawing/2014/main" id="{990F5864-CBF1-FD25-4B65-DC8E6B854596}"/>
              </a:ext>
            </a:extLst>
          </p:cNvPr>
          <p:cNvSpPr/>
          <p:nvPr/>
        </p:nvSpPr>
        <p:spPr>
          <a:xfrm>
            <a:off x="658368" y="1389887"/>
            <a:ext cx="10543162" cy="5239513"/>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98B4A5A-F250-D399-D052-756A5467D8BB}"/>
              </a:ext>
            </a:extLst>
          </p:cNvPr>
          <p:cNvSpPr txBox="1"/>
          <p:nvPr/>
        </p:nvSpPr>
        <p:spPr>
          <a:xfrm>
            <a:off x="804672" y="1499616"/>
            <a:ext cx="6254496"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BA1B8104-1CEE-7BD6-5AE9-0E6A111D0BC2}"/>
              </a:ext>
            </a:extLst>
          </p:cNvPr>
          <p:cNvSpPr txBox="1"/>
          <p:nvPr/>
        </p:nvSpPr>
        <p:spPr>
          <a:xfrm>
            <a:off x="822959" y="1783080"/>
            <a:ext cx="10193383" cy="2013628"/>
          </a:xfrm>
          <a:prstGeom prst="rect">
            <a:avLst/>
          </a:prstGeom>
          <a:noFill/>
        </p:spPr>
        <p:txBody>
          <a:bodyPr wrap="square">
            <a:spAutoFit/>
          </a:bodyPr>
          <a:lstStyle/>
          <a:p>
            <a:pPr algn="l">
              <a:lnSpc>
                <a:spcPct val="116000"/>
              </a:lnSpc>
              <a:spcBef>
                <a:spcPts val="0"/>
              </a:spcBef>
              <a:spcAft>
                <a:spcPts val="700"/>
              </a:spcAft>
            </a:pPr>
            <a:r>
              <a:rPr dirty="0"/>
              <a:t>• </a:t>
            </a:r>
            <a:r>
              <a:rPr dirty="0" err="1"/>
              <a:t>理论贡献：给出面向Agent系统的缩放原则，系统反驳“更多代理必然更好”的泛化命题</a:t>
            </a:r>
            <a:r>
              <a:rPr dirty="0"/>
              <a:t>。</a:t>
            </a:r>
            <a:endParaRPr lang="en-US" sz="1500" dirty="0">
              <a:solidFill>
                <a:srgbClr val="2D2D2D"/>
              </a:solidFill>
            </a:endParaRPr>
          </a:p>
          <a:p>
            <a:pPr algn="l">
              <a:lnSpc>
                <a:spcPct val="116000"/>
              </a:lnSpc>
              <a:spcBef>
                <a:spcPts val="0"/>
              </a:spcBef>
              <a:spcAft>
                <a:spcPts val="700"/>
              </a:spcAft>
            </a:pPr>
            <a:r>
              <a:rPr dirty="0"/>
              <a:t>• 方法贡献：提供可复验协议（3大模型族、4类任务、5种架构、180个受控配置）。</a:t>
            </a:r>
            <a:endParaRPr lang="en-US" dirty="0"/>
          </a:p>
          <a:p>
            <a:pPr algn="l">
              <a:lnSpc>
                <a:spcPct val="116000"/>
              </a:lnSpc>
              <a:spcBef>
                <a:spcPts val="0"/>
              </a:spcBef>
              <a:spcAft>
                <a:spcPts val="700"/>
              </a:spcAft>
            </a:pPr>
            <a:r>
              <a:rPr dirty="0"/>
              <a:t>• 预测贡献：模型在留出配置上可预测最优架构，报告87%的选择准确率。</a:t>
            </a:r>
            <a:endParaRPr lang="en-US" dirty="0"/>
          </a:p>
          <a:p>
            <a:pPr algn="l">
              <a:lnSpc>
                <a:spcPct val="116000"/>
              </a:lnSpc>
              <a:spcBef>
                <a:spcPts val="0"/>
              </a:spcBef>
              <a:spcAft>
                <a:spcPts val="700"/>
              </a:spcAft>
            </a:pPr>
            <a:r>
              <a:rPr dirty="0"/>
              <a:t>• 外推贡献：在GPT-5.2外样本上保持较低误差，验证关键规律具备跨代泛化潜力。</a:t>
            </a:r>
            <a:endParaRPr lang="en-US" dirty="0"/>
          </a:p>
          <a:p>
            <a:pPr algn="l">
              <a:lnSpc>
                <a:spcPct val="116000"/>
              </a:lnSpc>
              <a:spcBef>
                <a:spcPts val="0"/>
              </a:spcBef>
              <a:spcAft>
                <a:spcPts val="700"/>
              </a:spcAft>
            </a:pPr>
            <a:r>
              <a:rPr dirty="0"/>
              <a:t>• </a:t>
            </a:r>
            <a:r>
              <a:rPr dirty="0" err="1"/>
              <a:t>工程贡献：形成可落地决策框架，用效率、开销、冗余与错误放大联合选型</a:t>
            </a:r>
            <a:r>
              <a:rPr dirty="0"/>
              <a:t>。</a:t>
            </a:r>
          </a:p>
        </p:txBody>
      </p:sp>
      <p:pic>
        <p:nvPicPr>
          <p:cNvPr id="12" name="图片 11">
            <a:extLst>
              <a:ext uri="{FF2B5EF4-FFF2-40B4-BE49-F238E27FC236}">
                <a16:creationId xmlns:a16="http://schemas.microsoft.com/office/drawing/2014/main" id="{DA0879EF-A5B0-27B7-D5DC-7D6550013730}"/>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141044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逐图深度解读：从结论走向证据</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下面按原文图1-图6依次解释每张图在回答什么问题</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369332"/>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22960" y="1783080"/>
            <a:ext cx="9738360" cy="2013628"/>
          </a:xfrm>
          <a:prstGeom prst="rect">
            <a:avLst/>
          </a:prstGeom>
          <a:noFill/>
        </p:spPr>
        <p:txBody>
          <a:bodyPr wrap="square">
            <a:spAutoFit/>
          </a:bodyPr>
          <a:lstStyle/>
          <a:p>
            <a:pPr algn="l">
              <a:lnSpc>
                <a:spcPct val="116000"/>
              </a:lnSpc>
              <a:spcBef>
                <a:spcPts val="0"/>
              </a:spcBef>
              <a:spcAft>
                <a:spcPts val="700"/>
              </a:spcAft>
            </a:pPr>
            <a:r>
              <a:rPr dirty="0"/>
              <a:t>• 图1：模型能力与协同架构是否存在协同放大。</a:t>
            </a:r>
            <a:endParaRPr lang="en-US" dirty="0"/>
          </a:p>
          <a:p>
            <a:pPr algn="l">
              <a:lnSpc>
                <a:spcPct val="116000"/>
              </a:lnSpc>
              <a:spcBef>
                <a:spcPts val="0"/>
              </a:spcBef>
              <a:spcAft>
                <a:spcPts val="700"/>
              </a:spcAft>
            </a:pPr>
            <a:r>
              <a:rPr dirty="0"/>
              <a:t>• 图2：不同任务类型中，MAS相对SAS为何会分化。</a:t>
            </a:r>
            <a:endParaRPr lang="en-US" dirty="0"/>
          </a:p>
          <a:p>
            <a:pPr algn="l">
              <a:lnSpc>
                <a:spcPct val="116000"/>
              </a:lnSpc>
              <a:spcBef>
                <a:spcPts val="0"/>
              </a:spcBef>
              <a:spcAft>
                <a:spcPts val="700"/>
              </a:spcAft>
            </a:pPr>
            <a:r>
              <a:rPr dirty="0"/>
              <a:t>• 图3：性能提升与成本上升之间如何权衡。</a:t>
            </a:r>
            <a:endParaRPr lang="en-US" dirty="0"/>
          </a:p>
          <a:p>
            <a:pPr algn="l">
              <a:lnSpc>
                <a:spcPct val="116000"/>
              </a:lnSpc>
              <a:spcBef>
                <a:spcPts val="0"/>
              </a:spcBef>
              <a:spcAft>
                <a:spcPts val="700"/>
              </a:spcAft>
            </a:pPr>
            <a:r>
              <a:rPr dirty="0"/>
              <a:t>• 图4与图5：异构编队与代理数量扩展的边界条件。</a:t>
            </a:r>
            <a:endParaRPr lang="en-US" dirty="0"/>
          </a:p>
          <a:p>
            <a:pPr algn="l">
              <a:lnSpc>
                <a:spcPct val="116000"/>
              </a:lnSpc>
              <a:spcBef>
                <a:spcPts val="0"/>
              </a:spcBef>
              <a:spcAft>
                <a:spcPts val="700"/>
              </a:spcAft>
            </a:pPr>
            <a:r>
              <a:rPr dirty="0"/>
              <a:t>• 图6：跨模型族、跨基准是否存在稳定的缩放动态。</a:t>
            </a:r>
          </a:p>
        </p:txBody>
      </p:sp>
      <p:pic>
        <p:nvPicPr>
          <p:cNvPr id="9" name="图片 11">
            <a:extLst>
              <a:ext uri="{FF2B5EF4-FFF2-40B4-BE49-F238E27FC236}">
                <a16:creationId xmlns:a16="http://schemas.microsoft.com/office/drawing/2014/main" id="{D6161145-8687-472E-1628-987A8FF3CE75}"/>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A997-489F-9B2F-79F7-C80B273B3C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A03209-782E-0052-5968-B67AA293801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803A4D4-1CA4-38DB-57A4-BA0BF2D4EF73}"/>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1</a:t>
            </a:r>
            <a:r>
              <a:rPr lang="zh-CN" altLang="en-US" b="1" dirty="0">
                <a:solidFill>
                  <a:schemeClr val="accent1"/>
                </a:solidFill>
              </a:rPr>
              <a:t>解读：能力增长会放大协同收益，但并非无条件</a:t>
            </a:r>
          </a:p>
        </p:txBody>
      </p:sp>
      <p:sp>
        <p:nvSpPr>
          <p:cNvPr id="4" name="TextBox 3">
            <a:extLst>
              <a:ext uri="{FF2B5EF4-FFF2-40B4-BE49-F238E27FC236}">
                <a16:creationId xmlns:a16="http://schemas.microsoft.com/office/drawing/2014/main" id="{831B1BCF-7E89-4C4C-CBB7-E6CB262DBD0C}"/>
              </a:ext>
            </a:extLst>
          </p:cNvPr>
          <p:cNvSpPr txBox="1"/>
          <p:nvPr/>
        </p:nvSpPr>
        <p:spPr>
          <a:xfrm>
            <a:off x="676656" y="877824"/>
            <a:ext cx="9692640" cy="279564"/>
          </a:xfrm>
          <a:prstGeom prst="rect">
            <a:avLst/>
          </a:prstGeom>
          <a:noFill/>
        </p:spPr>
        <p:txBody>
          <a:bodyPr wrap="square">
            <a:spAutoFit/>
          </a:bodyPr>
          <a:lstStyle/>
          <a:p>
            <a:r>
              <a:t>核心在于严谨定义、受控比较与可外推的定量模型</a:t>
            </a:r>
          </a:p>
        </p:txBody>
      </p:sp>
      <p:grpSp>
        <p:nvGrpSpPr>
          <p:cNvPr id="5" name="Group 4">
            <a:extLst>
              <a:ext uri="{FF2B5EF4-FFF2-40B4-BE49-F238E27FC236}">
                <a16:creationId xmlns:a16="http://schemas.microsoft.com/office/drawing/2014/main" id="{C0E39660-D457-A2C0-B2F2-7235B1708694}"/>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C2CFCB56-1B98-30B0-7981-5207569C971B}"/>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985685B7-E2AE-89F1-9238-EED70F0C32B9}"/>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CF4EF040-EA97-AD13-F24C-A2864079B93F}"/>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三大模型族总体都随能力提升而上升，说明底座能力仍是首要驱动因子。</a:t>
              </a:r>
            </a:p>
            <a:p>
              <a:pPr>
                <a:spcAft>
                  <a:spcPts val="700"/>
                </a:spcAft>
              </a:pPr>
              <a:r>
                <a:rPr lang="en-US" altLang="zh-CN" sz="1400" dirty="0"/>
                <a:t>• </a:t>
              </a:r>
              <a:r>
                <a:rPr lang="zh-CN" altLang="en-US" sz="1400" dirty="0"/>
                <a:t>同等能力下，</a:t>
              </a:r>
              <a:r>
                <a:rPr lang="en-US" sz="1400" dirty="0"/>
                <a:t>Centralized/Hybrid</a:t>
              </a:r>
              <a:r>
                <a:rPr lang="zh-CN" altLang="en-US" sz="1400" dirty="0"/>
                <a:t>常优于</a:t>
              </a:r>
              <a:r>
                <a:rPr lang="en-US" sz="1400" dirty="0"/>
                <a:t>SAS，</a:t>
              </a:r>
              <a:r>
                <a:rPr lang="zh-CN" altLang="en-US" sz="1400" dirty="0"/>
                <a:t>说明协调机制可放大能力红利。</a:t>
              </a:r>
            </a:p>
            <a:p>
              <a:pPr>
                <a:spcAft>
                  <a:spcPts val="700"/>
                </a:spcAft>
              </a:pPr>
              <a:r>
                <a:rPr lang="en-US" altLang="zh-CN" sz="1400" dirty="0"/>
                <a:t>• </a:t>
              </a:r>
              <a:r>
                <a:rPr lang="zh-CN" altLang="en-US" sz="1400" dirty="0"/>
                <a:t>增益幅度并不恒定，局部区间出现回落，反映协调成本会抵消部分收益。</a:t>
              </a:r>
            </a:p>
            <a:p>
              <a:pPr>
                <a:spcAft>
                  <a:spcPts val="700"/>
                </a:spcAft>
              </a:pPr>
              <a:r>
                <a:rPr lang="en-US" altLang="zh-CN" sz="1400" dirty="0"/>
                <a:t>• </a:t>
              </a:r>
              <a:r>
                <a:rPr lang="zh-CN" altLang="en-US" sz="1400" dirty="0"/>
                <a:t>管理含义：应同步优化“模型能力</a:t>
              </a:r>
              <a:r>
                <a:rPr lang="en-US" altLang="zh-CN" sz="1400" dirty="0"/>
                <a:t>×</a:t>
              </a:r>
              <a:r>
                <a:rPr lang="zh-CN" altLang="en-US" sz="1400" dirty="0"/>
                <a:t>协调拓扑”，不能只做模型升级。</a:t>
              </a:r>
            </a:p>
          </p:txBody>
        </p:sp>
      </p:grpSp>
      <p:pic>
        <p:nvPicPr>
          <p:cNvPr id="12" name="图片 11">
            <a:extLst>
              <a:ext uri="{FF2B5EF4-FFF2-40B4-BE49-F238E27FC236}">
                <a16:creationId xmlns:a16="http://schemas.microsoft.com/office/drawing/2014/main" id="{86CA906E-E902-BFA0-FD82-9724A14A962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a:extLst>
              <a:ext uri="{FF2B5EF4-FFF2-40B4-BE49-F238E27FC236}">
                <a16:creationId xmlns:a16="http://schemas.microsoft.com/office/drawing/2014/main" id="{4AA3A080-79B2-6290-2D9B-636160DCDC2D}"/>
              </a:ext>
            </a:extLst>
          </p:cNvPr>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1210229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FCBB-E62D-C4DF-0EBF-1426E1BF70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FAF407-6C34-CEAB-20A4-DB69D8889AA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7B0B496-0834-E43C-E3E8-36C18BFED06C}"/>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2</a:t>
            </a:r>
            <a:r>
              <a:rPr lang="zh-CN" altLang="en-US" b="1" dirty="0">
                <a:solidFill>
                  <a:schemeClr val="accent1"/>
                </a:solidFill>
              </a:rPr>
              <a:t>解读：任务结构决定</a:t>
            </a:r>
            <a:r>
              <a:rPr lang="en-US" b="1" dirty="0">
                <a:solidFill>
                  <a:schemeClr val="accent1"/>
                </a:solidFill>
              </a:rPr>
              <a:t>MAS</a:t>
            </a:r>
            <a:r>
              <a:rPr lang="zh-CN" altLang="en-US" b="1" dirty="0">
                <a:solidFill>
                  <a:schemeClr val="accent1"/>
                </a:solidFill>
              </a:rPr>
              <a:t>是增益还是退化</a:t>
            </a:r>
          </a:p>
        </p:txBody>
      </p:sp>
      <p:sp>
        <p:nvSpPr>
          <p:cNvPr id="4" name="TextBox 3">
            <a:extLst>
              <a:ext uri="{FF2B5EF4-FFF2-40B4-BE49-F238E27FC236}">
                <a16:creationId xmlns:a16="http://schemas.microsoft.com/office/drawing/2014/main" id="{DAE4457B-2385-3316-5017-6A5ECEC9236E}"/>
              </a:ext>
            </a:extLst>
          </p:cNvPr>
          <p:cNvSpPr txBox="1"/>
          <p:nvPr/>
        </p:nvSpPr>
        <p:spPr>
          <a:xfrm>
            <a:off x="676656" y="877824"/>
            <a:ext cx="9692640" cy="369332"/>
          </a:xfrm>
          <a:prstGeom prst="rect">
            <a:avLst/>
          </a:prstGeom>
          <a:noFill/>
        </p:spPr>
        <p:txBody>
          <a:bodyPr wrap="square">
            <a:spAutoFit/>
          </a:bodyPr>
          <a:lstStyle/>
          <a:p>
            <a:r>
              <a:rPr lang="zh-CN" altLang="en-US" dirty="0"/>
              <a:t>同一套架构在不同基准上的表现方向可以完全相反</a:t>
            </a:r>
          </a:p>
        </p:txBody>
      </p:sp>
      <p:grpSp>
        <p:nvGrpSpPr>
          <p:cNvPr id="5" name="Group 4">
            <a:extLst>
              <a:ext uri="{FF2B5EF4-FFF2-40B4-BE49-F238E27FC236}">
                <a16:creationId xmlns:a16="http://schemas.microsoft.com/office/drawing/2014/main" id="{19054F56-B109-C816-900E-27E3D42CF076}"/>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9B221681-0918-FEBB-CD3E-2CAE594395C6}"/>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8EF2B4A9-1C0B-D041-B64A-A34B9CC52970}"/>
                </a:ext>
              </a:extLst>
            </p:cNvPr>
            <p:cNvSpPr txBox="1"/>
            <p:nvPr/>
          </p:nvSpPr>
          <p:spPr>
            <a:xfrm>
              <a:off x="804672" y="1499616"/>
              <a:ext cx="4600000"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AAA3AEBC-78BF-ABDB-3B03-1D583D45364F}"/>
                </a:ext>
              </a:extLst>
            </p:cNvPr>
            <p:cNvSpPr txBox="1"/>
            <p:nvPr/>
          </p:nvSpPr>
          <p:spPr>
            <a:xfrm>
              <a:off x="822960" y="1783080"/>
              <a:ext cx="4500000" cy="2960682"/>
            </a:xfrm>
            <a:prstGeom prst="rect">
              <a:avLst/>
            </a:prstGeom>
            <a:noFill/>
          </p:spPr>
          <p:txBody>
            <a:bodyPr wrap="square">
              <a:spAutoFit/>
            </a:bodyPr>
            <a:lstStyle/>
            <a:p>
              <a:pPr>
                <a:lnSpc>
                  <a:spcPct val="116000"/>
                </a:lnSpc>
                <a:spcAft>
                  <a:spcPts val="700"/>
                </a:spcAft>
              </a:pPr>
              <a:r>
                <a:rPr lang="en-US" sz="1400" dirty="0"/>
                <a:t>• Finance-Agent</a:t>
              </a:r>
              <a:r>
                <a:rPr lang="zh-CN" altLang="en-US" sz="1400" dirty="0"/>
                <a:t>中</a:t>
              </a:r>
              <a:r>
                <a:rPr lang="en-US" sz="1400" dirty="0"/>
                <a:t>MAS</a:t>
              </a:r>
              <a:r>
                <a:rPr lang="zh-CN" altLang="en-US" sz="1400" dirty="0"/>
                <a:t>可达约</a:t>
              </a:r>
              <a:r>
                <a:rPr lang="en-US" altLang="zh-CN" sz="1400" dirty="0"/>
                <a:t>+57%</a:t>
              </a:r>
              <a:r>
                <a:rPr lang="zh-CN" altLang="en-US" sz="1400" dirty="0"/>
                <a:t>到</a:t>
              </a:r>
              <a:r>
                <a:rPr lang="en-US" altLang="zh-CN" sz="1400" dirty="0"/>
                <a:t>+81%</a:t>
              </a:r>
              <a:r>
                <a:rPr lang="zh-CN" altLang="en-US" sz="1400" dirty="0"/>
                <a:t>，核心原因是任务可并行分解。</a:t>
              </a:r>
              <a:endParaRPr lang="en-US" altLang="zh-CN" sz="1400" dirty="0"/>
            </a:p>
            <a:p>
              <a:pPr>
                <a:lnSpc>
                  <a:spcPct val="116000"/>
                </a:lnSpc>
                <a:spcAft>
                  <a:spcPts val="700"/>
                </a:spcAft>
              </a:pPr>
              <a:endParaRPr lang="zh-CN" altLang="en-US" sz="1400" dirty="0"/>
            </a:p>
            <a:p>
              <a:r>
                <a:rPr lang="en-US" altLang="zh-CN" sz="1400" dirty="0"/>
                <a:t>• </a:t>
              </a:r>
              <a:r>
                <a:rPr lang="en-US" sz="1400" dirty="0" err="1"/>
                <a:t>PlanCraft</a:t>
              </a:r>
              <a:r>
                <a:rPr lang="zh-CN" altLang="en-US" sz="1400" dirty="0"/>
                <a:t>中</a:t>
              </a:r>
              <a:r>
                <a:rPr lang="en-US" sz="1400" dirty="0"/>
                <a:t>MAS</a:t>
              </a:r>
              <a:r>
                <a:rPr lang="zh-CN" altLang="en-US" sz="1400" dirty="0"/>
                <a:t>全面退化（约</a:t>
              </a:r>
              <a:r>
                <a:rPr lang="en-US" altLang="zh-CN" sz="1400" dirty="0"/>
                <a:t>-39%</a:t>
              </a:r>
              <a:r>
                <a:rPr lang="zh-CN" altLang="en-US" sz="1400" dirty="0"/>
                <a:t>到</a:t>
              </a:r>
              <a:r>
                <a:rPr lang="en-US" altLang="zh-CN" sz="1400" dirty="0"/>
                <a:t>-70%</a:t>
              </a:r>
              <a:r>
                <a:rPr lang="zh-CN" altLang="en-US" sz="1400" dirty="0"/>
                <a:t>），因为顺序依赖强且状态耦合高。</a:t>
              </a:r>
              <a:endParaRPr lang="en-US" altLang="zh-CN" sz="1400" dirty="0"/>
            </a:p>
            <a:p>
              <a:endParaRPr lang="zh-CN" altLang="en-US" sz="1400" dirty="0"/>
            </a:p>
            <a:p>
              <a:r>
                <a:rPr lang="en-US" altLang="zh-CN" sz="1400" dirty="0"/>
                <a:t>• </a:t>
              </a:r>
              <a:r>
                <a:rPr lang="en-US" sz="1400" dirty="0" err="1"/>
                <a:t>BrowseComp</a:t>
              </a:r>
              <a:r>
                <a:rPr lang="zh-CN" altLang="en-US" sz="1400" dirty="0"/>
                <a:t>和</a:t>
              </a:r>
              <a:r>
                <a:rPr lang="en-US" sz="1400" dirty="0"/>
                <a:t>Workbench</a:t>
              </a:r>
              <a:r>
                <a:rPr lang="zh-CN" altLang="en-US" sz="1400" dirty="0"/>
                <a:t>介于中间，体现“部分可分解、部分受开销制约”的混合态。</a:t>
              </a:r>
              <a:endParaRPr lang="en-US" altLang="zh-CN" sz="1400" dirty="0"/>
            </a:p>
            <a:p>
              <a:endParaRPr lang="zh-CN" altLang="en-US" sz="1400" dirty="0"/>
            </a:p>
            <a:p>
              <a:r>
                <a:rPr lang="en-US" altLang="zh-CN" sz="1400" dirty="0"/>
                <a:t>• </a:t>
              </a:r>
              <a:r>
                <a:rPr lang="zh-CN" altLang="en-US" sz="1400" dirty="0"/>
                <a:t>关键判断不是任务难度本身，而是可分解性、工具负载与序列依赖的组合。</a:t>
              </a:r>
            </a:p>
          </p:txBody>
        </p:sp>
      </p:grpSp>
      <p:pic>
        <p:nvPicPr>
          <p:cNvPr id="12" name="图片 11">
            <a:extLst>
              <a:ext uri="{FF2B5EF4-FFF2-40B4-BE49-F238E27FC236}">
                <a16:creationId xmlns:a16="http://schemas.microsoft.com/office/drawing/2014/main" id="{A9C9959B-2ACF-0A19-39A0-6B6CF6114CBB}"/>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a:extLst>
              <a:ext uri="{FF2B5EF4-FFF2-40B4-BE49-F238E27FC236}">
                <a16:creationId xmlns:a16="http://schemas.microsoft.com/office/drawing/2014/main" id="{CB90F16D-E4C3-C1F8-D365-877B52EE507D}"/>
              </a:ext>
            </a:extLst>
          </p:cNvPr>
          <p:cNvPicPr>
            <a:picLocks noChangeAspect="1"/>
          </p:cNvPicPr>
          <p:nvPr/>
        </p:nvPicPr>
        <p:blipFill>
          <a:blip r:embed="rId4"/>
          <a:stretch>
            <a:fillRect/>
          </a:stretch>
        </p:blipFill>
        <p:spPr>
          <a:xfrm>
            <a:off x="4360908" y="1401106"/>
            <a:ext cx="7172724" cy="5263854"/>
          </a:xfrm>
          <a:prstGeom prst="rect">
            <a:avLst/>
          </a:prstGeom>
        </p:spPr>
      </p:pic>
    </p:spTree>
    <p:extLst>
      <p:ext uri="{BB962C8B-B14F-4D97-AF65-F5344CB8AC3E}">
        <p14:creationId xmlns:p14="http://schemas.microsoft.com/office/powerpoint/2010/main" val="1534222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9C696-44FB-FD8E-DF06-56351EAC2C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32E6C3-E323-389B-83CB-40BD1B1F3E3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B8B13D-B130-6367-59F7-A914EA6D08C4}"/>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3</a:t>
            </a:r>
            <a:r>
              <a:rPr lang="zh-CN" altLang="en-US" b="1" dirty="0">
                <a:solidFill>
                  <a:schemeClr val="accent1"/>
                </a:solidFill>
              </a:rPr>
              <a:t>解读：成本</a:t>
            </a:r>
            <a:r>
              <a:rPr lang="en-US" altLang="zh-CN" b="1" dirty="0">
                <a:solidFill>
                  <a:schemeClr val="accent1"/>
                </a:solidFill>
              </a:rPr>
              <a:t>-</a:t>
            </a:r>
            <a:r>
              <a:rPr lang="zh-CN" altLang="en-US" b="1" dirty="0">
                <a:solidFill>
                  <a:schemeClr val="accent1"/>
                </a:solidFill>
              </a:rPr>
              <a:t>性能权衡具有模型族差异</a:t>
            </a:r>
          </a:p>
        </p:txBody>
      </p:sp>
      <p:sp>
        <p:nvSpPr>
          <p:cNvPr id="4" name="TextBox 3">
            <a:extLst>
              <a:ext uri="{FF2B5EF4-FFF2-40B4-BE49-F238E27FC236}">
                <a16:creationId xmlns:a16="http://schemas.microsoft.com/office/drawing/2014/main" id="{624F15D9-4465-5845-E9DC-88447BB4162B}"/>
              </a:ext>
            </a:extLst>
          </p:cNvPr>
          <p:cNvSpPr txBox="1"/>
          <p:nvPr/>
        </p:nvSpPr>
        <p:spPr>
          <a:xfrm>
            <a:off x="676656" y="877824"/>
            <a:ext cx="9692640" cy="369332"/>
          </a:xfrm>
          <a:prstGeom prst="rect">
            <a:avLst/>
          </a:prstGeom>
          <a:noFill/>
        </p:spPr>
        <p:txBody>
          <a:bodyPr wrap="square">
            <a:spAutoFit/>
          </a:bodyPr>
          <a:lstStyle/>
          <a:p>
            <a:r>
              <a:rPr lang="zh-CN" altLang="en-US" dirty="0"/>
              <a:t>核心问题：性能增益是否值得额外协调成本？</a:t>
            </a:r>
          </a:p>
        </p:txBody>
      </p:sp>
      <p:grpSp>
        <p:nvGrpSpPr>
          <p:cNvPr id="5" name="Group 4">
            <a:extLst>
              <a:ext uri="{FF2B5EF4-FFF2-40B4-BE49-F238E27FC236}">
                <a16:creationId xmlns:a16="http://schemas.microsoft.com/office/drawing/2014/main" id="{1229A1FC-50E9-FEC7-F3B3-646707511C9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3571BABE-A3E6-C870-5E43-FE2EAC76A6E6}"/>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3B5E541D-A8BE-7F9B-234C-3723171C5B71}"/>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80B23CC1-F5C8-CA2F-9EFB-014C94BB5DF7}"/>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横轴成本、纵轴性能，揭示“最高性能点”与“最优性价比点”往往不一致。</a:t>
              </a:r>
            </a:p>
            <a:p>
              <a:pPr>
                <a:spcAft>
                  <a:spcPts val="700"/>
                </a:spcAft>
              </a:pPr>
              <a:r>
                <a:rPr lang="en-US" altLang="zh-CN" sz="1400" dirty="0"/>
                <a:t>• OpenAI</a:t>
              </a:r>
              <a:r>
                <a:rPr lang="zh-CN" altLang="en-US" sz="1400" dirty="0"/>
                <a:t>族在</a:t>
              </a:r>
              <a:r>
                <a:rPr lang="en-US" altLang="zh-CN" sz="1400" dirty="0"/>
                <a:t>Centralized/Hybrid</a:t>
              </a:r>
              <a:r>
                <a:rPr lang="zh-CN" altLang="en-US" sz="1400" dirty="0"/>
                <a:t>上增益更明显，但伴随更高成本。</a:t>
              </a:r>
            </a:p>
            <a:p>
              <a:pPr>
                <a:spcAft>
                  <a:spcPts val="700"/>
                </a:spcAft>
              </a:pPr>
              <a:r>
                <a:rPr lang="en-US" altLang="zh-CN" sz="1400" dirty="0"/>
                <a:t>• Google</a:t>
              </a:r>
              <a:r>
                <a:rPr lang="zh-CN" altLang="en-US" sz="1400" dirty="0"/>
                <a:t>族较早出现收益平台期，提示轻量协调场景存在边际收益上限。</a:t>
              </a:r>
            </a:p>
            <a:p>
              <a:pPr>
                <a:spcAft>
                  <a:spcPts val="700"/>
                </a:spcAft>
              </a:pPr>
              <a:r>
                <a:rPr lang="en-US" altLang="zh-CN" sz="1400" dirty="0"/>
                <a:t>• </a:t>
              </a:r>
              <a:r>
                <a:rPr lang="zh-CN" altLang="en-US" sz="1400" dirty="0"/>
                <a:t>工程决策应先设预算约束，再在可行架构集合内优化性能。</a:t>
              </a:r>
            </a:p>
          </p:txBody>
        </p:sp>
      </p:grpSp>
      <p:pic>
        <p:nvPicPr>
          <p:cNvPr id="12" name="图片 11">
            <a:extLst>
              <a:ext uri="{FF2B5EF4-FFF2-40B4-BE49-F238E27FC236}">
                <a16:creationId xmlns:a16="http://schemas.microsoft.com/office/drawing/2014/main" id="{D76D242B-5D74-553E-C043-EA8FCCE4C7D9}"/>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9" name="Picture 8" descr="slide_09_fit.png">
            <a:extLst>
              <a:ext uri="{FF2B5EF4-FFF2-40B4-BE49-F238E27FC236}">
                <a16:creationId xmlns:a16="http://schemas.microsoft.com/office/drawing/2014/main" id="{8F18A857-6531-D516-1BA3-3AAAAE00A2DB}"/>
              </a:ext>
            </a:extLst>
          </p:cNvPr>
          <p:cNvPicPr>
            <a:picLocks noChangeAspect="1"/>
          </p:cNvPicPr>
          <p:nvPr/>
        </p:nvPicPr>
        <p:blipFill>
          <a:blip r:embed="rId4"/>
          <a:stretch>
            <a:fillRect/>
          </a:stretch>
        </p:blipFill>
        <p:spPr>
          <a:xfrm>
            <a:off x="1354577" y="1343281"/>
            <a:ext cx="9482845" cy="3574303"/>
          </a:xfrm>
          <a:prstGeom prst="rect">
            <a:avLst/>
          </a:prstGeom>
        </p:spPr>
      </p:pic>
    </p:spTree>
    <p:extLst>
      <p:ext uri="{BB962C8B-B14F-4D97-AF65-F5344CB8AC3E}">
        <p14:creationId xmlns:p14="http://schemas.microsoft.com/office/powerpoint/2010/main" val="924652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4204-DFC4-5BD7-0122-F1EAB15AB1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4301F7-E898-CE2A-908B-685169BAE26A}"/>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E003168-7AEC-A3AD-4642-06DD3B1EE98B}"/>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4</a:t>
            </a:r>
            <a:r>
              <a:rPr lang="zh-CN" altLang="en-US" b="1" dirty="0">
                <a:solidFill>
                  <a:schemeClr val="accent1"/>
                </a:solidFill>
              </a:rPr>
              <a:t>解读：异构编队可能优于同构高配</a:t>
            </a:r>
          </a:p>
        </p:txBody>
      </p:sp>
      <p:sp>
        <p:nvSpPr>
          <p:cNvPr id="4" name="TextBox 3">
            <a:extLst>
              <a:ext uri="{FF2B5EF4-FFF2-40B4-BE49-F238E27FC236}">
                <a16:creationId xmlns:a16="http://schemas.microsoft.com/office/drawing/2014/main" id="{0B4D8024-EB96-7E90-AE65-C4E310BFCFFE}"/>
              </a:ext>
            </a:extLst>
          </p:cNvPr>
          <p:cNvSpPr txBox="1"/>
          <p:nvPr/>
        </p:nvSpPr>
        <p:spPr>
          <a:xfrm>
            <a:off x="676656" y="877824"/>
            <a:ext cx="9692640" cy="369332"/>
          </a:xfrm>
          <a:prstGeom prst="rect">
            <a:avLst/>
          </a:prstGeom>
          <a:noFill/>
        </p:spPr>
        <p:txBody>
          <a:bodyPr wrap="square">
            <a:spAutoFit/>
          </a:bodyPr>
          <a:lstStyle/>
          <a:p>
            <a:r>
              <a:rPr lang="zh-CN" altLang="en-US" dirty="0"/>
              <a:t>核心问题：是否必须“所有角色都用最强模型”？</a:t>
            </a:r>
          </a:p>
        </p:txBody>
      </p:sp>
      <p:grpSp>
        <p:nvGrpSpPr>
          <p:cNvPr id="5" name="Group 4">
            <a:extLst>
              <a:ext uri="{FF2B5EF4-FFF2-40B4-BE49-F238E27FC236}">
                <a16:creationId xmlns:a16="http://schemas.microsoft.com/office/drawing/2014/main" id="{2F599E29-857A-D9C8-569F-BC72A99E096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B49FCE35-FABF-9DD8-5627-1C1B6B130733}"/>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4DE79C5C-7D56-C4C9-C6D7-73C765855CE8}"/>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CE03535E-42B1-7612-6A09-68166BB95169}"/>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该图比较了不同模型能力组合在</a:t>
              </a:r>
              <a:r>
                <a:rPr lang="en-US" altLang="zh-CN" sz="1400" dirty="0"/>
                <a:t>Centralized</a:t>
              </a:r>
              <a:r>
                <a:rPr lang="zh-CN" altLang="en-US" sz="1400" dirty="0"/>
                <a:t>与</a:t>
              </a:r>
              <a:r>
                <a:rPr lang="en-US" altLang="zh-CN" sz="1400" dirty="0"/>
                <a:t>Decentralized</a:t>
              </a:r>
              <a:r>
                <a:rPr lang="zh-CN" altLang="en-US" sz="1400" dirty="0"/>
                <a:t>中的表现差异。</a:t>
              </a:r>
            </a:p>
            <a:p>
              <a:pPr>
                <a:spcAft>
                  <a:spcPts val="700"/>
                </a:spcAft>
              </a:pPr>
              <a:r>
                <a:rPr lang="en-US" altLang="zh-CN" sz="1400" dirty="0"/>
                <a:t>• </a:t>
              </a:r>
              <a:r>
                <a:rPr lang="zh-CN" altLang="en-US" sz="1400" dirty="0"/>
                <a:t>部分家族中，</a:t>
              </a:r>
              <a:r>
                <a:rPr lang="zh-CN" altLang="en-US" sz="1400" b="1" dirty="0"/>
                <a:t>“高能力子代理</a:t>
              </a:r>
              <a:r>
                <a:rPr lang="en-US" altLang="zh-CN" sz="1400" b="1" dirty="0"/>
                <a:t>+</a:t>
              </a:r>
              <a:r>
                <a:rPr lang="zh-CN" altLang="en-US" sz="1400" b="1" dirty="0"/>
                <a:t>相对弱编排者”</a:t>
              </a:r>
              <a:r>
                <a:rPr lang="zh-CN" altLang="en-US" sz="1400" dirty="0"/>
                <a:t>可优于全高配同构方案。</a:t>
              </a:r>
            </a:p>
            <a:p>
              <a:pPr>
                <a:spcAft>
                  <a:spcPts val="700"/>
                </a:spcAft>
              </a:pPr>
              <a:r>
                <a:rPr lang="en-US" altLang="zh-CN" sz="1400" dirty="0"/>
                <a:t>• </a:t>
              </a:r>
              <a:r>
                <a:rPr lang="zh-CN" altLang="en-US" sz="1400" dirty="0"/>
                <a:t>说明中心节点的价值在于协同组织与信息筛选，而不只是“参数最大”。</a:t>
              </a:r>
            </a:p>
            <a:p>
              <a:pPr>
                <a:spcAft>
                  <a:spcPts val="700"/>
                </a:spcAft>
              </a:pPr>
              <a:r>
                <a:rPr lang="en-US" altLang="zh-CN" sz="1400" dirty="0"/>
                <a:t>• </a:t>
              </a:r>
              <a:r>
                <a:rPr lang="zh-CN" altLang="en-US" sz="1400" dirty="0"/>
                <a:t>异构编队可提高成本效率，但必须控制角色漂移与通信噪声。</a:t>
              </a:r>
            </a:p>
          </p:txBody>
        </p:sp>
      </p:grpSp>
      <p:pic>
        <p:nvPicPr>
          <p:cNvPr id="12" name="图片 11">
            <a:extLst>
              <a:ext uri="{FF2B5EF4-FFF2-40B4-BE49-F238E27FC236}">
                <a16:creationId xmlns:a16="http://schemas.microsoft.com/office/drawing/2014/main" id="{2AECE820-5FF4-AB0E-642C-74C969BED474}"/>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0" name="Picture 9" descr="slide_10_fit.png">
            <a:extLst>
              <a:ext uri="{FF2B5EF4-FFF2-40B4-BE49-F238E27FC236}">
                <a16:creationId xmlns:a16="http://schemas.microsoft.com/office/drawing/2014/main" id="{B9B576A5-4B3E-63B5-0046-90B31531F56A}"/>
              </a:ext>
            </a:extLst>
          </p:cNvPr>
          <p:cNvPicPr>
            <a:picLocks noChangeAspect="1"/>
          </p:cNvPicPr>
          <p:nvPr/>
        </p:nvPicPr>
        <p:blipFill>
          <a:blip r:embed="rId4"/>
          <a:stretch>
            <a:fillRect/>
          </a:stretch>
        </p:blipFill>
        <p:spPr>
          <a:xfrm>
            <a:off x="1763104" y="1343281"/>
            <a:ext cx="8665792" cy="3266337"/>
          </a:xfrm>
          <a:prstGeom prst="rect">
            <a:avLst/>
          </a:prstGeom>
        </p:spPr>
      </p:pic>
    </p:spTree>
    <p:extLst>
      <p:ext uri="{BB962C8B-B14F-4D97-AF65-F5344CB8AC3E}">
        <p14:creationId xmlns:p14="http://schemas.microsoft.com/office/powerpoint/2010/main" val="3802305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68C91-BA8C-8C49-13BF-624951DE34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C41B1A-62F0-08BE-D0E2-12F68439006D}"/>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592835A-97C8-2E8D-A9A8-A9F8224221BE}"/>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5</a:t>
            </a:r>
            <a:r>
              <a:rPr lang="zh-CN" altLang="en-US" b="1" dirty="0">
                <a:solidFill>
                  <a:schemeClr val="accent1"/>
                </a:solidFill>
              </a:rPr>
              <a:t>解读：代理数量扩展存在可观测峰值</a:t>
            </a:r>
          </a:p>
        </p:txBody>
      </p:sp>
      <p:sp>
        <p:nvSpPr>
          <p:cNvPr id="4" name="TextBox 3">
            <a:extLst>
              <a:ext uri="{FF2B5EF4-FFF2-40B4-BE49-F238E27FC236}">
                <a16:creationId xmlns:a16="http://schemas.microsoft.com/office/drawing/2014/main" id="{788BBC88-1781-ADAB-862B-96990B4AD77A}"/>
              </a:ext>
            </a:extLst>
          </p:cNvPr>
          <p:cNvSpPr txBox="1"/>
          <p:nvPr/>
        </p:nvSpPr>
        <p:spPr>
          <a:xfrm>
            <a:off x="676656" y="877824"/>
            <a:ext cx="9692640" cy="369332"/>
          </a:xfrm>
          <a:prstGeom prst="rect">
            <a:avLst/>
          </a:prstGeom>
          <a:noFill/>
        </p:spPr>
        <p:txBody>
          <a:bodyPr wrap="square">
            <a:spAutoFit/>
          </a:bodyPr>
          <a:lstStyle/>
          <a:p>
            <a:r>
              <a:rPr lang="zh-CN" altLang="en-US" dirty="0"/>
              <a:t>核心问题：</a:t>
            </a:r>
            <a:r>
              <a:rPr lang="en-US" altLang="zh-CN" dirty="0"/>
              <a:t>n-agent</a:t>
            </a:r>
            <a:r>
              <a:rPr lang="zh-CN" altLang="en-US" dirty="0"/>
              <a:t>扩展是否单调提升？</a:t>
            </a:r>
          </a:p>
        </p:txBody>
      </p:sp>
      <p:grpSp>
        <p:nvGrpSpPr>
          <p:cNvPr id="5" name="Group 4">
            <a:extLst>
              <a:ext uri="{FF2B5EF4-FFF2-40B4-BE49-F238E27FC236}">
                <a16:creationId xmlns:a16="http://schemas.microsoft.com/office/drawing/2014/main" id="{B31462D6-0BEB-FFE0-6297-B83C77C48F66}"/>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233D17FD-1F7A-21FA-374E-DB971BD5CB55}"/>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A501A0D0-656D-4F47-7DB7-855518E4C868}"/>
                </a:ext>
              </a:extLst>
            </p:cNvPr>
            <p:cNvSpPr txBox="1"/>
            <p:nvPr/>
          </p:nvSpPr>
          <p:spPr>
            <a:xfrm>
              <a:off x="804672" y="1499616"/>
              <a:ext cx="4600000" cy="1133449"/>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95F80A72-52DB-6023-F06B-C052CC7D1218}"/>
                </a:ext>
              </a:extLst>
            </p:cNvPr>
            <p:cNvSpPr txBox="1"/>
            <p:nvPr/>
          </p:nvSpPr>
          <p:spPr>
            <a:xfrm>
              <a:off x="804672" y="2469770"/>
              <a:ext cx="4500000" cy="3754547"/>
            </a:xfrm>
            <a:prstGeom prst="rect">
              <a:avLst/>
            </a:prstGeom>
            <a:noFill/>
          </p:spPr>
          <p:txBody>
            <a:bodyPr wrap="square">
              <a:spAutoFit/>
            </a:bodyPr>
            <a:lstStyle/>
            <a:p>
              <a:pPr>
                <a:spcAft>
                  <a:spcPts val="700"/>
                </a:spcAft>
              </a:pPr>
              <a:r>
                <a:rPr lang="en-US" altLang="zh-CN" sz="1400" dirty="0"/>
                <a:t>• </a:t>
              </a:r>
              <a:r>
                <a:rPr lang="zh-CN" altLang="en-US" sz="1400" dirty="0"/>
                <a:t>两条曲线都呈“先升后降”，证明代理数增加并非单调增益。</a:t>
              </a:r>
            </a:p>
            <a:p>
              <a:pPr>
                <a:spcAft>
                  <a:spcPts val="700"/>
                </a:spcAft>
              </a:pPr>
              <a:r>
                <a:rPr lang="en-US" altLang="zh-CN" sz="1400" dirty="0"/>
                <a:t>• Gemini-2.0 Flash</a:t>
              </a:r>
              <a:r>
                <a:rPr lang="zh-CN" altLang="en-US" sz="1400" dirty="0"/>
                <a:t>在约</a:t>
              </a:r>
              <a:r>
                <a:rPr lang="en-US" altLang="zh-CN" sz="1400" dirty="0"/>
                <a:t>7</a:t>
              </a:r>
              <a:r>
                <a:rPr lang="zh-CN" altLang="en-US" sz="1400" dirty="0"/>
                <a:t>代理附近接近峰值，之后开始退化。</a:t>
              </a:r>
            </a:p>
            <a:p>
              <a:pPr>
                <a:spcAft>
                  <a:spcPts val="700"/>
                </a:spcAft>
              </a:pPr>
              <a:r>
                <a:rPr lang="en-US" altLang="zh-CN" sz="1400" dirty="0"/>
                <a:t>• Gemini-2.5 Pro</a:t>
              </a:r>
              <a:r>
                <a:rPr lang="zh-CN" altLang="en-US" sz="1400" dirty="0"/>
                <a:t>峰值更早，意味着强模型更早进入“协调收益递减区”。</a:t>
              </a:r>
            </a:p>
            <a:p>
              <a:pPr>
                <a:spcAft>
                  <a:spcPts val="700"/>
                </a:spcAft>
              </a:pPr>
              <a:r>
                <a:rPr lang="en-US" altLang="zh-CN" sz="1400" dirty="0"/>
                <a:t>• </a:t>
              </a:r>
              <a:r>
                <a:rPr lang="zh-CN" altLang="en-US" sz="1400" dirty="0"/>
                <a:t>部署上应将代理数视作超参数在线搜索，而非固定加到最大。</a:t>
              </a:r>
            </a:p>
          </p:txBody>
        </p:sp>
      </p:grpSp>
      <p:pic>
        <p:nvPicPr>
          <p:cNvPr id="12" name="图片 11">
            <a:extLst>
              <a:ext uri="{FF2B5EF4-FFF2-40B4-BE49-F238E27FC236}">
                <a16:creationId xmlns:a16="http://schemas.microsoft.com/office/drawing/2014/main" id="{22863754-D7D7-8569-901E-2853A086CBE6}"/>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9" name="Picture 8" descr="slide_11_fit.png">
            <a:extLst>
              <a:ext uri="{FF2B5EF4-FFF2-40B4-BE49-F238E27FC236}">
                <a16:creationId xmlns:a16="http://schemas.microsoft.com/office/drawing/2014/main" id="{10463AB9-75DC-B245-8B83-8CF08199E6A9}"/>
              </a:ext>
            </a:extLst>
          </p:cNvPr>
          <p:cNvPicPr>
            <a:picLocks noChangeAspect="1"/>
          </p:cNvPicPr>
          <p:nvPr/>
        </p:nvPicPr>
        <p:blipFill>
          <a:blip r:embed="rId3"/>
          <a:stretch>
            <a:fillRect/>
          </a:stretch>
        </p:blipFill>
        <p:spPr>
          <a:xfrm>
            <a:off x="2002694" y="1495289"/>
            <a:ext cx="8186612" cy="3085723"/>
          </a:xfrm>
          <a:prstGeom prst="rect">
            <a:avLst/>
          </a:prstGeom>
        </p:spPr>
      </p:pic>
    </p:spTree>
    <p:extLst>
      <p:ext uri="{BB962C8B-B14F-4D97-AF65-F5344CB8AC3E}">
        <p14:creationId xmlns:p14="http://schemas.microsoft.com/office/powerpoint/2010/main" val="2904319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8950-46EA-7229-03A9-B471BDD464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4F0E0B6-86BA-5A30-0B82-F17C002B170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28CB3A7-65BA-291F-C33E-1E298252FCD1}"/>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6</a:t>
            </a:r>
            <a:r>
              <a:rPr lang="zh-CN" altLang="en-US" b="1" dirty="0">
                <a:solidFill>
                  <a:schemeClr val="accent1"/>
                </a:solidFill>
              </a:rPr>
              <a:t>解读：跨基准缩放规律不统一</a:t>
            </a:r>
          </a:p>
        </p:txBody>
      </p:sp>
      <p:sp>
        <p:nvSpPr>
          <p:cNvPr id="4" name="TextBox 3">
            <a:extLst>
              <a:ext uri="{FF2B5EF4-FFF2-40B4-BE49-F238E27FC236}">
                <a16:creationId xmlns:a16="http://schemas.microsoft.com/office/drawing/2014/main" id="{68C0E512-BDB3-9EAA-76AE-20DC652260C7}"/>
              </a:ext>
            </a:extLst>
          </p:cNvPr>
          <p:cNvSpPr txBox="1"/>
          <p:nvPr/>
        </p:nvSpPr>
        <p:spPr>
          <a:xfrm>
            <a:off x="676656" y="877824"/>
            <a:ext cx="9692640" cy="369332"/>
          </a:xfrm>
          <a:prstGeom prst="rect">
            <a:avLst/>
          </a:prstGeom>
          <a:noFill/>
        </p:spPr>
        <p:txBody>
          <a:bodyPr wrap="square">
            <a:spAutoFit/>
          </a:bodyPr>
          <a:lstStyle/>
          <a:p>
            <a:r>
              <a:rPr lang="zh-CN" altLang="en-US" dirty="0"/>
              <a:t>核心问题：不同模型族在不同任务上的协同趋势是否一致？</a:t>
            </a:r>
          </a:p>
        </p:txBody>
      </p:sp>
      <p:grpSp>
        <p:nvGrpSpPr>
          <p:cNvPr id="5" name="Group 4">
            <a:extLst>
              <a:ext uri="{FF2B5EF4-FFF2-40B4-BE49-F238E27FC236}">
                <a16:creationId xmlns:a16="http://schemas.microsoft.com/office/drawing/2014/main" id="{312F6DD6-C885-3E99-2B7B-884C0F6D5DDF}"/>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F7CD3BB4-1118-CEEA-EAB4-14C7E6F3BA42}"/>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a:extLst>
                <a:ext uri="{FF2B5EF4-FFF2-40B4-BE49-F238E27FC236}">
                  <a16:creationId xmlns:a16="http://schemas.microsoft.com/office/drawing/2014/main" id="{414A474D-5016-9CA4-CDF3-DB42C5FF60CE}"/>
                </a:ext>
              </a:extLst>
            </p:cNvPr>
            <p:cNvSpPr txBox="1"/>
            <p:nvPr/>
          </p:nvSpPr>
          <p:spPr>
            <a:xfrm>
              <a:off x="804672" y="1499616"/>
              <a:ext cx="4600000"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963808FA-4EFD-5519-92A8-0D8415269747}"/>
                </a:ext>
              </a:extLst>
            </p:cNvPr>
            <p:cNvSpPr txBox="1"/>
            <p:nvPr/>
          </p:nvSpPr>
          <p:spPr>
            <a:xfrm>
              <a:off x="822960" y="1783080"/>
              <a:ext cx="4500000" cy="2427396"/>
            </a:xfrm>
            <a:prstGeom prst="rect">
              <a:avLst/>
            </a:prstGeom>
            <a:noFill/>
          </p:spPr>
          <p:txBody>
            <a:bodyPr wrap="square">
              <a:spAutoFit/>
            </a:bodyPr>
            <a:lstStyle/>
            <a:p>
              <a:pPr>
                <a:lnSpc>
                  <a:spcPct val="116000"/>
                </a:lnSpc>
                <a:spcAft>
                  <a:spcPts val="700"/>
                </a:spcAft>
              </a:pPr>
              <a:r>
                <a:rPr lang="en-US" altLang="zh-CN" sz="1400" dirty="0"/>
                <a:t>• </a:t>
              </a:r>
              <a:r>
                <a:rPr lang="zh-CN" altLang="en-US" sz="1400" dirty="0"/>
                <a:t>结构化任务中（如</a:t>
              </a:r>
              <a:r>
                <a:rPr lang="en-US" sz="1400" dirty="0"/>
                <a:t>Finance），</a:t>
              </a:r>
              <a:r>
                <a:rPr lang="zh-CN" altLang="en-US" sz="1400" dirty="0"/>
                <a:t>协同放大更明显。</a:t>
              </a:r>
            </a:p>
            <a:p>
              <a:pPr>
                <a:lnSpc>
                  <a:spcPct val="116000"/>
                </a:lnSpc>
                <a:spcAft>
                  <a:spcPts val="700"/>
                </a:spcAft>
              </a:pPr>
              <a:endParaRPr lang="zh-CN" altLang="en-US" sz="1400" dirty="0"/>
            </a:p>
            <a:p>
              <a:pPr>
                <a:lnSpc>
                  <a:spcPct val="116000"/>
                </a:lnSpc>
                <a:spcAft>
                  <a:spcPts val="700"/>
                </a:spcAft>
              </a:pPr>
              <a:r>
                <a:rPr lang="en-US" altLang="zh-CN" sz="1400" dirty="0"/>
                <a:t>• </a:t>
              </a:r>
              <a:r>
                <a:rPr lang="zh-CN" altLang="en-US" sz="1400" dirty="0"/>
                <a:t>不同模型族对协调机制敏感度不同，说明“架构选择”具有供应商依赖性。</a:t>
              </a:r>
            </a:p>
            <a:p>
              <a:pPr>
                <a:lnSpc>
                  <a:spcPct val="116000"/>
                </a:lnSpc>
                <a:spcAft>
                  <a:spcPts val="700"/>
                </a:spcAft>
              </a:pPr>
              <a:endParaRPr lang="zh-CN" altLang="en-US" sz="1400" dirty="0"/>
            </a:p>
            <a:p>
              <a:pPr>
                <a:lnSpc>
                  <a:spcPct val="116000"/>
                </a:lnSpc>
                <a:spcAft>
                  <a:spcPts val="700"/>
                </a:spcAft>
              </a:pPr>
              <a:r>
                <a:rPr lang="en-US" altLang="zh-CN" sz="1400" dirty="0"/>
                <a:t>• </a:t>
              </a:r>
              <a:r>
                <a:rPr lang="zh-CN" altLang="en-US" sz="1400" dirty="0"/>
                <a:t>该图与前文共同指向：最佳拓扑是任务条件化选择，而非通用默认配置。</a:t>
              </a:r>
            </a:p>
          </p:txBody>
        </p:sp>
      </p:grpSp>
      <p:pic>
        <p:nvPicPr>
          <p:cNvPr id="12" name="图片 11">
            <a:extLst>
              <a:ext uri="{FF2B5EF4-FFF2-40B4-BE49-F238E27FC236}">
                <a16:creationId xmlns:a16="http://schemas.microsoft.com/office/drawing/2014/main" id="{BB3B91B3-4BF8-450C-5DDE-83E9962511AD}"/>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0" name="Picture 9">
            <a:extLst>
              <a:ext uri="{FF2B5EF4-FFF2-40B4-BE49-F238E27FC236}">
                <a16:creationId xmlns:a16="http://schemas.microsoft.com/office/drawing/2014/main" id="{3B208454-5EB1-B24A-9E3D-46944DA71C23}"/>
              </a:ext>
            </a:extLst>
          </p:cNvPr>
          <p:cNvPicPr>
            <a:picLocks noChangeAspect="1"/>
          </p:cNvPicPr>
          <p:nvPr/>
        </p:nvPicPr>
        <p:blipFill>
          <a:blip r:embed="rId3"/>
          <a:stretch>
            <a:fillRect/>
          </a:stretch>
        </p:blipFill>
        <p:spPr>
          <a:xfrm>
            <a:off x="5120296" y="1315667"/>
            <a:ext cx="5596472" cy="5468112"/>
          </a:xfrm>
          <a:prstGeom prst="rect">
            <a:avLst/>
          </a:prstGeom>
        </p:spPr>
      </p:pic>
    </p:spTree>
    <p:extLst>
      <p:ext uri="{BB962C8B-B14F-4D97-AF65-F5344CB8AC3E}">
        <p14:creationId xmlns:p14="http://schemas.microsoft.com/office/powerpoint/2010/main" val="2443125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部署决策</a:t>
            </a:r>
            <a:endParaRPr b="1" dirty="0">
              <a:solidFill>
                <a:schemeClr val="accent1"/>
              </a:solidFill>
            </a:endParaRPr>
          </a:p>
        </p:txBody>
      </p:sp>
      <p:sp>
        <p:nvSpPr>
          <p:cNvPr id="6" name="Rounded Rectangle 5"/>
          <p:cNvSpPr/>
          <p:nvPr/>
        </p:nvSpPr>
        <p:spPr>
          <a:xfrm>
            <a:off x="658368" y="1389887"/>
            <a:ext cx="10058400" cy="466257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12" name="图片 11">
            <a:extLst>
              <a:ext uri="{FF2B5EF4-FFF2-40B4-BE49-F238E27FC236}">
                <a16:creationId xmlns:a16="http://schemas.microsoft.com/office/drawing/2014/main" id="{9ECC7479-5EE4-0781-9DDB-BF2FE46215EC}"/>
              </a:ext>
            </a:extLst>
          </p:cNvPr>
          <p:cNvPicPr>
            <a:picLocks noChangeAspect="1"/>
          </p:cNvPicPr>
          <p:nvPr/>
        </p:nvPicPr>
        <p:blipFill>
          <a:blip r:embed="rId2"/>
          <a:stretch>
            <a:fillRect/>
          </a:stretch>
        </p:blipFill>
        <p:spPr>
          <a:xfrm>
            <a:off x="10716768" y="193040"/>
            <a:ext cx="1398224" cy="435405"/>
          </a:xfrm>
          <a:prstGeom prst="rect">
            <a:avLst/>
          </a:prstGeom>
        </p:spPr>
      </p:pic>
      <p:sp>
        <p:nvSpPr>
          <p:cNvPr id="9" name="TextBox 8">
            <a:extLst>
              <a:ext uri="{FF2B5EF4-FFF2-40B4-BE49-F238E27FC236}">
                <a16:creationId xmlns:a16="http://schemas.microsoft.com/office/drawing/2014/main" id="{E8451325-14F1-6404-CD7F-85E5DB057CCD}"/>
              </a:ext>
            </a:extLst>
          </p:cNvPr>
          <p:cNvSpPr txBox="1"/>
          <p:nvPr/>
        </p:nvSpPr>
        <p:spPr>
          <a:xfrm>
            <a:off x="1104900" y="1708890"/>
            <a:ext cx="9046028" cy="369332"/>
          </a:xfrm>
          <a:prstGeom prst="rect">
            <a:avLst/>
          </a:prstGeom>
          <a:noFill/>
        </p:spPr>
        <p:txBody>
          <a:bodyPr wrap="square">
            <a:spAutoFit/>
          </a:bodyPr>
          <a:lstStyle/>
          <a:p>
            <a:r>
              <a:rPr lang="en-US" dirty="0" err="1"/>
              <a:t>P：被预测的代理系统任务性能（如成功率</a:t>
            </a:r>
            <a:r>
              <a:rPr lang="en-US" dirty="0"/>
              <a:t> / </a:t>
            </a:r>
            <a:r>
              <a:rPr lang="en-US" dirty="0" err="1"/>
              <a:t>准确率</a:t>
            </a:r>
            <a:r>
              <a:rPr lang="en-US" dirty="0"/>
              <a:t>），</a:t>
            </a:r>
            <a:r>
              <a:rPr lang="en-US" dirty="0" err="1"/>
              <a:t>是方程左边的因变量</a:t>
            </a:r>
            <a:r>
              <a:rPr lang="zh-CN" altLang="en-US" dirty="0"/>
              <a:t>。</a:t>
            </a:r>
            <a:endParaRPr lang="en-US" dirty="0"/>
          </a:p>
        </p:txBody>
      </p:sp>
      <p:pic>
        <p:nvPicPr>
          <p:cNvPr id="10" name="Picture 9">
            <a:extLst>
              <a:ext uri="{FF2B5EF4-FFF2-40B4-BE49-F238E27FC236}">
                <a16:creationId xmlns:a16="http://schemas.microsoft.com/office/drawing/2014/main" id="{0B26CA63-A19A-E911-B667-68E2B859E067}"/>
              </a:ext>
            </a:extLst>
          </p:cNvPr>
          <p:cNvPicPr>
            <a:picLocks noChangeAspect="1"/>
          </p:cNvPicPr>
          <p:nvPr/>
        </p:nvPicPr>
        <p:blipFill>
          <a:blip r:embed="rId3"/>
          <a:stretch>
            <a:fillRect/>
          </a:stretch>
        </p:blipFill>
        <p:spPr>
          <a:xfrm>
            <a:off x="3072818" y="2839664"/>
            <a:ext cx="5312229" cy="1907612"/>
          </a:xfrm>
          <a:prstGeom prst="rect">
            <a:avLst/>
          </a:prstGeom>
        </p:spPr>
      </p:pic>
      <p:sp>
        <p:nvSpPr>
          <p:cNvPr id="13" name="TextBox 12">
            <a:extLst>
              <a:ext uri="{FF2B5EF4-FFF2-40B4-BE49-F238E27FC236}">
                <a16:creationId xmlns:a16="http://schemas.microsoft.com/office/drawing/2014/main" id="{EAE55A88-BFF4-0DCA-2DB8-75DD36891FEE}"/>
              </a:ext>
            </a:extLst>
          </p:cNvPr>
          <p:cNvSpPr txBox="1"/>
          <p:nvPr/>
        </p:nvSpPr>
        <p:spPr>
          <a:xfrm>
            <a:off x="1104899" y="2123384"/>
            <a:ext cx="9171215" cy="646331"/>
          </a:xfrm>
          <a:prstGeom prst="rect">
            <a:avLst/>
          </a:prstGeom>
          <a:noFill/>
        </p:spPr>
        <p:txBody>
          <a:bodyPr wrap="square">
            <a:spAutoFit/>
          </a:bodyPr>
          <a:lstStyle/>
          <a:p>
            <a:r>
              <a:rPr lang="en-US" dirty="0" err="1"/>
              <a:t>I（Intelligence</a:t>
            </a:r>
            <a:r>
              <a:rPr lang="en-US" dirty="0"/>
              <a:t> Index）：基础大模型的“智力指数”，是一个综合能力指标，整合了推理、知识、数学、代码、指令跟随、长上下文推理和代理式工作流等多套基准的表现。</a:t>
            </a:r>
          </a:p>
        </p:txBody>
      </p:sp>
      <p:sp>
        <p:nvSpPr>
          <p:cNvPr id="15" name="TextBox 14">
            <a:extLst>
              <a:ext uri="{FF2B5EF4-FFF2-40B4-BE49-F238E27FC236}">
                <a16:creationId xmlns:a16="http://schemas.microsoft.com/office/drawing/2014/main" id="{F19451EF-12EF-0B5F-0652-5166B63BC7EB}"/>
              </a:ext>
            </a:extLst>
          </p:cNvPr>
          <p:cNvSpPr txBox="1"/>
          <p:nvPr/>
        </p:nvSpPr>
        <p:spPr>
          <a:xfrm>
            <a:off x="1028482" y="4817225"/>
            <a:ext cx="9318172" cy="923330"/>
          </a:xfrm>
          <a:prstGeom prst="rect">
            <a:avLst/>
          </a:prstGeom>
          <a:noFill/>
        </p:spPr>
        <p:txBody>
          <a:bodyPr wrap="square">
            <a:spAutoFit/>
          </a:bodyPr>
          <a:lstStyle/>
          <a:p>
            <a:r>
              <a:rPr lang="en-US" dirty="0" err="1"/>
              <a:t>在</a:t>
            </a:r>
            <a:r>
              <a:rPr lang="en-US" dirty="0"/>
              <a:t> N=180个不同“模型 × </a:t>
            </a:r>
            <a:r>
              <a:rPr lang="en-US" dirty="0" err="1"/>
              <a:t>架构</a:t>
            </a:r>
            <a:r>
              <a:rPr lang="en-US" dirty="0"/>
              <a:t> × </a:t>
            </a:r>
            <a:r>
              <a:rPr lang="en-US" dirty="0" err="1"/>
              <a:t>任务”的配置上，拟合了这个</a:t>
            </a:r>
            <a:r>
              <a:rPr lang="zh-CN" altLang="en-US" dirty="0"/>
              <a:t>“</a:t>
            </a:r>
            <a:r>
              <a:rPr lang="en-US" altLang="zh-CN" dirty="0"/>
              <a:t>Scaling</a:t>
            </a:r>
            <a:r>
              <a:rPr lang="zh-CN" altLang="en-US" dirty="0"/>
              <a:t> </a:t>
            </a:r>
            <a:r>
              <a:rPr lang="en-US" altLang="zh-CN" dirty="0"/>
              <a:t>Law</a:t>
            </a:r>
            <a:r>
              <a:rPr lang="zh-CN" altLang="en-US" dirty="0"/>
              <a:t>”</a:t>
            </a:r>
            <a:r>
              <a:rPr lang="en-US" dirty="0" err="1"/>
              <a:t>模型，用来描述代理系统性能</a:t>
            </a:r>
            <a:r>
              <a:rPr lang="en-US" dirty="0"/>
              <a:t> P</a:t>
            </a:r>
            <a:r>
              <a:rPr lang="zh-CN" altLang="en-US" dirty="0"/>
              <a:t> </a:t>
            </a:r>
            <a:r>
              <a:rPr lang="en-US" dirty="0" err="1"/>
              <a:t>如何由模型能力、系统配置、任务属性和协调指标共同决定，本质上是一个回归方程</a:t>
            </a:r>
            <a:r>
              <a:rPr lang="en-US" dirty="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63B7-1052-F65C-A307-1A81BDBEA87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675B49-8415-BB65-E4BB-2E1C0D5D379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4543FE1-647D-47C4-B6A8-97E268ABF333}"/>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综合讨论：从论文结果到部署决策</a:t>
            </a:r>
            <a:endParaRPr b="1" dirty="0">
              <a:solidFill>
                <a:schemeClr val="accent1"/>
              </a:solidFill>
            </a:endParaRPr>
          </a:p>
        </p:txBody>
      </p:sp>
      <p:sp>
        <p:nvSpPr>
          <p:cNvPr id="4" name="TextBox 3">
            <a:extLst>
              <a:ext uri="{FF2B5EF4-FFF2-40B4-BE49-F238E27FC236}">
                <a16:creationId xmlns:a16="http://schemas.microsoft.com/office/drawing/2014/main" id="{9EE7049C-9533-A197-FDE2-981332B2E52D}"/>
              </a:ext>
            </a:extLst>
          </p:cNvPr>
          <p:cNvSpPr txBox="1"/>
          <p:nvPr/>
        </p:nvSpPr>
        <p:spPr>
          <a:xfrm>
            <a:off x="676656" y="877824"/>
            <a:ext cx="9692640" cy="275332"/>
          </a:xfrm>
          <a:prstGeom prst="rect">
            <a:avLst/>
          </a:prstGeom>
          <a:noFill/>
        </p:spPr>
        <p:txBody>
          <a:bodyPr wrap="square">
            <a:spAutoFit/>
          </a:bodyPr>
          <a:lstStyle/>
          <a:p>
            <a:r>
              <a:rPr dirty="0" err="1"/>
              <a:t>可执行的三步法：先判定，再选型，再优化</a:t>
            </a:r>
            <a:endParaRPr dirty="0"/>
          </a:p>
        </p:txBody>
      </p:sp>
      <p:sp>
        <p:nvSpPr>
          <p:cNvPr id="6" name="Rounded Rectangle 5">
            <a:extLst>
              <a:ext uri="{FF2B5EF4-FFF2-40B4-BE49-F238E27FC236}">
                <a16:creationId xmlns:a16="http://schemas.microsoft.com/office/drawing/2014/main" id="{5A4FD154-40D5-44B1-D1FC-DE8D1E1A1DCB}"/>
              </a:ext>
            </a:extLst>
          </p:cNvPr>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8DA8B14E-7D83-19E0-DC82-8EB76CE3CAFF}"/>
              </a:ext>
            </a:extLst>
          </p:cNvPr>
          <p:cNvSpPr txBox="1"/>
          <p:nvPr/>
        </p:nvSpPr>
        <p:spPr>
          <a:xfrm>
            <a:off x="804672" y="1499616"/>
            <a:ext cx="9765792" cy="369332"/>
          </a:xfrm>
          <a:prstGeom prst="rect">
            <a:avLst/>
          </a:prstGeom>
          <a:noFill/>
        </p:spPr>
        <p:txBody>
          <a:bodyPr wrap="square">
            <a:spAutoFit/>
          </a:bodyPr>
          <a:lstStyle/>
          <a:p>
            <a:r>
              <a:rPr b="1" dirty="0" err="1"/>
              <a:t>核心要点</a:t>
            </a:r>
            <a:endParaRPr b="1" dirty="0"/>
          </a:p>
        </p:txBody>
      </p:sp>
      <p:sp>
        <p:nvSpPr>
          <p:cNvPr id="8" name="TextBox 7">
            <a:extLst>
              <a:ext uri="{FF2B5EF4-FFF2-40B4-BE49-F238E27FC236}">
                <a16:creationId xmlns:a16="http://schemas.microsoft.com/office/drawing/2014/main" id="{453D3965-F8C6-CE16-1A16-40BC9BD212C1}"/>
              </a:ext>
            </a:extLst>
          </p:cNvPr>
          <p:cNvSpPr txBox="1"/>
          <p:nvPr/>
        </p:nvSpPr>
        <p:spPr>
          <a:xfrm>
            <a:off x="822960" y="1783080"/>
            <a:ext cx="9738360" cy="1477136"/>
          </a:xfrm>
          <a:prstGeom prst="rect">
            <a:avLst/>
          </a:prstGeom>
          <a:noFill/>
        </p:spPr>
        <p:txBody>
          <a:bodyPr wrap="square">
            <a:spAutoFit/>
          </a:bodyPr>
          <a:lstStyle/>
          <a:p>
            <a:pPr algn="l">
              <a:lnSpc>
                <a:spcPct val="116000"/>
              </a:lnSpc>
              <a:spcBef>
                <a:spcPts val="0"/>
              </a:spcBef>
              <a:spcAft>
                <a:spcPts val="700"/>
              </a:spcAft>
            </a:pPr>
            <a:r>
              <a:rPr sz="1600" dirty="0"/>
              <a:t>• 第一步，先测SAS基线：若已接近或超过45%，</a:t>
            </a:r>
            <a:r>
              <a:rPr sz="1600" dirty="0" err="1"/>
              <a:t>应谨慎引入高开销MAS</a:t>
            </a:r>
            <a:r>
              <a:rPr sz="1600" dirty="0"/>
              <a:t>。</a:t>
            </a:r>
            <a:endParaRPr lang="en-US" sz="1600" dirty="0"/>
          </a:p>
          <a:p>
            <a:pPr algn="l">
              <a:lnSpc>
                <a:spcPct val="116000"/>
              </a:lnSpc>
              <a:spcBef>
                <a:spcPts val="0"/>
              </a:spcBef>
              <a:spcAft>
                <a:spcPts val="700"/>
              </a:spcAft>
            </a:pPr>
            <a:r>
              <a:rPr sz="1600" dirty="0"/>
              <a:t>• </a:t>
            </a:r>
            <a:r>
              <a:rPr sz="1600" dirty="0" err="1"/>
              <a:t>第二步，看任务可分解性：可并行任务优先Centralized</a:t>
            </a:r>
            <a:r>
              <a:rPr sz="1600" dirty="0"/>
              <a:t>/</a:t>
            </a:r>
            <a:r>
              <a:rPr sz="1600" dirty="0" err="1"/>
              <a:t>Decentralized；强顺序任务优先SAS</a:t>
            </a:r>
            <a:r>
              <a:rPr sz="1600" dirty="0"/>
              <a:t>。</a:t>
            </a:r>
            <a:endParaRPr lang="en-US" sz="1600" dirty="0"/>
          </a:p>
          <a:p>
            <a:pPr algn="l">
              <a:lnSpc>
                <a:spcPct val="116000"/>
              </a:lnSpc>
              <a:spcBef>
                <a:spcPts val="0"/>
              </a:spcBef>
              <a:spcAft>
                <a:spcPts val="700"/>
              </a:spcAft>
            </a:pPr>
            <a:r>
              <a:rPr sz="1600" dirty="0"/>
              <a:t>• </a:t>
            </a:r>
            <a:r>
              <a:rPr sz="1600" dirty="0" err="1"/>
              <a:t>第三步，做预算约束搜索：同步监控overhead、efficiency、error</a:t>
            </a:r>
            <a:r>
              <a:rPr sz="1600" dirty="0"/>
              <a:t> amplification。</a:t>
            </a:r>
            <a:endParaRPr lang="en-US" sz="1600" dirty="0"/>
          </a:p>
          <a:p>
            <a:pPr algn="l">
              <a:lnSpc>
                <a:spcPct val="116000"/>
              </a:lnSpc>
              <a:spcBef>
                <a:spcPts val="0"/>
              </a:spcBef>
              <a:spcAft>
                <a:spcPts val="700"/>
              </a:spcAft>
            </a:pPr>
            <a:r>
              <a:rPr sz="1600" dirty="0"/>
              <a:t>• 目标不是“</a:t>
            </a:r>
            <a:r>
              <a:rPr sz="1600" dirty="0" err="1"/>
              <a:t>更多代理</a:t>
            </a:r>
            <a:r>
              <a:rPr sz="1600" dirty="0"/>
              <a:t>”，</a:t>
            </a:r>
            <a:r>
              <a:rPr sz="1600" dirty="0" err="1"/>
              <a:t>而是“在约束下选到最匹配的协调结构</a:t>
            </a:r>
            <a:r>
              <a:rPr sz="1600" dirty="0"/>
              <a:t>”。</a:t>
            </a:r>
          </a:p>
        </p:txBody>
      </p:sp>
      <p:pic>
        <p:nvPicPr>
          <p:cNvPr id="12" name="图片 11">
            <a:extLst>
              <a:ext uri="{FF2B5EF4-FFF2-40B4-BE49-F238E27FC236}">
                <a16:creationId xmlns:a16="http://schemas.microsoft.com/office/drawing/2014/main" id="{69C379D1-8735-670C-7110-370A8473F5BF}"/>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72179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总结与结论</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这篇论文把多智能体系统从经验工程推进到可验证的定量科学</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499616"/>
            <a:ext cx="9765792" cy="369332"/>
          </a:xfrm>
          <a:prstGeom prst="rect">
            <a:avLst/>
          </a:prstGeom>
          <a:noFill/>
        </p:spPr>
        <p:txBody>
          <a:bodyPr wrap="square">
            <a:spAutoFit/>
          </a:bodyPr>
          <a:lstStyle/>
          <a:p>
            <a:r>
              <a:rPr b="1" dirty="0" err="1"/>
              <a:t>核心要点</a:t>
            </a:r>
            <a:endParaRPr b="1" dirty="0"/>
          </a:p>
        </p:txBody>
      </p:sp>
      <p:sp>
        <p:nvSpPr>
          <p:cNvPr id="8" name="TextBox 7"/>
          <p:cNvSpPr txBox="1"/>
          <p:nvPr/>
        </p:nvSpPr>
        <p:spPr>
          <a:xfrm>
            <a:off x="822960" y="1783080"/>
            <a:ext cx="9738360" cy="1616661"/>
          </a:xfrm>
          <a:prstGeom prst="rect">
            <a:avLst/>
          </a:prstGeom>
          <a:noFill/>
        </p:spPr>
        <p:txBody>
          <a:bodyPr wrap="square">
            <a:spAutoFit/>
          </a:bodyPr>
          <a:lstStyle/>
          <a:p>
            <a:pPr algn="l">
              <a:lnSpc>
                <a:spcPct val="116000"/>
              </a:lnSpc>
              <a:spcBef>
                <a:spcPts val="0"/>
              </a:spcBef>
              <a:spcAft>
                <a:spcPts val="700"/>
              </a:spcAft>
            </a:pPr>
            <a:r>
              <a:rPr dirty="0"/>
              <a:t>• </a:t>
            </a:r>
            <a:r>
              <a:rPr dirty="0" err="1"/>
              <a:t>主要创新：提出Agentic评估定义与受控实验框架，建立统一比较基准</a:t>
            </a:r>
            <a:r>
              <a:rPr dirty="0"/>
              <a:t>。</a:t>
            </a:r>
            <a:endParaRPr lang="en-US" dirty="0"/>
          </a:p>
          <a:p>
            <a:pPr algn="l">
              <a:lnSpc>
                <a:spcPct val="116000"/>
              </a:lnSpc>
              <a:spcBef>
                <a:spcPts val="0"/>
              </a:spcBef>
              <a:spcAft>
                <a:spcPts val="700"/>
              </a:spcAft>
            </a:pPr>
            <a:r>
              <a:rPr dirty="0"/>
              <a:t>• </a:t>
            </a:r>
            <a:r>
              <a:rPr dirty="0" err="1"/>
              <a:t>主要发现：MAS收益具有强条件性，受任务结构、工具负载和协调拓扑共同决定</a:t>
            </a:r>
            <a:r>
              <a:rPr dirty="0"/>
              <a:t>。</a:t>
            </a:r>
            <a:endParaRPr lang="en-US" dirty="0"/>
          </a:p>
          <a:p>
            <a:pPr algn="l">
              <a:lnSpc>
                <a:spcPct val="116000"/>
              </a:lnSpc>
              <a:spcBef>
                <a:spcPts val="0"/>
              </a:spcBef>
              <a:spcAft>
                <a:spcPts val="700"/>
              </a:spcAft>
            </a:pPr>
            <a:r>
              <a:rPr dirty="0"/>
              <a:t>• </a:t>
            </a:r>
            <a:r>
              <a:rPr dirty="0" err="1"/>
              <a:t>主要贡献：给出可预测的缩放方程与可操作的架构选择规则</a:t>
            </a:r>
            <a:r>
              <a:rPr dirty="0"/>
              <a:t>。</a:t>
            </a:r>
            <a:endParaRPr lang="en-US" dirty="0"/>
          </a:p>
          <a:p>
            <a:pPr algn="l">
              <a:lnSpc>
                <a:spcPct val="116000"/>
              </a:lnSpc>
              <a:spcBef>
                <a:spcPts val="0"/>
              </a:spcBef>
              <a:spcAft>
                <a:spcPts val="700"/>
              </a:spcAft>
            </a:pPr>
            <a:r>
              <a:rPr dirty="0"/>
              <a:t>• </a:t>
            </a:r>
            <a:r>
              <a:rPr dirty="0" err="1"/>
              <a:t>实践建议：先小规模验证，再按任务特征和预算做渐进式多代理扩展</a:t>
            </a:r>
            <a:r>
              <a:rPr dirty="0"/>
              <a:t>。</a:t>
            </a:r>
          </a:p>
        </p:txBody>
      </p:sp>
      <p:pic>
        <p:nvPicPr>
          <p:cNvPr id="9" name="图片 11">
            <a:extLst>
              <a:ext uri="{FF2B5EF4-FFF2-40B4-BE49-F238E27FC236}">
                <a16:creationId xmlns:a16="http://schemas.microsoft.com/office/drawing/2014/main" id="{7DC1CCCC-B091-BF68-4FF1-E41993EFD947}"/>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theme/theme1.xml><?xml version="1.0" encoding="utf-8"?>
<a:theme xmlns:a="http://schemas.openxmlformats.org/drawingml/2006/main" name="2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e05413m2">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自定义 1">
      <a:majorFont>
        <a:latin typeface="Calibri"/>
        <a:ea typeface="华文楷体"/>
        <a:cs typeface=""/>
      </a:majorFont>
      <a:minorFont>
        <a:latin typeface="Calibri"/>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1491</TotalTime>
  <Words>2306</Words>
  <Application>Microsoft Macintosh PowerPoint</Application>
  <PresentationFormat>Widescreen</PresentationFormat>
  <Paragraphs>183</Paragraphs>
  <Slides>26</Slides>
  <Notes>6</Notes>
  <HiddenSlides>4</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26</vt:i4>
      </vt:variant>
    </vt:vector>
  </HeadingPairs>
  <TitlesOfParts>
    <vt:vector size="32" baseType="lpstr">
      <vt:lpstr>等线</vt:lpstr>
      <vt:lpstr>华文楷体</vt:lpstr>
      <vt:lpstr>Arial</vt:lpstr>
      <vt:lpstr>Calibri</vt:lpstr>
      <vt:lpstr>2_自定义设计方案</vt:lpstr>
      <vt:lpstr>3_自定义设计方案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Yuting</dc:creator>
  <cp:lastModifiedBy>You, Bingran</cp:lastModifiedBy>
  <cp:revision>43</cp:revision>
  <dcterms:created xsi:type="dcterms:W3CDTF">2023-06-07T13:12:54Z</dcterms:created>
  <dcterms:modified xsi:type="dcterms:W3CDTF">2026-03-07T19:45:38Z</dcterms:modified>
</cp:coreProperties>
</file>