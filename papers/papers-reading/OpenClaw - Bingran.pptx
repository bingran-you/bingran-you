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36"/>
  </p:notesMasterIdLst>
  <p:sldIdLst>
    <p:sldId id="13773" r:id="rId3"/>
    <p:sldId id="13770" r:id="rId4"/>
    <p:sldId id="13771" r:id="rId5"/>
    <p:sldId id="13774" r:id="rId6"/>
    <p:sldId id="13802" r:id="rId7"/>
    <p:sldId id="13776" r:id="rId8"/>
    <p:sldId id="13777" r:id="rId9"/>
    <p:sldId id="13778" r:id="rId10"/>
    <p:sldId id="13779" r:id="rId11"/>
    <p:sldId id="13780" r:id="rId12"/>
    <p:sldId id="13781" r:id="rId13"/>
    <p:sldId id="13782" r:id="rId14"/>
    <p:sldId id="13783" r:id="rId15"/>
    <p:sldId id="13784" r:id="rId16"/>
    <p:sldId id="13785" r:id="rId17"/>
    <p:sldId id="13786" r:id="rId18"/>
    <p:sldId id="13787" r:id="rId19"/>
    <p:sldId id="13788" r:id="rId20"/>
    <p:sldId id="13789" r:id="rId21"/>
    <p:sldId id="13790" r:id="rId22"/>
    <p:sldId id="13791" r:id="rId23"/>
    <p:sldId id="13792" r:id="rId24"/>
    <p:sldId id="13793" r:id="rId25"/>
    <p:sldId id="13794" r:id="rId26"/>
    <p:sldId id="13795" r:id="rId27"/>
    <p:sldId id="13796" r:id="rId28"/>
    <p:sldId id="13797" r:id="rId29"/>
    <p:sldId id="13798" r:id="rId30"/>
    <p:sldId id="13799" r:id="rId31"/>
    <p:sldId id="13800" r:id="rId32"/>
    <p:sldId id="13801" r:id="rId33"/>
    <p:sldId id="13804" r:id="rId34"/>
    <p:sldId id="13772"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45" autoAdjust="0"/>
    <p:restoredTop sz="94660"/>
  </p:normalViewPr>
  <p:slideViewPr>
    <p:cSldViewPr snapToGrid="0">
      <p:cViewPr varScale="1">
        <p:scale>
          <a:sx n="88" d="100"/>
          <a:sy n="88" d="100"/>
        </p:scale>
        <p:origin x="176" y="1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6FA3FB-796B-4376-81CB-C595A98F4C7E}" type="slidenum">
              <a:rPr lang="zh-CN" altLang="en-US" smtClean="0"/>
              <a:t>‹#›</a:t>
            </a:fld>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7" name="灯片编号占位符 5"/>
          <p:cNvSpPr txBox="1"/>
          <p:nvPr userDrawn="1"/>
        </p:nvSpPr>
        <p:spPr>
          <a:xfrm>
            <a:off x="9192125" y="6543675"/>
            <a:ext cx="2743200" cy="277133"/>
          </a:xfrm>
          <a:prstGeom prst="rect">
            <a:avLst/>
          </a:prstGeom>
        </p:spPr>
        <p:txBody>
          <a:bodyPr/>
          <a:lstStyle>
            <a:defPPr>
              <a:defRPr lang="zh-CN"/>
            </a:defPPr>
            <a:lvl1pPr marL="0" algn="r" defTabSz="914400" rtl="0" eaLnBrk="1" latinLnBrk="0" hangingPunct="1">
              <a:defRPr sz="1300" kern="1200">
                <a:solidFill>
                  <a:schemeClr val="tx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ea"/>
                <a:sym typeface="+mn-lt"/>
              </a:rPr>
              <a:t>第</a:t>
            </a:r>
            <a:fld id="{CAD7CE4E-C1DC-41C2-AEA5-2F62E8E04F9D}" type="slidenum">
              <a:rPr kumimoji="0" lang="zh-CN" altLang="en-US" sz="1200" b="0" i="0" u="none" strike="noStrike" kern="1200" cap="none" spc="0" normalizeH="0" baseline="0" noProof="0" smtClean="0">
                <a:ln>
                  <a:noFill/>
                </a:ln>
                <a:solidFill>
                  <a:srgbClr val="000000"/>
                </a:solidFill>
                <a:effectLst/>
                <a:uLnTx/>
                <a:uFillTx/>
                <a:latin typeface="楷体" panose="02010609060101010101" pitchFamily="49" charset="-122"/>
                <a:ea typeface="楷体" panose="02010609060101010101" pitchFamily="49" charset="-122"/>
                <a:cs typeface="+mn-ea"/>
                <a:sym typeface="+mn-lt"/>
              </a:rPr>
              <a:t>‹#›</a:t>
            </a:fld>
            <a:r>
              <a:rPr kumimoji="0" lang="zh-CN" altLang="en-US" sz="12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ea"/>
                <a:sym typeface="+mn-lt"/>
              </a:rPr>
              <a:t>页</a:t>
            </a:r>
          </a:p>
        </p:txBody>
      </p:sp>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5"/>
          <p:cNvSpPr txBox="1"/>
          <p:nvPr userDrawn="1"/>
        </p:nvSpPr>
        <p:spPr>
          <a:xfrm>
            <a:off x="9192125" y="6544420"/>
            <a:ext cx="2743200" cy="277133"/>
          </a:xfrm>
          <a:prstGeom prst="rect">
            <a:avLst/>
          </a:prstGeom>
        </p:spPr>
        <p:txBody>
          <a:bodyPr/>
          <a:lstStyle>
            <a:defPPr>
              <a:defRPr lang="zh-CN"/>
            </a:defPPr>
            <a:lvl1pPr marL="0" algn="r" defTabSz="914400" rtl="0" eaLnBrk="1" latinLnBrk="0" hangingPunct="1">
              <a:defRPr sz="1300" kern="1200">
                <a:solidFill>
                  <a:schemeClr val="tx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ea"/>
                <a:sym typeface="+mn-lt"/>
              </a:rPr>
              <a:t>第</a:t>
            </a:r>
            <a:fld id="{CAD7CE4E-C1DC-41C2-AEA5-2F62E8E04F9D}" type="slidenum">
              <a:rPr kumimoji="0" lang="zh-CN" altLang="en-US" sz="1200" b="0" i="0" u="none" strike="noStrike" kern="1200" cap="none" spc="0" normalizeH="0" baseline="0" noProof="0" smtClean="0">
                <a:ln>
                  <a:noFill/>
                </a:ln>
                <a:solidFill>
                  <a:srgbClr val="000000"/>
                </a:solidFill>
                <a:effectLst/>
                <a:uLnTx/>
                <a:uFillTx/>
                <a:latin typeface="楷体" panose="02010609060101010101" pitchFamily="49" charset="-122"/>
                <a:ea typeface="楷体" panose="02010609060101010101" pitchFamily="49" charset="-122"/>
                <a:cs typeface="+mn-ea"/>
                <a:sym typeface="+mn-lt"/>
              </a:rPr>
              <a:t>‹#›</a:t>
            </a:fld>
            <a:r>
              <a:rPr kumimoji="0" lang="zh-CN" altLang="en-US" sz="12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ea"/>
                <a:sym typeface="+mn-lt"/>
              </a:rPr>
              <a:t>页</a:t>
            </a:r>
          </a:p>
        </p:txBody>
      </p:sp>
    </p:spTree>
    <p:extLst>
      <p:ext uri="{BB962C8B-B14F-4D97-AF65-F5344CB8AC3E}">
        <p14:creationId xmlns:p14="http://schemas.microsoft.com/office/powerpoint/2010/main" val="49119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sp>
        <p:nvSpPr>
          <p:cNvPr id="10" name="灯片编号占位符 5"/>
          <p:cNvSpPr txBox="1"/>
          <p:nvPr userDrawn="1"/>
        </p:nvSpPr>
        <p:spPr>
          <a:xfrm>
            <a:off x="8777288" y="6240463"/>
            <a:ext cx="2743200" cy="277133"/>
          </a:xfrm>
          <a:prstGeom prst="rect">
            <a:avLst/>
          </a:prstGeom>
        </p:spPr>
        <p:txBody>
          <a:bodyPr/>
          <a:lstStyle>
            <a:defPPr>
              <a:defRPr lang="zh-CN"/>
            </a:defPPr>
            <a:lvl1pPr marL="0" algn="r" defTabSz="914400" rtl="0" eaLnBrk="1" latinLnBrk="0" hangingPunct="1">
              <a:defRPr sz="1300" kern="1200">
                <a:solidFill>
                  <a:schemeClr val="tx1"/>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ea"/>
                <a:sym typeface="+mn-lt"/>
              </a:rPr>
              <a:t>第</a:t>
            </a:r>
            <a:fld id="{CAD7CE4E-C1DC-41C2-AEA5-2F62E8E04F9D}" type="slidenum">
              <a:rPr kumimoji="0" lang="zh-CN" altLang="en-US" sz="1200" b="0"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ea"/>
                <a:sym typeface="+mn-lt"/>
              </a:rPr>
              <a:t>‹#›</a:t>
            </a:fld>
            <a:r>
              <a:rPr kumimoji="0" lang="zh-CN" altLang="en-US" sz="12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ea"/>
                <a:sym typeface="+mn-lt"/>
              </a:rPr>
              <a:t>页</a:t>
            </a:r>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5098256" y="4664202"/>
            <a:ext cx="19954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2026</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年</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4618672" y="2967335"/>
            <a:ext cx="2954655"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华映资本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13539"/>
          </a:xfrm>
          <a:prstGeom prst="rect">
            <a:avLst/>
          </a:prstGeom>
          <a:noFill/>
        </p:spPr>
        <p:txBody>
          <a:bodyPr wrap="square">
            <a:spAutoFit/>
          </a:bodyPr>
          <a:lstStyle/>
          <a:p>
            <a:pPr algn="l">
              <a:lnSpc>
                <a:spcPct val="108000"/>
              </a:lnSpc>
              <a:spcBef>
                <a:spcPts val="0"/>
              </a:spcBef>
              <a:spcAft>
                <a:spcPts val="0"/>
              </a:spcAft>
            </a:pPr>
            <a:r>
              <a:rPr sz="2700" b="1" dirty="0">
                <a:solidFill>
                  <a:schemeClr val="accent1"/>
                </a:solidFill>
              </a:rPr>
              <a:t>OpenClaw </a:t>
            </a:r>
            <a:r>
              <a:rPr sz="2700" b="1" dirty="0" err="1">
                <a:solidFill>
                  <a:schemeClr val="accent1"/>
                </a:solidFill>
              </a:rPr>
              <a:t>核心创新技术架构</a:t>
            </a:r>
            <a:endParaRPr sz="2700" b="1" dirty="0">
              <a:solidFill>
                <a:schemeClr val="accent1"/>
              </a:solidFill>
            </a:endParaRPr>
          </a:p>
        </p:txBody>
      </p:sp>
      <p:sp>
        <p:nvSpPr>
          <p:cNvPr id="4" name="TextBox 3"/>
          <p:cNvSpPr txBox="1"/>
          <p:nvPr/>
        </p:nvSpPr>
        <p:spPr>
          <a:xfrm>
            <a:off x="676656" y="877824"/>
            <a:ext cx="9692640" cy="279564"/>
          </a:xfrm>
          <a:prstGeom prst="rect">
            <a:avLst/>
          </a:prstGeom>
          <a:noFill/>
        </p:spPr>
        <p:txBody>
          <a:bodyPr wrap="square">
            <a:spAutoFit/>
          </a:bodyPr>
          <a:lstStyle/>
          <a:p>
            <a:pPr algn="l">
              <a:lnSpc>
                <a:spcPct val="108000"/>
              </a:lnSpc>
              <a:spcBef>
                <a:spcPts val="0"/>
              </a:spcBef>
              <a:spcAft>
                <a:spcPts val="0"/>
              </a:spcAft>
            </a:pPr>
            <a:r>
              <a:rPr sz="1200" b="0" dirty="0" err="1">
                <a:solidFill>
                  <a:srgbClr val="5F5F5F"/>
                </a:solidFill>
              </a:rPr>
              <a:t>基于</a:t>
            </a:r>
            <a:r>
              <a:rPr sz="1200" b="0" dirty="0">
                <a:solidFill>
                  <a:srgbClr val="5F5F5F"/>
                </a:solidFill>
              </a:rPr>
              <a:t> </a:t>
            </a:r>
            <a:r>
              <a:rPr sz="1200" b="0" dirty="0" err="1">
                <a:solidFill>
                  <a:srgbClr val="5F5F5F"/>
                </a:solidFill>
              </a:rPr>
              <a:t>openclaw</a:t>
            </a:r>
            <a:r>
              <a:rPr sz="1200" b="0" dirty="0">
                <a:solidFill>
                  <a:srgbClr val="5F5F5F"/>
                </a:solidFill>
              </a:rPr>
              <a:t> </a:t>
            </a:r>
            <a:r>
              <a:rPr sz="1200" b="0" dirty="0" err="1">
                <a:solidFill>
                  <a:srgbClr val="5F5F5F"/>
                </a:solidFill>
              </a:rPr>
              <a:t>源码与官方文档的系统级拆解</a:t>
            </a:r>
            <a:endParaRPr sz="1200" b="0" dirty="0">
              <a:solidFill>
                <a:srgbClr val="5F5F5F"/>
              </a:solidFill>
            </a:endParaRP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1055225"/>
          </a:xfrm>
          <a:prstGeom prst="rect">
            <a:avLst/>
          </a:prstGeom>
          <a:noFill/>
        </p:spPr>
        <p:txBody>
          <a:bodyPr wrap="square">
            <a:spAutoFit/>
          </a:bodyPr>
          <a:lstStyle/>
          <a:p>
            <a:pPr algn="l">
              <a:lnSpc>
                <a:spcPct val="116000"/>
              </a:lnSpc>
              <a:spcBef>
                <a:spcPts val="0"/>
              </a:spcBef>
              <a:spcAft>
                <a:spcPts val="700"/>
              </a:spcAft>
            </a:pPr>
            <a:r>
              <a:rPr sz="1500" b="0" dirty="0">
                <a:solidFill>
                  <a:srgbClr val="2D2D2D"/>
                </a:solidFill>
              </a:rPr>
              <a:t>• </a:t>
            </a:r>
            <a:r>
              <a:rPr sz="1500" b="0" dirty="0" err="1">
                <a:solidFill>
                  <a:srgbClr val="2D2D2D"/>
                </a:solidFill>
              </a:rPr>
              <a:t>研究结论</a:t>
            </a:r>
            <a:endParaRPr sz="1500" b="0" dirty="0">
              <a:solidFill>
                <a:srgbClr val="2D2D2D"/>
              </a:solidFill>
            </a:endParaRPr>
          </a:p>
          <a:p>
            <a:pPr algn="l">
              <a:lnSpc>
                <a:spcPct val="116000"/>
              </a:lnSpc>
              <a:spcBef>
                <a:spcPts val="0"/>
              </a:spcBef>
              <a:spcAft>
                <a:spcPts val="700"/>
              </a:spcAft>
            </a:pPr>
            <a:r>
              <a:rPr sz="1500" b="0" dirty="0">
                <a:solidFill>
                  <a:srgbClr val="2D2D2D"/>
                </a:solidFill>
              </a:rPr>
              <a:t>• 1) OpenClaw </a:t>
            </a:r>
            <a:r>
              <a:rPr sz="1500" b="0" dirty="0" err="1">
                <a:solidFill>
                  <a:srgbClr val="2D2D2D"/>
                </a:solidFill>
              </a:rPr>
              <a:t>的本质是“可治理</a:t>
            </a:r>
            <a:r>
              <a:rPr sz="1500" b="0" dirty="0">
                <a:solidFill>
                  <a:srgbClr val="2D2D2D"/>
                </a:solidFill>
              </a:rPr>
              <a:t> AI </a:t>
            </a:r>
            <a:r>
              <a:rPr sz="1500" b="0" dirty="0" err="1">
                <a:solidFill>
                  <a:srgbClr val="2D2D2D"/>
                </a:solidFill>
              </a:rPr>
              <a:t>网关</a:t>
            </a:r>
            <a:r>
              <a:rPr sz="1500" b="0" dirty="0">
                <a:solidFill>
                  <a:srgbClr val="2D2D2D"/>
                </a:solidFill>
              </a:rPr>
              <a:t>”，</a:t>
            </a:r>
            <a:r>
              <a:rPr sz="1500" b="0" dirty="0" err="1">
                <a:solidFill>
                  <a:srgbClr val="2D2D2D"/>
                </a:solidFill>
              </a:rPr>
              <a:t>不是单通道</a:t>
            </a:r>
            <a:r>
              <a:rPr sz="1500" b="0" dirty="0">
                <a:solidFill>
                  <a:srgbClr val="2D2D2D"/>
                </a:solidFill>
              </a:rPr>
              <a:t> Bot。</a:t>
            </a:r>
          </a:p>
          <a:p>
            <a:pPr algn="l">
              <a:lnSpc>
                <a:spcPct val="116000"/>
              </a:lnSpc>
              <a:spcBef>
                <a:spcPts val="0"/>
              </a:spcBef>
              <a:spcAft>
                <a:spcPts val="700"/>
              </a:spcAft>
            </a:pPr>
            <a:r>
              <a:rPr sz="1500" b="0" dirty="0">
                <a:solidFill>
                  <a:srgbClr val="2D2D2D"/>
                </a:solidFill>
              </a:rPr>
              <a:t>• 2) </a:t>
            </a:r>
            <a:r>
              <a:rPr sz="1500" b="0" dirty="0" err="1">
                <a:solidFill>
                  <a:srgbClr val="2D2D2D"/>
                </a:solidFill>
              </a:rPr>
              <a:t>核心壁垒在于：统一控制平面</a:t>
            </a:r>
            <a:r>
              <a:rPr sz="1500" b="0" dirty="0">
                <a:solidFill>
                  <a:srgbClr val="2D2D2D"/>
                </a:solidFill>
              </a:rPr>
              <a:t> + </a:t>
            </a:r>
            <a:r>
              <a:rPr sz="1500" b="0" dirty="0" err="1">
                <a:solidFill>
                  <a:srgbClr val="2D2D2D"/>
                </a:solidFill>
              </a:rPr>
              <a:t>确定性路由</a:t>
            </a:r>
            <a:r>
              <a:rPr sz="1500" b="0" dirty="0">
                <a:solidFill>
                  <a:srgbClr val="2D2D2D"/>
                </a:solidFill>
              </a:rPr>
              <a:t> + </a:t>
            </a:r>
            <a:r>
              <a:rPr sz="1500" b="0" dirty="0" err="1">
                <a:solidFill>
                  <a:srgbClr val="2D2D2D"/>
                </a:solidFill>
              </a:rPr>
              <a:t>分层安全模型</a:t>
            </a:r>
            <a:r>
              <a:rPr lang="en-US" sz="1500" b="0" dirty="0">
                <a:solidFill>
                  <a:srgbClr val="2D2D2D"/>
                </a:solidFill>
              </a:rPr>
              <a:t>。</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13539"/>
          </a:xfrm>
          <a:prstGeom prst="rect">
            <a:avLst/>
          </a:prstGeom>
          <a:noFill/>
        </p:spPr>
        <p:txBody>
          <a:bodyPr wrap="square">
            <a:spAutoFit/>
          </a:bodyPr>
          <a:lstStyle/>
          <a:p>
            <a:pPr algn="l">
              <a:lnSpc>
                <a:spcPct val="108000"/>
              </a:lnSpc>
              <a:spcBef>
                <a:spcPts val="0"/>
              </a:spcBef>
              <a:spcAft>
                <a:spcPts val="0"/>
              </a:spcAft>
            </a:pPr>
            <a:r>
              <a:rPr sz="2700" b="1" dirty="0">
                <a:solidFill>
                  <a:schemeClr val="accent1"/>
                </a:solidFill>
              </a:rPr>
              <a:t>OpenClaw </a:t>
            </a:r>
            <a:r>
              <a:rPr sz="2700" b="1" dirty="0" err="1">
                <a:solidFill>
                  <a:schemeClr val="accent1"/>
                </a:solidFill>
              </a:rPr>
              <a:t>架构全景（概览一</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本页结论：该图展示了从多通道接入到 Agent 执行再到响应回传的端到端主链路。</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2/30 页</a:t>
            </a:r>
          </a:p>
        </p:txBody>
      </p:sp>
      <p:sp>
        <p:nvSpPr>
          <p:cNvPr id="6" name="Rounded Rectangle 5"/>
          <p:cNvSpPr/>
          <p:nvPr/>
        </p:nvSpPr>
        <p:spPr>
          <a:xfrm>
            <a:off x="658368" y="1389888"/>
            <a:ext cx="5688644"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6254496"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6236208"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入口层统一接收多平台消息，先做标准化与上下文整理。</a:t>
            </a:r>
          </a:p>
          <a:p>
            <a:pPr algn="l">
              <a:lnSpc>
                <a:spcPct val="116000"/>
              </a:lnSpc>
              <a:spcBef>
                <a:spcPts val="0"/>
              </a:spcBef>
              <a:spcAft>
                <a:spcPts val="700"/>
              </a:spcAft>
            </a:pPr>
            <a:r>
              <a:rPr sz="1500" b="0">
                <a:solidFill>
                  <a:srgbClr val="2D2D2D"/>
                </a:solidFill>
              </a:rPr>
              <a:t>• 中间层通过会话与路由机制决定由哪个 Agent 处理请求。</a:t>
            </a:r>
          </a:p>
          <a:p>
            <a:pPr algn="l">
              <a:lnSpc>
                <a:spcPct val="116000"/>
              </a:lnSpc>
              <a:spcBef>
                <a:spcPts val="0"/>
              </a:spcBef>
              <a:spcAft>
                <a:spcPts val="700"/>
              </a:spcAft>
            </a:pPr>
            <a:r>
              <a:rPr sz="1500" b="0">
                <a:solidFill>
                  <a:srgbClr val="2D2D2D"/>
                </a:solidFill>
              </a:rPr>
              <a:t>• 执行层在工具调用与模型推理之间形成可控的协同闭环。</a:t>
            </a:r>
          </a:p>
          <a:p>
            <a:pPr algn="l">
              <a:lnSpc>
                <a:spcPct val="116000"/>
              </a:lnSpc>
              <a:spcBef>
                <a:spcPts val="0"/>
              </a:spcBef>
              <a:spcAft>
                <a:spcPts val="700"/>
              </a:spcAft>
            </a:pPr>
            <a:r>
              <a:rPr sz="1500" b="0">
                <a:solidFill>
                  <a:srgbClr val="2D2D2D"/>
                </a:solidFill>
              </a:rPr>
              <a:t>• 输出层支持流式回传与结果沉淀，保障交互体验与可追溯性。</a:t>
            </a:r>
          </a:p>
        </p:txBody>
      </p:sp>
      <p:pic>
        <p:nvPicPr>
          <p:cNvPr id="11" name="Picture 10" descr="image.png"/>
          <p:cNvPicPr>
            <a:picLocks noChangeAspect="1"/>
          </p:cNvPicPr>
          <p:nvPr/>
        </p:nvPicPr>
        <p:blipFill>
          <a:blip r:embed="rId2"/>
          <a:stretch>
            <a:fillRect/>
          </a:stretch>
        </p:blipFill>
        <p:spPr>
          <a:xfrm>
            <a:off x="6425679" y="1664208"/>
            <a:ext cx="5621676" cy="4309586"/>
          </a:xfrm>
          <a:prstGeom prst="rect">
            <a:avLst/>
          </a:prstGeom>
        </p:spPr>
      </p:pic>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3"/>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a:solidFill>
                  <a:schemeClr val="accent1"/>
                </a:solidFill>
              </a:rPr>
              <a:t>OpenClaw </a:t>
            </a:r>
            <a:r>
              <a:rPr sz="2700" b="1" dirty="0" err="1">
                <a:solidFill>
                  <a:schemeClr val="accent1"/>
                </a:solidFill>
              </a:rPr>
              <a:t>架构全景（概览二</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本页结论：该图补充了记忆系统与工具执行在整体架构中的位置关系与数据流向。</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3/30 页</a:t>
            </a:r>
          </a:p>
        </p:txBody>
      </p:sp>
      <p:sp>
        <p:nvSpPr>
          <p:cNvPr id="6" name="Rounded Rectangle 5"/>
          <p:cNvSpPr/>
          <p:nvPr/>
        </p:nvSpPr>
        <p:spPr>
          <a:xfrm>
            <a:off x="658368" y="1389888"/>
            <a:ext cx="5660136"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6254496"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6236208" cy="1049903"/>
          </a:xfrm>
          <a:prstGeom prst="rect">
            <a:avLst/>
          </a:prstGeom>
          <a:noFill/>
        </p:spPr>
        <p:txBody>
          <a:bodyPr wrap="square">
            <a:spAutoFit/>
          </a:bodyPr>
          <a:lstStyle/>
          <a:p>
            <a:pPr algn="l">
              <a:lnSpc>
                <a:spcPct val="116000"/>
              </a:lnSpc>
              <a:spcBef>
                <a:spcPts val="0"/>
              </a:spcBef>
              <a:spcAft>
                <a:spcPts val="700"/>
              </a:spcAft>
            </a:pPr>
            <a:r>
              <a:rPr sz="1500" b="0" dirty="0">
                <a:solidFill>
                  <a:srgbClr val="2D2D2D"/>
                </a:solidFill>
              </a:rPr>
              <a:t>• </a:t>
            </a:r>
            <a:r>
              <a:rPr sz="1500" b="0" dirty="0" err="1">
                <a:solidFill>
                  <a:srgbClr val="2D2D2D"/>
                </a:solidFill>
              </a:rPr>
              <a:t>记忆模块承接历史上下文，为后续推理提供连续语义基础</a:t>
            </a:r>
            <a:r>
              <a:rPr sz="1500" b="0" dirty="0">
                <a:solidFill>
                  <a:srgbClr val="2D2D2D"/>
                </a:solidFill>
              </a:rPr>
              <a:t>。</a:t>
            </a:r>
          </a:p>
          <a:p>
            <a:pPr algn="l">
              <a:lnSpc>
                <a:spcPct val="116000"/>
              </a:lnSpc>
              <a:spcBef>
                <a:spcPts val="0"/>
              </a:spcBef>
              <a:spcAft>
                <a:spcPts val="700"/>
              </a:spcAft>
            </a:pPr>
            <a:r>
              <a:rPr sz="1500" b="0" dirty="0">
                <a:solidFill>
                  <a:srgbClr val="2D2D2D"/>
                </a:solidFill>
              </a:rPr>
              <a:t>• </a:t>
            </a:r>
            <a:r>
              <a:rPr sz="1500" b="0" dirty="0" err="1">
                <a:solidFill>
                  <a:srgbClr val="2D2D2D"/>
                </a:solidFill>
              </a:rPr>
              <a:t>工具执行能力与消息通道解耦，便于跨平台复用与统一治理</a:t>
            </a:r>
            <a:r>
              <a:rPr sz="1500" b="0" dirty="0">
                <a:solidFill>
                  <a:srgbClr val="2D2D2D"/>
                </a:solidFill>
              </a:rPr>
              <a:t>。</a:t>
            </a:r>
          </a:p>
          <a:p>
            <a:pPr algn="l">
              <a:lnSpc>
                <a:spcPct val="116000"/>
              </a:lnSpc>
              <a:spcBef>
                <a:spcPts val="0"/>
              </a:spcBef>
              <a:spcAft>
                <a:spcPts val="700"/>
              </a:spcAft>
            </a:pPr>
            <a:r>
              <a:rPr sz="1500" b="0" dirty="0">
                <a:solidFill>
                  <a:srgbClr val="2D2D2D"/>
                </a:solidFill>
              </a:rPr>
              <a:t>• </a:t>
            </a:r>
            <a:r>
              <a:rPr sz="1500" b="0" dirty="0" err="1">
                <a:solidFill>
                  <a:srgbClr val="2D2D2D"/>
                </a:solidFill>
              </a:rPr>
              <a:t>模型与执行器通过网关协调，避免通道侧重复实现复杂逻辑</a:t>
            </a:r>
            <a:r>
              <a:rPr sz="1500" b="0" dirty="0">
                <a:solidFill>
                  <a:srgbClr val="2D2D2D"/>
                </a:solidFill>
              </a:rPr>
              <a:t>。</a:t>
            </a:r>
          </a:p>
        </p:txBody>
      </p:sp>
      <p:pic>
        <p:nvPicPr>
          <p:cNvPr id="11" name="Picture 10" descr="image.png"/>
          <p:cNvPicPr>
            <a:picLocks noChangeAspect="1"/>
          </p:cNvPicPr>
          <p:nvPr/>
        </p:nvPicPr>
        <p:blipFill>
          <a:blip r:embed="rId2"/>
          <a:stretch>
            <a:fillRect/>
          </a:stretch>
        </p:blipFill>
        <p:spPr>
          <a:xfrm>
            <a:off x="6714326" y="1132978"/>
            <a:ext cx="5172874" cy="5365704"/>
          </a:xfrm>
          <a:prstGeom prst="rect">
            <a:avLst/>
          </a:prstGeom>
        </p:spPr>
      </p:pic>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a:solidFill>
                  <a:schemeClr val="accent1"/>
                </a:solidFill>
              </a:rPr>
              <a:t>OpenClaw </a:t>
            </a:r>
            <a:r>
              <a:rPr sz="2700" b="1" dirty="0" err="1">
                <a:solidFill>
                  <a:schemeClr val="accent1"/>
                </a:solidFill>
              </a:rPr>
              <a:t>架构全景（概览</a:t>
            </a:r>
            <a:r>
              <a:rPr lang="en-US" sz="2700" b="1" dirty="0" err="1">
                <a:solidFill>
                  <a:schemeClr val="accent1"/>
                </a:solidFill>
              </a:rPr>
              <a:t>三</a:t>
            </a:r>
            <a:r>
              <a:rPr sz="2700" b="1" dirty="0">
                <a:solidFill>
                  <a:schemeClr val="accent1"/>
                </a:solidFill>
              </a:rPr>
              <a:t>）</a:t>
            </a: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275332"/>
          </a:xfrm>
          <a:prstGeom prst="rect">
            <a:avLst/>
          </a:prstGeom>
          <a:noFill/>
        </p:spPr>
        <p:txBody>
          <a:bodyPr wrap="square">
            <a:spAutoFit/>
          </a:bodyPr>
          <a:lstStyle/>
          <a:p>
            <a:pPr algn="l">
              <a:lnSpc>
                <a:spcPct val="108000"/>
              </a:lnSpc>
              <a:spcBef>
                <a:spcPts val="0"/>
              </a:spcBef>
              <a:spcAft>
                <a:spcPts val="0"/>
              </a:spcAft>
            </a:pPr>
            <a:r>
              <a:rPr sz="1200" b="0" dirty="0" err="1">
                <a:solidFill>
                  <a:srgbClr val="5F5F5F"/>
                </a:solidFill>
              </a:rPr>
              <a:t>本页结论：该图补充了</a:t>
            </a:r>
            <a:r>
              <a:rPr lang="en-US" sz="1200" b="0" dirty="0" err="1">
                <a:solidFill>
                  <a:srgbClr val="5F5F5F"/>
                </a:solidFill>
              </a:rPr>
              <a:t>openclaw的心跳机制</a:t>
            </a:r>
            <a:r>
              <a:rPr lang="zh-CN" altLang="en-US" sz="1200" b="0" dirty="0">
                <a:solidFill>
                  <a:srgbClr val="5F5F5F"/>
                </a:solidFill>
              </a:rPr>
              <a:t>（</a:t>
            </a:r>
            <a:r>
              <a:rPr lang="en-US" altLang="zh-CN" sz="1200" b="0" dirty="0">
                <a:solidFill>
                  <a:srgbClr val="5F5F5F"/>
                </a:solidFill>
              </a:rPr>
              <a:t>heartbeat</a:t>
            </a:r>
            <a:r>
              <a:rPr lang="zh-CN" altLang="en-US" sz="1200" b="0" dirty="0">
                <a:solidFill>
                  <a:srgbClr val="5F5F5F"/>
                </a:solidFill>
              </a:rPr>
              <a:t>）</a:t>
            </a:r>
            <a:r>
              <a:rPr sz="1200" b="0" dirty="0">
                <a:solidFill>
                  <a:srgbClr val="5F5F5F"/>
                </a:solidFill>
              </a:rPr>
              <a:t>。</a:t>
            </a:r>
          </a:p>
        </p:txBody>
      </p:sp>
      <p:sp>
        <p:nvSpPr>
          <p:cNvPr id="5" name="Rounded Rectangle 4">
            <a:extLst>
              <a:ext uri="{FF2B5EF4-FFF2-40B4-BE49-F238E27FC236}">
                <a16:creationId xmlns:a16="http://schemas.microsoft.com/office/drawing/2014/main" id="{E77F73E9-C283-E5F6-9211-30D2C4314F00}"/>
              </a:ext>
            </a:extLst>
          </p:cNvPr>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dirty="0" err="1">
                <a:solidFill>
                  <a:srgbClr val="626262"/>
                </a:solidFill>
              </a:rPr>
              <a:t>第</a:t>
            </a:r>
            <a:r>
              <a:rPr sz="1100" b="0" dirty="0">
                <a:solidFill>
                  <a:srgbClr val="626262"/>
                </a:solidFill>
              </a:rPr>
              <a:t> </a:t>
            </a:r>
            <a:r>
              <a:rPr lang="en-US" altLang="zh-CN" sz="1100" b="0" dirty="0">
                <a:solidFill>
                  <a:srgbClr val="626262"/>
                </a:solidFill>
              </a:rPr>
              <a:t>4</a:t>
            </a:r>
            <a:r>
              <a:rPr sz="1100" b="0" dirty="0">
                <a:solidFill>
                  <a:srgbClr val="626262"/>
                </a:solidFill>
              </a:rPr>
              <a:t>/30 </a:t>
            </a:r>
            <a:r>
              <a:rPr sz="1100" b="0" dirty="0" err="1">
                <a:solidFill>
                  <a:srgbClr val="626262"/>
                </a:solidFill>
              </a:rPr>
              <a:t>页</a:t>
            </a:r>
            <a:endParaRPr sz="1100" b="0" dirty="0">
              <a:solidFill>
                <a:srgbClr val="626262"/>
              </a:solidFill>
            </a:endParaRP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98B4A5A-F250-D399-D052-756A5467D8BB}"/>
              </a:ext>
            </a:extLst>
          </p:cNvPr>
          <p:cNvSpPr txBox="1"/>
          <p:nvPr/>
        </p:nvSpPr>
        <p:spPr>
          <a:xfrm>
            <a:off x="804672" y="1499616"/>
            <a:ext cx="6254496" cy="274320"/>
          </a:xfrm>
          <a:prstGeom prst="rect">
            <a:avLst/>
          </a:prstGeom>
          <a:noFill/>
        </p:spPr>
        <p:txBody>
          <a:bodyPr wrap="square">
            <a:spAutoFit/>
          </a:bodyPr>
          <a:lstStyle/>
          <a:p>
            <a:pPr algn="l">
              <a:lnSpc>
                <a:spcPct val="108000"/>
              </a:lnSpc>
              <a:spcBef>
                <a:spcPts val="0"/>
              </a:spcBef>
              <a:spcAft>
                <a:spcPts val="0"/>
              </a:spcAft>
            </a:pPr>
            <a:r>
              <a:rPr sz="1200" b="1" dirty="0" err="1">
                <a:solidFill>
                  <a:srgbClr val="5F5F5F"/>
                </a:solidFill>
              </a:rPr>
              <a:t>核心要点</a:t>
            </a:r>
            <a:endParaRPr sz="1200" b="1" dirty="0">
              <a:solidFill>
                <a:srgbClr val="5F5F5F"/>
              </a:solidFill>
            </a:endParaRPr>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32736"/>
          </a:xfrm>
          <a:prstGeom prst="rect">
            <a:avLst/>
          </a:prstGeom>
          <a:noFill/>
        </p:spPr>
        <p:txBody>
          <a:bodyPr wrap="square">
            <a:spAutoFit/>
          </a:bodyPr>
          <a:lstStyle/>
          <a:p>
            <a:pPr algn="l">
              <a:lnSpc>
                <a:spcPct val="116000"/>
              </a:lnSpc>
              <a:spcBef>
                <a:spcPts val="0"/>
              </a:spcBef>
              <a:spcAft>
                <a:spcPts val="700"/>
              </a:spcAft>
            </a:pPr>
            <a:r>
              <a:rPr sz="1500" b="0" dirty="0">
                <a:solidFill>
                  <a:srgbClr val="2D2D2D"/>
                </a:solidFill>
              </a:rPr>
              <a:t>• </a:t>
            </a:r>
            <a:r>
              <a:rPr lang="zh-CN" altLang="en-US" sz="1500" b="0" dirty="0">
                <a:solidFill>
                  <a:srgbClr val="2D2D2D"/>
                </a:solidFill>
              </a:rPr>
              <a:t>定时层按 </a:t>
            </a:r>
            <a:r>
              <a:rPr lang="en-US" altLang="zh-CN" sz="1500" b="0" dirty="0">
                <a:solidFill>
                  <a:srgbClr val="2D2D2D"/>
                </a:solidFill>
              </a:rPr>
              <a:t>every=30m</a:t>
            </a:r>
            <a:r>
              <a:rPr lang="zh-CN" altLang="en-US" sz="1500" b="0" dirty="0">
                <a:solidFill>
                  <a:srgbClr val="2D2D2D"/>
                </a:solidFill>
              </a:rPr>
              <a:t>（可配 </a:t>
            </a:r>
            <a:r>
              <a:rPr lang="en-US" altLang="zh-CN" sz="1500" b="0" dirty="0" err="1">
                <a:solidFill>
                  <a:srgbClr val="2D2D2D"/>
                </a:solidFill>
              </a:rPr>
              <a:t>activeHours</a:t>
            </a:r>
            <a:r>
              <a:rPr lang="zh-CN" altLang="en-US" sz="1500" b="0" dirty="0">
                <a:solidFill>
                  <a:srgbClr val="2D2D2D"/>
                </a:solidFill>
              </a:rPr>
              <a:t>）触发；队列忙时跳过并稍后重试。</a:t>
            </a:r>
            <a:endParaRPr lang="en-US" altLang="zh-CN" sz="1500" b="0" dirty="0">
              <a:solidFill>
                <a:srgbClr val="2D2D2D"/>
              </a:solidFill>
            </a:endParaRPr>
          </a:p>
          <a:p>
            <a:pPr>
              <a:lnSpc>
                <a:spcPct val="116000"/>
              </a:lnSpc>
              <a:spcAft>
                <a:spcPts val="700"/>
              </a:spcAft>
            </a:pPr>
            <a:r>
              <a:rPr lang="en-US" sz="1500" dirty="0">
                <a:solidFill>
                  <a:srgbClr val="2D2D2D"/>
                </a:solidFill>
              </a:rPr>
              <a:t>• </a:t>
            </a:r>
            <a:r>
              <a:rPr lang="en-US" altLang="zh-CN" sz="1500" b="0" dirty="0">
                <a:solidFill>
                  <a:srgbClr val="2D2D2D"/>
                </a:solidFill>
              </a:rPr>
              <a:t>Heartbeat </a:t>
            </a:r>
            <a:r>
              <a:rPr lang="zh-CN" altLang="en-US" sz="1500" b="0" dirty="0">
                <a:solidFill>
                  <a:srgbClr val="2D2D2D"/>
                </a:solidFill>
              </a:rPr>
              <a:t>层做三件事：生成 </a:t>
            </a:r>
            <a:r>
              <a:rPr lang="en-US" altLang="zh-CN" sz="1500" b="0" dirty="0">
                <a:solidFill>
                  <a:srgbClr val="2D2D2D"/>
                </a:solidFill>
              </a:rPr>
              <a:t>prompt</a:t>
            </a:r>
            <a:r>
              <a:rPr lang="zh-CN" altLang="en-US" sz="1500" b="0" dirty="0">
                <a:solidFill>
                  <a:srgbClr val="2D2D2D"/>
                </a:solidFill>
              </a:rPr>
              <a:t>、选择 </a:t>
            </a:r>
            <a:r>
              <a:rPr lang="en-US" altLang="zh-CN" sz="1500" b="0" dirty="0">
                <a:solidFill>
                  <a:srgbClr val="2D2D2D"/>
                </a:solidFill>
              </a:rPr>
              <a:t>session scope</a:t>
            </a:r>
            <a:r>
              <a:rPr lang="zh-CN" altLang="en-US" sz="1500" b="0" dirty="0">
                <a:solidFill>
                  <a:srgbClr val="2D2D2D"/>
                </a:solidFill>
              </a:rPr>
              <a:t>、决定投递目标。</a:t>
            </a:r>
          </a:p>
          <a:p>
            <a:pPr>
              <a:lnSpc>
                <a:spcPct val="116000"/>
              </a:lnSpc>
              <a:spcAft>
                <a:spcPts val="700"/>
              </a:spcAft>
            </a:pPr>
            <a:r>
              <a:rPr lang="en-US" sz="1500" dirty="0">
                <a:solidFill>
                  <a:srgbClr val="2D2D2D"/>
                </a:solidFill>
              </a:rPr>
              <a:t>•</a:t>
            </a:r>
            <a:r>
              <a:rPr lang="zh-CN" altLang="en-US" sz="1500" b="0" dirty="0">
                <a:solidFill>
                  <a:srgbClr val="2D2D2D"/>
                </a:solidFill>
              </a:rPr>
              <a:t>上下文来自 </a:t>
            </a:r>
            <a:r>
              <a:rPr lang="en-US" altLang="zh-CN" sz="1500" b="0" dirty="0" err="1">
                <a:solidFill>
                  <a:srgbClr val="2D2D2D"/>
                </a:solidFill>
              </a:rPr>
              <a:t>HEARTBEAT.md</a:t>
            </a:r>
            <a:r>
              <a:rPr lang="zh-CN" altLang="en-US" sz="1500" b="0" dirty="0">
                <a:solidFill>
                  <a:srgbClr val="2D2D2D"/>
                </a:solidFill>
              </a:rPr>
              <a:t>（建议小而稳定）</a:t>
            </a:r>
            <a:r>
              <a:rPr lang="en-US" altLang="zh-CN" sz="1500" b="0" dirty="0">
                <a:solidFill>
                  <a:srgbClr val="2D2D2D"/>
                </a:solidFill>
              </a:rPr>
              <a:t>+ workspace/skills/memory</a:t>
            </a:r>
            <a:r>
              <a:rPr lang="zh-CN" altLang="en-US" sz="1500" b="0" dirty="0">
                <a:solidFill>
                  <a:srgbClr val="2D2D2D"/>
                </a:solidFill>
              </a:rPr>
              <a:t>。</a:t>
            </a:r>
          </a:p>
          <a:p>
            <a:pPr>
              <a:lnSpc>
                <a:spcPct val="116000"/>
              </a:lnSpc>
              <a:spcAft>
                <a:spcPts val="700"/>
              </a:spcAft>
            </a:pPr>
            <a:r>
              <a:rPr lang="en-US" sz="1500" dirty="0">
                <a:solidFill>
                  <a:srgbClr val="2D2D2D"/>
                </a:solidFill>
              </a:rPr>
              <a:t>• </a:t>
            </a:r>
            <a:r>
              <a:rPr lang="en-US" altLang="zh-CN" sz="1500" b="0" dirty="0">
                <a:solidFill>
                  <a:srgbClr val="2D2D2D"/>
                </a:solidFill>
              </a:rPr>
              <a:t>LLM </a:t>
            </a:r>
            <a:r>
              <a:rPr lang="zh-CN" altLang="en-US" sz="1500" b="0" dirty="0">
                <a:solidFill>
                  <a:srgbClr val="2D2D2D"/>
                </a:solidFill>
              </a:rPr>
              <a:t>心跳回合本质是一次正常 </a:t>
            </a:r>
            <a:r>
              <a:rPr lang="en-US" altLang="zh-CN" sz="1500" b="0" dirty="0">
                <a:solidFill>
                  <a:srgbClr val="2D2D2D"/>
                </a:solidFill>
              </a:rPr>
              <a:t>agent turn</a:t>
            </a:r>
            <a:r>
              <a:rPr lang="zh-CN" altLang="en-US" sz="1500" b="0" dirty="0">
                <a:solidFill>
                  <a:srgbClr val="2D2D2D"/>
                </a:solidFill>
              </a:rPr>
              <a:t>：无事回 </a:t>
            </a:r>
            <a:r>
              <a:rPr lang="en-US" altLang="zh-CN" sz="1500" b="0" dirty="0">
                <a:solidFill>
                  <a:srgbClr val="2D2D2D"/>
                </a:solidFill>
              </a:rPr>
              <a:t>HEARTBEAT_OK</a:t>
            </a:r>
            <a:r>
              <a:rPr lang="zh-CN" altLang="en-US" sz="1500" b="0" dirty="0">
                <a:solidFill>
                  <a:srgbClr val="2D2D2D"/>
                </a:solidFill>
              </a:rPr>
              <a:t>，有事回告警</a:t>
            </a:r>
            <a:r>
              <a:rPr lang="en-US" altLang="zh-CN" sz="1500" b="0" dirty="0">
                <a:solidFill>
                  <a:srgbClr val="2D2D2D"/>
                </a:solidFill>
              </a:rPr>
              <a:t>/</a:t>
            </a:r>
            <a:r>
              <a:rPr lang="zh-CN" altLang="en-US" sz="1500" b="0" dirty="0">
                <a:solidFill>
                  <a:srgbClr val="2D2D2D"/>
                </a:solidFill>
              </a:rPr>
              <a:t>行动文本。</a:t>
            </a:r>
          </a:p>
          <a:p>
            <a:pPr>
              <a:lnSpc>
                <a:spcPct val="116000"/>
              </a:lnSpc>
              <a:spcAft>
                <a:spcPts val="700"/>
              </a:spcAft>
            </a:pPr>
            <a:r>
              <a:rPr lang="en-US" sz="1500" dirty="0">
                <a:solidFill>
                  <a:srgbClr val="2D2D2D"/>
                </a:solidFill>
              </a:rPr>
              <a:t>•</a:t>
            </a:r>
            <a:r>
              <a:rPr lang="zh-CN" altLang="en-US" sz="1500" dirty="0">
                <a:solidFill>
                  <a:srgbClr val="2D2D2D"/>
                </a:solidFill>
              </a:rPr>
              <a:t> </a:t>
            </a:r>
            <a:r>
              <a:rPr lang="zh-CN" altLang="en-US" sz="1500" b="0" dirty="0">
                <a:solidFill>
                  <a:srgbClr val="2D2D2D"/>
                </a:solidFill>
              </a:rPr>
              <a:t>投递层先做 </a:t>
            </a:r>
            <a:r>
              <a:rPr lang="en-US" altLang="zh-CN" sz="1500" b="0" dirty="0">
                <a:solidFill>
                  <a:srgbClr val="2D2D2D"/>
                </a:solidFill>
              </a:rPr>
              <a:t>ack </a:t>
            </a:r>
            <a:r>
              <a:rPr lang="zh-CN" altLang="en-US" sz="1500" b="0" dirty="0">
                <a:solidFill>
                  <a:srgbClr val="2D2D2D"/>
                </a:solidFill>
              </a:rPr>
              <a:t>抑制（剥离 </a:t>
            </a:r>
            <a:r>
              <a:rPr lang="en-US" altLang="zh-CN" sz="1500" b="0" dirty="0">
                <a:solidFill>
                  <a:srgbClr val="2D2D2D"/>
                </a:solidFill>
              </a:rPr>
              <a:t>HEARTBEAT_OK</a:t>
            </a:r>
            <a:r>
              <a:rPr lang="zh-CN" altLang="en-US" sz="1500" b="0" dirty="0">
                <a:solidFill>
                  <a:srgbClr val="2D2D2D"/>
                </a:solidFill>
              </a:rPr>
              <a:t>，短内容可丢弃），再 </a:t>
            </a:r>
            <a:r>
              <a:rPr lang="en-US" altLang="zh-CN" sz="1500" b="0" dirty="0" err="1">
                <a:solidFill>
                  <a:srgbClr val="2D2D2D"/>
                </a:solidFill>
              </a:rPr>
              <a:t>directPolicy</a:t>
            </a:r>
            <a:r>
              <a:rPr lang="en-US" altLang="zh-CN" sz="1500" b="0" dirty="0">
                <a:solidFill>
                  <a:srgbClr val="2D2D2D"/>
                </a:solidFill>
              </a:rPr>
              <a:t>/</a:t>
            </a:r>
            <a:r>
              <a:rPr lang="en-US" altLang="zh-CN" sz="1500" b="0" dirty="0" err="1">
                <a:solidFill>
                  <a:srgbClr val="2D2D2D"/>
                </a:solidFill>
              </a:rPr>
              <a:t>showOk</a:t>
            </a:r>
            <a:r>
              <a:rPr lang="en-US" altLang="zh-CN" sz="1500" b="0" dirty="0">
                <a:solidFill>
                  <a:srgbClr val="2D2D2D"/>
                </a:solidFill>
              </a:rPr>
              <a:t>/</a:t>
            </a:r>
            <a:r>
              <a:rPr lang="en-US" altLang="zh-CN" sz="1500" b="0" dirty="0" err="1">
                <a:solidFill>
                  <a:srgbClr val="2D2D2D"/>
                </a:solidFill>
              </a:rPr>
              <a:t>showAlerts</a:t>
            </a:r>
            <a:r>
              <a:rPr lang="en-US" altLang="zh-CN" sz="1500" b="0" dirty="0">
                <a:solidFill>
                  <a:srgbClr val="2D2D2D"/>
                </a:solidFill>
              </a:rPr>
              <a:t>/</a:t>
            </a:r>
            <a:r>
              <a:rPr lang="en-US" altLang="zh-CN" sz="1500" b="0" dirty="0" err="1">
                <a:solidFill>
                  <a:srgbClr val="2D2D2D"/>
                </a:solidFill>
              </a:rPr>
              <a:t>useIndicator</a:t>
            </a:r>
            <a:r>
              <a:rPr lang="en-US" altLang="zh-CN" sz="1500" b="0" dirty="0">
                <a:solidFill>
                  <a:srgbClr val="2D2D2D"/>
                </a:solidFill>
              </a:rPr>
              <a:t> </a:t>
            </a:r>
            <a:r>
              <a:rPr lang="zh-CN" altLang="en-US" sz="1500" b="0" dirty="0">
                <a:solidFill>
                  <a:srgbClr val="2D2D2D"/>
                </a:solidFill>
              </a:rPr>
              <a:t>决定通知方式。</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26" name="Picture 2" descr="更宽版流程图">
            <a:extLst>
              <a:ext uri="{FF2B5EF4-FFF2-40B4-BE49-F238E27FC236}">
                <a16:creationId xmlns:a16="http://schemas.microsoft.com/office/drawing/2014/main" id="{6E22541C-3B2D-65AF-7959-9B3FFE2A4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893" y="4079687"/>
            <a:ext cx="10334112" cy="1900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系统分层全景（System</a:t>
            </a:r>
            <a:r>
              <a:rPr sz="2700" b="1" dirty="0">
                <a:solidFill>
                  <a:schemeClr val="accent1"/>
                </a:solidFill>
              </a:rPr>
              <a:t> of Systems）</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本页结论：WhatsApp / Telegram / Discord / Slack / Signal / iMessage / WeChat</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5/30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外部消息层</a:t>
            </a:r>
          </a:p>
          <a:p>
            <a:pPr algn="l">
              <a:lnSpc>
                <a:spcPct val="116000"/>
              </a:lnSpc>
              <a:spcBef>
                <a:spcPts val="0"/>
              </a:spcBef>
              <a:spcAft>
                <a:spcPts val="700"/>
              </a:spcAft>
            </a:pPr>
            <a:r>
              <a:rPr sz="1500" b="0">
                <a:solidFill>
                  <a:srgbClr val="2D2D2D"/>
                </a:solidFill>
              </a:rPr>
              <a:t>• 渠道接入层</a:t>
            </a:r>
          </a:p>
          <a:p>
            <a:pPr algn="l">
              <a:lnSpc>
                <a:spcPct val="116000"/>
              </a:lnSpc>
              <a:spcBef>
                <a:spcPts val="0"/>
              </a:spcBef>
              <a:spcAft>
                <a:spcPts val="700"/>
              </a:spcAft>
            </a:pPr>
            <a:r>
              <a:rPr sz="1500" b="0">
                <a:solidFill>
                  <a:srgbClr val="2D2D2D"/>
                </a:solidFill>
              </a:rPr>
              <a:t>• channels + channel plugins + outbound adapters</a:t>
            </a:r>
          </a:p>
          <a:p>
            <a:pPr algn="l">
              <a:lnSpc>
                <a:spcPct val="116000"/>
              </a:lnSpc>
              <a:spcBef>
                <a:spcPts val="0"/>
              </a:spcBef>
              <a:spcAft>
                <a:spcPts val="700"/>
              </a:spcAft>
            </a:pPr>
            <a:r>
              <a:rPr sz="1500" b="0">
                <a:solidFill>
                  <a:srgbClr val="2D2D2D"/>
                </a:solidFill>
              </a:rPr>
              <a:t>• 路由会话层</a:t>
            </a:r>
          </a:p>
          <a:p>
            <a:pPr algn="l">
              <a:lnSpc>
                <a:spcPct val="116000"/>
              </a:lnSpc>
              <a:spcBef>
                <a:spcPts val="0"/>
              </a:spcBef>
              <a:spcAft>
                <a:spcPts val="700"/>
              </a:spcAft>
            </a:pPr>
            <a:r>
              <a:rPr sz="1500" b="0">
                <a:solidFill>
                  <a:srgbClr val="2D2D2D"/>
                </a:solidFill>
              </a:rPr>
              <a:t>• bindings tiers + session-key algebra + dmScope</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1：统一 WebSocket </a:t>
            </a:r>
            <a:r>
              <a:rPr sz="2700" b="1" dirty="0" err="1">
                <a:solidFill>
                  <a:schemeClr val="accent1"/>
                </a:solidFill>
              </a:rPr>
              <a:t>控制平面</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本页结论：把系统里所有“管理类通信”统一走一套 WebSocket 协议，而不是每个模块各做各的</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6/30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控制平面：管“连接、身份、权限、策略、状态同步、事件回传”</a:t>
            </a:r>
          </a:p>
          <a:p>
            <a:pPr algn="l">
              <a:lnSpc>
                <a:spcPct val="116000"/>
              </a:lnSpc>
              <a:spcBef>
                <a:spcPts val="0"/>
              </a:spcBef>
              <a:spcAft>
                <a:spcPts val="700"/>
              </a:spcAft>
            </a:pPr>
            <a:r>
              <a:rPr sz="1500" b="0">
                <a:solidFill>
                  <a:srgbClr val="2D2D2D"/>
                </a:solidFill>
              </a:rPr>
              <a:t>• 数据平面：管“具体业务内容”（消息文本、工具结果等）</a:t>
            </a:r>
          </a:p>
          <a:p>
            <a:pPr algn="l">
              <a:lnSpc>
                <a:spcPct val="116000"/>
              </a:lnSpc>
              <a:spcBef>
                <a:spcPts val="0"/>
              </a:spcBef>
              <a:spcAft>
                <a:spcPts val="700"/>
              </a:spcAft>
            </a:pPr>
            <a:r>
              <a:rPr sz="1500" b="0">
                <a:solidFill>
                  <a:srgbClr val="2D2D2D"/>
                </a:solidFill>
              </a:rPr>
              <a:t>• OpenClaw 把控制平面统一到 WS 上后，连接先做 challenge/response（nonce + 设备签名）验身份</a:t>
            </a:r>
          </a:p>
          <a:p>
            <a:pPr algn="l">
              <a:lnSpc>
                <a:spcPct val="116000"/>
              </a:lnSpc>
              <a:spcBef>
                <a:spcPts val="0"/>
              </a:spcBef>
              <a:spcAft>
                <a:spcPts val="700"/>
              </a:spcAft>
            </a:pPr>
            <a:r>
              <a:rPr sz="1500" b="0">
                <a:solidFill>
                  <a:srgbClr val="2D2D2D"/>
                </a:solidFill>
              </a:rPr>
              <a:t>• 验证通过后下发 features/snapshot/policy，让客户端和服务端状态对齐</a:t>
            </a:r>
          </a:p>
        </p:txBody>
      </p:sp>
      <p:pic>
        <p:nvPicPr>
          <p:cNvPr id="11" name="Picture 10" descr="image.png"/>
          <p:cNvPicPr>
            <a:picLocks noChangeAspect="1"/>
          </p:cNvPicPr>
          <p:nvPr/>
        </p:nvPicPr>
        <p:blipFill>
          <a:blip r:embed="rId2"/>
          <a:stretch>
            <a:fillRect/>
          </a:stretch>
        </p:blipFill>
        <p:spPr>
          <a:xfrm>
            <a:off x="261838" y="4887468"/>
            <a:ext cx="11623612" cy="1165772"/>
          </a:xfrm>
          <a:prstGeom prst="rect">
            <a:avLst/>
          </a:prstGeom>
        </p:spPr>
      </p:pic>
      <p:pic>
        <p:nvPicPr>
          <p:cNvPr id="12" name="图片 11">
            <a:extLst>
              <a:ext uri="{FF2B5EF4-FFF2-40B4-BE49-F238E27FC236}">
                <a16:creationId xmlns:a16="http://schemas.microsoft.com/office/drawing/2014/main" id="{2C2C3B74-BD64-BD10-2E0C-79F433F0ED86}"/>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1：统一 WebSocket </a:t>
            </a:r>
            <a:r>
              <a:rPr sz="2700" b="1" dirty="0" err="1">
                <a:solidFill>
                  <a:schemeClr val="accent1"/>
                </a:solidFill>
              </a:rPr>
              <a:t>控制平面</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本页结论：不是“接口集合”，而是有角色、作用域、挑战握手的协议内核</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7/30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关键机制</a:t>
            </a:r>
          </a:p>
          <a:p>
            <a:pPr algn="l">
              <a:lnSpc>
                <a:spcPct val="116000"/>
              </a:lnSpc>
              <a:spcBef>
                <a:spcPts val="0"/>
              </a:spcBef>
              <a:spcAft>
                <a:spcPts val="700"/>
              </a:spcAft>
            </a:pPr>
            <a:r>
              <a:rPr sz="1500" b="0">
                <a:solidFill>
                  <a:srgbClr val="2D2D2D"/>
                </a:solidFill>
              </a:rPr>
              <a:t>• 强类型帧：req/res/event（TypeBox schema）。</a:t>
            </a:r>
          </a:p>
          <a:p>
            <a:pPr algn="l">
              <a:lnSpc>
                <a:spcPct val="116000"/>
              </a:lnSpc>
              <a:spcBef>
                <a:spcPts val="0"/>
              </a:spcBef>
              <a:spcAft>
                <a:spcPts val="700"/>
              </a:spcAft>
            </a:pPr>
            <a:r>
              <a:rPr sz="1500" b="0">
                <a:solidFill>
                  <a:srgbClr val="2D2D2D"/>
                </a:solidFill>
              </a:rPr>
              <a:t>• 握手先发 connect.challenge，再校验 device signature + nonce。</a:t>
            </a:r>
          </a:p>
          <a:p>
            <a:pPr algn="l">
              <a:lnSpc>
                <a:spcPct val="116000"/>
              </a:lnSpc>
              <a:spcBef>
                <a:spcPts val="0"/>
              </a:spcBef>
              <a:spcAft>
                <a:spcPts val="700"/>
              </a:spcAft>
            </a:pPr>
            <a:r>
              <a:rPr sz="1500" b="0">
                <a:solidFill>
                  <a:srgbClr val="2D2D2D"/>
                </a:solidFill>
              </a:rPr>
              <a:t>• operator 与 node 共用同一协议栈，统一 role/scopes/caps 治理。</a:t>
            </a:r>
          </a:p>
          <a:p>
            <a:pPr algn="l">
              <a:lnSpc>
                <a:spcPct val="116000"/>
              </a:lnSpc>
              <a:spcBef>
                <a:spcPts val="0"/>
              </a:spcBef>
              <a:spcAft>
                <a:spcPts val="700"/>
              </a:spcAft>
            </a:pPr>
            <a:r>
              <a:rPr sz="1500" b="0">
                <a:solidFill>
                  <a:srgbClr val="2D2D2D"/>
                </a:solidFill>
              </a:rPr>
              <a:t>• side-effect 方法要求 idempotency key，避免重放副作用。</a:t>
            </a:r>
          </a:p>
        </p:txBody>
      </p:sp>
      <p:pic>
        <p:nvPicPr>
          <p:cNvPr id="9" name="图片 11">
            <a:extLst>
              <a:ext uri="{FF2B5EF4-FFF2-40B4-BE49-F238E27FC236}">
                <a16:creationId xmlns:a16="http://schemas.microsoft.com/office/drawing/2014/main" id="{2C1F0CE2-84D7-5D88-49B0-B8886EBCFB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2：确定性路由 + </a:t>
            </a:r>
            <a:r>
              <a:rPr sz="2700" b="1" dirty="0" err="1">
                <a:solidFill>
                  <a:schemeClr val="accent1"/>
                </a:solidFill>
              </a:rPr>
              <a:t>会话策略</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本页结论：确定性路由（Deterministic Routing）</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8/30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同一条消息在同样条件下，永远按固定优先级命中同一条规则（从最具体到最通用，比如 peer -&gt; guild/roles -&gt; team -&gt; account -&gt; channel -&gt;…</a:t>
            </a:r>
          </a:p>
          <a:p>
            <a:pPr algn="l">
              <a:lnSpc>
                <a:spcPct val="116000"/>
              </a:lnSpc>
              <a:spcBef>
                <a:spcPts val="0"/>
              </a:spcBef>
              <a:spcAft>
                <a:spcPts val="700"/>
              </a:spcAft>
            </a:pPr>
            <a:r>
              <a:rPr sz="1500" b="0">
                <a:solidFill>
                  <a:srgbClr val="2D2D2D"/>
                </a:solidFill>
              </a:rPr>
              <a:t>• 会话策略（Session Strategy）</a:t>
            </a:r>
          </a:p>
          <a:p>
            <a:pPr algn="l">
              <a:lnSpc>
                <a:spcPct val="116000"/>
              </a:lnSpc>
              <a:spcBef>
                <a:spcPts val="0"/>
              </a:spcBef>
              <a:spcAft>
                <a:spcPts val="700"/>
              </a:spcAft>
            </a:pPr>
            <a:r>
              <a:rPr sz="1500" b="0">
                <a:solidFill>
                  <a:srgbClr val="2D2D2D"/>
                </a:solidFill>
              </a:rPr>
              <a:t>• 命中路由后，再决定这条消息的上下文“记忆”放到哪个会话（sessionKey 怎么算）</a:t>
            </a:r>
          </a:p>
          <a:p>
            <a:pPr algn="l">
              <a:lnSpc>
                <a:spcPct val="116000"/>
              </a:lnSpc>
              <a:spcBef>
                <a:spcPts val="0"/>
              </a:spcBef>
              <a:spcAft>
                <a:spcPts val="700"/>
              </a:spcAft>
            </a:pPr>
            <a:r>
              <a:rPr sz="1500" b="0">
                <a:solidFill>
                  <a:srgbClr val="2D2D2D"/>
                </a:solidFill>
              </a:rPr>
              <a:t>• 比如 main、per-peer、per-channel-peer 等，控制是“共享记忆”还是“严格隔离”</a:t>
            </a:r>
          </a:p>
        </p:txBody>
      </p:sp>
      <p:pic>
        <p:nvPicPr>
          <p:cNvPr id="11" name="Picture 10" descr="image.png"/>
          <p:cNvPicPr>
            <a:picLocks noChangeAspect="1"/>
          </p:cNvPicPr>
          <p:nvPr/>
        </p:nvPicPr>
        <p:blipFill>
          <a:blip r:embed="rId2"/>
          <a:stretch>
            <a:fillRect/>
          </a:stretch>
        </p:blipFill>
        <p:spPr>
          <a:xfrm>
            <a:off x="71522" y="4562856"/>
            <a:ext cx="12048955" cy="2140857"/>
          </a:xfrm>
          <a:prstGeom prst="rect">
            <a:avLst/>
          </a:prstGeom>
        </p:spPr>
      </p:pic>
      <p:pic>
        <p:nvPicPr>
          <p:cNvPr id="12" name="图片 11">
            <a:extLst>
              <a:ext uri="{FF2B5EF4-FFF2-40B4-BE49-F238E27FC236}">
                <a16:creationId xmlns:a16="http://schemas.microsoft.com/office/drawing/2014/main" id="{8C80C274-B90E-C735-A7D6-FAAC1DA6C668}"/>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2：确定性路由 + </a:t>
            </a:r>
            <a:r>
              <a:rPr sz="2700" b="1" dirty="0" err="1">
                <a:solidFill>
                  <a:schemeClr val="accent1"/>
                </a:solidFill>
              </a:rPr>
              <a:t>会话策略</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本页结论：主键前缀：agent:&lt;agentId&gt;:...</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9/30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1764970"/>
          </a:xfrm>
          <a:prstGeom prst="rect">
            <a:avLst/>
          </a:prstGeom>
          <a:noFill/>
        </p:spPr>
        <p:txBody>
          <a:bodyPr wrap="square">
            <a:spAutoFit/>
          </a:bodyPr>
          <a:lstStyle/>
          <a:p>
            <a:pPr algn="l">
              <a:lnSpc>
                <a:spcPct val="116000"/>
              </a:lnSpc>
              <a:spcBef>
                <a:spcPts val="0"/>
              </a:spcBef>
              <a:spcAft>
                <a:spcPts val="700"/>
              </a:spcAft>
            </a:pPr>
            <a:r>
              <a:rPr sz="1500" b="0" dirty="0">
                <a:solidFill>
                  <a:srgbClr val="2D2D2D"/>
                </a:solidFill>
              </a:rPr>
              <a:t>• </a:t>
            </a:r>
            <a:r>
              <a:rPr sz="1500" b="0" dirty="0" err="1">
                <a:solidFill>
                  <a:srgbClr val="2D2D2D"/>
                </a:solidFill>
              </a:rPr>
              <a:t>会话键策略</a:t>
            </a:r>
            <a:endParaRPr sz="1500" b="0" dirty="0">
              <a:solidFill>
                <a:srgbClr val="2D2D2D"/>
              </a:solidFill>
            </a:endParaRPr>
          </a:p>
          <a:p>
            <a:pPr algn="l">
              <a:lnSpc>
                <a:spcPct val="116000"/>
              </a:lnSpc>
              <a:spcBef>
                <a:spcPts val="0"/>
              </a:spcBef>
              <a:spcAft>
                <a:spcPts val="700"/>
              </a:spcAft>
            </a:pPr>
            <a:r>
              <a:rPr sz="1500" b="0" dirty="0">
                <a:solidFill>
                  <a:srgbClr val="2D2D2D"/>
                </a:solidFill>
              </a:rPr>
              <a:t>• </a:t>
            </a:r>
            <a:r>
              <a:rPr sz="1500" b="0" dirty="0" err="1">
                <a:solidFill>
                  <a:srgbClr val="2D2D2D"/>
                </a:solidFill>
              </a:rPr>
              <a:t>dmScope：main</a:t>
            </a:r>
            <a:r>
              <a:rPr sz="1500" b="0" dirty="0">
                <a:solidFill>
                  <a:srgbClr val="2D2D2D"/>
                </a:solidFill>
              </a:rPr>
              <a:t> / per-peer / per-channel-peer / per-account-channel-peer。</a:t>
            </a:r>
          </a:p>
          <a:p>
            <a:pPr algn="l">
              <a:lnSpc>
                <a:spcPct val="116000"/>
              </a:lnSpc>
              <a:spcBef>
                <a:spcPts val="0"/>
              </a:spcBef>
              <a:spcAft>
                <a:spcPts val="700"/>
              </a:spcAft>
            </a:pPr>
            <a:r>
              <a:rPr sz="1500" b="0" dirty="0">
                <a:solidFill>
                  <a:srgbClr val="2D2D2D"/>
                </a:solidFill>
              </a:rPr>
              <a:t>• </a:t>
            </a:r>
            <a:r>
              <a:rPr sz="1500" b="0" dirty="0" err="1">
                <a:solidFill>
                  <a:srgbClr val="2D2D2D"/>
                </a:solidFill>
              </a:rPr>
              <a:t>群组键独立</a:t>
            </a:r>
            <a:r>
              <a:rPr sz="1500" b="0" dirty="0">
                <a:solidFill>
                  <a:srgbClr val="2D2D2D"/>
                </a:solidFill>
              </a:rPr>
              <a:t>：...:&lt;channel&gt;:</a:t>
            </a:r>
            <a:r>
              <a:rPr sz="1500" b="0" dirty="0" err="1">
                <a:solidFill>
                  <a:srgbClr val="2D2D2D"/>
                </a:solidFill>
              </a:rPr>
              <a:t>group|channel</a:t>
            </a:r>
            <a:r>
              <a:rPr sz="1500" b="0" dirty="0">
                <a:solidFill>
                  <a:srgbClr val="2D2D2D"/>
                </a:solidFill>
              </a:rPr>
              <a:t>:&lt;id&gt;。</a:t>
            </a:r>
          </a:p>
          <a:p>
            <a:pPr algn="l">
              <a:lnSpc>
                <a:spcPct val="116000"/>
              </a:lnSpc>
              <a:spcBef>
                <a:spcPts val="0"/>
              </a:spcBef>
              <a:spcAft>
                <a:spcPts val="700"/>
              </a:spcAft>
            </a:pPr>
            <a:r>
              <a:rPr sz="1500" b="0" dirty="0">
                <a:solidFill>
                  <a:srgbClr val="2D2D2D"/>
                </a:solidFill>
              </a:rPr>
              <a:t>• </a:t>
            </a:r>
            <a:r>
              <a:rPr sz="1500" b="0" dirty="0" err="1">
                <a:solidFill>
                  <a:srgbClr val="2D2D2D"/>
                </a:solidFill>
              </a:rPr>
              <a:t>identityLinks</a:t>
            </a:r>
            <a:r>
              <a:rPr sz="1500" b="0" dirty="0">
                <a:solidFill>
                  <a:srgbClr val="2D2D2D"/>
                </a:solidFill>
              </a:rPr>
              <a:t> </a:t>
            </a:r>
            <a:r>
              <a:rPr sz="1500" b="0" dirty="0" err="1">
                <a:solidFill>
                  <a:srgbClr val="2D2D2D"/>
                </a:solidFill>
              </a:rPr>
              <a:t>可跨渠道归并同一用户身份</a:t>
            </a:r>
            <a:r>
              <a:rPr sz="1500" b="0" dirty="0">
                <a:solidFill>
                  <a:srgbClr val="2D2D2D"/>
                </a:solidFill>
              </a:rPr>
              <a:t>。</a:t>
            </a:r>
          </a:p>
          <a:p>
            <a:pPr algn="l">
              <a:lnSpc>
                <a:spcPct val="116000"/>
              </a:lnSpc>
              <a:spcBef>
                <a:spcPts val="0"/>
              </a:spcBef>
              <a:spcAft>
                <a:spcPts val="700"/>
              </a:spcAft>
            </a:pPr>
            <a:r>
              <a:rPr sz="1500" dirty="0"/>
              <a:t>• </a:t>
            </a:r>
            <a:r>
              <a:rPr sz="1500" dirty="0" err="1"/>
              <a:t>binding.peer（最精确</a:t>
            </a:r>
            <a:r>
              <a:rPr sz="1500" dirty="0"/>
              <a:t>）</a:t>
            </a:r>
          </a:p>
        </p:txBody>
      </p:sp>
      <p:pic>
        <p:nvPicPr>
          <p:cNvPr id="9" name="图片 11">
            <a:extLst>
              <a:ext uri="{FF2B5EF4-FFF2-40B4-BE49-F238E27FC236}">
                <a16:creationId xmlns:a16="http://schemas.microsoft.com/office/drawing/2014/main" id="{D07F7DA5-FF1D-9CAE-158B-31258B00E5CE}"/>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3：双 Pairing </a:t>
            </a:r>
            <a:r>
              <a:rPr sz="2700" b="1" dirty="0" err="1">
                <a:solidFill>
                  <a:schemeClr val="accent1"/>
                </a:solidFill>
              </a:rPr>
              <a:t>安全模型</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本页结论：是把安全准入拆成两道独立门禁，而不是一次放行</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10/30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DM Pairing（人/消息源配对）</a:t>
            </a:r>
          </a:p>
          <a:p>
            <a:pPr algn="l">
              <a:lnSpc>
                <a:spcPct val="116000"/>
              </a:lnSpc>
              <a:spcBef>
                <a:spcPts val="0"/>
              </a:spcBef>
              <a:spcAft>
                <a:spcPts val="700"/>
              </a:spcAft>
            </a:pPr>
            <a:r>
              <a:rPr sz="1500" b="0">
                <a:solidFill>
                  <a:srgbClr val="2D2D2D"/>
                </a:solidFill>
              </a:rPr>
              <a:t>• 陌生用户先通过配对码或审批，确认“这个人能不能和系统对话”</a:t>
            </a:r>
          </a:p>
          <a:p>
            <a:pPr algn="l">
              <a:lnSpc>
                <a:spcPct val="116000"/>
              </a:lnSpc>
              <a:spcBef>
                <a:spcPts val="0"/>
              </a:spcBef>
              <a:spcAft>
                <a:spcPts val="700"/>
              </a:spcAft>
            </a:pPr>
            <a:r>
              <a:rPr sz="1500" b="0">
                <a:solidFill>
                  <a:srgbClr val="2D2D2D"/>
                </a:solidFill>
              </a:rPr>
              <a:t>• Device Pairing（设备/节点配对）</a:t>
            </a:r>
          </a:p>
          <a:p>
            <a:pPr algn="l">
              <a:lnSpc>
                <a:spcPct val="116000"/>
              </a:lnSpc>
              <a:spcBef>
                <a:spcPts val="0"/>
              </a:spcBef>
              <a:spcAft>
                <a:spcPts val="700"/>
              </a:spcAft>
            </a:pPr>
            <a:r>
              <a:rPr sz="1500" b="0">
                <a:solidFill>
                  <a:srgbClr val="2D2D2D"/>
                </a:solidFill>
              </a:rPr>
              <a:t>• 接入的设备要通过设备身份校验（如签名/nonce/审批）并拿到设备令牌，确认“这台机器能不能执行能力”</a:t>
            </a:r>
          </a:p>
        </p:txBody>
      </p:sp>
      <p:pic>
        <p:nvPicPr>
          <p:cNvPr id="11" name="Picture 10" descr="image.png"/>
          <p:cNvPicPr>
            <a:picLocks noChangeAspect="1"/>
          </p:cNvPicPr>
          <p:nvPr/>
        </p:nvPicPr>
        <p:blipFill>
          <a:blip r:embed="rId2"/>
          <a:stretch>
            <a:fillRect/>
          </a:stretch>
        </p:blipFill>
        <p:spPr>
          <a:xfrm>
            <a:off x="1035540" y="4562856"/>
            <a:ext cx="9525780" cy="2295144"/>
          </a:xfrm>
          <a:prstGeom prst="rect">
            <a:avLst/>
          </a:prstGeom>
        </p:spPr>
      </p:pic>
      <p:pic>
        <p:nvPicPr>
          <p:cNvPr id="12" name="图片 11">
            <a:extLst>
              <a:ext uri="{FF2B5EF4-FFF2-40B4-BE49-F238E27FC236}">
                <a16:creationId xmlns:a16="http://schemas.microsoft.com/office/drawing/2014/main" id="{6E44B484-DAB4-C4F5-D15B-105862AB59EA}"/>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3：双 Pairing </a:t>
            </a:r>
            <a:r>
              <a:rPr sz="2700" b="1" dirty="0" err="1">
                <a:solidFill>
                  <a:schemeClr val="accent1"/>
                </a:solidFill>
              </a:rPr>
              <a:t>安全模型</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本页结论：DM Pairing（渠道侧）</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11/30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未知发信人先给 pairing code，不直接触发模型执行。</a:t>
            </a:r>
          </a:p>
          <a:p>
            <a:pPr algn="l">
              <a:lnSpc>
                <a:spcPct val="116000"/>
              </a:lnSpc>
              <a:spcBef>
                <a:spcPts val="0"/>
              </a:spcBef>
              <a:spcAft>
                <a:spcPts val="700"/>
              </a:spcAft>
            </a:pPr>
            <a:r>
              <a:rPr sz="1500" b="0">
                <a:solidFill>
                  <a:srgbClr val="2D2D2D"/>
                </a:solidFill>
              </a:rPr>
              <a:t>• 审批后写入 allowFrom，本地文件持久化。</a:t>
            </a:r>
          </a:p>
          <a:p>
            <a:pPr algn="l">
              <a:lnSpc>
                <a:spcPct val="116000"/>
              </a:lnSpc>
              <a:spcBef>
                <a:spcPts val="0"/>
              </a:spcBef>
              <a:spcAft>
                <a:spcPts val="700"/>
              </a:spcAft>
            </a:pPr>
            <a:r>
              <a:rPr sz="1500" b="0">
                <a:solidFill>
                  <a:srgbClr val="2D2D2D"/>
                </a:solidFill>
              </a:rPr>
              <a:t>• pairing 请求有 TTL、数量上限与并发锁。</a:t>
            </a:r>
          </a:p>
          <a:p>
            <a:pPr algn="l">
              <a:lnSpc>
                <a:spcPct val="116000"/>
              </a:lnSpc>
              <a:spcBef>
                <a:spcPts val="0"/>
              </a:spcBef>
              <a:spcAft>
                <a:spcPts val="700"/>
              </a:spcAft>
            </a:pPr>
            <a:r>
              <a:rPr sz="1500" b="0">
                <a:solidFill>
                  <a:srgbClr val="2D2D2D"/>
                </a:solidFill>
              </a:rPr>
              <a:t>• 默认策略鼓励 pairing/allowlist，而非开放 DM。</a:t>
            </a:r>
          </a:p>
          <a:p>
            <a:pPr algn="l">
              <a:lnSpc>
                <a:spcPct val="116000"/>
              </a:lnSpc>
              <a:spcBef>
                <a:spcPts val="0"/>
              </a:spcBef>
              <a:spcAft>
                <a:spcPts val="700"/>
              </a:spcAft>
            </a:pPr>
            <a:r>
              <a:rPr sz="1500" b="0">
                <a:solidFill>
                  <a:srgbClr val="2D2D2D"/>
                </a:solidFill>
              </a:rPr>
              <a:t>• Device Pairing（节点侧）</a:t>
            </a:r>
          </a:p>
        </p:txBody>
      </p:sp>
      <p:pic>
        <p:nvPicPr>
          <p:cNvPr id="9" name="图片 11">
            <a:extLst>
              <a:ext uri="{FF2B5EF4-FFF2-40B4-BE49-F238E27FC236}">
                <a16:creationId xmlns:a16="http://schemas.microsoft.com/office/drawing/2014/main" id="{7EC0EF35-A1CB-950F-DE06-B1FE535C5248}"/>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4：通道插件化契约</a:t>
            </a:r>
            <a:r>
              <a:rPr sz="2000" b="1" dirty="0">
                <a:solidFill>
                  <a:schemeClr val="accent1"/>
                </a:solidFill>
              </a:rPr>
              <a:t>（Channel Plugin Contract）</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本页结论：Channel Plugin Contract = 给所有渠道适配器（Telegram/Discord/WhatsApp 等）制定的一套统一接口规范</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12/30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不是“能收发消息就算接入”，而是必须按同一套规则实现生命周期和能力</a:t>
            </a:r>
          </a:p>
          <a:p>
            <a:pPr algn="l">
              <a:lnSpc>
                <a:spcPct val="116000"/>
              </a:lnSpc>
              <a:spcBef>
                <a:spcPts val="0"/>
              </a:spcBef>
              <a:spcAft>
                <a:spcPts val="700"/>
              </a:spcAft>
            </a:pPr>
            <a:r>
              <a:rPr sz="1500" b="0">
                <a:solidFill>
                  <a:srgbClr val="2D2D2D"/>
                </a:solidFill>
              </a:rPr>
              <a:t>• 分成“三层”</a:t>
            </a:r>
          </a:p>
          <a:p>
            <a:pPr algn="l">
              <a:lnSpc>
                <a:spcPct val="116000"/>
              </a:lnSpc>
              <a:spcBef>
                <a:spcPts val="0"/>
              </a:spcBef>
              <a:spcAft>
                <a:spcPts val="700"/>
              </a:spcAft>
            </a:pPr>
            <a:r>
              <a:rPr sz="1500" b="0">
                <a:solidFill>
                  <a:srgbClr val="2D2D2D"/>
                </a:solidFill>
              </a:rPr>
              <a:t>• 插件化（Plugin）</a:t>
            </a:r>
          </a:p>
          <a:p>
            <a:pPr algn="l">
              <a:lnSpc>
                <a:spcPct val="116000"/>
              </a:lnSpc>
              <a:spcBef>
                <a:spcPts val="0"/>
              </a:spcBef>
              <a:spcAft>
                <a:spcPts val="700"/>
              </a:spcAft>
            </a:pPr>
            <a:r>
              <a:rPr sz="1500" b="0">
                <a:solidFill>
                  <a:srgbClr val="2D2D2D"/>
                </a:solidFill>
              </a:rPr>
              <a:t>• 每个渠道是独立插件，新增渠道不改核心引擎</a:t>
            </a:r>
          </a:p>
        </p:txBody>
      </p:sp>
      <p:pic>
        <p:nvPicPr>
          <p:cNvPr id="11" name="Picture 10" descr="image.png"/>
          <p:cNvPicPr>
            <a:picLocks noChangeAspect="1"/>
          </p:cNvPicPr>
          <p:nvPr/>
        </p:nvPicPr>
        <p:blipFill>
          <a:blip r:embed="rId2"/>
          <a:stretch>
            <a:fillRect/>
          </a:stretch>
        </p:blipFill>
        <p:spPr>
          <a:xfrm>
            <a:off x="312961" y="4866664"/>
            <a:ext cx="11802031" cy="1358215"/>
          </a:xfrm>
          <a:prstGeom prst="rect">
            <a:avLst/>
          </a:prstGeom>
        </p:spPr>
      </p:pic>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4：通道插件化契约</a:t>
            </a:r>
            <a:r>
              <a:rPr sz="2000" b="1" dirty="0">
                <a:solidFill>
                  <a:schemeClr val="accent1"/>
                </a:solidFill>
              </a:rPr>
              <a:t>（Channel Plugin Contract）</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本页结论：ChannelPlugin 典型适配面</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13/30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config / setup / pairing / security / groups / outbound / status</a:t>
            </a:r>
          </a:p>
          <a:p>
            <a:pPr algn="l">
              <a:lnSpc>
                <a:spcPct val="116000"/>
              </a:lnSpc>
              <a:spcBef>
                <a:spcPts val="0"/>
              </a:spcBef>
              <a:spcAft>
                <a:spcPts val="700"/>
              </a:spcAft>
            </a:pPr>
            <a:r>
              <a:rPr sz="1500" b="0">
                <a:solidFill>
                  <a:srgbClr val="2D2D2D"/>
                </a:solidFill>
              </a:rPr>
              <a:t>• gateway / auth / commands / threading / streaming / messaging</a:t>
            </a:r>
          </a:p>
          <a:p>
            <a:pPr algn="l">
              <a:lnSpc>
                <a:spcPct val="116000"/>
              </a:lnSpc>
              <a:spcBef>
                <a:spcPts val="0"/>
              </a:spcBef>
              <a:spcAft>
                <a:spcPts val="700"/>
              </a:spcAft>
            </a:pPr>
            <a:r>
              <a:rPr sz="1500" b="0">
                <a:solidFill>
                  <a:srgbClr val="2D2D2D"/>
                </a:solidFill>
              </a:rPr>
              <a:t>• directory / resolver / actions / heartbeat / agentTools</a:t>
            </a:r>
          </a:p>
          <a:p>
            <a:pPr algn="l">
              <a:lnSpc>
                <a:spcPct val="116000"/>
              </a:lnSpc>
              <a:spcBef>
                <a:spcPts val="0"/>
              </a:spcBef>
              <a:spcAft>
                <a:spcPts val="700"/>
              </a:spcAft>
            </a:pPr>
            <a:r>
              <a:rPr sz="1500" b="0">
                <a:solidFill>
                  <a:srgbClr val="2D2D2D"/>
                </a:solidFill>
              </a:rPr>
              <a:t>• 同一通道生命周期在同一个契约中完成，不再散落在多模块“拼装”。</a:t>
            </a:r>
          </a:p>
          <a:p>
            <a:pPr algn="l">
              <a:lnSpc>
                <a:spcPct val="116000"/>
              </a:lnSpc>
              <a:spcBef>
                <a:spcPts val="0"/>
              </a:spcBef>
              <a:spcAft>
                <a:spcPts val="700"/>
              </a:spcAft>
            </a:pPr>
            <a:r>
              <a:rPr sz="1500" b="0">
                <a:solidFill>
                  <a:srgbClr val="2D2D2D"/>
                </a:solidFill>
              </a:rPr>
              <a:t>• 配合 plugins allow/deny 与 schema 校验，实现扩展能力和治理能力同步增长。</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5：双层流式回复机制</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本页结论：把“实时感”和“最终正确性”拆成两层处理</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14/30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Preview Streaming（预览层）</a:t>
            </a:r>
          </a:p>
          <a:p>
            <a:pPr algn="l">
              <a:lnSpc>
                <a:spcPct val="116000"/>
              </a:lnSpc>
              <a:spcBef>
                <a:spcPts val="0"/>
              </a:spcBef>
              <a:spcAft>
                <a:spcPts val="700"/>
              </a:spcAft>
            </a:pPr>
            <a:r>
              <a:rPr sz="1500" b="0">
                <a:solidFill>
                  <a:srgbClr val="2D2D2D"/>
                </a:solidFill>
              </a:rPr>
              <a:t>• 先把模型正在生成的内容实时展示出来（像“正在打字”）</a:t>
            </a:r>
          </a:p>
          <a:p>
            <a:pPr algn="l">
              <a:lnSpc>
                <a:spcPct val="116000"/>
              </a:lnSpc>
              <a:spcBef>
                <a:spcPts val="0"/>
              </a:spcBef>
              <a:spcAft>
                <a:spcPts val="700"/>
              </a:spcAft>
            </a:pPr>
            <a:r>
              <a:rPr sz="1500" b="0">
                <a:solidFill>
                  <a:srgbClr val="2D2D2D"/>
                </a:solidFill>
              </a:rPr>
              <a:t>• 这层可以频繁改写、覆盖，不一定入库</a:t>
            </a:r>
          </a:p>
          <a:p>
            <a:pPr algn="l">
              <a:lnSpc>
                <a:spcPct val="116000"/>
              </a:lnSpc>
              <a:spcBef>
                <a:spcPts val="0"/>
              </a:spcBef>
              <a:spcAft>
                <a:spcPts val="700"/>
              </a:spcAft>
            </a:pPr>
            <a:r>
              <a:rPr sz="1500" b="0">
                <a:solidFill>
                  <a:srgbClr val="2D2D2D"/>
                </a:solidFill>
              </a:rPr>
              <a:t>• Block Streaming（正式层）</a:t>
            </a:r>
          </a:p>
        </p:txBody>
      </p:sp>
      <p:pic>
        <p:nvPicPr>
          <p:cNvPr id="11" name="Picture 10" descr="image.png"/>
          <p:cNvPicPr>
            <a:picLocks noChangeAspect="1"/>
          </p:cNvPicPr>
          <p:nvPr/>
        </p:nvPicPr>
        <p:blipFill>
          <a:blip r:embed="rId2"/>
          <a:stretch>
            <a:fillRect/>
          </a:stretch>
        </p:blipFill>
        <p:spPr>
          <a:xfrm>
            <a:off x="175092" y="5214571"/>
            <a:ext cx="11841815" cy="1049127"/>
          </a:xfrm>
          <a:prstGeom prst="rect">
            <a:avLst/>
          </a:prstGeom>
        </p:spPr>
      </p:pic>
      <p:pic>
        <p:nvPicPr>
          <p:cNvPr id="12" name="图片 11">
            <a:extLst>
              <a:ext uri="{FF2B5EF4-FFF2-40B4-BE49-F238E27FC236}">
                <a16:creationId xmlns:a16="http://schemas.microsoft.com/office/drawing/2014/main" id="{789EDE05-0920-0CEE-5DA3-B76014352A52}"/>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5：双层流式回复机制</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本页结论：Block Streaming（真实消息块）</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15/30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按 text_end 或 message_end 刷出块消息。</a:t>
            </a:r>
          </a:p>
          <a:p>
            <a:pPr algn="l">
              <a:lnSpc>
                <a:spcPct val="116000"/>
              </a:lnSpc>
              <a:spcBef>
                <a:spcPts val="0"/>
              </a:spcBef>
              <a:spcAft>
                <a:spcPts val="700"/>
              </a:spcAft>
            </a:pPr>
            <a:r>
              <a:rPr sz="1500" b="0">
                <a:solidFill>
                  <a:srgbClr val="2D2D2D"/>
                </a:solidFill>
              </a:rPr>
              <a:t>• min/max 字符阈值 + break preference（段落/换行/句子）。</a:t>
            </a:r>
          </a:p>
          <a:p>
            <a:pPr algn="l">
              <a:lnSpc>
                <a:spcPct val="116000"/>
              </a:lnSpc>
              <a:spcBef>
                <a:spcPts val="0"/>
              </a:spcBef>
              <a:spcAft>
                <a:spcPts val="700"/>
              </a:spcAft>
            </a:pPr>
            <a:r>
              <a:rPr sz="1500" b="0">
                <a:solidFill>
                  <a:srgbClr val="2D2D2D"/>
                </a:solidFill>
              </a:rPr>
              <a:t>• 代码块分割保护：必要时自动闭合与重开 fence。</a:t>
            </a:r>
          </a:p>
          <a:p>
            <a:pPr algn="l">
              <a:lnSpc>
                <a:spcPct val="116000"/>
              </a:lnSpc>
              <a:spcBef>
                <a:spcPts val="0"/>
              </a:spcBef>
              <a:spcAft>
                <a:spcPts val="700"/>
              </a:spcAft>
            </a:pPr>
            <a:r>
              <a:rPr sz="1500" b="0">
                <a:solidFill>
                  <a:srgbClr val="2D2D2D"/>
                </a:solidFill>
              </a:rPr>
              <a:t>• 可配置 coalesce，避免碎片化“连发刷屏”。</a:t>
            </a:r>
          </a:p>
          <a:p>
            <a:pPr algn="l">
              <a:lnSpc>
                <a:spcPct val="116000"/>
              </a:lnSpc>
              <a:spcBef>
                <a:spcPts val="0"/>
              </a:spcBef>
              <a:spcAft>
                <a:spcPts val="700"/>
              </a:spcAft>
            </a:pPr>
            <a:r>
              <a:rPr sz="1500" b="0">
                <a:solidFill>
                  <a:srgbClr val="2D2D2D"/>
                </a:solidFill>
              </a:rPr>
              <a:t>• Preview Streaming（临时预览）</a:t>
            </a:r>
          </a:p>
        </p:txBody>
      </p:sp>
      <p:pic>
        <p:nvPicPr>
          <p:cNvPr id="9" name="图片 11">
            <a:extLst>
              <a:ext uri="{FF2B5EF4-FFF2-40B4-BE49-F238E27FC236}">
                <a16:creationId xmlns:a16="http://schemas.microsoft.com/office/drawing/2014/main" id="{D9755670-75DD-D5FE-971E-91D1AFBCA28B}"/>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6：运行时安全三层栈</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本页结论：Sandbox（在哪执行）× Tool Policy（能做什么）× Elevated（特权逃逸）</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16/30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1764970"/>
          </a:xfrm>
          <a:prstGeom prst="rect">
            <a:avLst/>
          </a:prstGeom>
          <a:noFill/>
        </p:spPr>
        <p:txBody>
          <a:bodyPr wrap="square">
            <a:spAutoFit/>
          </a:bodyPr>
          <a:lstStyle/>
          <a:p>
            <a:pPr algn="l">
              <a:lnSpc>
                <a:spcPct val="116000"/>
              </a:lnSpc>
              <a:spcBef>
                <a:spcPts val="0"/>
              </a:spcBef>
              <a:spcAft>
                <a:spcPts val="700"/>
              </a:spcAft>
            </a:pPr>
            <a:r>
              <a:rPr sz="1500" b="1" dirty="0">
                <a:solidFill>
                  <a:srgbClr val="2D2D2D"/>
                </a:solidFill>
              </a:rPr>
              <a:t>• </a:t>
            </a:r>
            <a:r>
              <a:rPr sz="1500" b="1" dirty="0" err="1">
                <a:solidFill>
                  <a:srgbClr val="2D2D2D"/>
                </a:solidFill>
              </a:rPr>
              <a:t>Elevated（仅</a:t>
            </a:r>
            <a:r>
              <a:rPr sz="1500" b="1" dirty="0">
                <a:solidFill>
                  <a:srgbClr val="2D2D2D"/>
                </a:solidFill>
              </a:rPr>
              <a:t> exec </a:t>
            </a:r>
            <a:r>
              <a:rPr sz="1500" b="1" dirty="0" err="1">
                <a:solidFill>
                  <a:srgbClr val="2D2D2D"/>
                </a:solidFill>
              </a:rPr>
              <a:t>特权通道</a:t>
            </a:r>
            <a:r>
              <a:rPr sz="1500" b="1" dirty="0">
                <a:solidFill>
                  <a:srgbClr val="2D2D2D"/>
                </a:solidFill>
              </a:rPr>
              <a:t>）</a:t>
            </a:r>
          </a:p>
          <a:p>
            <a:pPr algn="l">
              <a:lnSpc>
                <a:spcPct val="116000"/>
              </a:lnSpc>
              <a:spcBef>
                <a:spcPts val="0"/>
              </a:spcBef>
              <a:spcAft>
                <a:spcPts val="700"/>
              </a:spcAft>
            </a:pPr>
            <a:r>
              <a:rPr sz="1500" b="1" dirty="0">
                <a:solidFill>
                  <a:srgbClr val="2D2D2D"/>
                </a:solidFill>
              </a:rPr>
              <a:t>• Tool </a:t>
            </a:r>
            <a:r>
              <a:rPr sz="1500" b="1" dirty="0" err="1">
                <a:solidFill>
                  <a:srgbClr val="2D2D2D"/>
                </a:solidFill>
              </a:rPr>
              <a:t>Policy（allow</a:t>
            </a:r>
            <a:r>
              <a:rPr sz="1500" b="1" dirty="0">
                <a:solidFill>
                  <a:srgbClr val="2D2D2D"/>
                </a:solidFill>
              </a:rPr>
              <a:t>/deny/group）</a:t>
            </a:r>
          </a:p>
          <a:p>
            <a:pPr algn="l">
              <a:lnSpc>
                <a:spcPct val="116000"/>
              </a:lnSpc>
              <a:spcBef>
                <a:spcPts val="0"/>
              </a:spcBef>
              <a:spcAft>
                <a:spcPts val="700"/>
              </a:spcAft>
            </a:pPr>
            <a:r>
              <a:rPr sz="1500" b="1" dirty="0">
                <a:solidFill>
                  <a:srgbClr val="2D2D2D"/>
                </a:solidFill>
              </a:rPr>
              <a:t>• </a:t>
            </a:r>
            <a:r>
              <a:rPr sz="1500" b="1" dirty="0" err="1">
                <a:solidFill>
                  <a:srgbClr val="2D2D2D"/>
                </a:solidFill>
              </a:rPr>
              <a:t>Sandbox（host</a:t>
            </a:r>
            <a:r>
              <a:rPr sz="1500" b="1" dirty="0">
                <a:solidFill>
                  <a:srgbClr val="2D2D2D"/>
                </a:solidFill>
              </a:rPr>
              <a:t> vs docker）</a:t>
            </a:r>
          </a:p>
          <a:p>
            <a:pPr algn="l">
              <a:lnSpc>
                <a:spcPct val="116000"/>
              </a:lnSpc>
              <a:spcBef>
                <a:spcPts val="0"/>
              </a:spcBef>
              <a:spcAft>
                <a:spcPts val="700"/>
              </a:spcAft>
            </a:pPr>
            <a:r>
              <a:rPr sz="1500" b="0" dirty="0">
                <a:solidFill>
                  <a:srgbClr val="2D2D2D"/>
                </a:solidFill>
              </a:rPr>
              <a:t>• </a:t>
            </a:r>
            <a:r>
              <a:rPr sz="1500" b="0" dirty="0" err="1">
                <a:solidFill>
                  <a:srgbClr val="2D2D2D"/>
                </a:solidFill>
              </a:rPr>
              <a:t>工程价值</a:t>
            </a:r>
            <a:endParaRPr sz="1500" b="0" dirty="0">
              <a:solidFill>
                <a:srgbClr val="2D2D2D"/>
              </a:solidFill>
            </a:endParaRPr>
          </a:p>
          <a:p>
            <a:pPr algn="l">
              <a:lnSpc>
                <a:spcPct val="116000"/>
              </a:lnSpc>
              <a:spcBef>
                <a:spcPts val="0"/>
              </a:spcBef>
              <a:spcAft>
                <a:spcPts val="700"/>
              </a:spcAft>
            </a:pPr>
            <a:r>
              <a:rPr sz="1500" b="0" dirty="0">
                <a:solidFill>
                  <a:srgbClr val="2D2D2D"/>
                </a:solidFill>
              </a:rPr>
              <a:t>• </a:t>
            </a:r>
            <a:r>
              <a:rPr sz="1500" b="0" dirty="0" err="1">
                <a:solidFill>
                  <a:srgbClr val="2D2D2D"/>
                </a:solidFill>
              </a:rPr>
              <a:t>把“执行位置”和“权限策略”解耦，避免单开关幻觉</a:t>
            </a:r>
            <a:r>
              <a:rPr sz="1500" b="0" dirty="0">
                <a:solidFill>
                  <a:srgbClr val="2D2D2D"/>
                </a:solidFill>
              </a:rPr>
              <a:t>。</a:t>
            </a:r>
          </a:p>
        </p:txBody>
      </p:sp>
      <p:pic>
        <p:nvPicPr>
          <p:cNvPr id="9" name="图片 11">
            <a:extLst>
              <a:ext uri="{FF2B5EF4-FFF2-40B4-BE49-F238E27FC236}">
                <a16:creationId xmlns:a16="http://schemas.microsoft.com/office/drawing/2014/main" id="{D3F1C7CD-BB83-B3D7-510F-6328EE7BF0BB}"/>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7：system.run </a:t>
            </a:r>
            <a:r>
              <a:rPr sz="2700" b="1" dirty="0" err="1">
                <a:solidFill>
                  <a:schemeClr val="accent1"/>
                </a:solidFill>
              </a:rPr>
              <a:t>策略引擎（非布尔开关</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本页结论：是对每次命令执行做多条件决策</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17/30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先解析命令</a:t>
            </a:r>
          </a:p>
          <a:p>
            <a:pPr algn="l">
              <a:lnSpc>
                <a:spcPct val="116000"/>
              </a:lnSpc>
              <a:spcBef>
                <a:spcPts val="0"/>
              </a:spcBef>
              <a:spcAft>
                <a:spcPts val="700"/>
              </a:spcAft>
            </a:pPr>
            <a:r>
              <a:rPr sz="1500" b="0">
                <a:solidFill>
                  <a:srgbClr val="2D2D2D"/>
                </a:solidFill>
              </a:rPr>
              <a:t>• 看真实要执行什么，是否是 bash -c / cmd /c 这类包装绕过</a:t>
            </a:r>
          </a:p>
          <a:p>
            <a:pPr algn="l">
              <a:lnSpc>
                <a:spcPct val="116000"/>
              </a:lnSpc>
              <a:spcBef>
                <a:spcPts val="0"/>
              </a:spcBef>
              <a:spcAft>
                <a:spcPts val="700"/>
              </a:spcAft>
            </a:pPr>
            <a:r>
              <a:rPr sz="1500" b="0">
                <a:solidFill>
                  <a:srgbClr val="2D2D2D"/>
                </a:solidFill>
              </a:rPr>
              <a:t>• 匹配策略</a:t>
            </a:r>
          </a:p>
          <a:p>
            <a:pPr algn="l">
              <a:lnSpc>
                <a:spcPct val="116000"/>
              </a:lnSpc>
              <a:spcBef>
                <a:spcPts val="0"/>
              </a:spcBef>
              <a:spcAft>
                <a:spcPts val="700"/>
              </a:spcAft>
            </a:pPr>
            <a:r>
              <a:rPr sz="1500" b="0">
                <a:solidFill>
                  <a:srgbClr val="2D2D2D"/>
                </a:solidFill>
              </a:rPr>
              <a:t>• 对照 allowlist、规则、风险级别、当前上下文（谁发起、在哪个会话/节点）</a:t>
            </a:r>
          </a:p>
        </p:txBody>
      </p:sp>
      <p:pic>
        <p:nvPicPr>
          <p:cNvPr id="11" name="Picture 10" descr="image.png"/>
          <p:cNvPicPr>
            <a:picLocks noChangeAspect="1"/>
          </p:cNvPicPr>
          <p:nvPr/>
        </p:nvPicPr>
        <p:blipFill>
          <a:blip r:embed="rId2"/>
          <a:stretch>
            <a:fillRect/>
          </a:stretch>
        </p:blipFill>
        <p:spPr>
          <a:xfrm>
            <a:off x="29361" y="5037085"/>
            <a:ext cx="12162639" cy="1225784"/>
          </a:xfrm>
          <a:prstGeom prst="rect">
            <a:avLst/>
          </a:prstGeom>
        </p:spPr>
      </p:pic>
      <p:pic>
        <p:nvPicPr>
          <p:cNvPr id="12" name="图片 11">
            <a:extLst>
              <a:ext uri="{FF2B5EF4-FFF2-40B4-BE49-F238E27FC236}">
                <a16:creationId xmlns:a16="http://schemas.microsoft.com/office/drawing/2014/main" id="{01051D48-79CE-9E87-9CF2-D688348EB566}"/>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7：system.run </a:t>
            </a:r>
            <a:r>
              <a:rPr sz="2700" b="1" dirty="0" err="1">
                <a:solidFill>
                  <a:schemeClr val="accent1"/>
                </a:solidFill>
              </a:rPr>
              <a:t>策略引擎（非布尔开关</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本页结论：命令执行由 security/ask/allowlist/approval 联合求值</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18/30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命令解析</a:t>
            </a:r>
          </a:p>
          <a:p>
            <a:pPr algn="l">
              <a:lnSpc>
                <a:spcPct val="116000"/>
              </a:lnSpc>
              <a:spcBef>
                <a:spcPts val="0"/>
              </a:spcBef>
              <a:spcAft>
                <a:spcPts val="700"/>
              </a:spcAft>
            </a:pPr>
            <a:r>
              <a:rPr sz="1500" b="0">
                <a:solidFill>
                  <a:srgbClr val="2D2D2D"/>
                </a:solidFill>
              </a:rPr>
              <a:t>• argv/shell</a:t>
            </a:r>
          </a:p>
          <a:p>
            <a:pPr algn="l">
              <a:lnSpc>
                <a:spcPct val="116000"/>
              </a:lnSpc>
              <a:spcBef>
                <a:spcPts val="0"/>
              </a:spcBef>
              <a:spcAft>
                <a:spcPts val="700"/>
              </a:spcAft>
            </a:pPr>
            <a:r>
              <a:rPr sz="1500" b="0">
                <a:solidFill>
                  <a:srgbClr val="2D2D2D"/>
                </a:solidFill>
              </a:rPr>
              <a:t>• allowlist 分析</a:t>
            </a:r>
          </a:p>
          <a:p>
            <a:pPr algn="l">
              <a:lnSpc>
                <a:spcPct val="116000"/>
              </a:lnSpc>
              <a:spcBef>
                <a:spcPts val="0"/>
              </a:spcBef>
              <a:spcAft>
                <a:spcPts val="700"/>
              </a:spcAft>
            </a:pPr>
            <a:r>
              <a:rPr sz="1500" b="0">
                <a:solidFill>
                  <a:srgbClr val="2D2D2D"/>
                </a:solidFill>
              </a:rPr>
              <a:t>• 匹配与风险判定</a:t>
            </a:r>
          </a:p>
          <a:p>
            <a:pPr algn="l">
              <a:lnSpc>
                <a:spcPct val="116000"/>
              </a:lnSpc>
              <a:spcBef>
                <a:spcPts val="0"/>
              </a:spcBef>
              <a:spcAft>
                <a:spcPts val="700"/>
              </a:spcAft>
            </a:pPr>
            <a:r>
              <a:rPr sz="1500" b="0">
                <a:solidFill>
                  <a:srgbClr val="2D2D2D"/>
                </a:solidFill>
              </a:rPr>
              <a:t>• 审批策略</a:t>
            </a:r>
          </a:p>
        </p:txBody>
      </p:sp>
      <p:pic>
        <p:nvPicPr>
          <p:cNvPr id="9" name="图片 11">
            <a:extLst>
              <a:ext uri="{FF2B5EF4-FFF2-40B4-BE49-F238E27FC236}">
                <a16:creationId xmlns:a16="http://schemas.microsoft.com/office/drawing/2014/main" id="{44B745F9-71DC-2E5D-9258-B5FAFCCC1C1E}"/>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8：模型容灾 = profile </a:t>
            </a:r>
            <a:r>
              <a:rPr sz="2700" b="1" dirty="0" err="1">
                <a:solidFill>
                  <a:schemeClr val="accent1"/>
                </a:solidFill>
              </a:rPr>
              <a:t>轮转</a:t>
            </a:r>
            <a:r>
              <a:rPr sz="2700" b="1" dirty="0">
                <a:solidFill>
                  <a:schemeClr val="accent1"/>
                </a:solidFill>
              </a:rPr>
              <a:t> + fallback </a:t>
            </a:r>
            <a:r>
              <a:rPr sz="2700" b="1" dirty="0" err="1">
                <a:solidFill>
                  <a:schemeClr val="accent1"/>
                </a:solidFill>
              </a:rPr>
              <a:t>链</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本页结论：OpenClaw 不是一失败就换模型，而是两级故障切换</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19/30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profile 轮转（同 provider 内切换“凭证配置”）</a:t>
            </a:r>
          </a:p>
          <a:p>
            <a:pPr algn="l">
              <a:lnSpc>
                <a:spcPct val="116000"/>
              </a:lnSpc>
              <a:spcBef>
                <a:spcPts val="0"/>
              </a:spcBef>
              <a:spcAft>
                <a:spcPts val="700"/>
              </a:spcAft>
            </a:pPr>
            <a:r>
              <a:rPr sz="1500" b="0">
                <a:solidFill>
                  <a:srgbClr val="2D2D2D"/>
                </a:solidFill>
              </a:rPr>
              <a:t>• 先在当前 provider/模型下，换另一套 auth profile（另一把 key / 另一个 OAuth 账号）</a:t>
            </a:r>
          </a:p>
          <a:p>
            <a:pPr algn="l">
              <a:lnSpc>
                <a:spcPct val="116000"/>
              </a:lnSpc>
              <a:spcBef>
                <a:spcPts val="0"/>
              </a:spcBef>
              <a:spcAft>
                <a:spcPts val="700"/>
              </a:spcAft>
            </a:pPr>
            <a:r>
              <a:rPr sz="1500" b="0">
                <a:solidFill>
                  <a:srgbClr val="2D2D2D"/>
                </a:solidFill>
              </a:rPr>
              <a:t>• 典型顺序：先用当前 profile，失败后切下一 profile</a:t>
            </a:r>
          </a:p>
          <a:p>
            <a:pPr algn="l">
              <a:lnSpc>
                <a:spcPct val="116000"/>
              </a:lnSpc>
              <a:spcBef>
                <a:spcPts val="0"/>
              </a:spcBef>
              <a:spcAft>
                <a:spcPts val="700"/>
              </a:spcAft>
            </a:pPr>
            <a:r>
              <a:rPr sz="1500" b="0">
                <a:solidFill>
                  <a:srgbClr val="2D2D2D"/>
                </a:solidFill>
              </a:rPr>
              <a:t>• 失败会打标记</a:t>
            </a:r>
          </a:p>
        </p:txBody>
      </p:sp>
      <p:pic>
        <p:nvPicPr>
          <p:cNvPr id="11" name="Picture 10" descr="image.png"/>
          <p:cNvPicPr>
            <a:picLocks noChangeAspect="1"/>
          </p:cNvPicPr>
          <p:nvPr/>
        </p:nvPicPr>
        <p:blipFill>
          <a:blip r:embed="rId2"/>
          <a:stretch>
            <a:fillRect/>
          </a:stretch>
        </p:blipFill>
        <p:spPr>
          <a:xfrm>
            <a:off x="547704" y="4891314"/>
            <a:ext cx="11096591" cy="1738086"/>
          </a:xfrm>
          <a:prstGeom prst="rect">
            <a:avLst/>
          </a:prstGeom>
        </p:spPr>
      </p:pic>
      <p:pic>
        <p:nvPicPr>
          <p:cNvPr id="12" name="图片 11">
            <a:extLst>
              <a:ext uri="{FF2B5EF4-FFF2-40B4-BE49-F238E27FC236}">
                <a16:creationId xmlns:a16="http://schemas.microsoft.com/office/drawing/2014/main" id="{23D231C2-10C8-78C7-D9B3-F7BAA037AD9B}"/>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8：模型容灾 = profile </a:t>
            </a:r>
            <a:r>
              <a:rPr sz="2700" b="1" dirty="0" err="1">
                <a:solidFill>
                  <a:schemeClr val="accent1"/>
                </a:solidFill>
              </a:rPr>
              <a:t>轮转</a:t>
            </a:r>
            <a:r>
              <a:rPr sz="2700" b="1" dirty="0">
                <a:solidFill>
                  <a:schemeClr val="accent1"/>
                </a:solidFill>
              </a:rPr>
              <a:t> + fallback </a:t>
            </a:r>
            <a:r>
              <a:rPr sz="2700" b="1" dirty="0" err="1">
                <a:solidFill>
                  <a:schemeClr val="accent1"/>
                </a:solidFill>
              </a:rPr>
              <a:t>链</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本页结论：auth profiles（OAuth/API key）按规则轮转。</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20/30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Provider 内部</a:t>
            </a:r>
          </a:p>
          <a:p>
            <a:pPr algn="l">
              <a:lnSpc>
                <a:spcPct val="116000"/>
              </a:lnSpc>
              <a:spcBef>
                <a:spcPts val="0"/>
              </a:spcBef>
              <a:spcAft>
                <a:spcPts val="700"/>
              </a:spcAft>
            </a:pPr>
            <a:r>
              <a:rPr sz="1500" b="0">
                <a:solidFill>
                  <a:srgbClr val="2D2D2D"/>
                </a:solidFill>
              </a:rPr>
              <a:t>• 对 rate-limit/auth/billing 建立 cooldown/disable 状态。</a:t>
            </a:r>
          </a:p>
          <a:p>
            <a:pPr algn="l">
              <a:lnSpc>
                <a:spcPct val="116000"/>
              </a:lnSpc>
              <a:spcBef>
                <a:spcPts val="0"/>
              </a:spcBef>
              <a:spcAft>
                <a:spcPts val="700"/>
              </a:spcAft>
            </a:pPr>
            <a:r>
              <a:rPr sz="1500" b="0">
                <a:solidFill>
                  <a:srgbClr val="2D2D2D"/>
                </a:solidFill>
              </a:rPr>
              <a:t>• 会话维度 profile stickiness，优先稳定缓存与上下文连续性。</a:t>
            </a:r>
          </a:p>
          <a:p>
            <a:pPr algn="l">
              <a:lnSpc>
                <a:spcPct val="116000"/>
              </a:lnSpc>
              <a:spcBef>
                <a:spcPts val="0"/>
              </a:spcBef>
              <a:spcAft>
                <a:spcPts val="700"/>
              </a:spcAft>
            </a:pPr>
            <a:r>
              <a:rPr sz="1500" b="0">
                <a:solidFill>
                  <a:srgbClr val="2D2D2D"/>
                </a:solidFill>
              </a:rPr>
              <a:t>• 失败后优先 provider 内切换，再决定是否跨模型 fallback。</a:t>
            </a:r>
          </a:p>
          <a:p>
            <a:pPr algn="l">
              <a:lnSpc>
                <a:spcPct val="116000"/>
              </a:lnSpc>
              <a:spcBef>
                <a:spcPts val="0"/>
              </a:spcBef>
              <a:spcAft>
                <a:spcPts val="700"/>
              </a:spcAft>
            </a:pPr>
            <a:r>
              <a:rPr sz="1500" b="0">
                <a:solidFill>
                  <a:srgbClr val="2D2D2D"/>
                </a:solidFill>
              </a:rPr>
              <a:t>• agents.defaults.model.primary + fallbacks 按序尝试。</a:t>
            </a:r>
          </a:p>
        </p:txBody>
      </p:sp>
      <p:pic>
        <p:nvPicPr>
          <p:cNvPr id="9" name="图片 11">
            <a:extLst>
              <a:ext uri="{FF2B5EF4-FFF2-40B4-BE49-F238E27FC236}">
                <a16:creationId xmlns:a16="http://schemas.microsoft.com/office/drawing/2014/main" id="{5B94C077-851D-F68F-4ECE-414EBF7B7962}"/>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9：OpenAI / </a:t>
            </a:r>
            <a:r>
              <a:rPr sz="2700" b="1" dirty="0" err="1">
                <a:solidFill>
                  <a:schemeClr val="accent1"/>
                </a:solidFill>
              </a:rPr>
              <a:t>OpenResponses</a:t>
            </a:r>
            <a:r>
              <a:rPr sz="2700" b="1" dirty="0">
                <a:solidFill>
                  <a:schemeClr val="accent1"/>
                </a:solidFill>
              </a:rPr>
              <a:t> </a:t>
            </a:r>
            <a:r>
              <a:rPr sz="2700" b="1" dirty="0" err="1">
                <a:solidFill>
                  <a:schemeClr val="accent1"/>
                </a:solidFill>
              </a:rPr>
              <a:t>兼容网关</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本页结论：OpenClaw 在网关层提供“标准 API 外壳”，让外部客户端按 OpenAI/OpenResponses 习惯调用，</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21/30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OpenClaw 在网关层提供“标准 API 外壳”，让外部客户端按 OpenAI/OpenResponses 习惯调用，但内部仍走同一套 Agent 执行内核</a:t>
            </a:r>
          </a:p>
          <a:p>
            <a:pPr algn="l">
              <a:lnSpc>
                <a:spcPct val="116000"/>
              </a:lnSpc>
              <a:spcBef>
                <a:spcPts val="0"/>
              </a:spcBef>
              <a:spcAft>
                <a:spcPts val="700"/>
              </a:spcAft>
            </a:pPr>
            <a:r>
              <a:rPr sz="1500" b="0">
                <a:solidFill>
                  <a:srgbClr val="2D2D2D"/>
                </a:solidFill>
              </a:rPr>
              <a:t>• 可以这样理解为“两个门面，一个引擎”</a:t>
            </a:r>
          </a:p>
          <a:p>
            <a:pPr algn="l">
              <a:lnSpc>
                <a:spcPct val="116000"/>
              </a:lnSpc>
              <a:spcBef>
                <a:spcPts val="0"/>
              </a:spcBef>
              <a:spcAft>
                <a:spcPts val="700"/>
              </a:spcAft>
            </a:pPr>
            <a:r>
              <a:rPr sz="1500" b="0">
                <a:solidFill>
                  <a:srgbClr val="2D2D2D"/>
                </a:solidFill>
              </a:rPr>
              <a:t>• 门面 1：POST /v1/chat/completions（OpenAI 兼容）</a:t>
            </a:r>
          </a:p>
          <a:p>
            <a:pPr algn="l">
              <a:lnSpc>
                <a:spcPct val="116000"/>
              </a:lnSpc>
              <a:spcBef>
                <a:spcPts val="0"/>
              </a:spcBef>
              <a:spcAft>
                <a:spcPts val="700"/>
              </a:spcAft>
            </a:pPr>
            <a:r>
              <a:rPr sz="1500" b="0">
                <a:solidFill>
                  <a:srgbClr val="2D2D2D"/>
                </a:solidFill>
              </a:rPr>
              <a:t>• openai-http.ts:202</a:t>
            </a:r>
          </a:p>
        </p:txBody>
      </p:sp>
      <p:pic>
        <p:nvPicPr>
          <p:cNvPr id="11" name="Picture 10" descr="image.png"/>
          <p:cNvPicPr>
            <a:picLocks noChangeAspect="1"/>
          </p:cNvPicPr>
          <p:nvPr/>
        </p:nvPicPr>
        <p:blipFill>
          <a:blip r:embed="rId2"/>
          <a:stretch>
            <a:fillRect/>
          </a:stretch>
        </p:blipFill>
        <p:spPr>
          <a:xfrm>
            <a:off x="266349" y="5214571"/>
            <a:ext cx="11659301" cy="964474"/>
          </a:xfrm>
          <a:prstGeom prst="rect">
            <a:avLst/>
          </a:prstGeom>
        </p:spPr>
      </p:pic>
      <p:pic>
        <p:nvPicPr>
          <p:cNvPr id="12" name="图片 11">
            <a:extLst>
              <a:ext uri="{FF2B5EF4-FFF2-40B4-BE49-F238E27FC236}">
                <a16:creationId xmlns:a16="http://schemas.microsoft.com/office/drawing/2014/main" id="{2C55F743-0216-9006-5F05-7995BE92F8F1}"/>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9：OpenAI / </a:t>
            </a:r>
            <a:r>
              <a:rPr sz="2700" b="1" dirty="0" err="1">
                <a:solidFill>
                  <a:schemeClr val="accent1"/>
                </a:solidFill>
              </a:rPr>
              <a:t>OpenResponses</a:t>
            </a:r>
            <a:r>
              <a:rPr sz="2700" b="1" dirty="0">
                <a:solidFill>
                  <a:schemeClr val="accent1"/>
                </a:solidFill>
              </a:rPr>
              <a:t> </a:t>
            </a:r>
            <a:r>
              <a:rPr sz="2700" b="1" dirty="0" err="1">
                <a:solidFill>
                  <a:schemeClr val="accent1"/>
                </a:solidFill>
              </a:rPr>
              <a:t>兼容网关</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本页结论：POST /v1/chat/completions（OpenAI 兼容）</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22/30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入口</a:t>
            </a:r>
          </a:p>
          <a:p>
            <a:pPr algn="l">
              <a:lnSpc>
                <a:spcPct val="116000"/>
              </a:lnSpc>
              <a:spcBef>
                <a:spcPts val="0"/>
              </a:spcBef>
              <a:spcAft>
                <a:spcPts val="700"/>
              </a:spcAft>
            </a:pPr>
            <a:r>
              <a:rPr sz="1500" b="0">
                <a:solidFill>
                  <a:srgbClr val="2D2D2D"/>
                </a:solidFill>
              </a:rPr>
              <a:t>• POST /v1/responses（OpenResponses 兼容，支持 item/tool/image/file 流程）</a:t>
            </a:r>
          </a:p>
          <a:p>
            <a:pPr algn="l">
              <a:lnSpc>
                <a:spcPct val="116000"/>
              </a:lnSpc>
              <a:spcBef>
                <a:spcPts val="0"/>
              </a:spcBef>
              <a:spcAft>
                <a:spcPts val="700"/>
              </a:spcAft>
            </a:pPr>
            <a:r>
              <a:rPr sz="1500" b="0">
                <a:solidFill>
                  <a:srgbClr val="2D2D2D"/>
                </a:solidFill>
              </a:rPr>
              <a:t>• 与 Gateway auth、agent routing、sessionKey 规则保持一致</a:t>
            </a:r>
          </a:p>
          <a:p>
            <a:pPr algn="l">
              <a:lnSpc>
                <a:spcPct val="116000"/>
              </a:lnSpc>
              <a:spcBef>
                <a:spcPts val="0"/>
              </a:spcBef>
              <a:spcAft>
                <a:spcPts val="700"/>
              </a:spcAft>
            </a:pPr>
            <a:r>
              <a:rPr sz="1500" b="0">
                <a:solidFill>
                  <a:srgbClr val="2D2D2D"/>
                </a:solidFill>
              </a:rPr>
              <a:t>• 请求在内部仍走统一 agentCommand 链路，减少实现分叉</a:t>
            </a:r>
          </a:p>
          <a:p>
            <a:pPr algn="l">
              <a:lnSpc>
                <a:spcPct val="116000"/>
              </a:lnSpc>
              <a:spcBef>
                <a:spcPts val="0"/>
              </a:spcBef>
              <a:spcAft>
                <a:spcPts val="700"/>
              </a:spcAft>
            </a:pPr>
            <a:r>
              <a:rPr sz="1500" b="0">
                <a:solidFill>
                  <a:srgbClr val="2D2D2D"/>
                </a:solidFill>
              </a:rPr>
              <a:t>• stream 模式统一映射为 SSE 事件输出</a:t>
            </a:r>
          </a:p>
        </p:txBody>
      </p:sp>
      <p:pic>
        <p:nvPicPr>
          <p:cNvPr id="9" name="图片 11">
            <a:extLst>
              <a:ext uri="{FF2B5EF4-FFF2-40B4-BE49-F238E27FC236}">
                <a16:creationId xmlns:a16="http://schemas.microsoft.com/office/drawing/2014/main" id="{B0A520F1-5429-3C26-E5E9-F7A651F30678}"/>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10：Skills </a:t>
            </a:r>
            <a:r>
              <a:rPr sz="2700" b="1" dirty="0" err="1">
                <a:solidFill>
                  <a:schemeClr val="accent1"/>
                </a:solidFill>
              </a:rPr>
              <a:t>平台（分层加载</a:t>
            </a:r>
            <a:r>
              <a:rPr sz="2700" b="1" dirty="0">
                <a:solidFill>
                  <a:schemeClr val="accent1"/>
                </a:solidFill>
              </a:rPr>
              <a:t> + </a:t>
            </a:r>
            <a:r>
              <a:rPr sz="2700" b="1" dirty="0" err="1">
                <a:solidFill>
                  <a:schemeClr val="accent1"/>
                </a:solidFill>
              </a:rPr>
              <a:t>动态刷新</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本页结论：把“能力提示词工程”升级为可配置、可门控、可热更新的系统组件</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23/30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把 Skills 从“静态提示词文件”升级成“有优先级、有准入规则、可热更新的能力平台”</a:t>
            </a:r>
          </a:p>
          <a:p>
            <a:pPr algn="l">
              <a:lnSpc>
                <a:spcPct val="116000"/>
              </a:lnSpc>
              <a:spcBef>
                <a:spcPts val="0"/>
              </a:spcBef>
              <a:spcAft>
                <a:spcPts val="700"/>
              </a:spcAft>
            </a:pPr>
            <a:r>
              <a:rPr sz="1500" b="0">
                <a:solidFill>
                  <a:srgbClr val="2D2D2D"/>
                </a:solidFill>
              </a:rPr>
              <a:t>• 分层加载具体是</a:t>
            </a:r>
          </a:p>
          <a:p>
            <a:pPr algn="l">
              <a:lnSpc>
                <a:spcPct val="116000"/>
              </a:lnSpc>
              <a:spcBef>
                <a:spcPts val="0"/>
              </a:spcBef>
              <a:spcAft>
                <a:spcPts val="700"/>
              </a:spcAft>
            </a:pPr>
            <a:r>
              <a:rPr sz="1500" b="0">
                <a:solidFill>
                  <a:srgbClr val="2D2D2D"/>
                </a:solidFill>
              </a:rPr>
              <a:t>• 技能来源不是一处，而是多层合并：extra/plugin、bundled、~/.openclaw/skills、~/.agents/skills、</a:t>
            </a:r>
          </a:p>
          <a:p>
            <a:pPr algn="l">
              <a:lnSpc>
                <a:spcPct val="116000"/>
              </a:lnSpc>
              <a:spcBef>
                <a:spcPts val="0"/>
              </a:spcBef>
              <a:spcAft>
                <a:spcPts val="700"/>
              </a:spcAft>
            </a:pPr>
            <a:r>
              <a:rPr sz="1500" b="0">
                <a:solidFill>
                  <a:srgbClr val="2D2D2D"/>
                </a:solidFill>
              </a:rPr>
              <a:t>• 同名技能按优先级覆盖，后层覆盖前层，所以你可以用 workspace 版本覆盖内置版本</a:t>
            </a:r>
          </a:p>
        </p:txBody>
      </p:sp>
      <p:pic>
        <p:nvPicPr>
          <p:cNvPr id="11" name="Picture 10" descr="image.png"/>
          <p:cNvPicPr>
            <a:picLocks noChangeAspect="1"/>
          </p:cNvPicPr>
          <p:nvPr/>
        </p:nvPicPr>
        <p:blipFill>
          <a:blip r:embed="rId2"/>
          <a:stretch>
            <a:fillRect/>
          </a:stretch>
        </p:blipFill>
        <p:spPr>
          <a:xfrm>
            <a:off x="676656" y="4867075"/>
            <a:ext cx="10085541" cy="1680029"/>
          </a:xfrm>
          <a:prstGeom prst="rect">
            <a:avLst/>
          </a:prstGeom>
        </p:spPr>
      </p:pic>
      <p:pic>
        <p:nvPicPr>
          <p:cNvPr id="12" name="图片 11">
            <a:extLst>
              <a:ext uri="{FF2B5EF4-FFF2-40B4-BE49-F238E27FC236}">
                <a16:creationId xmlns:a16="http://schemas.microsoft.com/office/drawing/2014/main" id="{C2407D4D-6C9B-D642-ACDF-4809686B706C}"/>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10：Skills </a:t>
            </a:r>
            <a:r>
              <a:rPr sz="2700" b="1" dirty="0" err="1">
                <a:solidFill>
                  <a:schemeClr val="accent1"/>
                </a:solidFill>
              </a:rPr>
              <a:t>平台（分层加载</a:t>
            </a:r>
            <a:r>
              <a:rPr sz="2700" b="1" dirty="0">
                <a:solidFill>
                  <a:schemeClr val="accent1"/>
                </a:solidFill>
              </a:rPr>
              <a:t> + </a:t>
            </a:r>
            <a:r>
              <a:rPr sz="2700" b="1" dirty="0" err="1">
                <a:solidFill>
                  <a:schemeClr val="accent1"/>
                </a:solidFill>
              </a:rPr>
              <a:t>动态刷新</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本页结论：把“能力提示词工程”升级为可配置、可门控、可热更新的系统组件</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24/30 页</a:t>
            </a:r>
          </a:p>
        </p:txBody>
      </p:sp>
      <p:sp>
        <p:nvSpPr>
          <p:cNvPr id="6" name="Rounded Rectangle 5"/>
          <p:cNvSpPr/>
          <p:nvPr/>
        </p:nvSpPr>
        <p:spPr>
          <a:xfrm>
            <a:off x="658368" y="1389888"/>
            <a:ext cx="6547104"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6254496"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6236208"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把 Skills 从“静态提示词文件”升级成“有优先级、有准入规则、可热更新的能力平台”</a:t>
            </a:r>
          </a:p>
          <a:p>
            <a:pPr algn="l">
              <a:lnSpc>
                <a:spcPct val="116000"/>
              </a:lnSpc>
              <a:spcBef>
                <a:spcPts val="0"/>
              </a:spcBef>
              <a:spcAft>
                <a:spcPts val="700"/>
              </a:spcAft>
            </a:pPr>
            <a:r>
              <a:rPr sz="1500" b="0">
                <a:solidFill>
                  <a:srgbClr val="2D2D2D"/>
                </a:solidFill>
              </a:rPr>
              <a:t>• 分层加载具体是</a:t>
            </a:r>
          </a:p>
          <a:p>
            <a:pPr algn="l">
              <a:lnSpc>
                <a:spcPct val="116000"/>
              </a:lnSpc>
              <a:spcBef>
                <a:spcPts val="0"/>
              </a:spcBef>
              <a:spcAft>
                <a:spcPts val="700"/>
              </a:spcAft>
            </a:pPr>
            <a:r>
              <a:rPr sz="1500" b="0">
                <a:solidFill>
                  <a:srgbClr val="2D2D2D"/>
                </a:solidFill>
              </a:rPr>
              <a:t>• 技能来源不是一处，而是多层合并：extra/plugin、bundled、~/.openclaw/skills、~/.agents/skills、</a:t>
            </a:r>
          </a:p>
          <a:p>
            <a:pPr algn="l">
              <a:lnSpc>
                <a:spcPct val="116000"/>
              </a:lnSpc>
              <a:spcBef>
                <a:spcPts val="0"/>
              </a:spcBef>
              <a:spcAft>
                <a:spcPts val="700"/>
              </a:spcAft>
            </a:pPr>
            <a:r>
              <a:rPr sz="1500" b="0">
                <a:solidFill>
                  <a:srgbClr val="2D2D2D"/>
                </a:solidFill>
              </a:rPr>
              <a:t>• 同名技能按优先级覆盖，后层覆盖前层，所以你可以用 workspace 版本覆盖内置版本</a:t>
            </a:r>
          </a:p>
          <a:p>
            <a:pPr algn="l">
              <a:lnSpc>
                <a:spcPct val="116000"/>
              </a:lnSpc>
              <a:spcBef>
                <a:spcPts val="0"/>
              </a:spcBef>
              <a:spcAft>
                <a:spcPts val="700"/>
              </a:spcAft>
            </a:pPr>
            <a:r>
              <a:rPr sz="1500" b="0">
                <a:solidFill>
                  <a:srgbClr val="2D2D2D"/>
                </a:solidFill>
              </a:rPr>
              <a:t>• 加载后还会做门控筛选，不是全放行</a:t>
            </a:r>
          </a:p>
        </p:txBody>
      </p:sp>
      <p:sp>
        <p:nvSpPr>
          <p:cNvPr id="9" name="Rounded Rectangle 8"/>
          <p:cNvSpPr/>
          <p:nvPr/>
        </p:nvSpPr>
        <p:spPr>
          <a:xfrm>
            <a:off x="7333488" y="1389888"/>
            <a:ext cx="4665472"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7709" y="1575457"/>
            <a:ext cx="2862072" cy="274320"/>
          </a:xfrm>
          <a:prstGeom prst="rect">
            <a:avLst/>
          </a:prstGeom>
          <a:noFill/>
        </p:spPr>
        <p:txBody>
          <a:bodyPr wrap="square">
            <a:spAutoFit/>
          </a:bodyPr>
          <a:lstStyle/>
          <a:p>
            <a:pPr algn="l">
              <a:lnSpc>
                <a:spcPct val="108000"/>
              </a:lnSpc>
              <a:spcBef>
                <a:spcPts val="0"/>
              </a:spcBef>
              <a:spcAft>
                <a:spcPts val="0"/>
              </a:spcAft>
            </a:pPr>
            <a:r>
              <a:rPr lang="en-US" sz="1200" b="1" dirty="0" err="1">
                <a:solidFill>
                  <a:srgbClr val="5F5F5F"/>
                </a:solidFill>
              </a:rPr>
              <a:t>截图ClawHub</a:t>
            </a:r>
            <a:endParaRPr sz="1200" b="1" dirty="0">
              <a:solidFill>
                <a:srgbClr val="5F5F5F"/>
              </a:solidFill>
            </a:endParaRPr>
          </a:p>
        </p:txBody>
      </p:sp>
      <p:pic>
        <p:nvPicPr>
          <p:cNvPr id="11" name="Picture 10" descr="image.png"/>
          <p:cNvPicPr>
            <a:picLocks noChangeAspect="1"/>
          </p:cNvPicPr>
          <p:nvPr/>
        </p:nvPicPr>
        <p:blipFill>
          <a:blip r:embed="rId2"/>
          <a:stretch>
            <a:fillRect/>
          </a:stretch>
        </p:blipFill>
        <p:spPr>
          <a:xfrm>
            <a:off x="7479792" y="2184415"/>
            <a:ext cx="4387088" cy="2759067"/>
          </a:xfrm>
          <a:prstGeom prst="rect">
            <a:avLst/>
          </a:prstGeom>
        </p:spPr>
      </p:pic>
      <p:pic>
        <p:nvPicPr>
          <p:cNvPr id="12" name="图片 11">
            <a:extLst>
              <a:ext uri="{FF2B5EF4-FFF2-40B4-BE49-F238E27FC236}">
                <a16:creationId xmlns:a16="http://schemas.microsoft.com/office/drawing/2014/main" id="{C8F838FF-8437-1F80-566B-D7FC43911AE0}"/>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10：Skills </a:t>
            </a:r>
            <a:r>
              <a:rPr sz="2700" b="1" dirty="0" err="1">
                <a:solidFill>
                  <a:schemeClr val="accent1"/>
                </a:solidFill>
              </a:rPr>
              <a:t>平台（分层加载</a:t>
            </a:r>
            <a:r>
              <a:rPr sz="2700" b="1" dirty="0">
                <a:solidFill>
                  <a:schemeClr val="accent1"/>
                </a:solidFill>
              </a:rPr>
              <a:t> + </a:t>
            </a:r>
            <a:r>
              <a:rPr sz="2700" b="1" dirty="0" err="1">
                <a:solidFill>
                  <a:schemeClr val="accent1"/>
                </a:solidFill>
              </a:rPr>
              <a:t>动态刷新</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本页结论：把“能力提示词工程”升级为可配置、可门控、可热更新的系统组件</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25/30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workspace/skills（最高优先级）</a:t>
            </a:r>
          </a:p>
          <a:p>
            <a:pPr algn="l">
              <a:lnSpc>
                <a:spcPct val="116000"/>
              </a:lnSpc>
              <a:spcBef>
                <a:spcPts val="0"/>
              </a:spcBef>
              <a:spcAft>
                <a:spcPts val="700"/>
              </a:spcAft>
            </a:pPr>
            <a:r>
              <a:rPr sz="1500" b="0">
                <a:solidFill>
                  <a:srgbClr val="2D2D2D"/>
                </a:solidFill>
              </a:rPr>
              <a:t>• ~/.openclaw/skills（managed）</a:t>
            </a:r>
          </a:p>
          <a:p>
            <a:pPr algn="l">
              <a:lnSpc>
                <a:spcPct val="116000"/>
              </a:lnSpc>
              <a:spcBef>
                <a:spcPts val="0"/>
              </a:spcBef>
              <a:spcAft>
                <a:spcPts val="700"/>
              </a:spcAft>
            </a:pPr>
            <a:r>
              <a:rPr sz="1500" b="0">
                <a:solidFill>
                  <a:srgbClr val="2D2D2D"/>
                </a:solidFill>
              </a:rPr>
              <a:t>• bundled skills（内置）</a:t>
            </a:r>
          </a:p>
          <a:p>
            <a:pPr algn="l">
              <a:lnSpc>
                <a:spcPct val="116000"/>
              </a:lnSpc>
              <a:spcBef>
                <a:spcPts val="0"/>
              </a:spcBef>
              <a:spcAft>
                <a:spcPts val="700"/>
              </a:spcAft>
            </a:pPr>
            <a:r>
              <a:rPr sz="1500" b="0">
                <a:solidFill>
                  <a:srgbClr val="2D2D2D"/>
                </a:solidFill>
              </a:rPr>
              <a:t>• extraDirs + plugin skills</a:t>
            </a:r>
          </a:p>
          <a:p>
            <a:pPr algn="l">
              <a:lnSpc>
                <a:spcPct val="116000"/>
              </a:lnSpc>
              <a:spcBef>
                <a:spcPts val="0"/>
              </a:spcBef>
              <a:spcAft>
                <a:spcPts val="700"/>
              </a:spcAft>
            </a:pPr>
            <a:r>
              <a:rPr sz="1500" b="0">
                <a:solidFill>
                  <a:srgbClr val="2D2D2D"/>
                </a:solidFill>
              </a:rPr>
              <a:t>• 机制亮点</a:t>
            </a:r>
          </a:p>
        </p:txBody>
      </p:sp>
      <p:pic>
        <p:nvPicPr>
          <p:cNvPr id="9" name="图片 11">
            <a:extLst>
              <a:ext uri="{FF2B5EF4-FFF2-40B4-BE49-F238E27FC236}">
                <a16:creationId xmlns:a16="http://schemas.microsoft.com/office/drawing/2014/main" id="{B7E5EECC-1FBB-C333-3CA2-79C3BA46BA79}"/>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11：媒体管线的安全与生命周期治理</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本页结论：重点：OpenClaw 把媒体当作“潜在攻击输入”处理，而非普通附件。</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26/30 页</a:t>
            </a:r>
          </a:p>
        </p:txBody>
      </p:sp>
      <p:sp>
        <p:nvSpPr>
          <p:cNvPr id="6" name="Rounded Rectangle 5"/>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2542032"/>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把图片/文件当成“不可信输入 + 临时资产”来管理，而不是普通附件</a:t>
            </a:r>
          </a:p>
          <a:p>
            <a:pPr algn="l">
              <a:lnSpc>
                <a:spcPct val="116000"/>
              </a:lnSpc>
              <a:spcBef>
                <a:spcPts val="0"/>
              </a:spcBef>
              <a:spcAft>
                <a:spcPts val="700"/>
              </a:spcAft>
            </a:pPr>
            <a:r>
              <a:rPr sz="1500" b="0">
                <a:solidFill>
                  <a:srgbClr val="2D2D2D"/>
                </a:solidFill>
              </a:rPr>
              <a:t>• 可以拆成两部分</a:t>
            </a:r>
          </a:p>
          <a:p>
            <a:pPr algn="l">
              <a:lnSpc>
                <a:spcPct val="116000"/>
              </a:lnSpc>
              <a:spcBef>
                <a:spcPts val="0"/>
              </a:spcBef>
              <a:spcAft>
                <a:spcPts val="700"/>
              </a:spcAft>
            </a:pPr>
            <a:r>
              <a:rPr sz="1500" b="0">
                <a:solidFill>
                  <a:srgbClr val="2D2D2D"/>
                </a:solidFill>
              </a:rPr>
              <a:t>• 安全治理（先安检）</a:t>
            </a:r>
          </a:p>
          <a:p>
            <a:pPr algn="l">
              <a:lnSpc>
                <a:spcPct val="116000"/>
              </a:lnSpc>
              <a:spcBef>
                <a:spcPts val="0"/>
              </a:spcBef>
              <a:spcAft>
                <a:spcPts val="700"/>
              </a:spcAft>
            </a:pPr>
            <a:r>
              <a:rPr sz="1500" b="0">
                <a:solidFill>
                  <a:srgbClr val="2D2D2D"/>
                </a:solidFill>
              </a:rPr>
              <a:t>• URL 输入先过防护：域名策略、DNS/IP 检查、重定向限制，防 SSRF（防探测内网）</a:t>
            </a:r>
          </a:p>
        </p:txBody>
      </p:sp>
      <p:pic>
        <p:nvPicPr>
          <p:cNvPr id="11" name="Picture 10" descr="image.png"/>
          <p:cNvPicPr>
            <a:picLocks noChangeAspect="1"/>
          </p:cNvPicPr>
          <p:nvPr/>
        </p:nvPicPr>
        <p:blipFill>
          <a:blip r:embed="rId2"/>
          <a:stretch>
            <a:fillRect/>
          </a:stretch>
        </p:blipFill>
        <p:spPr>
          <a:xfrm>
            <a:off x="73152" y="5110368"/>
            <a:ext cx="12118848" cy="1002979"/>
          </a:xfrm>
          <a:prstGeom prst="rect">
            <a:avLst/>
          </a:prstGeom>
        </p:spPr>
      </p:pic>
      <p:pic>
        <p:nvPicPr>
          <p:cNvPr id="12" name="图片 11">
            <a:extLst>
              <a:ext uri="{FF2B5EF4-FFF2-40B4-BE49-F238E27FC236}">
                <a16:creationId xmlns:a16="http://schemas.microsoft.com/office/drawing/2014/main" id="{7E216E8C-05D2-D6AF-3BB3-B8BC91EF3602}"/>
              </a:ext>
            </a:extLst>
          </p:cNvPr>
          <p:cNvPicPr>
            <a:picLocks noChangeAspect="1"/>
          </p:cNvPicPr>
          <p:nvPr/>
        </p:nvPicPr>
        <p:blipFill>
          <a:blip r:embed="rId3"/>
          <a:stretch>
            <a:fillRect/>
          </a:stretch>
        </p:blipFill>
        <p:spPr>
          <a:xfrm>
            <a:off x="10716768" y="193040"/>
            <a:ext cx="1398224" cy="43540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创新</a:t>
            </a:r>
            <a:r>
              <a:rPr sz="2700" b="1" dirty="0">
                <a:solidFill>
                  <a:schemeClr val="accent1"/>
                </a:solidFill>
              </a:rPr>
              <a:t> 11：媒体管线的安全与生命周期治理</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本页结论：magic/header/ext</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27/30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URL 输入</a:t>
            </a:r>
          </a:p>
          <a:p>
            <a:pPr algn="l">
              <a:lnSpc>
                <a:spcPct val="116000"/>
              </a:lnSpc>
              <a:spcBef>
                <a:spcPts val="0"/>
              </a:spcBef>
              <a:spcAft>
                <a:spcPts val="700"/>
              </a:spcAft>
            </a:pPr>
            <a:r>
              <a:rPr sz="1500" b="0">
                <a:solidFill>
                  <a:srgbClr val="2D2D2D"/>
                </a:solidFill>
              </a:rPr>
              <a:t>• SSRF Guard</a:t>
            </a:r>
          </a:p>
          <a:p>
            <a:pPr algn="l">
              <a:lnSpc>
                <a:spcPct val="116000"/>
              </a:lnSpc>
              <a:spcBef>
                <a:spcPts val="0"/>
              </a:spcBef>
              <a:spcAft>
                <a:spcPts val="700"/>
              </a:spcAft>
            </a:pPr>
            <a:r>
              <a:rPr sz="1500" b="0">
                <a:solidFill>
                  <a:srgbClr val="2D2D2D"/>
                </a:solidFill>
              </a:rPr>
              <a:t>• DNS/IP/重定向</a:t>
            </a:r>
          </a:p>
          <a:p>
            <a:pPr algn="l">
              <a:lnSpc>
                <a:spcPct val="116000"/>
              </a:lnSpc>
              <a:spcBef>
                <a:spcPts val="0"/>
              </a:spcBef>
              <a:spcAft>
                <a:spcPts val="700"/>
              </a:spcAft>
            </a:pPr>
            <a:r>
              <a:rPr sz="1500" b="0">
                <a:solidFill>
                  <a:srgbClr val="2D2D2D"/>
                </a:solidFill>
              </a:rPr>
              <a:t>• 响应限流</a:t>
            </a:r>
          </a:p>
          <a:p>
            <a:pPr algn="l">
              <a:lnSpc>
                <a:spcPct val="116000"/>
              </a:lnSpc>
              <a:spcBef>
                <a:spcPts val="0"/>
              </a:spcBef>
              <a:spcAft>
                <a:spcPts val="700"/>
              </a:spcAft>
            </a:pPr>
            <a:r>
              <a:rPr sz="1500" b="0">
                <a:solidFill>
                  <a:srgbClr val="2D2D2D"/>
                </a:solidFill>
              </a:rPr>
              <a:t>• maxBytes</a:t>
            </a:r>
          </a:p>
        </p:txBody>
      </p:sp>
      <p:pic>
        <p:nvPicPr>
          <p:cNvPr id="9" name="图片 11">
            <a:extLst>
              <a:ext uri="{FF2B5EF4-FFF2-40B4-BE49-F238E27FC236}">
                <a16:creationId xmlns:a16="http://schemas.microsoft.com/office/drawing/2014/main" id="{2A88251D-77BD-0388-6542-FD1920CBF378}"/>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可靠性与运维：把长期运行作为一等公民</a:t>
            </a:r>
            <a:endParaRPr sz="2700" b="1" dirty="0">
              <a:solidFill>
                <a:schemeClr val="accent1"/>
              </a:solidFill>
            </a:endParaRP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本页结论：pruneAfter / maxEntries / rotateBytes / maxDiskBytes。</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28/30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Session 维护</a:t>
            </a:r>
          </a:p>
          <a:p>
            <a:pPr algn="l">
              <a:lnSpc>
                <a:spcPct val="116000"/>
              </a:lnSpc>
              <a:spcBef>
                <a:spcPts val="0"/>
              </a:spcBef>
              <a:spcAft>
                <a:spcPts val="700"/>
              </a:spcAft>
            </a:pPr>
            <a:r>
              <a:rPr sz="1500" b="0">
                <a:solidFill>
                  <a:srgbClr val="2D2D2D"/>
                </a:solidFill>
              </a:rPr>
              <a:t>• cleanup 支持 warn 与 enforce 模式。</a:t>
            </a:r>
          </a:p>
          <a:p>
            <a:pPr algn="l">
              <a:lnSpc>
                <a:spcPct val="116000"/>
              </a:lnSpc>
              <a:spcBef>
                <a:spcPts val="0"/>
              </a:spcBef>
              <a:spcAft>
                <a:spcPts val="700"/>
              </a:spcAft>
            </a:pPr>
            <a:r>
              <a:rPr sz="1500" b="0">
                <a:solidFill>
                  <a:srgbClr val="2D2D2D"/>
                </a:solidFill>
              </a:rPr>
              <a:t>• 避免会话索引与转录文件无限膨胀。</a:t>
            </a:r>
          </a:p>
          <a:p>
            <a:pPr algn="l">
              <a:lnSpc>
                <a:spcPct val="116000"/>
              </a:lnSpc>
              <a:spcBef>
                <a:spcPts val="0"/>
              </a:spcBef>
              <a:spcAft>
                <a:spcPts val="700"/>
              </a:spcAft>
            </a:pPr>
            <a:r>
              <a:rPr sz="1500" b="0">
                <a:solidFill>
                  <a:srgbClr val="2D2D2D"/>
                </a:solidFill>
              </a:rPr>
              <a:t>• Context 治理</a:t>
            </a:r>
          </a:p>
          <a:p>
            <a:pPr algn="l">
              <a:lnSpc>
                <a:spcPct val="116000"/>
              </a:lnSpc>
              <a:spcBef>
                <a:spcPts val="0"/>
              </a:spcBef>
              <a:spcAft>
                <a:spcPts val="700"/>
              </a:spcAft>
            </a:pPr>
            <a:r>
              <a:rPr sz="1500" b="0">
                <a:solidFill>
                  <a:srgbClr val="2D2D2D"/>
                </a:solidFill>
              </a:rPr>
              <a:t>• compaction：持久化摘要进入 JSONL。</a:t>
            </a:r>
          </a:p>
        </p:txBody>
      </p:sp>
      <p:pic>
        <p:nvPicPr>
          <p:cNvPr id="9" name="图片 11">
            <a:extLst>
              <a:ext uri="{FF2B5EF4-FFF2-40B4-BE49-F238E27FC236}">
                <a16:creationId xmlns:a16="http://schemas.microsoft.com/office/drawing/2014/main" id="{02A04834-8EA1-55EC-21CB-FD3A8E9D8EF0}"/>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工程规模证据（openclaw</a:t>
            </a:r>
            <a:r>
              <a:rPr sz="2700" b="1" dirty="0">
                <a:solidFill>
                  <a:schemeClr val="accent1"/>
                </a:solidFill>
              </a:rPr>
              <a:t> </a:t>
            </a:r>
            <a:r>
              <a:rPr sz="2700" b="1" dirty="0" err="1">
                <a:solidFill>
                  <a:schemeClr val="accent1"/>
                </a:solidFill>
              </a:rPr>
              <a:t>本地统计</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本页结论：3676：src TypeScript 文件</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29/30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4261104"/>
          </a:xfrm>
          <a:prstGeom prst="rect">
            <a:avLst/>
          </a:prstGeom>
          <a:noFill/>
        </p:spPr>
        <p:txBody>
          <a:bodyPr wrap="square">
            <a:spAutoFit/>
          </a:bodyPr>
          <a:lstStyle/>
          <a:p>
            <a:pPr algn="l">
              <a:lnSpc>
                <a:spcPct val="116000"/>
              </a:lnSpc>
              <a:spcBef>
                <a:spcPts val="0"/>
              </a:spcBef>
              <a:spcAft>
                <a:spcPts val="700"/>
              </a:spcAft>
            </a:pPr>
            <a:r>
              <a:rPr sz="1500" b="0">
                <a:solidFill>
                  <a:srgbClr val="2D2D2D"/>
                </a:solidFill>
              </a:rPr>
              <a:t>• 1366：src 测试文件（*test.ts）</a:t>
            </a:r>
          </a:p>
          <a:p>
            <a:pPr algn="l">
              <a:lnSpc>
                <a:spcPct val="116000"/>
              </a:lnSpc>
              <a:spcBef>
                <a:spcPts val="0"/>
              </a:spcBef>
              <a:spcAft>
                <a:spcPts val="700"/>
              </a:spcAft>
            </a:pPr>
            <a:r>
              <a:rPr sz="1500" b="0">
                <a:solidFill>
                  <a:srgbClr val="2D2D2D"/>
                </a:solidFill>
              </a:rPr>
              <a:t>• 652：docs 文档文件</a:t>
            </a:r>
          </a:p>
          <a:p>
            <a:pPr algn="l">
              <a:lnSpc>
                <a:spcPct val="116000"/>
              </a:lnSpc>
              <a:spcBef>
                <a:spcPts val="0"/>
              </a:spcBef>
              <a:spcAft>
                <a:spcPts val="700"/>
              </a:spcAft>
            </a:pPr>
            <a:r>
              <a:rPr sz="1500" b="0">
                <a:solidFill>
                  <a:srgbClr val="2D2D2D"/>
                </a:solidFill>
              </a:rPr>
              <a:t>• 28MB：src 体量</a:t>
            </a:r>
          </a:p>
          <a:p>
            <a:pPr algn="l">
              <a:lnSpc>
                <a:spcPct val="116000"/>
              </a:lnSpc>
              <a:spcBef>
                <a:spcPts val="0"/>
              </a:spcBef>
              <a:spcAft>
                <a:spcPts val="700"/>
              </a:spcAft>
            </a:pPr>
            <a:r>
              <a:rPr sz="1500" b="0">
                <a:solidFill>
                  <a:srgbClr val="2D2D2D"/>
                </a:solidFill>
              </a:rPr>
              <a:t>• 工程启示</a:t>
            </a:r>
          </a:p>
          <a:p>
            <a:pPr algn="l">
              <a:lnSpc>
                <a:spcPct val="116000"/>
              </a:lnSpc>
              <a:spcBef>
                <a:spcPts val="0"/>
              </a:spcBef>
              <a:spcAft>
                <a:spcPts val="700"/>
              </a:spcAft>
            </a:pPr>
            <a:r>
              <a:rPr sz="1500" b="0">
                <a:solidFill>
                  <a:srgbClr val="2D2D2D"/>
                </a:solidFill>
              </a:rPr>
              <a:t>• 复杂度足够高，架构设计重点应放在治理能力与演进稳定性，而非单次功能实现。</a:t>
            </a:r>
          </a:p>
        </p:txBody>
      </p:sp>
      <p:pic>
        <p:nvPicPr>
          <p:cNvPr id="9" name="图片 11">
            <a:extLst>
              <a:ext uri="{FF2B5EF4-FFF2-40B4-BE49-F238E27FC236}">
                <a16:creationId xmlns:a16="http://schemas.microsoft.com/office/drawing/2014/main" id="{69B73DCE-B371-BAF7-4B5B-F5D556925661}"/>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sz="2700" b="1" dirty="0" err="1">
                <a:solidFill>
                  <a:schemeClr val="accent1"/>
                </a:solidFill>
              </a:rPr>
              <a:t>结论：OpenClaw</a:t>
            </a:r>
            <a:r>
              <a:rPr sz="2700" b="1" dirty="0">
                <a:solidFill>
                  <a:schemeClr val="accent1"/>
                </a:solidFill>
              </a:rPr>
              <a:t> </a:t>
            </a:r>
            <a:r>
              <a:rPr sz="2700" b="1" dirty="0" err="1">
                <a:solidFill>
                  <a:schemeClr val="accent1"/>
                </a:solidFill>
              </a:rPr>
              <a:t>的竞争力来自“系统治理能力</a:t>
            </a:r>
            <a:r>
              <a:rPr sz="2700" b="1" dirty="0">
                <a:solidFill>
                  <a:schemeClr val="accent1"/>
                </a:solidFill>
              </a:rPr>
              <a:t>”</a:t>
            </a:r>
          </a:p>
        </p:txBody>
      </p:sp>
      <p:sp>
        <p:nvSpPr>
          <p:cNvPr id="4" name="TextBox 3"/>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本页结论：统一控制面、确定性路由、分层安全策略共同构成其技术护城河</a:t>
            </a:r>
          </a:p>
        </p:txBody>
      </p:sp>
      <p:sp>
        <p:nvSpPr>
          <p:cNvPr id="5" name="Rounded Rectangle 4"/>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30/30 页</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p:cNvSpPr txBox="1"/>
          <p:nvPr/>
        </p:nvSpPr>
        <p:spPr>
          <a:xfrm>
            <a:off x="822960" y="1783080"/>
            <a:ext cx="9738360" cy="1407437"/>
          </a:xfrm>
          <a:prstGeom prst="rect">
            <a:avLst/>
          </a:prstGeom>
          <a:noFill/>
        </p:spPr>
        <p:txBody>
          <a:bodyPr wrap="square">
            <a:spAutoFit/>
          </a:bodyPr>
          <a:lstStyle/>
          <a:p>
            <a:pPr algn="l">
              <a:lnSpc>
                <a:spcPct val="116000"/>
              </a:lnSpc>
              <a:spcBef>
                <a:spcPts val="0"/>
              </a:spcBef>
              <a:spcAft>
                <a:spcPts val="700"/>
              </a:spcAft>
            </a:pPr>
            <a:r>
              <a:rPr sz="1500" b="0" dirty="0">
                <a:solidFill>
                  <a:srgbClr val="2D2D2D"/>
                </a:solidFill>
              </a:rPr>
              <a:t>• OpenClaw </a:t>
            </a:r>
            <a:r>
              <a:rPr sz="1500" b="0" dirty="0" err="1">
                <a:solidFill>
                  <a:srgbClr val="2D2D2D"/>
                </a:solidFill>
              </a:rPr>
              <a:t>已从“聊天机器人”进化为“个人</a:t>
            </a:r>
            <a:r>
              <a:rPr sz="1500" b="0" dirty="0">
                <a:solidFill>
                  <a:srgbClr val="2D2D2D"/>
                </a:solidFill>
              </a:rPr>
              <a:t> AI </a:t>
            </a:r>
            <a:r>
              <a:rPr sz="1500" b="0" dirty="0" err="1">
                <a:solidFill>
                  <a:srgbClr val="2D2D2D"/>
                </a:solidFill>
              </a:rPr>
              <a:t>网关操作系统</a:t>
            </a:r>
            <a:r>
              <a:rPr sz="1500" b="0" dirty="0">
                <a:solidFill>
                  <a:srgbClr val="2D2D2D"/>
                </a:solidFill>
              </a:rPr>
              <a:t>”。</a:t>
            </a:r>
          </a:p>
          <a:p>
            <a:pPr algn="l">
              <a:lnSpc>
                <a:spcPct val="116000"/>
              </a:lnSpc>
              <a:spcBef>
                <a:spcPts val="0"/>
              </a:spcBef>
              <a:spcAft>
                <a:spcPts val="700"/>
              </a:spcAft>
            </a:pPr>
            <a:r>
              <a:rPr sz="1500" b="0" dirty="0">
                <a:solidFill>
                  <a:srgbClr val="2D2D2D"/>
                </a:solidFill>
              </a:rPr>
              <a:t>• </a:t>
            </a:r>
            <a:r>
              <a:rPr sz="1500" b="0" dirty="0" err="1">
                <a:solidFill>
                  <a:srgbClr val="2D2D2D"/>
                </a:solidFill>
              </a:rPr>
              <a:t>其创新重心在架构语义（协议</a:t>
            </a:r>
            <a:r>
              <a:rPr sz="1500" b="0" dirty="0">
                <a:solidFill>
                  <a:srgbClr val="2D2D2D"/>
                </a:solidFill>
              </a:rPr>
              <a:t>/</a:t>
            </a:r>
            <a:r>
              <a:rPr sz="1500" b="0" dirty="0" err="1">
                <a:solidFill>
                  <a:srgbClr val="2D2D2D"/>
                </a:solidFill>
              </a:rPr>
              <a:t>路由</a:t>
            </a:r>
            <a:r>
              <a:rPr sz="1500" b="0" dirty="0">
                <a:solidFill>
                  <a:srgbClr val="2D2D2D"/>
                </a:solidFill>
              </a:rPr>
              <a:t>/</a:t>
            </a:r>
            <a:r>
              <a:rPr sz="1500" b="0" dirty="0" err="1">
                <a:solidFill>
                  <a:srgbClr val="2D2D2D"/>
                </a:solidFill>
              </a:rPr>
              <a:t>会话</a:t>
            </a:r>
            <a:r>
              <a:rPr sz="1500" b="0" dirty="0">
                <a:solidFill>
                  <a:srgbClr val="2D2D2D"/>
                </a:solidFill>
              </a:rPr>
              <a:t>/</a:t>
            </a:r>
            <a:r>
              <a:rPr sz="1500" b="0" dirty="0" err="1">
                <a:solidFill>
                  <a:srgbClr val="2D2D2D"/>
                </a:solidFill>
              </a:rPr>
              <a:t>策略</a:t>
            </a:r>
            <a:r>
              <a:rPr sz="1500" b="0" dirty="0">
                <a:solidFill>
                  <a:srgbClr val="2D2D2D"/>
                </a:solidFill>
              </a:rPr>
              <a:t>），</a:t>
            </a:r>
            <a:r>
              <a:rPr sz="1500" b="0" dirty="0" err="1">
                <a:solidFill>
                  <a:srgbClr val="2D2D2D"/>
                </a:solidFill>
              </a:rPr>
              <a:t>不是单一模型能力</a:t>
            </a:r>
            <a:r>
              <a:rPr sz="1500" b="0" dirty="0">
                <a:solidFill>
                  <a:srgbClr val="2D2D2D"/>
                </a:solidFill>
              </a:rPr>
              <a:t>。</a:t>
            </a:r>
          </a:p>
          <a:p>
            <a:pPr algn="l">
              <a:lnSpc>
                <a:spcPct val="116000"/>
              </a:lnSpc>
              <a:spcBef>
                <a:spcPts val="0"/>
              </a:spcBef>
              <a:spcAft>
                <a:spcPts val="700"/>
              </a:spcAft>
            </a:pPr>
            <a:r>
              <a:rPr sz="1500" b="0" dirty="0">
                <a:solidFill>
                  <a:srgbClr val="2D2D2D"/>
                </a:solidFill>
              </a:rPr>
              <a:t>• </a:t>
            </a:r>
            <a:r>
              <a:rPr sz="1500" b="0" dirty="0" err="1">
                <a:solidFill>
                  <a:srgbClr val="2D2D2D"/>
                </a:solidFill>
              </a:rPr>
              <a:t>产品构建启示：优先迁移治理框架，再做功能扩展</a:t>
            </a:r>
            <a:r>
              <a:rPr sz="1500" b="0" dirty="0">
                <a:solidFill>
                  <a:srgbClr val="2D2D2D"/>
                </a:solidFill>
              </a:rPr>
              <a:t>。</a:t>
            </a:r>
          </a:p>
          <a:p>
            <a:pPr algn="l">
              <a:lnSpc>
                <a:spcPct val="116000"/>
              </a:lnSpc>
              <a:spcBef>
                <a:spcPts val="0"/>
              </a:spcBef>
              <a:spcAft>
                <a:spcPts val="700"/>
              </a:spcAft>
            </a:pPr>
            <a:r>
              <a:rPr sz="1500" b="0" dirty="0">
                <a:solidFill>
                  <a:srgbClr val="2D2D2D"/>
                </a:solidFill>
              </a:rPr>
              <a:t>• </a:t>
            </a:r>
            <a:r>
              <a:rPr sz="1500" b="0" dirty="0" err="1">
                <a:solidFill>
                  <a:srgbClr val="2D2D2D"/>
                </a:solidFill>
              </a:rPr>
              <a:t>这能在复杂度上升时保持可维护、可审计、可持续迭代</a:t>
            </a:r>
            <a:r>
              <a:rPr sz="1500" b="0" dirty="0">
                <a:solidFill>
                  <a:srgbClr val="2D2D2D"/>
                </a:solidFill>
              </a:rPr>
              <a:t>。</a:t>
            </a:r>
          </a:p>
        </p:txBody>
      </p:sp>
      <p:pic>
        <p:nvPicPr>
          <p:cNvPr id="9" name="图片 11">
            <a:extLst>
              <a:ext uri="{FF2B5EF4-FFF2-40B4-BE49-F238E27FC236}">
                <a16:creationId xmlns:a16="http://schemas.microsoft.com/office/drawing/2014/main" id="{64E1B29D-484A-CD17-0B95-A7F734EDF071}"/>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A9F3-8939-EB11-82CD-F3A20F32DB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CB2000-14E8-EDDC-E410-0F52E3F5EE41}"/>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3B4E4E5-AB6D-851D-792F-A461C51A65DA}"/>
              </a:ext>
            </a:extLst>
          </p:cNvPr>
          <p:cNvSpPr txBox="1"/>
          <p:nvPr/>
        </p:nvSpPr>
        <p:spPr>
          <a:xfrm>
            <a:off x="658368" y="228600"/>
            <a:ext cx="7726679" cy="504049"/>
          </a:xfrm>
          <a:prstGeom prst="rect">
            <a:avLst/>
          </a:prstGeom>
          <a:noFill/>
        </p:spPr>
        <p:txBody>
          <a:bodyPr wrap="square">
            <a:spAutoFit/>
          </a:bodyPr>
          <a:lstStyle/>
          <a:p>
            <a:pPr algn="l">
              <a:lnSpc>
                <a:spcPct val="108000"/>
              </a:lnSpc>
              <a:spcBef>
                <a:spcPts val="0"/>
              </a:spcBef>
              <a:spcAft>
                <a:spcPts val="0"/>
              </a:spcAft>
            </a:pPr>
            <a:r>
              <a:rPr lang="en-US" sz="2700" b="1" dirty="0" err="1">
                <a:solidFill>
                  <a:schemeClr val="accent1"/>
                </a:solidFill>
              </a:rPr>
              <a:t>挑战</a:t>
            </a:r>
            <a:r>
              <a:rPr sz="2700" b="1" dirty="0" err="1">
                <a:solidFill>
                  <a:schemeClr val="accent1"/>
                </a:solidFill>
              </a:rPr>
              <a:t>：OpenClaw</a:t>
            </a:r>
            <a:r>
              <a:rPr sz="2700" b="1" dirty="0">
                <a:solidFill>
                  <a:schemeClr val="accent1"/>
                </a:solidFill>
              </a:rPr>
              <a:t> </a:t>
            </a:r>
            <a:r>
              <a:rPr lang="en-US" sz="2700" b="1" dirty="0" err="1">
                <a:solidFill>
                  <a:schemeClr val="accent1"/>
                </a:solidFill>
              </a:rPr>
              <a:t>目前的主要问题</a:t>
            </a:r>
            <a:endParaRPr sz="2700" b="1" dirty="0">
              <a:solidFill>
                <a:schemeClr val="accent1"/>
              </a:solidFill>
            </a:endParaRPr>
          </a:p>
        </p:txBody>
      </p:sp>
      <p:sp>
        <p:nvSpPr>
          <p:cNvPr id="4" name="TextBox 3">
            <a:extLst>
              <a:ext uri="{FF2B5EF4-FFF2-40B4-BE49-F238E27FC236}">
                <a16:creationId xmlns:a16="http://schemas.microsoft.com/office/drawing/2014/main" id="{B02118A2-3075-0E22-0F83-AF25E195806F}"/>
              </a:ext>
            </a:extLst>
          </p:cNvPr>
          <p:cNvSpPr txBox="1"/>
          <p:nvPr/>
        </p:nvSpPr>
        <p:spPr>
          <a:xfrm>
            <a:off x="676656" y="877824"/>
            <a:ext cx="9692640" cy="411480"/>
          </a:xfrm>
          <a:prstGeom prst="rect">
            <a:avLst/>
          </a:prstGeom>
          <a:noFill/>
        </p:spPr>
        <p:txBody>
          <a:bodyPr wrap="square">
            <a:spAutoFit/>
          </a:bodyPr>
          <a:lstStyle/>
          <a:p>
            <a:pPr algn="l">
              <a:lnSpc>
                <a:spcPct val="108000"/>
              </a:lnSpc>
              <a:spcBef>
                <a:spcPts val="0"/>
              </a:spcBef>
              <a:spcAft>
                <a:spcPts val="0"/>
              </a:spcAft>
            </a:pPr>
            <a:r>
              <a:rPr sz="1200" b="0">
                <a:solidFill>
                  <a:srgbClr val="5F5F5F"/>
                </a:solidFill>
              </a:rPr>
              <a:t>本页结论：统一控制面、确定性路由、分层安全策略共同构成其技术护城河</a:t>
            </a:r>
          </a:p>
        </p:txBody>
      </p:sp>
      <p:sp>
        <p:nvSpPr>
          <p:cNvPr id="5" name="Rounded Rectangle 4">
            <a:extLst>
              <a:ext uri="{FF2B5EF4-FFF2-40B4-BE49-F238E27FC236}">
                <a16:creationId xmlns:a16="http://schemas.microsoft.com/office/drawing/2014/main" id="{6D3D0631-A3C9-88C5-54D4-39B8351C756F}"/>
              </a:ext>
            </a:extLst>
          </p:cNvPr>
          <p:cNvSpPr/>
          <p:nvPr/>
        </p:nvSpPr>
        <p:spPr>
          <a:xfrm>
            <a:off x="8485632" y="310896"/>
            <a:ext cx="1417320" cy="384048"/>
          </a:xfrm>
          <a:prstGeom prst="roundRect">
            <a:avLst/>
          </a:prstGeom>
          <a:solidFill>
            <a:srgbClr val="F4F4F4"/>
          </a:solidFill>
          <a:ln>
            <a:solidFill>
              <a:srgbClr val="DFDFD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626262"/>
                </a:solidFill>
              </a:rPr>
              <a:t>第 30/30 页</a:t>
            </a:r>
          </a:p>
        </p:txBody>
      </p:sp>
      <p:sp>
        <p:nvSpPr>
          <p:cNvPr id="6" name="Rounded Rectangle 5">
            <a:extLst>
              <a:ext uri="{FF2B5EF4-FFF2-40B4-BE49-F238E27FC236}">
                <a16:creationId xmlns:a16="http://schemas.microsoft.com/office/drawing/2014/main" id="{C3264039-6497-ACE9-F714-F447FC4D9CA5}"/>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D8C7919-84D5-17A7-5E98-637DD2F65DBA}"/>
              </a:ext>
            </a:extLst>
          </p:cNvPr>
          <p:cNvSpPr txBox="1"/>
          <p:nvPr/>
        </p:nvSpPr>
        <p:spPr>
          <a:xfrm>
            <a:off x="804672" y="1499616"/>
            <a:ext cx="9765792" cy="274320"/>
          </a:xfrm>
          <a:prstGeom prst="rect">
            <a:avLst/>
          </a:prstGeom>
          <a:noFill/>
        </p:spPr>
        <p:txBody>
          <a:bodyPr wrap="square">
            <a:spAutoFit/>
          </a:bodyPr>
          <a:lstStyle/>
          <a:p>
            <a:pPr algn="l">
              <a:lnSpc>
                <a:spcPct val="108000"/>
              </a:lnSpc>
              <a:spcBef>
                <a:spcPts val="0"/>
              </a:spcBef>
              <a:spcAft>
                <a:spcPts val="0"/>
              </a:spcAft>
            </a:pPr>
            <a:r>
              <a:rPr sz="1200" b="1">
                <a:solidFill>
                  <a:srgbClr val="5F5F5F"/>
                </a:solidFill>
              </a:rPr>
              <a:t>核心要点</a:t>
            </a:r>
          </a:p>
        </p:txBody>
      </p:sp>
      <p:sp>
        <p:nvSpPr>
          <p:cNvPr id="8" name="TextBox 7">
            <a:extLst>
              <a:ext uri="{FF2B5EF4-FFF2-40B4-BE49-F238E27FC236}">
                <a16:creationId xmlns:a16="http://schemas.microsoft.com/office/drawing/2014/main" id="{2E112E18-458C-6424-AC5C-FD40D4094273}"/>
              </a:ext>
            </a:extLst>
          </p:cNvPr>
          <p:cNvSpPr txBox="1"/>
          <p:nvPr/>
        </p:nvSpPr>
        <p:spPr>
          <a:xfrm>
            <a:off x="822960" y="1783080"/>
            <a:ext cx="9738360" cy="2120965"/>
          </a:xfrm>
          <a:prstGeom prst="rect">
            <a:avLst/>
          </a:prstGeom>
          <a:noFill/>
        </p:spPr>
        <p:txBody>
          <a:bodyPr wrap="square">
            <a:spAutoFit/>
          </a:bodyPr>
          <a:lstStyle/>
          <a:p>
            <a:pPr algn="l">
              <a:lnSpc>
                <a:spcPct val="116000"/>
              </a:lnSpc>
              <a:spcBef>
                <a:spcPts val="0"/>
              </a:spcBef>
              <a:spcAft>
                <a:spcPts val="700"/>
              </a:spcAft>
            </a:pPr>
            <a:r>
              <a:rPr sz="1500" b="0" dirty="0">
                <a:solidFill>
                  <a:srgbClr val="2D2D2D"/>
                </a:solidFill>
              </a:rPr>
              <a:t>• </a:t>
            </a:r>
            <a:r>
              <a:rPr lang="en-US" sz="1500" b="0" dirty="0" err="1">
                <a:solidFill>
                  <a:srgbClr val="2D2D2D"/>
                </a:solidFill>
              </a:rPr>
              <a:t>安全性</a:t>
            </a:r>
            <a:r>
              <a:rPr lang="zh-CN" altLang="en-US" sz="1500" dirty="0">
                <a:solidFill>
                  <a:srgbClr val="2D2D2D"/>
                </a:solidFill>
              </a:rPr>
              <a:t>：</a:t>
            </a:r>
            <a:r>
              <a:rPr lang="en-US" altLang="zh-CN" sz="1500" dirty="0">
                <a:solidFill>
                  <a:srgbClr val="2D2D2D"/>
                </a:solidFill>
              </a:rPr>
              <a:t>OpenClaw</a:t>
            </a:r>
            <a:r>
              <a:rPr lang="zh-CN" altLang="en-US" sz="1500" dirty="0">
                <a:solidFill>
                  <a:srgbClr val="2D2D2D"/>
                </a:solidFill>
              </a:rPr>
              <a:t>的强大能力来自于对个人电脑控制权限的极致释放，但也不可避免地带来了诸多安全风险：比如</a:t>
            </a:r>
            <a:r>
              <a:rPr lang="en-US" altLang="zh-CN" sz="1500" dirty="0">
                <a:solidFill>
                  <a:srgbClr val="2D2D2D"/>
                </a:solidFill>
              </a:rPr>
              <a:t>API</a:t>
            </a:r>
            <a:r>
              <a:rPr lang="zh-CN" altLang="en-US" sz="1500" dirty="0">
                <a:solidFill>
                  <a:srgbClr val="2D2D2D"/>
                </a:solidFill>
              </a:rPr>
              <a:t> </a:t>
            </a:r>
            <a:r>
              <a:rPr lang="en-US" altLang="zh-CN" sz="1500" dirty="0">
                <a:solidFill>
                  <a:srgbClr val="2D2D2D"/>
                </a:solidFill>
              </a:rPr>
              <a:t>keys</a:t>
            </a:r>
            <a:r>
              <a:rPr lang="zh-CN" altLang="en-US" sz="1500" dirty="0">
                <a:solidFill>
                  <a:srgbClr val="2D2D2D"/>
                </a:solidFill>
              </a:rPr>
              <a:t>泄露、删除用户重要信息等。目前代码库中能找到的明显安全漏洞有</a:t>
            </a:r>
            <a:r>
              <a:rPr lang="en-US" altLang="zh-CN" sz="1500" dirty="0">
                <a:solidFill>
                  <a:srgbClr val="2D2D2D"/>
                </a:solidFill>
              </a:rPr>
              <a:t>500+</a:t>
            </a:r>
            <a:r>
              <a:rPr lang="zh-CN" altLang="en-US" sz="1500" dirty="0">
                <a:solidFill>
                  <a:srgbClr val="2D2D2D"/>
                </a:solidFill>
              </a:rPr>
              <a:t>个。</a:t>
            </a:r>
            <a:endParaRPr lang="en-US" sz="1500" b="0" dirty="0">
              <a:solidFill>
                <a:srgbClr val="2D2D2D"/>
              </a:solidFill>
            </a:endParaRPr>
          </a:p>
          <a:p>
            <a:pPr>
              <a:lnSpc>
                <a:spcPct val="116000"/>
              </a:lnSpc>
              <a:spcAft>
                <a:spcPts val="700"/>
              </a:spcAft>
            </a:pPr>
            <a:r>
              <a:rPr lang="en-US" altLang="zh-CN" sz="1500" dirty="0">
                <a:solidFill>
                  <a:srgbClr val="2D2D2D"/>
                </a:solidFill>
              </a:rPr>
              <a:t>• </a:t>
            </a:r>
            <a:r>
              <a:rPr lang="zh-CN" altLang="en-US" sz="1500" dirty="0">
                <a:solidFill>
                  <a:srgbClr val="2D2D2D"/>
                </a:solidFill>
              </a:rPr>
              <a:t>易用性：</a:t>
            </a:r>
            <a:r>
              <a:rPr lang="en-US" altLang="zh-CN" sz="1500" dirty="0">
                <a:solidFill>
                  <a:srgbClr val="2D2D2D"/>
                </a:solidFill>
              </a:rPr>
              <a:t>OpenClaw</a:t>
            </a:r>
            <a:r>
              <a:rPr lang="zh-CN" altLang="en-US" sz="1500" dirty="0">
                <a:solidFill>
                  <a:srgbClr val="2D2D2D"/>
                </a:solidFill>
              </a:rPr>
              <a:t>配置困难且复杂。虽然现在很多云厂商提供“一键部署”服务，但是云端沙盒仍然需要用户手动配置各种个人信息的连接。整体时间消耗通常为数个小时。</a:t>
            </a:r>
            <a:endParaRPr lang="en-US" sz="1500" b="0" dirty="0">
              <a:solidFill>
                <a:srgbClr val="2D2D2D"/>
              </a:solidFill>
            </a:endParaRPr>
          </a:p>
          <a:p>
            <a:pPr>
              <a:lnSpc>
                <a:spcPct val="116000"/>
              </a:lnSpc>
              <a:spcAft>
                <a:spcPts val="700"/>
              </a:spcAft>
            </a:pPr>
            <a:r>
              <a:rPr lang="en-US" sz="1500" dirty="0">
                <a:solidFill>
                  <a:srgbClr val="2D2D2D"/>
                </a:solidFill>
              </a:rPr>
              <a:t>•</a:t>
            </a:r>
            <a:r>
              <a:rPr lang="zh-CN" altLang="en-US" sz="1500" dirty="0">
                <a:solidFill>
                  <a:srgbClr val="2D2D2D"/>
                </a:solidFill>
              </a:rPr>
              <a:t> </a:t>
            </a:r>
            <a:r>
              <a:rPr lang="en-US" altLang="zh-CN" sz="1500" dirty="0">
                <a:solidFill>
                  <a:srgbClr val="2D2D2D"/>
                </a:solidFill>
              </a:rPr>
              <a:t>token</a:t>
            </a:r>
            <a:r>
              <a:rPr lang="zh-CN" altLang="en-US" sz="1500" dirty="0">
                <a:solidFill>
                  <a:srgbClr val="2D2D2D"/>
                </a:solidFill>
              </a:rPr>
              <a:t>消耗：</a:t>
            </a:r>
            <a:r>
              <a:rPr lang="en-US" altLang="zh-CN" sz="1500" dirty="0">
                <a:solidFill>
                  <a:srgbClr val="2D2D2D"/>
                </a:solidFill>
              </a:rPr>
              <a:t>OpenClaw</a:t>
            </a:r>
            <a:r>
              <a:rPr lang="zh-CN" altLang="en-US" sz="1500" dirty="0">
                <a:solidFill>
                  <a:srgbClr val="2D2D2D"/>
                </a:solidFill>
              </a:rPr>
              <a:t>的主张是“个人随时待命的</a:t>
            </a:r>
            <a:r>
              <a:rPr lang="en-US" altLang="zh-CN" sz="1500" dirty="0">
                <a:solidFill>
                  <a:srgbClr val="2D2D2D"/>
                </a:solidFill>
              </a:rPr>
              <a:t>24h</a:t>
            </a:r>
            <a:r>
              <a:rPr lang="zh-CN" altLang="en-US" sz="1500" dirty="0">
                <a:solidFill>
                  <a:srgbClr val="2D2D2D"/>
                </a:solidFill>
              </a:rPr>
              <a:t>助理”，意味着</a:t>
            </a:r>
            <a:r>
              <a:rPr lang="en-US" altLang="zh-CN" sz="1500" dirty="0">
                <a:solidFill>
                  <a:srgbClr val="2D2D2D"/>
                </a:solidFill>
              </a:rPr>
              <a:t>OpenClaw</a:t>
            </a:r>
            <a:r>
              <a:rPr lang="zh-CN" altLang="en-US" sz="1500" dirty="0">
                <a:solidFill>
                  <a:srgbClr val="2D2D2D"/>
                </a:solidFill>
              </a:rPr>
              <a:t>会反复触发</a:t>
            </a:r>
            <a:r>
              <a:rPr lang="en-US" altLang="zh-CN" sz="1500" dirty="0">
                <a:solidFill>
                  <a:srgbClr val="2D2D2D"/>
                </a:solidFill>
              </a:rPr>
              <a:t>agentic</a:t>
            </a:r>
            <a:r>
              <a:rPr lang="zh-CN" altLang="en-US" sz="1500" dirty="0">
                <a:solidFill>
                  <a:srgbClr val="2D2D2D"/>
                </a:solidFill>
              </a:rPr>
              <a:t> </a:t>
            </a:r>
            <a:r>
              <a:rPr lang="en-US" altLang="zh-CN" sz="1500" dirty="0">
                <a:solidFill>
                  <a:srgbClr val="2D2D2D"/>
                </a:solidFill>
              </a:rPr>
              <a:t>workflow</a:t>
            </a:r>
            <a:r>
              <a:rPr lang="zh-CN" altLang="en-US" sz="1500" dirty="0">
                <a:solidFill>
                  <a:srgbClr val="2D2D2D"/>
                </a:solidFill>
              </a:rPr>
              <a:t>以迎合用户。产生的后果是</a:t>
            </a:r>
            <a:r>
              <a:rPr lang="en-US" altLang="zh-CN" sz="1500" dirty="0">
                <a:solidFill>
                  <a:srgbClr val="2D2D2D"/>
                </a:solidFill>
              </a:rPr>
              <a:t>token</a:t>
            </a:r>
            <a:r>
              <a:rPr lang="zh-CN" altLang="en-US" sz="1500" dirty="0">
                <a:solidFill>
                  <a:srgbClr val="2D2D2D"/>
                </a:solidFill>
              </a:rPr>
              <a:t>消耗量惊人，催生了</a:t>
            </a:r>
            <a:r>
              <a:rPr lang="en-US" altLang="zh-CN" sz="1500" dirty="0">
                <a:solidFill>
                  <a:srgbClr val="2D2D2D"/>
                </a:solidFill>
              </a:rPr>
              <a:t>kimi2.5</a:t>
            </a:r>
            <a:r>
              <a:rPr lang="zh-CN" altLang="en-US" sz="1500" dirty="0">
                <a:solidFill>
                  <a:srgbClr val="2D2D2D"/>
                </a:solidFill>
              </a:rPr>
              <a:t>等低价模型的火爆（被</a:t>
            </a:r>
            <a:r>
              <a:rPr lang="en-US" altLang="zh-CN" sz="1500" dirty="0">
                <a:solidFill>
                  <a:srgbClr val="2D2D2D"/>
                </a:solidFill>
              </a:rPr>
              <a:t>OpenClaw</a:t>
            </a:r>
            <a:r>
              <a:rPr lang="zh-CN" altLang="en-US" sz="1500" dirty="0">
                <a:solidFill>
                  <a:srgbClr val="2D2D2D"/>
                </a:solidFill>
              </a:rPr>
              <a:t>的火爆带动，月之暗面</a:t>
            </a:r>
            <a:r>
              <a:rPr lang="en-US" altLang="zh-CN" sz="1500" dirty="0">
                <a:solidFill>
                  <a:srgbClr val="2D2D2D"/>
                </a:solidFill>
              </a:rPr>
              <a:t>2026</a:t>
            </a:r>
            <a:r>
              <a:rPr lang="zh-CN" altLang="en-US" sz="1500" dirty="0">
                <a:solidFill>
                  <a:srgbClr val="2D2D2D"/>
                </a:solidFill>
              </a:rPr>
              <a:t>年初的</a:t>
            </a:r>
            <a:r>
              <a:rPr lang="en-US" altLang="zh-CN" sz="1500" dirty="0">
                <a:solidFill>
                  <a:srgbClr val="2D2D2D"/>
                </a:solidFill>
              </a:rPr>
              <a:t>API</a:t>
            </a:r>
            <a:r>
              <a:rPr lang="zh-CN" altLang="en-US" sz="1500" dirty="0">
                <a:solidFill>
                  <a:srgbClr val="2D2D2D"/>
                </a:solidFill>
              </a:rPr>
              <a:t>营收已经超过</a:t>
            </a:r>
            <a:r>
              <a:rPr lang="en-US" altLang="zh-CN" sz="1500" dirty="0">
                <a:solidFill>
                  <a:srgbClr val="2D2D2D"/>
                </a:solidFill>
              </a:rPr>
              <a:t>2025</a:t>
            </a:r>
            <a:r>
              <a:rPr lang="zh-CN" altLang="en-US" sz="1500" dirty="0">
                <a:solidFill>
                  <a:srgbClr val="2D2D2D"/>
                </a:solidFill>
              </a:rPr>
              <a:t>年全年的总和）。</a:t>
            </a:r>
            <a:endParaRPr sz="1500" b="0" dirty="0">
              <a:solidFill>
                <a:srgbClr val="2D2D2D"/>
              </a:solidFill>
            </a:endParaRPr>
          </a:p>
        </p:txBody>
      </p:sp>
      <p:pic>
        <p:nvPicPr>
          <p:cNvPr id="9" name="图片 11">
            <a:extLst>
              <a:ext uri="{FF2B5EF4-FFF2-40B4-BE49-F238E27FC236}">
                <a16:creationId xmlns:a16="http://schemas.microsoft.com/office/drawing/2014/main" id="{4D0B5481-F2FF-C8FF-5303-A936353C52FD}"/>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82268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4577730" y="1156803"/>
            <a:ext cx="3036540" cy="945576"/>
          </a:xfrm>
          <a:prstGeom prst="rect">
            <a:avLst/>
          </a:prstGeom>
        </p:spPr>
      </p:pic>
      <p:cxnSp>
        <p:nvCxnSpPr>
          <p:cNvPr id="7" name="直接连接符 6"/>
          <p:cNvCxnSpPr/>
          <p:nvPr/>
        </p:nvCxnSpPr>
        <p:spPr>
          <a:xfrm>
            <a:off x="1133061" y="4359521"/>
            <a:ext cx="100584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文本框 13"/>
          <p:cNvSpPr/>
          <p:nvPr/>
        </p:nvSpPr>
        <p:spPr>
          <a:xfrm>
            <a:off x="1062182" y="4582419"/>
            <a:ext cx="10224653" cy="653640"/>
          </a:xfrm>
          <a:prstGeom prst="rect">
            <a:avLst/>
          </a:prstGeom>
          <a:ln w="12700">
            <a:miter lim="400000"/>
          </a:ln>
        </p:spPr>
        <p:txBody>
          <a:bodyPr wrap="square" lIns="45719" rIns="45719">
            <a:spAutoFit/>
          </a:bodyPr>
          <a:lstStyle>
            <a:lvl1pPr algn="just" defTabSz="456565">
              <a:lnSpc>
                <a:spcPct val="150000"/>
              </a:lnSpc>
              <a:defRPr sz="13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just" defTabSz="456565" rtl="0" eaLnBrk="1" fontAlgn="auto" latinLnBrk="0" hangingPunct="0">
              <a:lnSpc>
                <a:spcPct val="150000"/>
              </a:lnSpc>
              <a:spcBef>
                <a:spcPts val="0"/>
              </a:spcBef>
              <a:spcAft>
                <a:spcPts val="0"/>
              </a:spcAft>
              <a:buClrTx/>
              <a:buSzTx/>
              <a:buFontTx/>
              <a:buNone/>
              <a:tabLst/>
              <a:defRPr/>
            </a:pPr>
            <a:r>
              <a:rPr kumimoji="0" sz="1300" b="0" i="0" u="none" strike="noStrike" kern="0" cap="none" spc="0" normalizeH="0" baseline="0" noProof="0" dirty="0">
                <a:ln>
                  <a:noFill/>
                </a:ln>
                <a:solidFill>
                  <a:srgbClr val="000000"/>
                </a:solidFill>
                <a:effectLst/>
                <a:uLnTx/>
                <a:uFillTx/>
                <a:latin typeface="Arial" panose="020B0604020202020204" pitchFamily="34" charset="0"/>
                <a:ea typeface="楷体" panose="02010609060101010101" pitchFamily="49" charset="-122"/>
                <a:cs typeface="+mn-ea"/>
                <a:sym typeface="Arial" panose="020B0604020202020204" pitchFamily="34" charset="0"/>
              </a:rPr>
              <a:t>声明：本文本提供的信息仅供参考，不对任何人用此作为投资依据造成的损失负责，投资人必须意识到投资本基金的回报和风险同时存在。本文本的信息已尽力确保准确无误，但无法保证精确</a:t>
            </a:r>
            <a:r>
              <a:rPr kumimoji="0" lang="zh-CN" altLang="en-US" sz="1300" b="0" i="0" u="none" strike="noStrike" kern="0" cap="none" spc="0" normalizeH="0" baseline="0" noProof="0" dirty="0">
                <a:ln>
                  <a:noFill/>
                </a:ln>
                <a:solidFill>
                  <a:srgbClr val="000000"/>
                </a:solidFill>
                <a:effectLst/>
                <a:uLnTx/>
                <a:uFillTx/>
                <a:latin typeface="Arial" panose="020B0604020202020204" pitchFamily="34" charset="0"/>
                <a:ea typeface="楷体" panose="02010609060101010101" pitchFamily="49" charset="-122"/>
                <a:cs typeface="+mn-ea"/>
                <a:sym typeface="Arial" panose="020B0604020202020204" pitchFamily="34" charset="0"/>
              </a:rPr>
              <a:t>。</a:t>
            </a:r>
            <a:r>
              <a:rPr kumimoji="0" sz="1300" b="0" i="0" u="none" strike="noStrike" kern="0" cap="none" spc="0" normalizeH="0" baseline="0" noProof="0" dirty="0" err="1">
                <a:ln>
                  <a:noFill/>
                </a:ln>
                <a:solidFill>
                  <a:srgbClr val="000000"/>
                </a:solidFill>
                <a:effectLst/>
                <a:uLnTx/>
                <a:uFillTx/>
                <a:latin typeface="Arial" panose="020B0604020202020204" pitchFamily="34" charset="0"/>
                <a:ea typeface="楷体" panose="02010609060101010101" pitchFamily="49" charset="-122"/>
                <a:cs typeface="+mn-ea"/>
                <a:sym typeface="Arial" panose="020B0604020202020204" pitchFamily="34" charset="0"/>
              </a:rPr>
              <a:t>未经本基金的同意，不得将本文本全部或部分以任何方式传递给他人</a:t>
            </a:r>
            <a:r>
              <a:rPr kumimoji="0" sz="1300" b="0" i="0" u="none" strike="noStrike" kern="0" cap="none" spc="0" normalizeH="0" baseline="0" noProof="0" dirty="0">
                <a:ln>
                  <a:noFill/>
                </a:ln>
                <a:solidFill>
                  <a:srgbClr val="000000"/>
                </a:solidFill>
                <a:effectLst/>
                <a:uLnTx/>
                <a:uFillTx/>
                <a:latin typeface="Arial" panose="020B0604020202020204" pitchFamily="34" charset="0"/>
                <a:ea typeface="楷体" panose="02010609060101010101" pitchFamily="49" charset="-122"/>
                <a:cs typeface="+mn-ea"/>
                <a:sym typeface="Arial" panose="020B0604020202020204" pitchFamily="34" charset="0"/>
              </a:rPr>
              <a:t>。</a:t>
            </a:r>
          </a:p>
        </p:txBody>
      </p:sp>
      <p:sp>
        <p:nvSpPr>
          <p:cNvPr id="6" name="文本框 5"/>
          <p:cNvSpPr txBox="1"/>
          <p:nvPr/>
        </p:nvSpPr>
        <p:spPr>
          <a:xfrm>
            <a:off x="1" y="2686615"/>
            <a:ext cx="12191999" cy="13849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0F0F0">
                    <a:lumMod val="10000"/>
                  </a:srgbClr>
                </a:solidFill>
                <a:effectLst/>
                <a:uLnTx/>
                <a:uFillTx/>
                <a:latin typeface="Arial" panose="020B0604020202020204" pitchFamily="34" charset="0"/>
                <a:ea typeface="楷体" panose="02010609060101010101" pitchFamily="49" charset="-122"/>
                <a:cs typeface="+mn-ea"/>
                <a:sym typeface="Arial" panose="020B0604020202020204" pitchFamily="34" charset="0"/>
              </a:rPr>
              <a:t>为值得专注的未来</a:t>
            </a:r>
            <a:endParaRPr kumimoji="0" lang="en-US" altLang="zh-CN" sz="2800" b="1" i="0" u="none" strike="noStrike" kern="1200" cap="none" spc="0" normalizeH="0" baseline="0" noProof="0" dirty="0">
              <a:ln>
                <a:noFill/>
              </a:ln>
              <a:solidFill>
                <a:srgbClr val="F0F0F0">
                  <a:lumMod val="10000"/>
                </a:srgbClr>
              </a:solidFill>
              <a:effectLst/>
              <a:uLnTx/>
              <a:uFillTx/>
              <a:latin typeface="Arial" panose="020B0604020202020204" pitchFamily="34" charset="0"/>
              <a:ea typeface="楷体" panose="02010609060101010101" pitchFamily="49"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F0F0F0">
                  <a:lumMod val="10000"/>
                </a:srgbClr>
              </a:solidFill>
              <a:effectLst/>
              <a:uLnTx/>
              <a:uFillTx/>
              <a:latin typeface="Arial" panose="020B0604020202020204" pitchFamily="34" charset="0"/>
              <a:ea typeface="楷体" panose="02010609060101010101" pitchFamily="49"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0F0F0">
                    <a:lumMod val="10000"/>
                  </a:srgbClr>
                </a:solidFill>
                <a:effectLst/>
                <a:uLnTx/>
                <a:uFillTx/>
                <a:latin typeface="Arial" panose="020B0604020202020204" pitchFamily="34" charset="0"/>
                <a:ea typeface="楷体" panose="02010609060101010101" pitchFamily="49" charset="-122"/>
                <a:cs typeface="+mn-ea"/>
                <a:sym typeface="Arial" panose="020B0604020202020204" pitchFamily="34" charset="0"/>
              </a:rPr>
              <a:t> </a:t>
            </a:r>
            <a:r>
              <a:rPr kumimoji="0" lang="en-US" altLang="zh-CN" sz="2800" b="1" i="0" u="none" strike="noStrike" kern="1200" cap="none" spc="0" normalizeH="0" baseline="0" noProof="0" dirty="0">
                <a:ln>
                  <a:noFill/>
                </a:ln>
                <a:solidFill>
                  <a:srgbClr val="F0F0F0">
                    <a:lumMod val="10000"/>
                  </a:srgbClr>
                </a:solidFill>
                <a:effectLst/>
                <a:uLnTx/>
                <a:uFillTx/>
                <a:latin typeface="Arial" panose="020B0604020202020204" pitchFamily="34" charset="0"/>
                <a:ea typeface="楷体" panose="02010609060101010101" pitchFamily="49" charset="-122"/>
                <a:cs typeface="+mn-ea"/>
                <a:sym typeface="Arial" panose="020B0604020202020204" pitchFamily="34" charset="0"/>
              </a:rPr>
              <a:t>All the future that’s fit to focus</a:t>
            </a:r>
            <a:endParaRPr kumimoji="0" lang="zh-CN" altLang="en-US" sz="2800" b="1" i="0" u="none" strike="noStrike" kern="1200" cap="none" spc="0" normalizeH="0" baseline="0" noProof="0" dirty="0">
              <a:ln>
                <a:noFill/>
              </a:ln>
              <a:solidFill>
                <a:srgbClr val="F0F0F0">
                  <a:lumMod val="10000"/>
                </a:srgbClr>
              </a:solidFill>
              <a:effectLst/>
              <a:uLnTx/>
              <a:uFillTx/>
              <a:latin typeface="Arial" panose="020B0604020202020204" pitchFamily="34" charset="0"/>
              <a:ea typeface="楷体" panose="02010609060101010101" pitchFamily="49" charset="-122"/>
              <a:cs typeface="+mn-ea"/>
              <a:sym typeface="Arial" panose="020B0604020202020204" pitchFamily="34" charset="0"/>
            </a:endParaRPr>
          </a:p>
        </p:txBody>
      </p:sp>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1942</Words>
  <Application>Microsoft Macintosh PowerPoint</Application>
  <PresentationFormat>Widescreen</PresentationFormat>
  <Paragraphs>268</Paragraphs>
  <Slides>33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等线</vt:lpstr>
      <vt:lpstr>楷体</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You, Bingran</cp:lastModifiedBy>
  <cp:revision>11</cp:revision>
  <dcterms:created xsi:type="dcterms:W3CDTF">2023-06-07T13:12:54Z</dcterms:created>
  <dcterms:modified xsi:type="dcterms:W3CDTF">2026-03-02T06:15:18Z</dcterms:modified>
</cp:coreProperties>
</file>